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98" r:id="rId2"/>
    <p:sldId id="308" r:id="rId3"/>
    <p:sldId id="335" r:id="rId4"/>
    <p:sldId id="334" r:id="rId5"/>
    <p:sldId id="333" r:id="rId6"/>
    <p:sldId id="332" r:id="rId7"/>
    <p:sldId id="331" r:id="rId8"/>
    <p:sldId id="330" r:id="rId9"/>
    <p:sldId id="328" r:id="rId10"/>
    <p:sldId id="327" r:id="rId11"/>
    <p:sldId id="326" r:id="rId12"/>
    <p:sldId id="325" r:id="rId13"/>
    <p:sldId id="324" r:id="rId14"/>
    <p:sldId id="323" r:id="rId15"/>
    <p:sldId id="322" r:id="rId16"/>
    <p:sldId id="321" r:id="rId17"/>
    <p:sldId id="320" r:id="rId18"/>
    <p:sldId id="319" r:id="rId19"/>
    <p:sldId id="318" r:id="rId20"/>
    <p:sldId id="317" r:id="rId21"/>
    <p:sldId id="336" r:id="rId22"/>
    <p:sldId id="33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179" autoAdjust="0"/>
  </p:normalViewPr>
  <p:slideViewPr>
    <p:cSldViewPr snapToGrid="0">
      <p:cViewPr varScale="1">
        <p:scale>
          <a:sx n="78" d="100"/>
          <a:sy n="78" d="100"/>
        </p:scale>
        <p:origin x="31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77BE69-9A3A-4621-BF15-78B5F3B0F1ED}" type="datetimeFigureOut">
              <a:rPr lang="en-US" smtClean="0"/>
              <a:t>12/27/2022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14573A-9071-4CDE-8CA2-C51BC3C787F0}" type="slidenum">
              <a:rPr lang="en-US" smtClean="0"/>
              <a:t>‹#›</a:t>
            </a:fld>
            <a:endParaRPr lang="en-US"/>
          </a:p>
        </p:txBody>
      </p:sp>
    </p:spTree>
    <p:extLst>
      <p:ext uri="{BB962C8B-B14F-4D97-AF65-F5344CB8AC3E}">
        <p14:creationId xmlns:p14="http://schemas.microsoft.com/office/powerpoint/2010/main" val="78322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914573A-9071-4CDE-8CA2-C51BC3C787F0}" type="slidenum">
              <a:rPr lang="en-US" smtClean="0"/>
              <a:t>1</a:t>
            </a:fld>
            <a:endParaRPr lang="en-US"/>
          </a:p>
        </p:txBody>
      </p:sp>
    </p:spTree>
    <p:extLst>
      <p:ext uri="{BB962C8B-B14F-4D97-AF65-F5344CB8AC3E}">
        <p14:creationId xmlns:p14="http://schemas.microsoft.com/office/powerpoint/2010/main" val="3416405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14573A-9071-4CDE-8CA2-C51BC3C787F0}" type="slidenum">
              <a:rPr lang="en-US" smtClean="0"/>
              <a:t>4</a:t>
            </a:fld>
            <a:endParaRPr lang="en-US"/>
          </a:p>
        </p:txBody>
      </p:sp>
    </p:spTree>
    <p:extLst>
      <p:ext uri="{BB962C8B-B14F-4D97-AF65-F5344CB8AC3E}">
        <p14:creationId xmlns:p14="http://schemas.microsoft.com/office/powerpoint/2010/main" val="1774739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smtClean="0">
                <a:latin typeface="Times" pitchFamily="18" charset="0"/>
              </a:rPr>
              <a:t>POP stands for </a:t>
            </a:r>
            <a:r>
              <a:rPr lang="en-US" sz="1200" b="1" dirty="0" smtClean="0">
                <a:latin typeface="Times" pitchFamily="18" charset="0"/>
              </a:rPr>
              <a:t>Post Office Protocol</a:t>
            </a:r>
            <a:r>
              <a:rPr lang="en-US" sz="1200" dirty="0" smtClean="0">
                <a:latin typeface="Times" pitchFamily="18" charset="0"/>
              </a:rPr>
              <a:t>. It is generally used to support a single client. </a:t>
            </a:r>
          </a:p>
          <a:p>
            <a:pPr marL="0" indent="0">
              <a:buNone/>
            </a:pPr>
            <a:r>
              <a:rPr lang="en-US" sz="1200" dirty="0" smtClean="0">
                <a:latin typeface="Times" pitchFamily="18" charset="0"/>
              </a:rPr>
              <a:t>There are several versions of POP but the POP 3 is the current standard.</a:t>
            </a:r>
          </a:p>
          <a:p>
            <a:pPr marL="0" indent="0">
              <a:buNone/>
            </a:pPr>
            <a:r>
              <a:rPr lang="en-US" sz="1200" b="1" dirty="0" smtClean="0">
                <a:latin typeface="Times" pitchFamily="18" charset="0"/>
              </a:rPr>
              <a:t>Key Points:</a:t>
            </a:r>
            <a:endParaRPr lang="en-US" sz="1200" dirty="0" smtClean="0">
              <a:latin typeface="Times" pitchFamily="18" charset="0"/>
            </a:endParaRPr>
          </a:p>
          <a:p>
            <a:r>
              <a:rPr lang="en-US" sz="1200" dirty="0" smtClean="0">
                <a:latin typeface="Times" pitchFamily="18" charset="0"/>
              </a:rPr>
              <a:t>POP is an application layer internet standard protocol.</a:t>
            </a:r>
          </a:p>
          <a:p>
            <a:r>
              <a:rPr lang="en-US" sz="1200" dirty="0" smtClean="0">
                <a:latin typeface="Times" pitchFamily="18" charset="0"/>
              </a:rPr>
              <a:t>Since POP supports offline access to the messages, thus requires less internet usage time.</a:t>
            </a:r>
          </a:p>
          <a:p>
            <a:r>
              <a:rPr lang="en-US" sz="1200" dirty="0" smtClean="0">
                <a:latin typeface="Times" pitchFamily="18" charset="0"/>
              </a:rPr>
              <a:t>POP does not allow search facility .In order to access the messaged, it is necessary to download them.</a:t>
            </a:r>
          </a:p>
          <a:p>
            <a:r>
              <a:rPr lang="en-US" sz="1200" dirty="0" smtClean="0">
                <a:latin typeface="Times" pitchFamily="18" charset="0"/>
              </a:rPr>
              <a:t>It allows only one mailbox to be created on server.</a:t>
            </a:r>
          </a:p>
          <a:p>
            <a:r>
              <a:rPr lang="en-US" sz="1200" dirty="0" smtClean="0">
                <a:latin typeface="Times" pitchFamily="18" charset="0"/>
              </a:rPr>
              <a:t>It is not suitable for accessing non mail data.</a:t>
            </a:r>
          </a:p>
          <a:p>
            <a:r>
              <a:rPr lang="en-US" sz="1200" dirty="0" smtClean="0">
                <a:latin typeface="Times" pitchFamily="18" charset="0"/>
              </a:rPr>
              <a:t>POP commands are generally abbreviated into codes of three or four letters. </a:t>
            </a:r>
            <a:r>
              <a:rPr lang="en-US" sz="1200" dirty="0" err="1" smtClean="0">
                <a:latin typeface="Times" pitchFamily="18" charset="0"/>
              </a:rPr>
              <a:t>Eg</a:t>
            </a:r>
            <a:r>
              <a:rPr lang="en-US" sz="1200" dirty="0" smtClean="0">
                <a:latin typeface="Times" pitchFamily="18" charset="0"/>
              </a:rPr>
              <a:t>. STAT.</a:t>
            </a:r>
          </a:p>
          <a:p>
            <a:endParaRPr lang="en-US" dirty="0"/>
          </a:p>
        </p:txBody>
      </p:sp>
      <p:sp>
        <p:nvSpPr>
          <p:cNvPr id="4" name="Slide Number Placeholder 3"/>
          <p:cNvSpPr>
            <a:spLocks noGrp="1"/>
          </p:cNvSpPr>
          <p:nvPr>
            <p:ph type="sldNum" sz="quarter" idx="10"/>
          </p:nvPr>
        </p:nvSpPr>
        <p:spPr/>
        <p:txBody>
          <a:bodyPr/>
          <a:lstStyle/>
          <a:p>
            <a:fld id="{F914573A-9071-4CDE-8CA2-C51BC3C787F0}" type="slidenum">
              <a:rPr lang="en-US" smtClean="0"/>
              <a:t>7</a:t>
            </a:fld>
            <a:endParaRPr lang="en-US"/>
          </a:p>
        </p:txBody>
      </p:sp>
    </p:spTree>
    <p:extLst>
      <p:ext uri="{BB962C8B-B14F-4D97-AF65-F5344CB8AC3E}">
        <p14:creationId xmlns:p14="http://schemas.microsoft.com/office/powerpoint/2010/main" val="951851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14573A-9071-4CDE-8CA2-C51BC3C787F0}" type="slidenum">
              <a:rPr lang="en-US" smtClean="0"/>
              <a:t>9</a:t>
            </a:fld>
            <a:endParaRPr lang="en-US"/>
          </a:p>
        </p:txBody>
      </p:sp>
    </p:spTree>
    <p:extLst>
      <p:ext uri="{BB962C8B-B14F-4D97-AF65-F5344CB8AC3E}">
        <p14:creationId xmlns:p14="http://schemas.microsoft.com/office/powerpoint/2010/main" val="2739844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14573A-9071-4CDE-8CA2-C51BC3C787F0}" type="slidenum">
              <a:rPr lang="en-US" smtClean="0"/>
              <a:t>10</a:t>
            </a:fld>
            <a:endParaRPr lang="en-US"/>
          </a:p>
        </p:txBody>
      </p:sp>
    </p:spTree>
    <p:extLst>
      <p:ext uri="{BB962C8B-B14F-4D97-AF65-F5344CB8AC3E}">
        <p14:creationId xmlns:p14="http://schemas.microsoft.com/office/powerpoint/2010/main" val="3052486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194" name="AutoShape 2"/>
          <p:cNvSpPr>
            <a:spLocks noChangeArrowheads="1"/>
          </p:cNvSpPr>
          <p:nvPr/>
        </p:nvSpPr>
        <p:spPr bwMode="auto">
          <a:xfrm>
            <a:off x="304800" y="381000"/>
            <a:ext cx="11582400" cy="5638800"/>
          </a:xfrm>
          <a:prstGeom prst="roundRect">
            <a:avLst>
              <a:gd name="adj" fmla="val 7912"/>
            </a:avLst>
          </a:prstGeom>
          <a:solidFill>
            <a:schemeClr val="folHlink"/>
          </a:solidFill>
          <a:ln>
            <a:noFill/>
          </a:ln>
          <a:effectLst/>
          <a:extLst>
            <a:ext uri="{91240B29-F687-4F45-9708-019B960494DF}">
              <a14:hiddenLine xmlns:a14="http://schemas.microsoft.com/office/drawing/2010/main" w="9525">
                <a:solidFill>
                  <a:srgbClr val="CCCC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panose="02020603050405020304" pitchFamily="18" charset="0"/>
            </a:endParaRPr>
          </a:p>
        </p:txBody>
      </p:sp>
      <p:sp>
        <p:nvSpPr>
          <p:cNvPr id="8195" name="AutoShape 3"/>
          <p:cNvSpPr>
            <a:spLocks noChangeArrowheads="1"/>
          </p:cNvSpPr>
          <p:nvPr/>
        </p:nvSpPr>
        <p:spPr bwMode="white">
          <a:xfrm>
            <a:off x="436034" y="488950"/>
            <a:ext cx="11247967" cy="4768850"/>
          </a:xfrm>
          <a:prstGeom prst="roundRect">
            <a:avLst>
              <a:gd name="adj" fmla="val 7310"/>
            </a:avLst>
          </a:prstGeom>
          <a:solidFill>
            <a:schemeClr val="bg1"/>
          </a:solidFill>
          <a:ln>
            <a:noFill/>
          </a:ln>
          <a:effectLst/>
          <a:extLst>
            <a:ext uri="{91240B29-F687-4F45-9708-019B960494DF}">
              <a14:hiddenLine xmlns:a14="http://schemas.microsoft.com/office/drawing/2010/main" w="9525">
                <a:solidFill>
                  <a:srgbClr val="CCCC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panose="02020603050405020304" pitchFamily="18" charset="0"/>
            </a:endParaRPr>
          </a:p>
        </p:txBody>
      </p:sp>
      <p:sp>
        <p:nvSpPr>
          <p:cNvPr id="8196" name="AutoShape 4"/>
          <p:cNvSpPr>
            <a:spLocks noChangeArrowheads="1"/>
          </p:cNvSpPr>
          <p:nvPr/>
        </p:nvSpPr>
        <p:spPr bwMode="blackWhite">
          <a:xfrm>
            <a:off x="1828800" y="3338513"/>
            <a:ext cx="8534400" cy="2286000"/>
          </a:xfrm>
          <a:prstGeom prst="roundRect">
            <a:avLst>
              <a:gd name="adj" fmla="val 16667"/>
            </a:avLst>
          </a:prstGeom>
          <a:solidFill>
            <a:schemeClr val="bg1"/>
          </a:solidFill>
          <a:ln w="508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1800"/>
          </a:p>
        </p:txBody>
      </p:sp>
      <p:sp>
        <p:nvSpPr>
          <p:cNvPr id="8197" name="Rectangle 5"/>
          <p:cNvSpPr>
            <a:spLocks noGrp="1" noChangeArrowheads="1"/>
          </p:cNvSpPr>
          <p:nvPr>
            <p:ph type="ctrTitle"/>
          </p:nvPr>
        </p:nvSpPr>
        <p:spPr>
          <a:xfrm>
            <a:off x="914400" y="857250"/>
            <a:ext cx="10363200" cy="2266950"/>
          </a:xfrm>
        </p:spPr>
        <p:txBody>
          <a:bodyPr anchor="ctr" anchorCtr="1"/>
          <a:lstStyle>
            <a:lvl1pPr>
              <a:defRPr sz="4400" i="1"/>
            </a:lvl1pPr>
          </a:lstStyle>
          <a:p>
            <a:pPr lvl="0"/>
            <a:r>
              <a:rPr lang="en-US" noProof="0" smtClean="0"/>
              <a:t>Click to edit Master title style</a:t>
            </a:r>
          </a:p>
        </p:txBody>
      </p:sp>
      <p:sp>
        <p:nvSpPr>
          <p:cNvPr id="8198" name="Rectangle 6"/>
          <p:cNvSpPr>
            <a:spLocks noGrp="1" noChangeArrowheads="1"/>
          </p:cNvSpPr>
          <p:nvPr>
            <p:ph type="subTitle" idx="1"/>
          </p:nvPr>
        </p:nvSpPr>
        <p:spPr>
          <a:xfrm>
            <a:off x="2336800" y="3567113"/>
            <a:ext cx="7213600" cy="1905000"/>
          </a:xfrm>
        </p:spPr>
        <p:txBody>
          <a:bodyPr anchor="ctr"/>
          <a:lstStyle>
            <a:lvl1pPr marL="0" indent="0" algn="ctr">
              <a:buFont typeface="Wingdings" panose="05000000000000000000" pitchFamily="2" charset="2"/>
              <a:buNone/>
              <a:defRPr sz="3300"/>
            </a:lvl1pPr>
          </a:lstStyle>
          <a:p>
            <a:pPr lvl="0"/>
            <a:r>
              <a:rPr lang="en-US" noProof="0" smtClean="0"/>
              <a:t>Click to edit Master subtitle style</a:t>
            </a:r>
          </a:p>
        </p:txBody>
      </p:sp>
      <p:sp>
        <p:nvSpPr>
          <p:cNvPr id="8199" name="Rectangle 7"/>
          <p:cNvSpPr>
            <a:spLocks noGrp="1" noChangeArrowheads="1"/>
          </p:cNvSpPr>
          <p:nvPr>
            <p:ph type="dt" sz="half" idx="2"/>
          </p:nvPr>
        </p:nvSpPr>
        <p:spPr/>
        <p:txBody>
          <a:bodyPr/>
          <a:lstStyle>
            <a:lvl1pPr>
              <a:defRPr/>
            </a:lvl1pPr>
          </a:lstStyle>
          <a:p>
            <a:fld id="{6BBFC8C1-FB61-4297-B346-B8B699575329}" type="datetime1">
              <a:rPr lang="en-US" smtClean="0"/>
              <a:t>12/27/2022</a:t>
            </a:fld>
            <a:endParaRPr lang="en-US"/>
          </a:p>
        </p:txBody>
      </p:sp>
      <p:sp>
        <p:nvSpPr>
          <p:cNvPr id="8200" name="Rectangle 8"/>
          <p:cNvSpPr>
            <a:spLocks noGrp="1" noChangeArrowheads="1"/>
          </p:cNvSpPr>
          <p:nvPr>
            <p:ph type="ftr" sz="quarter" idx="3"/>
          </p:nvPr>
        </p:nvSpPr>
        <p:spPr>
          <a:xfrm>
            <a:off x="4470400" y="6391275"/>
            <a:ext cx="3860800" cy="457200"/>
          </a:xfrm>
        </p:spPr>
        <p:txBody>
          <a:bodyPr/>
          <a:lstStyle>
            <a:lvl1pPr>
              <a:defRPr/>
            </a:lvl1pPr>
          </a:lstStyle>
          <a:p>
            <a:endParaRPr lang="en-US"/>
          </a:p>
        </p:txBody>
      </p:sp>
      <p:sp>
        <p:nvSpPr>
          <p:cNvPr id="8201" name="Rectangle 9"/>
          <p:cNvSpPr>
            <a:spLocks noGrp="1" noChangeArrowheads="1"/>
          </p:cNvSpPr>
          <p:nvPr>
            <p:ph type="sldNum" sz="quarter" idx="4"/>
          </p:nvPr>
        </p:nvSpPr>
        <p:spPr>
          <a:xfrm>
            <a:off x="9144000" y="6391275"/>
            <a:ext cx="2133600" cy="457200"/>
          </a:xfrm>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3328867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ED5E75B9-E202-4F38-91B1-07C4EAFFFCB5}" type="datetime1">
              <a:rPr lang="en-US" smtClean="0"/>
              <a:t>12/27/2022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5195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AEAA4799-DB03-4C6A-8922-9070053BB26B}" type="datetime1">
              <a:rPr lang="en-US" smtClean="0"/>
              <a:t>12/27/2022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1588530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016000" y="1905000"/>
            <a:ext cx="50292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248400" y="1905000"/>
            <a:ext cx="50292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251C2178-1CEA-403F-8ECC-160AEF808B12}" type="datetime1">
              <a:rPr lang="en-US" smtClean="0"/>
              <a:t>12/27/2022</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734365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961CDDE4-2182-4B2A-A8F3-A5A0717683A3}" type="datetime1">
              <a:rPr lang="en-US" smtClean="0"/>
              <a:t>12/27/2022</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2354265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B64AE09E-6276-412B-A246-6FCAC0F4B7FB}" type="datetime1">
              <a:rPr lang="en-US" smtClean="0"/>
              <a:t>12/27/2022</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1963615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16B71B1E-48E6-4EF6-BFB0-620EFC0A10BC}" type="datetime1">
              <a:rPr lang="en-US" smtClean="0"/>
              <a:t>12/27/2022</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1161998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AD823356-FD97-420B-BFEB-BCF6FA6BE463}" type="datetime1">
              <a:rPr lang="en-US" smtClean="0"/>
              <a:t>12/27/2022</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290785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E1D8129F-7CBA-4546-9A75-7078EAC23ED9}" type="datetime1">
              <a:rPr lang="en-US" smtClean="0"/>
              <a:t>12/27/2022</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3538955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9F28E476-76EE-4E14-9AE1-FD20A44B6821}" type="datetime1">
              <a:rPr lang="en-US" smtClean="0"/>
              <a:t>12/27/2022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1982198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12200" y="533400"/>
            <a:ext cx="2565400" cy="5410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016000" y="533400"/>
            <a:ext cx="74930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64D9FA38-4049-4700-84FF-64E4F6743361}" type="datetime1">
              <a:rPr lang="en-US" smtClean="0"/>
              <a:t>12/27/2022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2674617-9C49-4A6A-A5F8-6FBC8CEBD7D4}" type="slidenum">
              <a:rPr lang="en-US" smtClean="0"/>
              <a:t>‹#›</a:t>
            </a:fld>
            <a:endParaRPr lang="en-US"/>
          </a:p>
        </p:txBody>
      </p:sp>
    </p:spTree>
    <p:extLst>
      <p:ext uri="{BB962C8B-B14F-4D97-AF65-F5344CB8AC3E}">
        <p14:creationId xmlns:p14="http://schemas.microsoft.com/office/powerpoint/2010/main" val="2375250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1016000" y="533400"/>
            <a:ext cx="10261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7171" name="Rectangle 3"/>
          <p:cNvSpPr>
            <a:spLocks noGrp="1" noChangeArrowheads="1"/>
          </p:cNvSpPr>
          <p:nvPr>
            <p:ph type="body" idx="1"/>
          </p:nvPr>
        </p:nvSpPr>
        <p:spPr bwMode="auto">
          <a:xfrm>
            <a:off x="1016000" y="1905000"/>
            <a:ext cx="102616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172" name="Rectangle 4"/>
          <p:cNvSpPr>
            <a:spLocks noGrp="1" noChangeArrowheads="1"/>
          </p:cNvSpPr>
          <p:nvPr>
            <p:ph type="dt" sz="half" idx="2"/>
          </p:nvPr>
        </p:nvSpPr>
        <p:spPr bwMode="auto">
          <a:xfrm>
            <a:off x="1016000" y="6391275"/>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fld id="{2F93CD7C-5D2D-4012-8066-7C55EE74EB6A}" type="datetime1">
              <a:rPr lang="en-US" smtClean="0"/>
              <a:t>12/27/2022</a:t>
            </a:fld>
            <a:endParaRPr lang="en-US"/>
          </a:p>
        </p:txBody>
      </p:sp>
      <p:sp>
        <p:nvSpPr>
          <p:cNvPr id="7173" name="Rectangle 5"/>
          <p:cNvSpPr>
            <a:spLocks noGrp="1" noChangeArrowheads="1"/>
          </p:cNvSpPr>
          <p:nvPr>
            <p:ph type="ftr" sz="quarter" idx="3"/>
          </p:nvPr>
        </p:nvSpPr>
        <p:spPr bwMode="auto">
          <a:xfrm>
            <a:off x="4470400" y="6403975"/>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en-US"/>
          </a:p>
        </p:txBody>
      </p:sp>
      <p:sp>
        <p:nvSpPr>
          <p:cNvPr id="7174" name="Rectangle 6"/>
          <p:cNvSpPr>
            <a:spLocks noGrp="1" noChangeArrowheads="1"/>
          </p:cNvSpPr>
          <p:nvPr>
            <p:ph type="sldNum" sz="quarter" idx="4"/>
          </p:nvPr>
        </p:nvSpPr>
        <p:spPr bwMode="auto">
          <a:xfrm>
            <a:off x="9144000" y="64008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fld id="{D2674617-9C49-4A6A-A5F8-6FBC8CEBD7D4}" type="slidenum">
              <a:rPr lang="en-US" smtClean="0"/>
              <a:t>‹#›</a:t>
            </a:fld>
            <a:endParaRPr lang="en-US"/>
          </a:p>
        </p:txBody>
      </p:sp>
      <p:grpSp>
        <p:nvGrpSpPr>
          <p:cNvPr id="7175" name="Group 7"/>
          <p:cNvGrpSpPr>
            <a:grpSpLocks/>
          </p:cNvGrpSpPr>
          <p:nvPr/>
        </p:nvGrpSpPr>
        <p:grpSpPr bwMode="auto">
          <a:xfrm>
            <a:off x="224368" y="228600"/>
            <a:ext cx="11764433" cy="6096000"/>
            <a:chOff x="106" y="144"/>
            <a:chExt cx="5558" cy="3840"/>
          </a:xfrm>
        </p:grpSpPr>
        <p:sp>
          <p:nvSpPr>
            <p:cNvPr id="7176" name="AutoShape 8"/>
            <p:cNvSpPr>
              <a:spLocks noChangeArrowheads="1"/>
            </p:cNvSpPr>
            <p:nvPr/>
          </p:nvSpPr>
          <p:spPr bwMode="auto">
            <a:xfrm>
              <a:off x="106" y="144"/>
              <a:ext cx="5558" cy="3840"/>
            </a:xfrm>
            <a:prstGeom prst="roundRect">
              <a:avLst>
                <a:gd name="adj" fmla="val 11046"/>
              </a:avLst>
            </a:prstGeom>
            <a:noFill/>
            <a:ln w="2857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panose="02020603050405020304" pitchFamily="18" charset="0"/>
              </a:endParaRPr>
            </a:p>
          </p:txBody>
        </p:sp>
        <p:sp>
          <p:nvSpPr>
            <p:cNvPr id="7177" name="Line 9"/>
            <p:cNvSpPr>
              <a:spLocks noChangeShapeType="1"/>
            </p:cNvSpPr>
            <p:nvPr/>
          </p:nvSpPr>
          <p:spPr bwMode="auto">
            <a:xfrm>
              <a:off x="480" y="1077"/>
              <a:ext cx="4848" cy="0"/>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800"/>
            </a:p>
          </p:txBody>
        </p:sp>
      </p:grpSp>
    </p:spTree>
    <p:extLst>
      <p:ext uri="{BB962C8B-B14F-4D97-AF65-F5344CB8AC3E}">
        <p14:creationId xmlns:p14="http://schemas.microsoft.com/office/powerpoint/2010/main" val="13187106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fontAlgn="base" hangingPunct="1">
        <a:spcBef>
          <a:spcPct val="0"/>
        </a:spcBef>
        <a:spcAft>
          <a:spcPct val="0"/>
        </a:spcAft>
        <a:defRPr sz="3600" kern="1200">
          <a:solidFill>
            <a:schemeClr val="tx2"/>
          </a:solidFill>
          <a:latin typeface="+mj-lt"/>
          <a:ea typeface="+mj-ea"/>
          <a:cs typeface="+mj-cs"/>
        </a:defRPr>
      </a:lvl1pPr>
      <a:lvl2pPr algn="ctr" rtl="0" eaLnBrk="1" fontAlgn="base" hangingPunct="1">
        <a:spcBef>
          <a:spcPct val="0"/>
        </a:spcBef>
        <a:spcAft>
          <a:spcPct val="0"/>
        </a:spcAft>
        <a:defRPr sz="3600">
          <a:solidFill>
            <a:schemeClr val="tx2"/>
          </a:solidFill>
          <a:latin typeface="Arial Black" panose="020B0A04020102020204" pitchFamily="34" charset="0"/>
        </a:defRPr>
      </a:lvl2pPr>
      <a:lvl3pPr algn="ctr" rtl="0" eaLnBrk="1" fontAlgn="base" hangingPunct="1">
        <a:spcBef>
          <a:spcPct val="0"/>
        </a:spcBef>
        <a:spcAft>
          <a:spcPct val="0"/>
        </a:spcAft>
        <a:defRPr sz="3600">
          <a:solidFill>
            <a:schemeClr val="tx2"/>
          </a:solidFill>
          <a:latin typeface="Arial Black" panose="020B0A04020102020204" pitchFamily="34" charset="0"/>
        </a:defRPr>
      </a:lvl3pPr>
      <a:lvl4pPr algn="ctr" rtl="0" eaLnBrk="1" fontAlgn="base" hangingPunct="1">
        <a:spcBef>
          <a:spcPct val="0"/>
        </a:spcBef>
        <a:spcAft>
          <a:spcPct val="0"/>
        </a:spcAft>
        <a:defRPr sz="3600">
          <a:solidFill>
            <a:schemeClr val="tx2"/>
          </a:solidFill>
          <a:latin typeface="Arial Black" panose="020B0A04020102020204" pitchFamily="34" charset="0"/>
        </a:defRPr>
      </a:lvl4pPr>
      <a:lvl5pPr algn="ctr" rtl="0" eaLnBrk="1" fontAlgn="base" hangingPunct="1">
        <a:spcBef>
          <a:spcPct val="0"/>
        </a:spcBef>
        <a:spcAft>
          <a:spcPct val="0"/>
        </a:spcAft>
        <a:defRPr sz="3600">
          <a:solidFill>
            <a:schemeClr val="tx2"/>
          </a:solidFill>
          <a:latin typeface="Arial Black" panose="020B0A04020102020204" pitchFamily="34" charset="0"/>
        </a:defRPr>
      </a:lvl5pPr>
      <a:lvl6pPr marL="457200" algn="ctr" rtl="0" eaLnBrk="1" fontAlgn="base" hangingPunct="1">
        <a:spcBef>
          <a:spcPct val="0"/>
        </a:spcBef>
        <a:spcAft>
          <a:spcPct val="0"/>
        </a:spcAft>
        <a:defRPr sz="3600">
          <a:solidFill>
            <a:schemeClr val="tx2"/>
          </a:solidFill>
          <a:latin typeface="Arial Black" panose="020B0A04020102020204" pitchFamily="34" charset="0"/>
        </a:defRPr>
      </a:lvl6pPr>
      <a:lvl7pPr marL="914400" algn="ctr" rtl="0" eaLnBrk="1" fontAlgn="base" hangingPunct="1">
        <a:spcBef>
          <a:spcPct val="0"/>
        </a:spcBef>
        <a:spcAft>
          <a:spcPct val="0"/>
        </a:spcAft>
        <a:defRPr sz="3600">
          <a:solidFill>
            <a:schemeClr val="tx2"/>
          </a:solidFill>
          <a:latin typeface="Arial Black" panose="020B0A04020102020204" pitchFamily="34" charset="0"/>
        </a:defRPr>
      </a:lvl7pPr>
      <a:lvl8pPr marL="1371600" algn="ctr" rtl="0" eaLnBrk="1" fontAlgn="base" hangingPunct="1">
        <a:spcBef>
          <a:spcPct val="0"/>
        </a:spcBef>
        <a:spcAft>
          <a:spcPct val="0"/>
        </a:spcAft>
        <a:defRPr sz="3600">
          <a:solidFill>
            <a:schemeClr val="tx2"/>
          </a:solidFill>
          <a:latin typeface="Arial Black" panose="020B0A04020102020204" pitchFamily="34" charset="0"/>
        </a:defRPr>
      </a:lvl8pPr>
      <a:lvl9pPr marL="1828800" algn="ctr" rtl="0" eaLnBrk="1" fontAlgn="base" hangingPunct="1">
        <a:spcBef>
          <a:spcPct val="0"/>
        </a:spcBef>
        <a:spcAft>
          <a:spcPct val="0"/>
        </a:spcAft>
        <a:defRPr sz="3600">
          <a:solidFill>
            <a:schemeClr val="tx2"/>
          </a:solidFill>
          <a:latin typeface="Arial Black" panose="020B0A04020102020204" pitchFamily="34" charset="0"/>
        </a:defRPr>
      </a:lvl9pPr>
    </p:titleStyle>
    <p:bodyStyle>
      <a:lvl1pPr marL="342900" indent="-342900" algn="l" rtl="0" eaLnBrk="1" fontAlgn="base" hangingPunct="1">
        <a:spcBef>
          <a:spcPct val="20000"/>
        </a:spcBef>
        <a:spcAft>
          <a:spcPct val="0"/>
        </a:spcAft>
        <a:buClr>
          <a:schemeClr val="bg2"/>
        </a:buClr>
        <a:buSzPct val="70000"/>
        <a:buFont typeface="Wingdings" panose="05000000000000000000" pitchFamily="2" charset="2"/>
        <a:buChar char="l"/>
        <a:defRPr sz="31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SzPct val="150000"/>
        <a:buChar char="•"/>
        <a:defRPr sz="26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tx1"/>
        </a:buClr>
        <a:buSzPct val="150000"/>
        <a:buChar char="•"/>
        <a:defRPr sz="22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2"/>
        </a:buClr>
        <a:buSzPct val="15000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folHlink"/>
        </a:buClr>
        <a:buSzPct val="15000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98774"/>
            <a:ext cx="10363200" cy="2128321"/>
          </a:xfrm>
        </p:spPr>
        <p:txBody>
          <a:bodyPr/>
          <a:lstStyle/>
          <a:p>
            <a:r>
              <a:rPr lang="en-US" dirty="0" smtClean="0"/>
              <a:t>Internet Technology (1)</a:t>
            </a:r>
            <a:endParaRPr lang="en-US" dirty="0"/>
          </a:p>
        </p:txBody>
      </p:sp>
      <p:sp>
        <p:nvSpPr>
          <p:cNvPr id="3" name="Subtitle 2"/>
          <p:cNvSpPr>
            <a:spLocks noGrp="1"/>
          </p:cNvSpPr>
          <p:nvPr>
            <p:ph type="subTitle" idx="1"/>
          </p:nvPr>
        </p:nvSpPr>
        <p:spPr>
          <a:xfrm>
            <a:off x="2336188" y="3545079"/>
            <a:ext cx="7213600" cy="1905000"/>
          </a:xfrm>
        </p:spPr>
        <p:txBody>
          <a:bodyPr/>
          <a:lstStyle/>
          <a:p>
            <a:r>
              <a:rPr lang="en-US" sz="4800" b="1" dirty="0" smtClean="0">
                <a:latin typeface="Times" pitchFamily="18" charset="0"/>
              </a:rPr>
              <a:t>Lecture </a:t>
            </a:r>
            <a:r>
              <a:rPr lang="en-US" sz="4800" b="1" dirty="0" smtClean="0">
                <a:latin typeface="Times" pitchFamily="18" charset="0"/>
              </a:rPr>
              <a:t>(6)</a:t>
            </a:r>
            <a:endParaRPr lang="en-US" sz="4800" b="1" dirty="0">
              <a:latin typeface="Times" pitchFamily="18" charset="0"/>
            </a:endParaRPr>
          </a:p>
        </p:txBody>
      </p:sp>
      <p:sp>
        <p:nvSpPr>
          <p:cNvPr id="6" name="Slide Number Placeholder 5"/>
          <p:cNvSpPr>
            <a:spLocks noGrp="1"/>
          </p:cNvSpPr>
          <p:nvPr>
            <p:ph type="sldNum" sz="quarter" idx="4"/>
          </p:nvPr>
        </p:nvSpPr>
        <p:spPr/>
        <p:txBody>
          <a:bodyPr/>
          <a:lstStyle/>
          <a:p>
            <a:fld id="{D2674617-9C49-4A6A-A5F8-6FBC8CEBD7D4}" type="slidenum">
              <a:rPr lang="en-US" smtClean="0"/>
              <a:t>1</a:t>
            </a:fld>
            <a:endParaRPr lang="en-US"/>
          </a:p>
        </p:txBody>
      </p:sp>
      <p:sp>
        <p:nvSpPr>
          <p:cNvPr id="7" name="Subtitle 2"/>
          <p:cNvSpPr txBox="1">
            <a:spLocks/>
          </p:cNvSpPr>
          <p:nvPr/>
        </p:nvSpPr>
        <p:spPr bwMode="auto">
          <a:xfrm>
            <a:off x="2336188" y="516043"/>
            <a:ext cx="7213600" cy="682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0" indent="0" algn="ctr" rtl="0" eaLnBrk="1" fontAlgn="base" hangingPunct="1">
              <a:spcBef>
                <a:spcPct val="20000"/>
              </a:spcBef>
              <a:spcAft>
                <a:spcPct val="0"/>
              </a:spcAft>
              <a:buClr>
                <a:schemeClr val="bg2"/>
              </a:buClr>
              <a:buSzPct val="70000"/>
              <a:buFont typeface="Wingdings" panose="05000000000000000000" pitchFamily="2" charset="2"/>
              <a:buNone/>
              <a:defRPr sz="33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SzPct val="150000"/>
              <a:buChar char="•"/>
              <a:defRPr sz="26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tx1"/>
              </a:buClr>
              <a:buSzPct val="150000"/>
              <a:buChar char="•"/>
              <a:defRPr sz="22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2"/>
              </a:buClr>
              <a:buSzPct val="15000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folHlink"/>
              </a:buClr>
              <a:buSzPct val="15000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SA" dirty="0" smtClean="0">
                <a:cs typeface="Traditional Arabic" pitchFamily="2" charset="-78"/>
              </a:rPr>
              <a:t>بسم الله الرحمن الرحيم</a:t>
            </a:r>
            <a:endParaRPr lang="en-US" dirty="0">
              <a:cs typeface="Traditional Arabic" pitchFamily="2" charset="-78"/>
            </a:endParaRPr>
          </a:p>
        </p:txBody>
      </p:sp>
    </p:spTree>
    <p:extLst>
      <p:ext uri="{BB962C8B-B14F-4D97-AF65-F5344CB8AC3E}">
        <p14:creationId xmlns:p14="http://schemas.microsoft.com/office/powerpoint/2010/main" val="8431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Lecture Agenda</a:t>
            </a:r>
            <a:endParaRPr lang="en-US" dirty="0"/>
          </a:p>
        </p:txBody>
      </p:sp>
      <p:sp>
        <p:nvSpPr>
          <p:cNvPr id="3" name="Content Placeholder 2"/>
          <p:cNvSpPr>
            <a:spLocks noGrp="1"/>
          </p:cNvSpPr>
          <p:nvPr>
            <p:ph idx="1"/>
          </p:nvPr>
        </p:nvSpPr>
        <p:spPr>
          <a:xfrm>
            <a:off x="1016000" y="3463290"/>
            <a:ext cx="10261600" cy="1245870"/>
          </a:xfrm>
        </p:spPr>
        <p:txBody>
          <a:bodyPr/>
          <a:lstStyle/>
          <a:p>
            <a:pPr marL="0" indent="0" algn="ctr">
              <a:buNone/>
            </a:pPr>
            <a:r>
              <a:rPr lang="en-US" sz="6600" b="1" dirty="0">
                <a:solidFill>
                  <a:srgbClr val="FFC000"/>
                </a:solidFill>
                <a:latin typeface="Times" pitchFamily="18" charset="0"/>
              </a:rPr>
              <a:t>E-mail Overview</a:t>
            </a:r>
          </a:p>
        </p:txBody>
      </p:sp>
      <p:sp>
        <p:nvSpPr>
          <p:cNvPr id="6" name="Slide Number Placeholder 5"/>
          <p:cNvSpPr>
            <a:spLocks noGrp="1"/>
          </p:cNvSpPr>
          <p:nvPr>
            <p:ph type="sldNum" sz="quarter" idx="12"/>
          </p:nvPr>
        </p:nvSpPr>
        <p:spPr/>
        <p:txBody>
          <a:bodyPr/>
          <a:lstStyle/>
          <a:p>
            <a:fld id="{D2674617-9C49-4A6A-A5F8-6FBC8CEBD7D4}" type="slidenum">
              <a:rPr lang="en-US" smtClean="0"/>
              <a:t>2</a:t>
            </a:fld>
            <a:endParaRPr lang="en-US"/>
          </a:p>
        </p:txBody>
      </p:sp>
    </p:spTree>
    <p:extLst>
      <p:ext uri="{BB962C8B-B14F-4D97-AF65-F5344CB8AC3E}">
        <p14:creationId xmlns:p14="http://schemas.microsoft.com/office/powerpoint/2010/main" val="2346209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E-mail </a:t>
            </a:r>
            <a:r>
              <a:rPr lang="en-US" dirty="0" smtClean="0"/>
              <a:t>Overview</a:t>
            </a:r>
            <a:endParaRPr lang="en-US" dirty="0"/>
          </a:p>
        </p:txBody>
      </p:sp>
      <p:sp>
        <p:nvSpPr>
          <p:cNvPr id="3" name="Content Placeholder 2"/>
          <p:cNvSpPr>
            <a:spLocks noGrp="1"/>
          </p:cNvSpPr>
          <p:nvPr>
            <p:ph idx="1"/>
          </p:nvPr>
        </p:nvSpPr>
        <p:spPr/>
        <p:txBody>
          <a:bodyPr/>
          <a:lstStyle/>
          <a:p>
            <a:pPr marL="0" indent="0">
              <a:buNone/>
            </a:pPr>
            <a:r>
              <a:rPr lang="en-US" sz="2400" dirty="0" smtClean="0">
                <a:latin typeface="Times" pitchFamily="18" charset="0"/>
              </a:rPr>
              <a:t>Email </a:t>
            </a:r>
            <a:r>
              <a:rPr lang="en-US" sz="2400" dirty="0">
                <a:latin typeface="Times" pitchFamily="18" charset="0"/>
              </a:rPr>
              <a:t>is a service which allows us to send the message in electronic mode over the internet. It offers an efficient, inexpensive and real time mean of distributing information among people.</a:t>
            </a:r>
          </a:p>
          <a:p>
            <a:pPr marL="0" indent="0">
              <a:buNone/>
            </a:pPr>
            <a:r>
              <a:rPr lang="en-US" sz="2400" b="1" dirty="0">
                <a:latin typeface="Times" pitchFamily="18" charset="0"/>
              </a:rPr>
              <a:t>E-Mail </a:t>
            </a:r>
            <a:r>
              <a:rPr lang="en-US" sz="2400" b="1" dirty="0" smtClean="0">
                <a:latin typeface="Times" pitchFamily="18" charset="0"/>
              </a:rPr>
              <a:t>Address:</a:t>
            </a:r>
            <a:endParaRPr lang="en-US" sz="2400" b="1" dirty="0">
              <a:latin typeface="Times" pitchFamily="18" charset="0"/>
            </a:endParaRPr>
          </a:p>
          <a:p>
            <a:pPr marL="0" indent="0">
              <a:buNone/>
            </a:pPr>
            <a:r>
              <a:rPr lang="en-US" sz="2400" dirty="0">
                <a:latin typeface="Times" pitchFamily="18" charset="0"/>
              </a:rPr>
              <a:t>Each user of email is assigned a unique name for his email account. This name is known as </a:t>
            </a:r>
            <a:r>
              <a:rPr lang="en-US" sz="2400" b="1" dirty="0">
                <a:latin typeface="Times" pitchFamily="18" charset="0"/>
              </a:rPr>
              <a:t>E-mail address</a:t>
            </a:r>
            <a:r>
              <a:rPr lang="en-US" sz="2400" dirty="0">
                <a:latin typeface="Times" pitchFamily="18" charset="0"/>
              </a:rPr>
              <a:t>. Different users can send and receive messages according to the e-mail address.</a:t>
            </a:r>
          </a:p>
          <a:p>
            <a:pPr marL="0" indent="0">
              <a:buNone/>
            </a:pPr>
            <a:r>
              <a:rPr lang="en-US" sz="2400" dirty="0">
                <a:latin typeface="Times" pitchFamily="18" charset="0"/>
              </a:rPr>
              <a:t>E-mail is generally of the form </a:t>
            </a:r>
            <a:r>
              <a:rPr lang="en-US" sz="2400" dirty="0" err="1">
                <a:latin typeface="Times" pitchFamily="18" charset="0"/>
              </a:rPr>
              <a:t>username@domainname</a:t>
            </a:r>
            <a:r>
              <a:rPr lang="en-US" sz="2400" dirty="0">
                <a:latin typeface="Times" pitchFamily="18" charset="0"/>
              </a:rPr>
              <a:t>. For example, webmaster@tutorialspoint.com is an e-mail address where webmaster is username and tutorialspoint.com is domain name.</a:t>
            </a:r>
          </a:p>
          <a:p>
            <a:pPr marL="0" indent="0">
              <a:buNone/>
            </a:pPr>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3</a:t>
            </a:fld>
            <a:endParaRPr lang="en-US"/>
          </a:p>
        </p:txBody>
      </p:sp>
    </p:spTree>
    <p:extLst>
      <p:ext uri="{BB962C8B-B14F-4D97-AF65-F5344CB8AC3E}">
        <p14:creationId xmlns:p14="http://schemas.microsoft.com/office/powerpoint/2010/main" val="4113920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E-mail Message </a:t>
            </a:r>
            <a:r>
              <a:rPr lang="en-US" dirty="0" smtClean="0"/>
              <a:t>Components</a:t>
            </a:r>
            <a:endParaRPr lang="en-US" dirty="0"/>
          </a:p>
        </p:txBody>
      </p:sp>
      <p:sp>
        <p:nvSpPr>
          <p:cNvPr id="3" name="Content Placeholder 2"/>
          <p:cNvSpPr>
            <a:spLocks noGrp="1"/>
          </p:cNvSpPr>
          <p:nvPr>
            <p:ph idx="1"/>
          </p:nvPr>
        </p:nvSpPr>
        <p:spPr>
          <a:xfrm>
            <a:off x="330506" y="1904999"/>
            <a:ext cx="6021526" cy="4162425"/>
          </a:xfrm>
        </p:spPr>
        <p:txBody>
          <a:bodyPr/>
          <a:lstStyle/>
          <a:p>
            <a:pPr>
              <a:lnSpc>
                <a:spcPct val="150000"/>
              </a:lnSpc>
              <a:buFont typeface="Wingdings" panose="05000000000000000000" pitchFamily="2" charset="2"/>
              <a:buChar char="Ø"/>
            </a:pPr>
            <a:r>
              <a:rPr lang="en-US" sz="2000" dirty="0">
                <a:latin typeface="Times" pitchFamily="18" charset="0"/>
              </a:rPr>
              <a:t>E-mail message comprises of different components: </a:t>
            </a:r>
            <a:r>
              <a:rPr lang="en-US" sz="2000" dirty="0" smtClean="0">
                <a:latin typeface="Times" pitchFamily="18" charset="0"/>
              </a:rPr>
              <a:t>              E-mail Header</a:t>
            </a:r>
          </a:p>
          <a:p>
            <a:pPr marL="0" indent="0">
              <a:lnSpc>
                <a:spcPct val="150000"/>
              </a:lnSpc>
              <a:buNone/>
            </a:pPr>
            <a:r>
              <a:rPr lang="en-US" sz="2000" dirty="0" smtClean="0">
                <a:latin typeface="Times" pitchFamily="18" charset="0"/>
              </a:rPr>
              <a:t>     Greeting</a:t>
            </a:r>
          </a:p>
          <a:p>
            <a:pPr marL="0" indent="0">
              <a:lnSpc>
                <a:spcPct val="150000"/>
              </a:lnSpc>
              <a:buNone/>
            </a:pPr>
            <a:r>
              <a:rPr lang="en-US" sz="2000" dirty="0">
                <a:latin typeface="Times" pitchFamily="18" charset="0"/>
              </a:rPr>
              <a:t> </a:t>
            </a:r>
            <a:r>
              <a:rPr lang="en-US" sz="2000" dirty="0" smtClean="0">
                <a:latin typeface="Times" pitchFamily="18" charset="0"/>
              </a:rPr>
              <a:t>     Text</a:t>
            </a:r>
          </a:p>
          <a:p>
            <a:pPr marL="0" indent="0">
              <a:lnSpc>
                <a:spcPct val="150000"/>
              </a:lnSpc>
              <a:buNone/>
            </a:pPr>
            <a:r>
              <a:rPr lang="en-US" sz="2000" dirty="0">
                <a:latin typeface="Times" pitchFamily="18" charset="0"/>
              </a:rPr>
              <a:t> </a:t>
            </a:r>
            <a:r>
              <a:rPr lang="en-US" sz="2000" dirty="0" smtClean="0">
                <a:latin typeface="Times" pitchFamily="18" charset="0"/>
              </a:rPr>
              <a:t>      </a:t>
            </a:r>
            <a:r>
              <a:rPr lang="en-US" sz="2000" dirty="0">
                <a:latin typeface="Times" pitchFamily="18" charset="0"/>
              </a:rPr>
              <a:t>Signature. </a:t>
            </a:r>
            <a:endParaRPr lang="en-US" sz="2000" dirty="0" smtClean="0">
              <a:latin typeface="Times" pitchFamily="18" charset="0"/>
            </a:endParaRPr>
          </a:p>
          <a:p>
            <a:pPr>
              <a:lnSpc>
                <a:spcPct val="150000"/>
              </a:lnSpc>
              <a:buFont typeface="Wingdings" panose="05000000000000000000" pitchFamily="2" charset="2"/>
              <a:buChar char="Ø"/>
            </a:pPr>
            <a:r>
              <a:rPr lang="en-US" sz="2000" dirty="0" smtClean="0">
                <a:latin typeface="Times" pitchFamily="18" charset="0"/>
              </a:rPr>
              <a:t>These </a:t>
            </a:r>
            <a:r>
              <a:rPr lang="en-US" sz="2000" dirty="0">
                <a:latin typeface="Times" pitchFamily="18" charset="0"/>
              </a:rPr>
              <a:t>components are described in the following diagram:</a:t>
            </a:r>
          </a:p>
        </p:txBody>
      </p:sp>
      <p:sp>
        <p:nvSpPr>
          <p:cNvPr id="6" name="Slide Number Placeholder 5"/>
          <p:cNvSpPr>
            <a:spLocks noGrp="1"/>
          </p:cNvSpPr>
          <p:nvPr>
            <p:ph type="sldNum" sz="quarter" idx="12"/>
          </p:nvPr>
        </p:nvSpPr>
        <p:spPr/>
        <p:txBody>
          <a:bodyPr/>
          <a:lstStyle/>
          <a:p>
            <a:fld id="{D2674617-9C49-4A6A-A5F8-6FBC8CEBD7D4}" type="slidenum">
              <a:rPr lang="en-US" smtClean="0"/>
              <a:t>4</a:t>
            </a:fld>
            <a:endParaRPr lang="en-US"/>
          </a:p>
        </p:txBody>
      </p:sp>
      <p:pic>
        <p:nvPicPr>
          <p:cNvPr id="1026" name="Picture 2" descr="internet_technologies_tutori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9064" y="1781175"/>
            <a:ext cx="53340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792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E-mail </a:t>
            </a:r>
            <a:r>
              <a:rPr lang="en-US" dirty="0" smtClean="0"/>
              <a:t>Working</a:t>
            </a:r>
            <a:endParaRPr lang="en-US" dirty="0"/>
          </a:p>
        </p:txBody>
      </p:sp>
      <p:sp>
        <p:nvSpPr>
          <p:cNvPr id="3" name="Content Placeholder 2"/>
          <p:cNvSpPr>
            <a:spLocks noGrp="1"/>
          </p:cNvSpPr>
          <p:nvPr>
            <p:ph idx="1"/>
          </p:nvPr>
        </p:nvSpPr>
        <p:spPr>
          <a:xfrm>
            <a:off x="412521" y="1676399"/>
            <a:ext cx="11182071" cy="4714875"/>
          </a:xfrm>
        </p:spPr>
        <p:txBody>
          <a:bodyPr/>
          <a:lstStyle/>
          <a:p>
            <a:pPr marL="0" indent="0">
              <a:buNone/>
            </a:pPr>
            <a:r>
              <a:rPr lang="en-US" sz="2000" b="1" dirty="0">
                <a:latin typeface="Times" pitchFamily="18" charset="0"/>
              </a:rPr>
              <a:t>E-mail </a:t>
            </a:r>
            <a:r>
              <a:rPr lang="en-US" sz="2000" b="1" dirty="0" smtClean="0">
                <a:latin typeface="Times" pitchFamily="18" charset="0"/>
              </a:rPr>
              <a:t>System:</a:t>
            </a:r>
            <a:endParaRPr lang="en-US" sz="2000" b="1" dirty="0">
              <a:latin typeface="Times" pitchFamily="18" charset="0"/>
            </a:endParaRPr>
          </a:p>
          <a:p>
            <a:pPr marL="0" indent="0">
              <a:buNone/>
            </a:pPr>
            <a:r>
              <a:rPr lang="en-US" sz="2000" dirty="0">
                <a:latin typeface="Times" pitchFamily="18" charset="0"/>
              </a:rPr>
              <a:t>E-mail system comprises of the following three components:</a:t>
            </a:r>
          </a:p>
          <a:p>
            <a:pPr marL="0" indent="0">
              <a:buNone/>
            </a:pPr>
            <a:r>
              <a:rPr lang="en-US" sz="2000" dirty="0" smtClean="0">
                <a:latin typeface="Times" pitchFamily="18" charset="0"/>
              </a:rPr>
              <a:t>1.Mailer</a:t>
            </a:r>
            <a:endParaRPr lang="en-US" sz="2000" dirty="0">
              <a:latin typeface="Times" pitchFamily="18" charset="0"/>
            </a:endParaRPr>
          </a:p>
          <a:p>
            <a:pPr marL="0" indent="0">
              <a:buNone/>
            </a:pPr>
            <a:r>
              <a:rPr lang="en-US" sz="2000" dirty="0" smtClean="0">
                <a:latin typeface="Times" pitchFamily="18" charset="0"/>
              </a:rPr>
              <a:t>2.Mail </a:t>
            </a:r>
            <a:r>
              <a:rPr lang="en-US" sz="2000" dirty="0">
                <a:latin typeface="Times" pitchFamily="18" charset="0"/>
              </a:rPr>
              <a:t>Server</a:t>
            </a:r>
          </a:p>
          <a:p>
            <a:pPr marL="0" indent="0">
              <a:buNone/>
            </a:pPr>
            <a:r>
              <a:rPr lang="en-US" sz="2000" dirty="0" smtClean="0">
                <a:latin typeface="Times" pitchFamily="18" charset="0"/>
              </a:rPr>
              <a:t>3.Mailbox</a:t>
            </a:r>
            <a:endParaRPr lang="en-US" sz="2000" dirty="0">
              <a:latin typeface="Times" pitchFamily="18" charset="0"/>
            </a:endParaRPr>
          </a:p>
          <a:p>
            <a:pPr marL="0" indent="0">
              <a:buNone/>
            </a:pPr>
            <a:r>
              <a:rPr lang="en-US" sz="2000" b="1" dirty="0" smtClean="0">
                <a:latin typeface="Times" pitchFamily="18" charset="0"/>
              </a:rPr>
              <a:t>Mailer:</a:t>
            </a:r>
            <a:endParaRPr lang="en-US" sz="2000" b="1" dirty="0">
              <a:latin typeface="Times" pitchFamily="18" charset="0"/>
            </a:endParaRPr>
          </a:p>
          <a:p>
            <a:pPr marL="0" indent="0">
              <a:buNone/>
            </a:pPr>
            <a:r>
              <a:rPr lang="en-US" sz="2000" dirty="0">
                <a:latin typeface="Times" pitchFamily="18" charset="0"/>
              </a:rPr>
              <a:t>It is also called </a:t>
            </a:r>
            <a:r>
              <a:rPr lang="en-US" sz="2000" b="1" dirty="0">
                <a:latin typeface="Times" pitchFamily="18" charset="0"/>
              </a:rPr>
              <a:t>mail program, mail application</a:t>
            </a:r>
            <a:r>
              <a:rPr lang="en-US" sz="2000" dirty="0">
                <a:latin typeface="Times" pitchFamily="18" charset="0"/>
              </a:rPr>
              <a:t> or </a:t>
            </a:r>
            <a:r>
              <a:rPr lang="en-US" sz="2000" b="1" dirty="0">
                <a:latin typeface="Times" pitchFamily="18" charset="0"/>
              </a:rPr>
              <a:t>mail client.</a:t>
            </a:r>
            <a:r>
              <a:rPr lang="en-US" sz="2000" dirty="0">
                <a:latin typeface="Times" pitchFamily="18" charset="0"/>
              </a:rPr>
              <a:t> It allows us to manage, read and compose e-mail.</a:t>
            </a:r>
          </a:p>
          <a:p>
            <a:pPr marL="0" indent="0">
              <a:buNone/>
            </a:pPr>
            <a:r>
              <a:rPr lang="en-US" sz="2000" b="1" dirty="0">
                <a:latin typeface="Times" pitchFamily="18" charset="0"/>
              </a:rPr>
              <a:t>Mail </a:t>
            </a:r>
            <a:r>
              <a:rPr lang="en-US" sz="2000" b="1" dirty="0" smtClean="0">
                <a:latin typeface="Times" pitchFamily="18" charset="0"/>
              </a:rPr>
              <a:t>Server:</a:t>
            </a:r>
            <a:endParaRPr lang="en-US" sz="2000" b="1" dirty="0">
              <a:latin typeface="Times" pitchFamily="18" charset="0"/>
            </a:endParaRPr>
          </a:p>
          <a:p>
            <a:pPr marL="0" indent="0">
              <a:buNone/>
            </a:pPr>
            <a:r>
              <a:rPr lang="en-US" sz="2000" dirty="0">
                <a:latin typeface="Times" pitchFamily="18" charset="0"/>
              </a:rPr>
              <a:t>The function of mail server is to receive, store and deliver the email. It is must for mail servers to be Running all the time because if it crashes or is down, email can be lost.</a:t>
            </a:r>
          </a:p>
          <a:p>
            <a:pPr marL="0" indent="0">
              <a:buNone/>
            </a:pPr>
            <a:r>
              <a:rPr lang="en-US" sz="2000" b="1" dirty="0" smtClean="0">
                <a:latin typeface="Times" pitchFamily="18" charset="0"/>
              </a:rPr>
              <a:t>Mailboxes:</a:t>
            </a:r>
            <a:endParaRPr lang="en-US" sz="2000" b="1" dirty="0">
              <a:latin typeface="Times" pitchFamily="18" charset="0"/>
            </a:endParaRPr>
          </a:p>
          <a:p>
            <a:pPr marL="0" indent="0">
              <a:buNone/>
            </a:pPr>
            <a:r>
              <a:rPr lang="en-US" sz="2000" dirty="0">
                <a:latin typeface="Times" pitchFamily="18" charset="0"/>
              </a:rPr>
              <a:t>Mailbox is generally a folder that contains emails and information about them.</a:t>
            </a:r>
          </a:p>
          <a:p>
            <a:pPr marL="0" indent="0">
              <a:buNone/>
            </a:pPr>
            <a:endParaRPr lang="en-US" sz="20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5</a:t>
            </a:fld>
            <a:endParaRPr lang="en-US"/>
          </a:p>
        </p:txBody>
      </p:sp>
    </p:spTree>
    <p:extLst>
      <p:ext uri="{BB962C8B-B14F-4D97-AF65-F5344CB8AC3E}">
        <p14:creationId xmlns:p14="http://schemas.microsoft.com/office/powerpoint/2010/main" val="1036973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of </a:t>
            </a:r>
            <a:r>
              <a:rPr lang="en-US" dirty="0" smtClean="0"/>
              <a:t>E-mail</a:t>
            </a:r>
            <a:endParaRPr lang="en-US" dirty="0"/>
          </a:p>
        </p:txBody>
      </p:sp>
      <p:sp>
        <p:nvSpPr>
          <p:cNvPr id="3" name="Content Placeholder 2"/>
          <p:cNvSpPr>
            <a:spLocks noGrp="1"/>
          </p:cNvSpPr>
          <p:nvPr>
            <p:ph idx="1"/>
          </p:nvPr>
        </p:nvSpPr>
        <p:spPr>
          <a:xfrm>
            <a:off x="352540" y="1905000"/>
            <a:ext cx="11457542" cy="4038600"/>
          </a:xfrm>
        </p:spPr>
        <p:txBody>
          <a:bodyPr/>
          <a:lstStyle/>
          <a:p>
            <a:pPr>
              <a:buFont typeface="Wingdings" panose="05000000000000000000" pitchFamily="2" charset="2"/>
              <a:buChar char="ü"/>
            </a:pPr>
            <a:r>
              <a:rPr lang="en-US" sz="2400" dirty="0">
                <a:latin typeface="Times" pitchFamily="18" charset="0"/>
              </a:rPr>
              <a:t>Email working follows the </a:t>
            </a:r>
            <a:r>
              <a:rPr lang="en-US" sz="2400" b="1" dirty="0">
                <a:latin typeface="Times" pitchFamily="18" charset="0"/>
              </a:rPr>
              <a:t>client server approach</a:t>
            </a:r>
            <a:r>
              <a:rPr lang="en-US" sz="2400" dirty="0">
                <a:latin typeface="Times" pitchFamily="18" charset="0"/>
              </a:rPr>
              <a:t>. In this client is the mailer i.e. the mail application or mail program and server is a device that manages emails.</a:t>
            </a:r>
          </a:p>
          <a:p>
            <a:pPr>
              <a:buFont typeface="Wingdings" panose="05000000000000000000" pitchFamily="2" charset="2"/>
              <a:buChar char="q"/>
            </a:pPr>
            <a:r>
              <a:rPr lang="en-US" sz="2400" dirty="0">
                <a:latin typeface="Times" pitchFamily="18" charset="0"/>
              </a:rPr>
              <a:t>Following example will take you through the basic steps involved in sending and receiving emails and will give you a better understanding of working of email system:</a:t>
            </a:r>
          </a:p>
          <a:p>
            <a:r>
              <a:rPr lang="en-US" sz="2400" dirty="0">
                <a:latin typeface="Times" pitchFamily="18" charset="0"/>
              </a:rPr>
              <a:t>Suppose person A wants to send an email message to person B.</a:t>
            </a:r>
          </a:p>
          <a:p>
            <a:r>
              <a:rPr lang="en-US" sz="2400" dirty="0">
                <a:latin typeface="Times" pitchFamily="18" charset="0"/>
              </a:rPr>
              <a:t>Person A composes the messages using a mailer program i.e. mail client and then select Send option.</a:t>
            </a:r>
          </a:p>
          <a:p>
            <a:r>
              <a:rPr lang="en-US" sz="2400" dirty="0">
                <a:latin typeface="Times" pitchFamily="18" charset="0"/>
              </a:rPr>
              <a:t>The message is routed to </a:t>
            </a:r>
            <a:r>
              <a:rPr lang="en-US" sz="2400" b="1" dirty="0">
                <a:latin typeface="Times" pitchFamily="18" charset="0"/>
              </a:rPr>
              <a:t>Simple Mail Transfer Protocol</a:t>
            </a:r>
            <a:r>
              <a:rPr lang="en-US" sz="2400" dirty="0">
                <a:latin typeface="Times" pitchFamily="18" charset="0"/>
              </a:rPr>
              <a:t> to person B’s mail server.</a:t>
            </a:r>
          </a:p>
          <a:p>
            <a:r>
              <a:rPr lang="en-US" sz="2400" dirty="0">
                <a:latin typeface="Times" pitchFamily="18" charset="0"/>
              </a:rPr>
              <a:t>The mail server stores the email message on disk in an area designated for person B.</a:t>
            </a:r>
          </a:p>
          <a:p>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6</a:t>
            </a:fld>
            <a:endParaRPr lang="en-US"/>
          </a:p>
        </p:txBody>
      </p:sp>
    </p:spTree>
    <p:extLst>
      <p:ext uri="{BB962C8B-B14F-4D97-AF65-F5344CB8AC3E}">
        <p14:creationId xmlns:p14="http://schemas.microsoft.com/office/powerpoint/2010/main" val="202694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latin typeface="Times" pitchFamily="18" charset="0"/>
              </a:rPr>
              <a:t>Now, suppose person B is running a POP client and knows how to communicate with B’s mail server.</a:t>
            </a:r>
          </a:p>
          <a:p>
            <a:r>
              <a:rPr lang="en-US" sz="2800" dirty="0">
                <a:latin typeface="Times" pitchFamily="18" charset="0"/>
              </a:rPr>
              <a:t>It will periodically poll the POP server to check if any new email has arrived for B.As in this case, person </a:t>
            </a:r>
            <a:r>
              <a:rPr lang="en-US" sz="2800" dirty="0" smtClean="0">
                <a:latin typeface="Times" pitchFamily="18" charset="0"/>
              </a:rPr>
              <a:t>A </a:t>
            </a:r>
            <a:r>
              <a:rPr lang="en-US" sz="2800" dirty="0">
                <a:latin typeface="Times" pitchFamily="18" charset="0"/>
              </a:rPr>
              <a:t>has sent an email for person B, so email is forwarded over the network to B’s PC. This is message is now stored on person B’s PC.</a:t>
            </a:r>
          </a:p>
          <a:p>
            <a:r>
              <a:rPr lang="en-US" sz="2800" dirty="0">
                <a:latin typeface="Times" pitchFamily="18" charset="0"/>
              </a:rPr>
              <a:t>The following diagram gives pictorial representation of the steps discussed above:</a:t>
            </a:r>
          </a:p>
          <a:p>
            <a:endParaRPr lang="en-US" sz="28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7</a:t>
            </a:fld>
            <a:endParaRPr lang="en-US"/>
          </a:p>
        </p:txBody>
      </p:sp>
      <p:sp>
        <p:nvSpPr>
          <p:cNvPr id="7" name="Title 1"/>
          <p:cNvSpPr>
            <a:spLocks noGrp="1"/>
          </p:cNvSpPr>
          <p:nvPr>
            <p:ph type="title"/>
          </p:nvPr>
        </p:nvSpPr>
        <p:spPr/>
        <p:txBody>
          <a:bodyPr/>
          <a:lstStyle/>
          <a:p>
            <a:r>
              <a:rPr lang="en-US" dirty="0"/>
              <a:t>Working of </a:t>
            </a:r>
            <a:r>
              <a:rPr lang="en-US" dirty="0" smtClean="0"/>
              <a:t>E-mail</a:t>
            </a:r>
            <a:endParaRPr lang="en-US" dirty="0"/>
          </a:p>
        </p:txBody>
      </p:sp>
    </p:spTree>
    <p:extLst>
      <p:ext uri="{BB962C8B-B14F-4D97-AF65-F5344CB8AC3E}">
        <p14:creationId xmlns:p14="http://schemas.microsoft.com/office/powerpoint/2010/main" val="1692384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6" name="Slide Number Placeholder 5"/>
          <p:cNvSpPr>
            <a:spLocks noGrp="1"/>
          </p:cNvSpPr>
          <p:nvPr>
            <p:ph type="sldNum" sz="quarter" idx="12"/>
          </p:nvPr>
        </p:nvSpPr>
        <p:spPr/>
        <p:txBody>
          <a:bodyPr/>
          <a:lstStyle/>
          <a:p>
            <a:fld id="{D2674617-9C49-4A6A-A5F8-6FBC8CEBD7D4}" type="slidenum">
              <a:rPr lang="en-US" smtClean="0"/>
              <a:t>8</a:t>
            </a:fld>
            <a:endParaRPr lang="en-US"/>
          </a:p>
        </p:txBody>
      </p:sp>
      <p:pic>
        <p:nvPicPr>
          <p:cNvPr id="2050" name="Picture 2" descr="internet_technologies_tuto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463"/>
            <a:ext cx="12192000" cy="6865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599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E-mail </a:t>
            </a:r>
            <a:r>
              <a:rPr lang="en-US" dirty="0" smtClean="0"/>
              <a:t>Features</a:t>
            </a:r>
            <a:endParaRPr lang="en-US" dirty="0"/>
          </a:p>
        </p:txBody>
      </p:sp>
      <p:sp>
        <p:nvSpPr>
          <p:cNvPr id="3" name="Content Placeholder 2"/>
          <p:cNvSpPr>
            <a:spLocks noGrp="1"/>
          </p:cNvSpPr>
          <p:nvPr>
            <p:ph idx="1"/>
          </p:nvPr>
        </p:nvSpPr>
        <p:spPr>
          <a:xfrm>
            <a:off x="402336" y="1905000"/>
            <a:ext cx="11045952" cy="4038600"/>
          </a:xfrm>
        </p:spPr>
        <p:txBody>
          <a:bodyPr/>
          <a:lstStyle/>
          <a:p>
            <a:pPr>
              <a:buFont typeface="Wingdings" panose="05000000000000000000" pitchFamily="2" charset="2"/>
              <a:buChar char="ü"/>
            </a:pPr>
            <a:r>
              <a:rPr lang="en-US" dirty="0">
                <a:latin typeface="Times" pitchFamily="18" charset="0"/>
              </a:rPr>
              <a:t>Now a day, the mail client comes with enhanced features such </a:t>
            </a:r>
            <a:r>
              <a:rPr lang="en-US" dirty="0" smtClean="0">
                <a:latin typeface="Times" pitchFamily="18" charset="0"/>
              </a:rPr>
              <a:t>as: </a:t>
            </a:r>
            <a:r>
              <a:rPr lang="en-US" b="1" dirty="0">
                <a:latin typeface="Times" pitchFamily="18" charset="0"/>
              </a:rPr>
              <a:t>attachment</a:t>
            </a:r>
            <a:r>
              <a:rPr lang="en-US" dirty="0">
                <a:latin typeface="Times" pitchFamily="18" charset="0"/>
              </a:rPr>
              <a:t>, </a:t>
            </a:r>
            <a:r>
              <a:rPr lang="en-US" b="1" dirty="0">
                <a:latin typeface="Times" pitchFamily="18" charset="0"/>
              </a:rPr>
              <a:t>address </a:t>
            </a:r>
            <a:r>
              <a:rPr lang="en-US" b="1" dirty="0" smtClean="0">
                <a:latin typeface="Times" pitchFamily="18" charset="0"/>
              </a:rPr>
              <a:t>book</a:t>
            </a:r>
            <a:r>
              <a:rPr lang="en-US" dirty="0" smtClean="0">
                <a:latin typeface="Times" pitchFamily="18" charset="0"/>
              </a:rPr>
              <a:t>. </a:t>
            </a:r>
          </a:p>
          <a:p>
            <a:pPr>
              <a:buFont typeface="Wingdings" panose="05000000000000000000" pitchFamily="2" charset="2"/>
              <a:buChar char="ü"/>
            </a:pPr>
            <a:r>
              <a:rPr lang="en-US" dirty="0" smtClean="0">
                <a:latin typeface="Times" pitchFamily="18" charset="0"/>
              </a:rPr>
              <a:t>Here </a:t>
            </a:r>
            <a:r>
              <a:rPr lang="en-US" dirty="0">
                <a:latin typeface="Times" pitchFamily="18" charset="0"/>
              </a:rPr>
              <a:t>in this </a:t>
            </a:r>
            <a:r>
              <a:rPr lang="en-US" dirty="0" smtClean="0">
                <a:latin typeface="Times" pitchFamily="18" charset="0"/>
              </a:rPr>
              <a:t>section we </a:t>
            </a:r>
            <a:r>
              <a:rPr lang="en-US" dirty="0">
                <a:latin typeface="Times" pitchFamily="18" charset="0"/>
              </a:rPr>
              <a:t>will discuss all of these features which will give you a better understanding of added feature of a mail client program.</a:t>
            </a:r>
          </a:p>
        </p:txBody>
      </p:sp>
      <p:sp>
        <p:nvSpPr>
          <p:cNvPr id="6" name="Slide Number Placeholder 5"/>
          <p:cNvSpPr>
            <a:spLocks noGrp="1"/>
          </p:cNvSpPr>
          <p:nvPr>
            <p:ph type="sldNum" sz="quarter" idx="12"/>
          </p:nvPr>
        </p:nvSpPr>
        <p:spPr/>
        <p:txBody>
          <a:bodyPr/>
          <a:lstStyle/>
          <a:p>
            <a:fld id="{D2674617-9C49-4A6A-A5F8-6FBC8CEBD7D4}" type="slidenum">
              <a:rPr lang="en-US" smtClean="0"/>
              <a:t>9</a:t>
            </a:fld>
            <a:endParaRPr lang="en-US"/>
          </a:p>
        </p:txBody>
      </p:sp>
    </p:spTree>
    <p:extLst>
      <p:ext uri="{BB962C8B-B14F-4D97-AF65-F5344CB8AC3E}">
        <p14:creationId xmlns:p14="http://schemas.microsoft.com/office/powerpoint/2010/main" val="6198974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6607" y="1758695"/>
            <a:ext cx="11457542" cy="4520185"/>
          </a:xfrm>
        </p:spPr>
        <p:txBody>
          <a:bodyPr/>
          <a:lstStyle/>
          <a:p>
            <a:pPr marL="0" indent="0">
              <a:buNone/>
            </a:pPr>
            <a:r>
              <a:rPr lang="en-US" sz="2400" b="1" dirty="0" smtClean="0">
                <a:latin typeface="Times" pitchFamily="18" charset="0"/>
              </a:rPr>
              <a:t>1.Attachment:</a:t>
            </a:r>
            <a:endParaRPr lang="en-US" sz="2400" b="1" dirty="0">
              <a:latin typeface="Times" pitchFamily="18" charset="0"/>
            </a:endParaRPr>
          </a:p>
          <a:p>
            <a:r>
              <a:rPr lang="en-US" sz="2400" dirty="0">
                <a:latin typeface="Times" pitchFamily="18" charset="0"/>
              </a:rPr>
              <a:t>Ability to attach file(s) along with the message is one of the most useful features of email. The attachment may be a </a:t>
            </a:r>
            <a:r>
              <a:rPr lang="en-US" sz="2400" b="1" dirty="0">
                <a:latin typeface="Times" pitchFamily="18" charset="0"/>
              </a:rPr>
              <a:t>word document, PowerPoint presentation, audio/video files,</a:t>
            </a:r>
            <a:r>
              <a:rPr lang="en-US" sz="2400" dirty="0">
                <a:latin typeface="Times" pitchFamily="18" charset="0"/>
              </a:rPr>
              <a:t> or </a:t>
            </a:r>
            <a:r>
              <a:rPr lang="en-US" sz="2400" b="1" dirty="0" smtClean="0">
                <a:latin typeface="Times" pitchFamily="18" charset="0"/>
              </a:rPr>
              <a:t>images…..</a:t>
            </a:r>
            <a:endParaRPr lang="en-US" sz="2400" dirty="0">
              <a:latin typeface="Times" pitchFamily="18" charset="0"/>
            </a:endParaRPr>
          </a:p>
          <a:p>
            <a:r>
              <a:rPr lang="en-US" sz="2400" dirty="0">
                <a:latin typeface="Times" pitchFamily="18" charset="0"/>
              </a:rPr>
              <a:t>In order to attach file(s) to an email, click the attach button. As a result, a dialog box appears asking for specifying the name and location of the file you want to attach.</a:t>
            </a:r>
          </a:p>
          <a:p>
            <a:r>
              <a:rPr lang="en-US" sz="2400" dirty="0">
                <a:latin typeface="Times" pitchFamily="18" charset="0"/>
              </a:rPr>
              <a:t>Once you have selected the appropriate file, it is attached to the mail.</a:t>
            </a:r>
          </a:p>
          <a:p>
            <a:r>
              <a:rPr lang="en-US" sz="2400" dirty="0">
                <a:latin typeface="Times" pitchFamily="18" charset="0"/>
              </a:rPr>
              <a:t>Usually a paper clip icon appears in the email which indicates that it has an attachment.</a:t>
            </a:r>
          </a:p>
          <a:p>
            <a:r>
              <a:rPr lang="en-US" sz="2400" dirty="0">
                <a:latin typeface="Times" pitchFamily="18" charset="0"/>
              </a:rPr>
              <a:t>When adding an attachment it is better to compress the attached files so as to reduce the file size and save transmission time as sending and downloading large files consumes a lot of space and time.</a:t>
            </a:r>
          </a:p>
          <a:p>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10</a:t>
            </a:fld>
            <a:endParaRPr lang="en-US"/>
          </a:p>
        </p:txBody>
      </p:sp>
      <p:sp>
        <p:nvSpPr>
          <p:cNvPr id="7" name="Title 1"/>
          <p:cNvSpPr>
            <a:spLocks noGrp="1"/>
          </p:cNvSpPr>
          <p:nvPr>
            <p:ph type="title"/>
          </p:nvPr>
        </p:nvSpPr>
        <p:spPr/>
        <p:txBody>
          <a:bodyPr/>
          <a:lstStyle/>
          <a:p>
            <a:r>
              <a:rPr lang="en-US" dirty="0"/>
              <a:t>E-mail </a:t>
            </a:r>
            <a:r>
              <a:rPr lang="en-US" dirty="0" smtClean="0"/>
              <a:t>Features</a:t>
            </a:r>
            <a:endParaRPr lang="en-US" dirty="0"/>
          </a:p>
        </p:txBody>
      </p:sp>
    </p:spTree>
    <p:extLst>
      <p:ext uri="{BB962C8B-B14F-4D97-AF65-F5344CB8AC3E}">
        <p14:creationId xmlns:p14="http://schemas.microsoft.com/office/powerpoint/2010/main" val="1932257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9489" y="1676400"/>
            <a:ext cx="11545677" cy="4565904"/>
          </a:xfrm>
        </p:spPr>
        <p:txBody>
          <a:bodyPr/>
          <a:lstStyle/>
          <a:p>
            <a:pPr marL="0" indent="0">
              <a:buNone/>
            </a:pPr>
            <a:r>
              <a:rPr lang="en-US" sz="2200" b="1" dirty="0" smtClean="0">
                <a:latin typeface="Times" pitchFamily="18" charset="0"/>
              </a:rPr>
              <a:t>2.Address Book:</a:t>
            </a:r>
            <a:endParaRPr lang="en-US" sz="2200" b="1" dirty="0">
              <a:latin typeface="Times" pitchFamily="18" charset="0"/>
            </a:endParaRPr>
          </a:p>
          <a:p>
            <a:r>
              <a:rPr lang="en-US" sz="2200" dirty="0">
                <a:latin typeface="Times" pitchFamily="18" charset="0"/>
              </a:rPr>
              <a:t>Address book feature of a mail program allows the users to store information about the people whom they communicate regularly by sending emails. Here are some of the key features of an Address book:</a:t>
            </a:r>
          </a:p>
          <a:p>
            <a:r>
              <a:rPr lang="en-US" sz="2200" dirty="0">
                <a:latin typeface="Times" pitchFamily="18" charset="0"/>
              </a:rPr>
              <a:t>Address book includes the </a:t>
            </a:r>
            <a:r>
              <a:rPr lang="en-US" sz="2200" b="1" dirty="0" smtClean="0">
                <a:latin typeface="Times" pitchFamily="18" charset="0"/>
              </a:rPr>
              <a:t>names</a:t>
            </a:r>
            <a:r>
              <a:rPr lang="en-US" sz="2200" dirty="0">
                <a:latin typeface="Times" pitchFamily="18" charset="0"/>
              </a:rPr>
              <a:t>, </a:t>
            </a:r>
            <a:r>
              <a:rPr lang="en-US" sz="2200" b="1" dirty="0">
                <a:latin typeface="Times" pitchFamily="18" charset="0"/>
              </a:rPr>
              <a:t>email addresses</a:t>
            </a:r>
            <a:r>
              <a:rPr lang="en-US" sz="2200" dirty="0">
                <a:latin typeface="Times" pitchFamily="18" charset="0"/>
              </a:rPr>
              <a:t>, </a:t>
            </a:r>
            <a:r>
              <a:rPr lang="en-US" sz="2200" b="1" dirty="0">
                <a:latin typeface="Times" pitchFamily="18" charset="0"/>
              </a:rPr>
              <a:t>phone number </a:t>
            </a:r>
            <a:r>
              <a:rPr lang="en-US" sz="2200" dirty="0">
                <a:latin typeface="Times" pitchFamily="18" charset="0"/>
              </a:rPr>
              <a:t>etc. of the people.</a:t>
            </a:r>
          </a:p>
          <a:p>
            <a:r>
              <a:rPr lang="en-US" sz="2200" dirty="0">
                <a:latin typeface="Times" pitchFamily="18" charset="0"/>
              </a:rPr>
              <a:t>Using address book allows us not to memorize email of address of a person, you just have to select recipient name from the list.</a:t>
            </a:r>
          </a:p>
          <a:p>
            <a:r>
              <a:rPr lang="en-US" sz="2200" dirty="0">
                <a:latin typeface="Times" pitchFamily="18" charset="0"/>
              </a:rPr>
              <a:t>When you select a particular name from the list, the corresponding email address link automatically get inserted in to the </a:t>
            </a:r>
            <a:r>
              <a:rPr lang="en-US" sz="2200" b="1" dirty="0">
                <a:latin typeface="Times" pitchFamily="18" charset="0"/>
              </a:rPr>
              <a:t>To:</a:t>
            </a:r>
            <a:r>
              <a:rPr lang="en-US" sz="2200" dirty="0">
                <a:latin typeface="Times" pitchFamily="18" charset="0"/>
              </a:rPr>
              <a:t> field.</a:t>
            </a:r>
          </a:p>
          <a:p>
            <a:r>
              <a:rPr lang="en-US" sz="2200" dirty="0">
                <a:latin typeface="Times" pitchFamily="18" charset="0"/>
              </a:rPr>
              <a:t>Address book also allows creating a group so that you can send a email to very member of the group at once instead of giving each person email address one by one</a:t>
            </a:r>
            <a:r>
              <a:rPr lang="en-US" sz="2000" dirty="0">
                <a:latin typeface="Times" pitchFamily="18" charset="0"/>
              </a:rPr>
              <a:t>.</a:t>
            </a:r>
          </a:p>
          <a:p>
            <a:endParaRPr lang="en-US" sz="20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11</a:t>
            </a:fld>
            <a:endParaRPr lang="en-US"/>
          </a:p>
        </p:txBody>
      </p:sp>
      <p:sp>
        <p:nvSpPr>
          <p:cNvPr id="7" name="Title 1"/>
          <p:cNvSpPr>
            <a:spLocks noGrp="1"/>
          </p:cNvSpPr>
          <p:nvPr>
            <p:ph type="title"/>
          </p:nvPr>
        </p:nvSpPr>
        <p:spPr/>
        <p:txBody>
          <a:bodyPr/>
          <a:lstStyle/>
          <a:p>
            <a:r>
              <a:rPr lang="en-US" dirty="0"/>
              <a:t>E-mail </a:t>
            </a:r>
            <a:r>
              <a:rPr lang="en-US" dirty="0" smtClean="0"/>
              <a:t>Features</a:t>
            </a:r>
            <a:endParaRPr lang="en-US" dirty="0"/>
          </a:p>
        </p:txBody>
      </p:sp>
    </p:spTree>
    <p:extLst>
      <p:ext uri="{BB962C8B-B14F-4D97-AF65-F5344CB8AC3E}">
        <p14:creationId xmlns:p14="http://schemas.microsoft.com/office/powerpoint/2010/main" val="1203441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E-mail </a:t>
            </a:r>
            <a:r>
              <a:rPr lang="en-US" dirty="0" smtClean="0"/>
              <a:t>Security</a:t>
            </a:r>
            <a:endParaRPr lang="en-US" dirty="0"/>
          </a:p>
        </p:txBody>
      </p:sp>
      <p:sp>
        <p:nvSpPr>
          <p:cNvPr id="3" name="Content Placeholder 2"/>
          <p:cNvSpPr>
            <a:spLocks noGrp="1"/>
          </p:cNvSpPr>
          <p:nvPr>
            <p:ph idx="1"/>
          </p:nvPr>
        </p:nvSpPr>
        <p:spPr>
          <a:xfrm>
            <a:off x="264405" y="1905000"/>
            <a:ext cx="11743981" cy="4325112"/>
          </a:xfrm>
        </p:spPr>
        <p:txBody>
          <a:bodyPr/>
          <a:lstStyle/>
          <a:p>
            <a:pPr marL="0" indent="0">
              <a:buNone/>
            </a:pPr>
            <a:r>
              <a:rPr lang="en-US" sz="2400" b="1" dirty="0">
                <a:latin typeface="Times" pitchFamily="18" charset="0"/>
              </a:rPr>
              <a:t>E-mail </a:t>
            </a:r>
            <a:r>
              <a:rPr lang="en-US" sz="2400" b="1" dirty="0" smtClean="0">
                <a:latin typeface="Times" pitchFamily="18" charset="0"/>
              </a:rPr>
              <a:t>Hacking:</a:t>
            </a:r>
            <a:endParaRPr lang="en-US" sz="2400" b="1" dirty="0">
              <a:latin typeface="Times" pitchFamily="18" charset="0"/>
            </a:endParaRPr>
          </a:p>
          <a:p>
            <a:pPr marL="0" indent="0">
              <a:buNone/>
            </a:pPr>
            <a:r>
              <a:rPr lang="en-US" sz="2400" dirty="0">
                <a:latin typeface="Times" pitchFamily="18" charset="0"/>
              </a:rPr>
              <a:t>Email hacking can be done in any of the following ways:</a:t>
            </a:r>
          </a:p>
          <a:p>
            <a:r>
              <a:rPr lang="en-US" sz="2400" dirty="0">
                <a:latin typeface="Times" pitchFamily="18" charset="0"/>
              </a:rPr>
              <a:t>Spam</a:t>
            </a:r>
          </a:p>
          <a:p>
            <a:r>
              <a:rPr lang="en-US" sz="2400" dirty="0">
                <a:latin typeface="Times" pitchFamily="18" charset="0"/>
              </a:rPr>
              <a:t>Virus</a:t>
            </a:r>
          </a:p>
          <a:p>
            <a:r>
              <a:rPr lang="en-US" sz="2400" dirty="0">
                <a:latin typeface="Times" pitchFamily="18" charset="0"/>
              </a:rPr>
              <a:t>Phishing</a:t>
            </a:r>
          </a:p>
          <a:p>
            <a:pPr marL="0" indent="0">
              <a:buNone/>
            </a:pPr>
            <a:r>
              <a:rPr lang="en-US" sz="2400" b="1" dirty="0" smtClean="0">
                <a:latin typeface="Times" pitchFamily="18" charset="0"/>
              </a:rPr>
              <a:t>1.Spam:</a:t>
            </a:r>
            <a:endParaRPr lang="en-US" sz="2400" b="1" dirty="0">
              <a:latin typeface="Times" pitchFamily="18" charset="0"/>
            </a:endParaRPr>
          </a:p>
          <a:p>
            <a:pPr marL="0" indent="0">
              <a:buNone/>
            </a:pPr>
            <a:r>
              <a:rPr lang="en-US" sz="2400" dirty="0">
                <a:latin typeface="Times" pitchFamily="18" charset="0"/>
              </a:rPr>
              <a:t>E-mail spamming is an act of sending </a:t>
            </a:r>
            <a:r>
              <a:rPr lang="en-US" sz="2400" b="1" dirty="0">
                <a:latin typeface="Times" pitchFamily="18" charset="0"/>
              </a:rPr>
              <a:t>Unsolicited Bulk E-mails (UBI)</a:t>
            </a:r>
            <a:r>
              <a:rPr lang="en-US" sz="2400" dirty="0">
                <a:latin typeface="Times" pitchFamily="18" charset="0"/>
              </a:rPr>
              <a:t> which one has not asked for. Email spams are the junk mails sent by commercial companies as an advertisement of their products and services.</a:t>
            </a:r>
          </a:p>
          <a:p>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12</a:t>
            </a:fld>
            <a:endParaRPr lang="en-US"/>
          </a:p>
        </p:txBody>
      </p:sp>
    </p:spTree>
    <p:extLst>
      <p:ext uri="{BB962C8B-B14F-4D97-AF65-F5344CB8AC3E}">
        <p14:creationId xmlns:p14="http://schemas.microsoft.com/office/powerpoint/2010/main" val="2995508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1692" y="1905000"/>
            <a:ext cx="11281272" cy="4038600"/>
          </a:xfrm>
        </p:spPr>
        <p:txBody>
          <a:bodyPr/>
          <a:lstStyle/>
          <a:p>
            <a:pPr marL="0" indent="0">
              <a:buNone/>
            </a:pPr>
            <a:r>
              <a:rPr lang="en-US" sz="2400" b="1" dirty="0" smtClean="0">
                <a:latin typeface="Times" pitchFamily="18" charset="0"/>
              </a:rPr>
              <a:t>2.Virus:</a:t>
            </a:r>
            <a:endParaRPr lang="en-US" sz="2400" b="1" dirty="0">
              <a:latin typeface="Times" pitchFamily="18" charset="0"/>
            </a:endParaRPr>
          </a:p>
          <a:p>
            <a:pPr marL="0" indent="0">
              <a:buNone/>
            </a:pPr>
            <a:r>
              <a:rPr lang="en-US" sz="2400" dirty="0">
                <a:latin typeface="Times" pitchFamily="18" charset="0"/>
              </a:rPr>
              <a:t>Some emails may incorporate with files containing malicious script which when run on your computer may lead to destroy your important data.</a:t>
            </a:r>
          </a:p>
          <a:p>
            <a:pPr marL="0" indent="0">
              <a:buNone/>
            </a:pPr>
            <a:r>
              <a:rPr lang="en-US" sz="2400" b="1" dirty="0" smtClean="0">
                <a:latin typeface="Times" pitchFamily="18" charset="0"/>
              </a:rPr>
              <a:t>3.Phishing:</a:t>
            </a:r>
            <a:endParaRPr lang="en-US" sz="2400" b="1" dirty="0">
              <a:latin typeface="Times" pitchFamily="18" charset="0"/>
            </a:endParaRPr>
          </a:p>
          <a:p>
            <a:pPr marL="0" indent="0">
              <a:buNone/>
            </a:pPr>
            <a:r>
              <a:rPr lang="en-US" sz="2400" dirty="0">
                <a:latin typeface="Times" pitchFamily="18" charset="0"/>
              </a:rPr>
              <a:t>Email phishing is an activity of sending emails to a user claiming to be a legitimate enterprise. Its main purpose is to steal sensitive information such as usernames, passwords, and credit card details.</a:t>
            </a:r>
          </a:p>
          <a:p>
            <a:pPr marL="0" indent="0">
              <a:buNone/>
            </a:pPr>
            <a:r>
              <a:rPr lang="en-US" sz="2400" dirty="0">
                <a:latin typeface="Times" pitchFamily="18" charset="0"/>
              </a:rPr>
              <a:t>Such emails contains link to websites that are infected with malware and direct the user to enter details at a fake website whose look and feels are same to legitimate one.</a:t>
            </a:r>
          </a:p>
          <a:p>
            <a:pPr marL="0" indent="0">
              <a:buNone/>
            </a:pPr>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13</a:t>
            </a:fld>
            <a:endParaRPr lang="en-US"/>
          </a:p>
        </p:txBody>
      </p:sp>
      <p:sp>
        <p:nvSpPr>
          <p:cNvPr id="7" name="Title 1"/>
          <p:cNvSpPr>
            <a:spLocks noGrp="1"/>
          </p:cNvSpPr>
          <p:nvPr>
            <p:ph type="title"/>
          </p:nvPr>
        </p:nvSpPr>
        <p:spPr/>
        <p:txBody>
          <a:bodyPr/>
          <a:lstStyle/>
          <a:p>
            <a:r>
              <a:rPr lang="en-US" dirty="0"/>
              <a:t>E-mail </a:t>
            </a:r>
            <a:r>
              <a:rPr lang="en-US" dirty="0" smtClean="0"/>
              <a:t>Security</a:t>
            </a:r>
            <a:endParaRPr lang="en-US" dirty="0"/>
          </a:p>
        </p:txBody>
      </p:sp>
    </p:spTree>
    <p:extLst>
      <p:ext uri="{BB962C8B-B14F-4D97-AF65-F5344CB8AC3E}">
        <p14:creationId xmlns:p14="http://schemas.microsoft.com/office/powerpoint/2010/main" val="3732685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Email </a:t>
            </a:r>
            <a:r>
              <a:rPr lang="en-US" dirty="0" smtClean="0"/>
              <a:t>Operations</a:t>
            </a:r>
            <a:endParaRPr lang="en-US" dirty="0"/>
          </a:p>
        </p:txBody>
      </p:sp>
      <p:sp>
        <p:nvSpPr>
          <p:cNvPr id="3" name="Content Placeholder 2"/>
          <p:cNvSpPr>
            <a:spLocks noGrp="1"/>
          </p:cNvSpPr>
          <p:nvPr>
            <p:ph idx="1"/>
          </p:nvPr>
        </p:nvSpPr>
        <p:spPr>
          <a:xfrm>
            <a:off x="341524" y="1752600"/>
            <a:ext cx="5662670" cy="4038600"/>
          </a:xfrm>
        </p:spPr>
        <p:txBody>
          <a:bodyPr/>
          <a:lstStyle/>
          <a:p>
            <a:pPr marL="0" indent="0">
              <a:buNone/>
            </a:pPr>
            <a:r>
              <a:rPr lang="en-US" sz="2800" b="1" dirty="0">
                <a:latin typeface="Times" pitchFamily="18" charset="0"/>
              </a:rPr>
              <a:t>Creating Email Account:</a:t>
            </a:r>
          </a:p>
          <a:p>
            <a:pPr marL="0" indent="0">
              <a:buNone/>
            </a:pPr>
            <a:r>
              <a:rPr lang="en-US" sz="2800" dirty="0" smtClean="0">
                <a:latin typeface="Times" pitchFamily="18" charset="0"/>
              </a:rPr>
              <a:t>There </a:t>
            </a:r>
            <a:r>
              <a:rPr lang="en-US" sz="2800" dirty="0">
                <a:latin typeface="Times" pitchFamily="18" charset="0"/>
              </a:rPr>
              <a:t>are various email service provider available such as </a:t>
            </a:r>
            <a:r>
              <a:rPr lang="en-US" sz="2800" b="1" dirty="0">
                <a:latin typeface="Times" pitchFamily="18" charset="0"/>
              </a:rPr>
              <a:t>Gmail, </a:t>
            </a:r>
            <a:r>
              <a:rPr lang="en-US" sz="2800" b="1" dirty="0" err="1">
                <a:latin typeface="Times" pitchFamily="18" charset="0"/>
              </a:rPr>
              <a:t>hotmail</a:t>
            </a:r>
            <a:r>
              <a:rPr lang="en-US" sz="2800" b="1" dirty="0">
                <a:latin typeface="Times" pitchFamily="18" charset="0"/>
              </a:rPr>
              <a:t>, </a:t>
            </a:r>
            <a:r>
              <a:rPr lang="en-US" sz="2800" b="1" dirty="0" err="1">
                <a:latin typeface="Times" pitchFamily="18" charset="0"/>
              </a:rPr>
              <a:t>ymail</a:t>
            </a:r>
            <a:r>
              <a:rPr lang="en-US" sz="2800" b="1" dirty="0">
                <a:latin typeface="Times" pitchFamily="18" charset="0"/>
              </a:rPr>
              <a:t>, </a:t>
            </a:r>
            <a:r>
              <a:rPr lang="en-US" sz="2800" b="1" dirty="0" err="1">
                <a:latin typeface="Times" pitchFamily="18" charset="0"/>
              </a:rPr>
              <a:t>rediff</a:t>
            </a:r>
            <a:r>
              <a:rPr lang="en-US" sz="2800" b="1" dirty="0">
                <a:latin typeface="Times" pitchFamily="18" charset="0"/>
              </a:rPr>
              <a:t> mail</a:t>
            </a:r>
            <a:r>
              <a:rPr lang="en-US" sz="2800" dirty="0">
                <a:latin typeface="Times" pitchFamily="18" charset="0"/>
              </a:rPr>
              <a:t> etc. Here we will learn how to create an account using Gmail.</a:t>
            </a:r>
          </a:p>
          <a:p>
            <a:pPr marL="0" indent="0">
              <a:buNone/>
            </a:pPr>
            <a:r>
              <a:rPr lang="en-US" sz="2800" dirty="0">
                <a:latin typeface="Times" pitchFamily="18" charset="0"/>
              </a:rPr>
              <a:t>Open gmail.com and click </a:t>
            </a:r>
            <a:r>
              <a:rPr lang="en-US" sz="2800" b="1" dirty="0">
                <a:latin typeface="Times" pitchFamily="18" charset="0"/>
              </a:rPr>
              <a:t>create an account.</a:t>
            </a:r>
            <a:endParaRPr lang="en-US" sz="2800" dirty="0">
              <a:latin typeface="Times" pitchFamily="18" charset="0"/>
            </a:endParaRPr>
          </a:p>
          <a:p>
            <a:pPr marL="0" indent="0">
              <a:buNone/>
            </a:pPr>
            <a:r>
              <a:rPr lang="en-US" sz="2800" dirty="0">
                <a:latin typeface="Times" pitchFamily="18" charset="0"/>
              </a:rPr>
              <a:t>Now a form will appear. Fill your details here and click </a:t>
            </a:r>
            <a:r>
              <a:rPr lang="en-US" sz="2800" b="1" dirty="0">
                <a:latin typeface="Times" pitchFamily="18" charset="0"/>
              </a:rPr>
              <a:t>Next Step.</a:t>
            </a:r>
            <a:endParaRPr lang="en-US" sz="2800" dirty="0">
              <a:latin typeface="Times" pitchFamily="18" charset="0"/>
            </a:endParaRPr>
          </a:p>
          <a:p>
            <a:pPr marL="0" indent="0">
              <a:buNone/>
            </a:pPr>
            <a:endParaRPr lang="en-US" sz="28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14</a:t>
            </a:fld>
            <a:endParaRPr lang="en-US"/>
          </a:p>
        </p:txBody>
      </p:sp>
      <p:pic>
        <p:nvPicPr>
          <p:cNvPr id="4098" name="Picture 2" descr="internet_technologies_tuto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1746250"/>
            <a:ext cx="5334000" cy="458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2268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6000" y="1905000"/>
            <a:ext cx="4999210" cy="4038600"/>
          </a:xfrm>
        </p:spPr>
        <p:txBody>
          <a:bodyPr/>
          <a:lstStyle/>
          <a:p>
            <a:pPr marL="0" indent="0">
              <a:buNone/>
            </a:pPr>
            <a:r>
              <a:rPr lang="en-US" sz="2400" dirty="0">
                <a:latin typeface="Times" pitchFamily="18" charset="0"/>
              </a:rPr>
              <a:t>This step allows you to add your picture. If you don’t want to upload now, you can do it later. Click </a:t>
            </a:r>
            <a:r>
              <a:rPr lang="en-US" sz="2400" b="1" dirty="0">
                <a:latin typeface="Times" pitchFamily="18" charset="0"/>
              </a:rPr>
              <a:t>Next Step.</a:t>
            </a:r>
            <a:endParaRPr lang="en-US" sz="2400" dirty="0">
              <a:latin typeface="Times" pitchFamily="18" charset="0"/>
            </a:endParaRPr>
          </a:p>
          <a:p>
            <a:pPr marL="0" indent="0">
              <a:buNone/>
            </a:pPr>
            <a:r>
              <a:rPr lang="en-US" sz="2400" dirty="0">
                <a:latin typeface="Times" pitchFamily="18" charset="0"/>
              </a:rPr>
              <a:t>Now a welcome window appears. Click </a:t>
            </a:r>
            <a:r>
              <a:rPr lang="en-US" sz="2400" b="1" dirty="0">
                <a:latin typeface="Times" pitchFamily="18" charset="0"/>
              </a:rPr>
              <a:t>Continue to Gmail.</a:t>
            </a:r>
            <a:endParaRPr lang="en-US" sz="2400" dirty="0">
              <a:latin typeface="Times" pitchFamily="18" charset="0"/>
            </a:endParaRPr>
          </a:p>
          <a:p>
            <a:pPr marL="0" indent="0">
              <a:buNone/>
            </a:pPr>
            <a:r>
              <a:rPr lang="en-US" sz="2400" dirty="0">
                <a:latin typeface="Times" pitchFamily="18" charset="0"/>
              </a:rPr>
              <a:t>Wow!! You are done with creating your email account with Gmail. It’s that easy. Isn’t it?</a:t>
            </a:r>
          </a:p>
          <a:p>
            <a:pPr marL="0" indent="0">
              <a:buNone/>
            </a:pPr>
            <a:r>
              <a:rPr lang="en-US" sz="2400" dirty="0">
                <a:latin typeface="Times" pitchFamily="18" charset="0"/>
              </a:rPr>
              <a:t>Now you will see your Gmail account as shown in the following image:</a:t>
            </a:r>
          </a:p>
          <a:p>
            <a:pPr marL="0" indent="0">
              <a:buNone/>
            </a:pPr>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15</a:t>
            </a:fld>
            <a:endParaRPr lang="en-US"/>
          </a:p>
        </p:txBody>
      </p:sp>
      <p:pic>
        <p:nvPicPr>
          <p:cNvPr id="5122" name="Picture 2" descr="internet_technologies_tuto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313" y="1984875"/>
            <a:ext cx="5715000" cy="3667126"/>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p:cNvSpPr>
            <a:spLocks noGrp="1"/>
          </p:cNvSpPr>
          <p:nvPr>
            <p:ph type="title"/>
          </p:nvPr>
        </p:nvSpPr>
        <p:spPr/>
        <p:txBody>
          <a:bodyPr/>
          <a:lstStyle/>
          <a:p>
            <a:r>
              <a:rPr lang="en-US" dirty="0"/>
              <a:t>Email </a:t>
            </a:r>
            <a:r>
              <a:rPr lang="en-US" dirty="0" smtClean="0"/>
              <a:t>Operations</a:t>
            </a:r>
            <a:endParaRPr lang="en-US" dirty="0"/>
          </a:p>
        </p:txBody>
      </p:sp>
    </p:spTree>
    <p:extLst>
      <p:ext uri="{BB962C8B-B14F-4D97-AF65-F5344CB8AC3E}">
        <p14:creationId xmlns:p14="http://schemas.microsoft.com/office/powerpoint/2010/main" val="1687540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6095" y="1905000"/>
            <a:ext cx="10829581" cy="4038600"/>
          </a:xfrm>
        </p:spPr>
        <p:txBody>
          <a:bodyPr/>
          <a:lstStyle/>
          <a:p>
            <a:pPr marL="0" indent="0">
              <a:buNone/>
            </a:pPr>
            <a:r>
              <a:rPr lang="en-US" b="1" dirty="0">
                <a:latin typeface="Times" pitchFamily="18" charset="0"/>
              </a:rPr>
              <a:t>Key Points:</a:t>
            </a:r>
            <a:endParaRPr lang="en-US" dirty="0">
              <a:latin typeface="Times" pitchFamily="18" charset="0"/>
            </a:endParaRPr>
          </a:p>
          <a:p>
            <a:r>
              <a:rPr lang="en-US" sz="2800" dirty="0">
                <a:latin typeface="Times" pitchFamily="18" charset="0"/>
              </a:rPr>
              <a:t>Gmail manages the mail into three categories namely </a:t>
            </a:r>
            <a:r>
              <a:rPr lang="en-US" sz="2800" b="1" dirty="0">
                <a:latin typeface="Times" pitchFamily="18" charset="0"/>
              </a:rPr>
              <a:t>Primary, Social</a:t>
            </a:r>
            <a:r>
              <a:rPr lang="en-US" sz="2800" dirty="0">
                <a:latin typeface="Times" pitchFamily="18" charset="0"/>
              </a:rPr>
              <a:t> and </a:t>
            </a:r>
            <a:r>
              <a:rPr lang="en-US" sz="2800" b="1" dirty="0">
                <a:latin typeface="Times" pitchFamily="18" charset="0"/>
              </a:rPr>
              <a:t>Promotions.</a:t>
            </a:r>
            <a:endParaRPr lang="en-US" sz="2800" dirty="0">
              <a:latin typeface="Times" pitchFamily="18" charset="0"/>
            </a:endParaRPr>
          </a:p>
          <a:p>
            <a:r>
              <a:rPr lang="en-US" sz="2800" b="1" dirty="0">
                <a:latin typeface="Times" pitchFamily="18" charset="0"/>
              </a:rPr>
              <a:t>Compose</a:t>
            </a:r>
            <a:r>
              <a:rPr lang="en-US" sz="2800" dirty="0">
                <a:latin typeface="Times" pitchFamily="18" charset="0"/>
              </a:rPr>
              <a:t> option is given at the right to compose an email message.</a:t>
            </a:r>
          </a:p>
          <a:p>
            <a:r>
              <a:rPr lang="en-US" sz="2800" b="1" dirty="0">
                <a:latin typeface="Times" pitchFamily="18" charset="0"/>
              </a:rPr>
              <a:t>Inbox, Starred, Sent mail, Drafts</a:t>
            </a:r>
            <a:r>
              <a:rPr lang="en-US" sz="2800" dirty="0">
                <a:latin typeface="Times" pitchFamily="18" charset="0"/>
              </a:rPr>
              <a:t> options are available on the left pane which allows you to keep track of your emails.</a:t>
            </a:r>
          </a:p>
          <a:p>
            <a:pPr marL="0" indent="0">
              <a:buNone/>
            </a:pPr>
            <a:endParaRPr lang="en-US"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16</a:t>
            </a:fld>
            <a:endParaRPr lang="en-US"/>
          </a:p>
        </p:txBody>
      </p:sp>
      <p:sp>
        <p:nvSpPr>
          <p:cNvPr id="7" name="Title 1"/>
          <p:cNvSpPr>
            <a:spLocks noGrp="1"/>
          </p:cNvSpPr>
          <p:nvPr>
            <p:ph type="title"/>
          </p:nvPr>
        </p:nvSpPr>
        <p:spPr/>
        <p:txBody>
          <a:bodyPr/>
          <a:lstStyle/>
          <a:p>
            <a:r>
              <a:rPr lang="en-US" dirty="0"/>
              <a:t>Email </a:t>
            </a:r>
            <a:r>
              <a:rPr lang="en-US" dirty="0" smtClean="0"/>
              <a:t>Operations</a:t>
            </a:r>
            <a:endParaRPr lang="en-US" dirty="0"/>
          </a:p>
        </p:txBody>
      </p:sp>
    </p:spTree>
    <p:extLst>
      <p:ext uri="{BB962C8B-B14F-4D97-AF65-F5344CB8AC3E}">
        <p14:creationId xmlns:p14="http://schemas.microsoft.com/office/powerpoint/2010/main" val="2278989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400" b="1" dirty="0" smtClean="0">
                <a:latin typeface="Times" pitchFamily="18" charset="0"/>
              </a:rPr>
              <a:t>1.Composing </a:t>
            </a:r>
            <a:r>
              <a:rPr lang="en-US" sz="2400" b="1" dirty="0">
                <a:latin typeface="Times" pitchFamily="18" charset="0"/>
              </a:rPr>
              <a:t>and Sending </a:t>
            </a:r>
            <a:r>
              <a:rPr lang="en-US" sz="2400" b="1" dirty="0" smtClean="0">
                <a:latin typeface="Times" pitchFamily="18" charset="0"/>
              </a:rPr>
              <a:t>Email:</a:t>
            </a:r>
            <a:endParaRPr lang="en-US" sz="2400" b="1" dirty="0">
              <a:latin typeface="Times" pitchFamily="18" charset="0"/>
            </a:endParaRPr>
          </a:p>
          <a:p>
            <a:r>
              <a:rPr lang="en-US" sz="2400" dirty="0">
                <a:latin typeface="Times" pitchFamily="18" charset="0"/>
              </a:rPr>
              <a:t>Before sending an email, we need to compose a message. When we are composing an email message, we specify the following things:</a:t>
            </a:r>
          </a:p>
          <a:p>
            <a:r>
              <a:rPr lang="en-US" sz="2400" dirty="0">
                <a:latin typeface="Times" pitchFamily="18" charset="0"/>
              </a:rPr>
              <a:t>Sender’s address in To field</a:t>
            </a:r>
          </a:p>
          <a:p>
            <a:r>
              <a:rPr lang="en-US" sz="2400" dirty="0">
                <a:latin typeface="Times" pitchFamily="18" charset="0"/>
              </a:rPr>
              <a:t>Cc (if required)</a:t>
            </a:r>
          </a:p>
          <a:p>
            <a:r>
              <a:rPr lang="en-US" sz="2400" dirty="0">
                <a:latin typeface="Times" pitchFamily="18" charset="0"/>
              </a:rPr>
              <a:t>Bcc (if required)</a:t>
            </a:r>
          </a:p>
          <a:p>
            <a:r>
              <a:rPr lang="en-US" sz="2400" dirty="0">
                <a:latin typeface="Times" pitchFamily="18" charset="0"/>
              </a:rPr>
              <a:t>Subject of email message</a:t>
            </a:r>
          </a:p>
          <a:p>
            <a:r>
              <a:rPr lang="en-US" sz="2400" dirty="0">
                <a:latin typeface="Times" pitchFamily="18" charset="0"/>
              </a:rPr>
              <a:t>Text</a:t>
            </a:r>
          </a:p>
          <a:p>
            <a:r>
              <a:rPr lang="en-US" sz="2400" dirty="0">
                <a:latin typeface="Times" pitchFamily="18" charset="0"/>
              </a:rPr>
              <a:t>Signature</a:t>
            </a:r>
          </a:p>
          <a:p>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17</a:t>
            </a:fld>
            <a:endParaRPr lang="en-US"/>
          </a:p>
        </p:txBody>
      </p:sp>
      <p:sp>
        <p:nvSpPr>
          <p:cNvPr id="7" name="Title 1"/>
          <p:cNvSpPr>
            <a:spLocks noGrp="1"/>
          </p:cNvSpPr>
          <p:nvPr>
            <p:ph type="title"/>
          </p:nvPr>
        </p:nvSpPr>
        <p:spPr/>
        <p:txBody>
          <a:bodyPr/>
          <a:lstStyle/>
          <a:p>
            <a:r>
              <a:rPr lang="en-US" dirty="0"/>
              <a:t>Email </a:t>
            </a:r>
            <a:r>
              <a:rPr lang="en-US" dirty="0" smtClean="0"/>
              <a:t>Operations</a:t>
            </a:r>
            <a:endParaRPr lang="en-US" dirty="0"/>
          </a:p>
        </p:txBody>
      </p:sp>
    </p:spTree>
    <p:extLst>
      <p:ext uri="{BB962C8B-B14F-4D97-AF65-F5344CB8AC3E}">
        <p14:creationId xmlns:p14="http://schemas.microsoft.com/office/powerpoint/2010/main" val="3025563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400" b="1" dirty="0" smtClean="0">
                <a:latin typeface="Times" pitchFamily="18" charset="0"/>
              </a:rPr>
              <a:t>2.Reading Email:</a:t>
            </a:r>
            <a:endParaRPr lang="en-US" sz="2400" b="1" dirty="0">
              <a:latin typeface="Times" pitchFamily="18" charset="0"/>
            </a:endParaRPr>
          </a:p>
          <a:p>
            <a:r>
              <a:rPr lang="en-US" sz="2400" dirty="0">
                <a:latin typeface="Times" pitchFamily="18" charset="0"/>
              </a:rPr>
              <a:t>Every email program offers you an interface to access email messages. Like in Gmail, emails are stored under different tabs such as primary, social, and promotion. When you click one of tab, it displays a list of emails under that tab.</a:t>
            </a:r>
          </a:p>
          <a:p>
            <a:r>
              <a:rPr lang="en-US" sz="2400" dirty="0">
                <a:latin typeface="Times" pitchFamily="18" charset="0"/>
              </a:rPr>
              <a:t>In order to read an email, you just have to click on that email. Once you click a particular email, it gets opened.</a:t>
            </a:r>
          </a:p>
          <a:p>
            <a:r>
              <a:rPr lang="en-US" sz="2400" dirty="0">
                <a:latin typeface="Times" pitchFamily="18" charset="0"/>
              </a:rPr>
              <a:t>The opened email may have some file attached with it. The attachments are shown at the bottom of the opened email with an option called </a:t>
            </a:r>
            <a:r>
              <a:rPr lang="en-US" sz="2400" b="1" dirty="0">
                <a:latin typeface="Times" pitchFamily="18" charset="0"/>
              </a:rPr>
              <a:t>download attachment.</a:t>
            </a:r>
            <a:endParaRPr lang="en-US" sz="2400" dirty="0">
              <a:latin typeface="Times" pitchFamily="18" charset="0"/>
            </a:endParaRPr>
          </a:p>
          <a:p>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18</a:t>
            </a:fld>
            <a:endParaRPr lang="en-US"/>
          </a:p>
        </p:txBody>
      </p:sp>
      <p:sp>
        <p:nvSpPr>
          <p:cNvPr id="7" name="Title 1"/>
          <p:cNvSpPr>
            <a:spLocks noGrp="1"/>
          </p:cNvSpPr>
          <p:nvPr>
            <p:ph type="title"/>
          </p:nvPr>
        </p:nvSpPr>
        <p:spPr/>
        <p:txBody>
          <a:bodyPr/>
          <a:lstStyle/>
          <a:p>
            <a:r>
              <a:rPr lang="en-US" dirty="0"/>
              <a:t>Email </a:t>
            </a:r>
            <a:r>
              <a:rPr lang="en-US" dirty="0" smtClean="0"/>
              <a:t>Operations</a:t>
            </a:r>
            <a:endParaRPr lang="en-US" dirty="0"/>
          </a:p>
        </p:txBody>
      </p:sp>
    </p:spTree>
    <p:extLst>
      <p:ext uri="{BB962C8B-B14F-4D97-AF65-F5344CB8AC3E}">
        <p14:creationId xmlns:p14="http://schemas.microsoft.com/office/powerpoint/2010/main" val="4237349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2877" y="1905000"/>
            <a:ext cx="11182121" cy="4038600"/>
          </a:xfrm>
        </p:spPr>
        <p:txBody>
          <a:bodyPr/>
          <a:lstStyle/>
          <a:p>
            <a:pPr marL="0" indent="0">
              <a:buNone/>
            </a:pPr>
            <a:r>
              <a:rPr lang="en-US" sz="2400" b="1" dirty="0" smtClean="0">
                <a:latin typeface="Times" pitchFamily="18" charset="0"/>
              </a:rPr>
              <a:t>3.Forwarding Email:</a:t>
            </a:r>
            <a:endParaRPr lang="en-US" sz="2400" b="1" dirty="0">
              <a:latin typeface="Times" pitchFamily="18" charset="0"/>
            </a:endParaRPr>
          </a:p>
          <a:p>
            <a:r>
              <a:rPr lang="en-US" sz="2400" dirty="0">
                <a:latin typeface="Times" pitchFamily="18" charset="0"/>
              </a:rPr>
              <a:t>It is also possible to send a copy of the message that you have received along with your own comments if you want. This can be done using </a:t>
            </a:r>
            <a:r>
              <a:rPr lang="en-US" sz="2400" b="1" dirty="0">
                <a:latin typeface="Times" pitchFamily="18" charset="0"/>
              </a:rPr>
              <a:t>forward</a:t>
            </a:r>
            <a:r>
              <a:rPr lang="en-US" sz="2400" dirty="0">
                <a:latin typeface="Times" pitchFamily="18" charset="0"/>
              </a:rPr>
              <a:t> button available in mail client software.</a:t>
            </a:r>
          </a:p>
          <a:p>
            <a:r>
              <a:rPr lang="en-US" sz="2400" dirty="0">
                <a:latin typeface="Times" pitchFamily="18" charset="0"/>
              </a:rPr>
              <a:t>The difference between replying and forwarding an email is that when you reply a message to a person who has send the mail but while forwarding you can send it to anyone.</a:t>
            </a:r>
          </a:p>
          <a:p>
            <a:r>
              <a:rPr lang="en-US" sz="2400" dirty="0">
                <a:latin typeface="Times" pitchFamily="18" charset="0"/>
              </a:rPr>
              <a:t>When you receive a forwarded message, the message is marked with a &gt; character in front of each line and </a:t>
            </a:r>
            <a:r>
              <a:rPr lang="en-US" sz="2400" b="1" dirty="0">
                <a:latin typeface="Times" pitchFamily="18" charset="0"/>
              </a:rPr>
              <a:t>Subject:</a:t>
            </a:r>
            <a:r>
              <a:rPr lang="en-US" sz="2400" dirty="0">
                <a:latin typeface="Times" pitchFamily="18" charset="0"/>
              </a:rPr>
              <a:t> field is prefixed with </a:t>
            </a:r>
            <a:r>
              <a:rPr lang="en-US" sz="2400" b="1" dirty="0" err="1">
                <a:latin typeface="Times" pitchFamily="18" charset="0"/>
              </a:rPr>
              <a:t>Fw</a:t>
            </a:r>
            <a:r>
              <a:rPr lang="en-US" sz="2400" b="1" dirty="0">
                <a:latin typeface="Times" pitchFamily="18" charset="0"/>
              </a:rPr>
              <a:t>.</a:t>
            </a:r>
            <a:endParaRPr lang="en-US" sz="2400" dirty="0">
              <a:latin typeface="Times" pitchFamily="18" charset="0"/>
            </a:endParaRPr>
          </a:p>
          <a:p>
            <a:pPr marL="0" indent="0">
              <a:buNone/>
            </a:pPr>
            <a:endParaRPr lang="en-US" sz="2400"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19</a:t>
            </a:fld>
            <a:endParaRPr lang="en-US"/>
          </a:p>
        </p:txBody>
      </p:sp>
      <p:sp>
        <p:nvSpPr>
          <p:cNvPr id="7" name="Title 1"/>
          <p:cNvSpPr>
            <a:spLocks noGrp="1"/>
          </p:cNvSpPr>
          <p:nvPr>
            <p:ph type="title"/>
          </p:nvPr>
        </p:nvSpPr>
        <p:spPr/>
        <p:txBody>
          <a:bodyPr/>
          <a:lstStyle/>
          <a:p>
            <a:r>
              <a:rPr lang="en-US" dirty="0"/>
              <a:t>Email </a:t>
            </a:r>
            <a:r>
              <a:rPr lang="en-US" dirty="0" smtClean="0"/>
              <a:t>Operations</a:t>
            </a:r>
            <a:endParaRPr lang="en-US" dirty="0"/>
          </a:p>
        </p:txBody>
      </p:sp>
    </p:spTree>
    <p:extLst>
      <p:ext uri="{BB962C8B-B14F-4D97-AF65-F5344CB8AC3E}">
        <p14:creationId xmlns:p14="http://schemas.microsoft.com/office/powerpoint/2010/main" val="545071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latin typeface="Times" pitchFamily="18" charset="0"/>
              </a:rPr>
              <a:t>Deleting </a:t>
            </a:r>
            <a:r>
              <a:rPr lang="en-US" b="1" dirty="0" smtClean="0">
                <a:latin typeface="Times" pitchFamily="18" charset="0"/>
              </a:rPr>
              <a:t>Email:</a:t>
            </a:r>
            <a:endParaRPr lang="en-US" b="1" dirty="0">
              <a:latin typeface="Times" pitchFamily="18" charset="0"/>
            </a:endParaRPr>
          </a:p>
          <a:p>
            <a:r>
              <a:rPr lang="en-US" dirty="0">
                <a:latin typeface="Times" pitchFamily="18" charset="0"/>
              </a:rPr>
              <a:t>If you don’t want to keep email into your inbox, you can delete it by simply selecting the message from the message list and clicking </a:t>
            </a:r>
            <a:r>
              <a:rPr lang="en-US" b="1" dirty="0">
                <a:latin typeface="Times" pitchFamily="18" charset="0"/>
              </a:rPr>
              <a:t>delete</a:t>
            </a:r>
            <a:r>
              <a:rPr lang="en-US" dirty="0">
                <a:latin typeface="Times" pitchFamily="18" charset="0"/>
              </a:rPr>
              <a:t> or pressing the appropriate command.</a:t>
            </a:r>
          </a:p>
          <a:p>
            <a:r>
              <a:rPr lang="en-US" dirty="0">
                <a:latin typeface="Times" pitchFamily="18" charset="0"/>
              </a:rPr>
              <a:t>Some mail clients offers the deleted mails to be stored in a folder called deleted items or trash from where you can recover a deleted email.</a:t>
            </a:r>
          </a:p>
          <a:p>
            <a:endParaRPr lang="en-US" dirty="0">
              <a:latin typeface="Times" pitchFamily="18" charset="0"/>
            </a:endParaRPr>
          </a:p>
        </p:txBody>
      </p:sp>
      <p:sp>
        <p:nvSpPr>
          <p:cNvPr id="6" name="Slide Number Placeholder 5"/>
          <p:cNvSpPr>
            <a:spLocks noGrp="1"/>
          </p:cNvSpPr>
          <p:nvPr>
            <p:ph type="sldNum" sz="quarter" idx="12"/>
          </p:nvPr>
        </p:nvSpPr>
        <p:spPr/>
        <p:txBody>
          <a:bodyPr/>
          <a:lstStyle/>
          <a:p>
            <a:fld id="{D2674617-9C49-4A6A-A5F8-6FBC8CEBD7D4}" type="slidenum">
              <a:rPr lang="en-US" smtClean="0"/>
              <a:t>20</a:t>
            </a:fld>
            <a:endParaRPr lang="en-US"/>
          </a:p>
        </p:txBody>
      </p:sp>
      <p:sp>
        <p:nvSpPr>
          <p:cNvPr id="7" name="Title 1"/>
          <p:cNvSpPr>
            <a:spLocks noGrp="1"/>
          </p:cNvSpPr>
          <p:nvPr>
            <p:ph type="title"/>
          </p:nvPr>
        </p:nvSpPr>
        <p:spPr/>
        <p:txBody>
          <a:bodyPr/>
          <a:lstStyle/>
          <a:p>
            <a:r>
              <a:rPr lang="en-US" dirty="0"/>
              <a:t>Email </a:t>
            </a:r>
            <a:r>
              <a:rPr lang="en-US" dirty="0" smtClean="0"/>
              <a:t>Operations</a:t>
            </a:r>
            <a:endParaRPr lang="en-US" dirty="0"/>
          </a:p>
        </p:txBody>
      </p:sp>
    </p:spTree>
    <p:extLst>
      <p:ext uri="{BB962C8B-B14F-4D97-AF65-F5344CB8AC3E}">
        <p14:creationId xmlns:p14="http://schemas.microsoft.com/office/powerpoint/2010/main" val="2396810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04032" y="2523744"/>
            <a:ext cx="5010912" cy="896112"/>
          </a:xfrm>
        </p:spPr>
        <p:txBody>
          <a:bodyPr/>
          <a:lstStyle/>
          <a:p>
            <a:r>
              <a:rPr lang="en-US" sz="4000" dirty="0" smtClean="0">
                <a:latin typeface="Algerian" panose="04020705040A02060702" pitchFamily="82" charset="0"/>
              </a:rPr>
              <a:t>The end </a:t>
            </a:r>
            <a:endParaRPr lang="en-US" sz="4000" dirty="0">
              <a:latin typeface="Algerian" panose="04020705040A02060702" pitchFamily="82" charset="0"/>
            </a:endParaRPr>
          </a:p>
        </p:txBody>
      </p:sp>
      <p:sp>
        <p:nvSpPr>
          <p:cNvPr id="4" name="Slide Number Placeholder 3"/>
          <p:cNvSpPr>
            <a:spLocks noGrp="1"/>
          </p:cNvSpPr>
          <p:nvPr>
            <p:ph type="sldNum" sz="quarter" idx="12"/>
          </p:nvPr>
        </p:nvSpPr>
        <p:spPr/>
        <p:txBody>
          <a:bodyPr/>
          <a:lstStyle/>
          <a:p>
            <a:fld id="{D2674617-9C49-4A6A-A5F8-6FBC8CEBD7D4}" type="slidenum">
              <a:rPr lang="en-US" smtClean="0"/>
              <a:t>21</a:t>
            </a:fld>
            <a:endParaRPr lang="en-US"/>
          </a:p>
        </p:txBody>
      </p:sp>
    </p:spTree>
    <p:extLst>
      <p:ext uri="{BB962C8B-B14F-4D97-AF65-F5344CB8AC3E}">
        <p14:creationId xmlns:p14="http://schemas.microsoft.com/office/powerpoint/2010/main" val="1701797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in </a:t>
            </a:r>
            <a:endParaRPr lang="en-US" dirty="0"/>
          </a:p>
        </p:txBody>
      </p:sp>
      <p:sp>
        <p:nvSpPr>
          <p:cNvPr id="3" name="Content Placeholder 2"/>
          <p:cNvSpPr>
            <a:spLocks noGrp="1"/>
          </p:cNvSpPr>
          <p:nvPr>
            <p:ph idx="1"/>
          </p:nvPr>
        </p:nvSpPr>
        <p:spPr/>
        <p:txBody>
          <a:bodyPr/>
          <a:lstStyle/>
          <a:p>
            <a:r>
              <a:rPr lang="en-US" sz="4000" b="1" dirty="0"/>
              <a:t>OSI Model AND TCP/IP Model</a:t>
            </a:r>
          </a:p>
        </p:txBody>
      </p:sp>
      <p:sp>
        <p:nvSpPr>
          <p:cNvPr id="4" name="Slide Number Placeholder 3"/>
          <p:cNvSpPr>
            <a:spLocks noGrp="1"/>
          </p:cNvSpPr>
          <p:nvPr>
            <p:ph type="sldNum" sz="quarter" idx="12"/>
          </p:nvPr>
        </p:nvSpPr>
        <p:spPr/>
        <p:txBody>
          <a:bodyPr/>
          <a:lstStyle/>
          <a:p>
            <a:fld id="{D2674617-9C49-4A6A-A5F8-6FBC8CEBD7D4}" type="slidenum">
              <a:rPr lang="en-US" smtClean="0"/>
              <a:t>22</a:t>
            </a:fld>
            <a:endParaRPr lang="en-US"/>
          </a:p>
        </p:txBody>
      </p:sp>
    </p:spTree>
    <p:extLst>
      <p:ext uri="{BB962C8B-B14F-4D97-AF65-F5344CB8AC3E}">
        <p14:creationId xmlns:p14="http://schemas.microsoft.com/office/powerpoint/2010/main" val="3718561808"/>
      </p:ext>
    </p:extLst>
  </p:cSld>
  <p:clrMapOvr>
    <a:masterClrMapping/>
  </p:clrMapOvr>
</p:sld>
</file>

<file path=ppt/theme/theme1.xml><?xml version="1.0" encoding="utf-8"?>
<a:theme xmlns:a="http://schemas.openxmlformats.org/drawingml/2006/main" name="Theme1">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Studio">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Studio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Studio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Studio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Studio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Studio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Studio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Studio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Studio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Studio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5156623E-C4D3-4CB0-9D27-1EE9773B569B}" vid="{0B3C5A56-0FEE-40DB-ABE1-5232A31F373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503</TotalTime>
  <Words>1098</Words>
  <Application>Microsoft Office PowerPoint</Application>
  <PresentationFormat>Widescreen</PresentationFormat>
  <Paragraphs>147</Paragraphs>
  <Slides>22</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Algerian</vt:lpstr>
      <vt:lpstr>Arial</vt:lpstr>
      <vt:lpstr>Arial Black</vt:lpstr>
      <vt:lpstr>Calibri</vt:lpstr>
      <vt:lpstr>Times</vt:lpstr>
      <vt:lpstr>Times New Roman</vt:lpstr>
      <vt:lpstr>Traditional Arabic</vt:lpstr>
      <vt:lpstr>Wingdings</vt:lpstr>
      <vt:lpstr>Theme1</vt:lpstr>
      <vt:lpstr>Internet Technology (1)</vt:lpstr>
      <vt:lpstr>Lecture Agenda</vt:lpstr>
      <vt:lpstr>E-mail Overview</vt:lpstr>
      <vt:lpstr>E-mail Message Components</vt:lpstr>
      <vt:lpstr>E-mail Working</vt:lpstr>
      <vt:lpstr>Working of E-mail</vt:lpstr>
      <vt:lpstr>Working of E-mail</vt:lpstr>
      <vt:lpstr>PowerPoint Presentation</vt:lpstr>
      <vt:lpstr>E-mail Features</vt:lpstr>
      <vt:lpstr>E-mail Features</vt:lpstr>
      <vt:lpstr>E-mail Features</vt:lpstr>
      <vt:lpstr>E-mail Security</vt:lpstr>
      <vt:lpstr>E-mail Security</vt:lpstr>
      <vt:lpstr>Email Operations</vt:lpstr>
      <vt:lpstr>Email Operations</vt:lpstr>
      <vt:lpstr>Email Operations</vt:lpstr>
      <vt:lpstr>Email Operations</vt:lpstr>
      <vt:lpstr>Email Operations</vt:lpstr>
      <vt:lpstr>Email Operations</vt:lpstr>
      <vt:lpstr>Email Operations</vt:lpstr>
      <vt:lpstr>The end </vt:lpstr>
      <vt:lpstr>Research in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Technology (1)</dc:title>
  <dc:creator>Hussein</dc:creator>
  <cp:lastModifiedBy>alsura</cp:lastModifiedBy>
  <cp:revision>85</cp:revision>
  <dcterms:created xsi:type="dcterms:W3CDTF">2020-01-09T08:34:50Z</dcterms:created>
  <dcterms:modified xsi:type="dcterms:W3CDTF">2022-12-27T18:19:52Z</dcterms:modified>
</cp:coreProperties>
</file>