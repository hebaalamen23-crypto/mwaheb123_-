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65"/>
  </p:notesMasterIdLst>
  <p:handoutMasterIdLst>
    <p:handoutMasterId r:id="rId66"/>
  </p:handoutMasterIdLst>
  <p:sldIdLst>
    <p:sldId id="330" r:id="rId2"/>
    <p:sldId id="411" r:id="rId3"/>
    <p:sldId id="412" r:id="rId4"/>
    <p:sldId id="413" r:id="rId5"/>
    <p:sldId id="468" r:id="rId6"/>
    <p:sldId id="414" r:id="rId7"/>
    <p:sldId id="415" r:id="rId8"/>
    <p:sldId id="416" r:id="rId9"/>
    <p:sldId id="417" r:id="rId10"/>
    <p:sldId id="418" r:id="rId11"/>
    <p:sldId id="419" r:id="rId12"/>
    <p:sldId id="469" r:id="rId13"/>
    <p:sldId id="421" r:id="rId14"/>
    <p:sldId id="422" r:id="rId15"/>
    <p:sldId id="423" r:id="rId16"/>
    <p:sldId id="424" r:id="rId17"/>
    <p:sldId id="425" r:id="rId18"/>
    <p:sldId id="426" r:id="rId19"/>
    <p:sldId id="427" r:id="rId20"/>
    <p:sldId id="428" r:id="rId21"/>
    <p:sldId id="429" r:id="rId22"/>
    <p:sldId id="430" r:id="rId23"/>
    <p:sldId id="431" r:id="rId24"/>
    <p:sldId id="432" r:id="rId25"/>
    <p:sldId id="478" r:id="rId26"/>
    <p:sldId id="434" r:id="rId27"/>
    <p:sldId id="471" r:id="rId28"/>
    <p:sldId id="435" r:id="rId29"/>
    <p:sldId id="436" r:id="rId30"/>
    <p:sldId id="437" r:id="rId31"/>
    <p:sldId id="488" r:id="rId32"/>
    <p:sldId id="489" r:id="rId33"/>
    <p:sldId id="490" r:id="rId34"/>
    <p:sldId id="491" r:id="rId35"/>
    <p:sldId id="492" r:id="rId36"/>
    <p:sldId id="443" r:id="rId37"/>
    <p:sldId id="479" r:id="rId38"/>
    <p:sldId id="473" r:id="rId39"/>
    <p:sldId id="476" r:id="rId40"/>
    <p:sldId id="445" r:id="rId41"/>
    <p:sldId id="446" r:id="rId42"/>
    <p:sldId id="447" r:id="rId43"/>
    <p:sldId id="448" r:id="rId44"/>
    <p:sldId id="449" r:id="rId45"/>
    <p:sldId id="495" r:id="rId46"/>
    <p:sldId id="451" r:id="rId47"/>
    <p:sldId id="496" r:id="rId48"/>
    <p:sldId id="497" r:id="rId49"/>
    <p:sldId id="498" r:id="rId50"/>
    <p:sldId id="455" r:id="rId51"/>
    <p:sldId id="456" r:id="rId52"/>
    <p:sldId id="457" r:id="rId53"/>
    <p:sldId id="458" r:id="rId54"/>
    <p:sldId id="459" r:id="rId55"/>
    <p:sldId id="460" r:id="rId56"/>
    <p:sldId id="461" r:id="rId57"/>
    <p:sldId id="462" r:id="rId58"/>
    <p:sldId id="477" r:id="rId59"/>
    <p:sldId id="463" r:id="rId60"/>
    <p:sldId id="464" r:id="rId61"/>
    <p:sldId id="465" r:id="rId62"/>
    <p:sldId id="466" r:id="rId63"/>
    <p:sldId id="467" r:id="rId64"/>
  </p:sldIdLst>
  <p:sldSz cx="9144000" cy="6858000" type="screen4x3"/>
  <p:notesSz cx="7010400" cy="9296400"/>
  <p:defaultTextStyle>
    <a:defPPr>
      <a:defRPr lang="a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00" autoAdjust="0"/>
    <p:restoredTop sz="94660"/>
  </p:normalViewPr>
  <p:slideViewPr>
    <p:cSldViewPr snapToGrid="0">
      <p:cViewPr varScale="1">
        <p:scale>
          <a:sx n="39" d="100"/>
          <a:sy n="39" d="100"/>
        </p:scale>
        <p:origin x="1260" y="20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defTabSz="883092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algn="r" defTabSz="883092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defTabSz="883092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fld id="{50FC20BD-C524-4570-9F62-30FE483C938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defTabSz="93108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algn="r" defTabSz="93108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588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/>
          <a:p>
            <a:pPr xmlns:a="http://schemas.openxmlformats.org/drawingml/2006/main" lvl="0">
              <a:bidi/>
            </a:pPr>
            <a:r xmlns:a="http://schemas.openxmlformats.org/drawingml/2006/main">
              <a:rPr lang="ar" noProof="0"/>
              <a:t>انقر لتحرير أنماط النص الرئيسي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noProof="0"/>
              <a:t>المستوى الثاني</a:t>
            </a:r>
          </a:p>
          <a:p>
            <a:pPr xmlns:a="http://schemas.openxmlformats.org/drawingml/2006/main" lvl="2">
              <a:bidi/>
            </a:pPr>
            <a:r xmlns:a="http://schemas.openxmlformats.org/drawingml/2006/main">
              <a:rPr lang="ar" noProof="0"/>
              <a:t>المستوى الثالث</a:t>
            </a:r>
          </a:p>
          <a:p>
            <a:pPr xmlns:a="http://schemas.openxmlformats.org/drawingml/2006/main" lvl="3">
              <a:bidi/>
            </a:pPr>
            <a:r xmlns:a="http://schemas.openxmlformats.org/drawingml/2006/main">
              <a:rPr lang="ar" noProof="0"/>
              <a:t>المستوى الرابع</a:t>
            </a:r>
          </a:p>
          <a:p>
            <a:pPr xmlns:a="http://schemas.openxmlformats.org/drawingml/2006/main" lvl="4">
              <a:bidi/>
            </a:pPr>
            <a:r xmlns:a="http://schemas.openxmlformats.org/drawingml/2006/main">
              <a:rPr lang="ar" noProof="0"/>
              <a:t>المستوى الخامس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defTabSz="93108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fld id="{093D93EF-C516-4D80-B9A0-36D801255FD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940D5FD-6A8C-4117-8307-FE0A945C93E4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861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smtClean="0">
                <a:solidFill>
                  <a:srgbClr val="33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695575" cy="246063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smtClean="0">
                <a:solidFill>
                  <a:srgbClr val="336699"/>
                </a:solidFill>
                <a:latin typeface="Helvetica" pitchFamily="-84" charset="0"/>
              </a:rPr>
              <a:t>Operating System Concepts – 9</a:t>
            </a:r>
            <a:r>
              <a:rPr lang="en-US" sz="1000" b="1" baseline="30000" smtClean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sz="1000" b="1" smtClean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8156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31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29045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853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030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648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1222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6297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21848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409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320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xmlns:a="http://schemas.openxmlformats.org/drawingml/2006/main" lvl="0">
              <a:bidi/>
            </a:pPr>
            <a:r xmlns:a="http://schemas.openxmlformats.org/drawingml/2006/main">
              <a:rPr lang="ar" altLang="en-US" smtClean="0"/>
              <a:t>انقر لتحرير نمط العنوان الرئيسي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xmlns:a="http://schemas.openxmlformats.org/drawingml/2006/main" lvl="0">
              <a:bidi/>
            </a:pPr>
            <a:r xmlns:a="http://schemas.openxmlformats.org/drawingml/2006/main">
              <a:rPr lang="ar" altLang="en-US" smtClean="0"/>
              <a:t>انقر لتحرير أنماط النص الرئيسي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المستوى الثاني</a:t>
            </a:r>
          </a:p>
          <a:p>
            <a:pPr xmlns:a="http://schemas.openxmlformats.org/drawingml/2006/main" lvl="2">
              <a:bidi/>
            </a:pPr>
            <a:r xmlns:a="http://schemas.openxmlformats.org/drawingml/2006/main">
              <a:rPr lang="ar" altLang="en-US" smtClean="0"/>
              <a:t>المستوى الثالث</a:t>
            </a:r>
          </a:p>
          <a:p>
            <a:pPr xmlns:a="http://schemas.openxmlformats.org/drawingml/2006/main" lvl="3">
              <a:bidi/>
            </a:pPr>
            <a:r xmlns:a="http://schemas.openxmlformats.org/drawingml/2006/main">
              <a:rPr lang="ar" altLang="en-US" smtClean="0"/>
              <a:t>المستوى الرابع</a:t>
            </a:r>
          </a:p>
          <a:p>
            <a:pPr xmlns:a="http://schemas.openxmlformats.org/drawingml/2006/main" lvl="4">
              <a:bidi/>
            </a:pPr>
            <a:r xmlns:a="http://schemas.openxmlformats.org/drawingml/2006/main">
              <a:rPr lang="ar" altLang="en-US" smtClean="0"/>
              <a:t>المستوى الخامس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>
              <a:latin typeface="Times New Roman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>
              <a:latin typeface="Times New Roman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>
              <a:latin typeface="Times New Roman" pitchFamily="18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  <a:bidi/>
            </a:pPr>
            <a:r xmlns:a="http://schemas.openxmlformats.org/drawingml/2006/main">
              <a:rPr lang="ar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3.</a:t>
            </a:r>
            <a:fld xmlns:a="http://schemas.openxmlformats.org/drawingml/2006/main" id="{BFBAA3D7-B37D-467E-A60C-B8C0055F9555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xmlns:a="http://schemas.openxmlformats.org/drawingml/2006/main"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  <a:defRPr/>
              <a:bidi/>
            </a:pPr>
            <a:r xmlns:a="http://schemas.openxmlformats.org/drawingml/2006/main">
              <a:rPr lang="ar" sz="1000" b="1" smtClean="0">
                <a:solidFill>
                  <a:srgbClr val="006699"/>
                </a:solidFill>
                <a:latin typeface="Helvetica" pitchFamily="-84" charset="0"/>
              </a:rPr>
              <a:t>Silberschatz و Galvin و Gagne © 2013</a:t>
            </a: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638425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xmlns:a="http://schemas.openxmlformats.org/drawingml/2006/main">
              <a:spcBef>
                <a:spcPct val="50000"/>
              </a:spcBef>
              <a:defRPr/>
              <a:bidi/>
            </a:pPr>
            <a:r xmlns:a="http://schemas.openxmlformats.org/drawingml/2006/main">
              <a:rPr lang="ar" sz="1000" b="1" smtClean="0">
                <a:solidFill>
                  <a:srgbClr val="006699"/>
                </a:solidFill>
                <a:latin typeface="Helvetica" pitchFamily="-84" charset="0"/>
              </a:rPr>
              <a:t>مفاهيم نظام التشغيل - </a:t>
            </a:r>
            <a:r xmlns:a="http://schemas.openxmlformats.org/drawingml/2006/main">
              <a:rPr lang="ar" sz="1000" b="1" smtClean="0">
                <a:solidFill>
                  <a:srgbClr val="006699"/>
                </a:solidFill>
                <a:latin typeface="Helvetica" pitchFamily="-84" charset="0"/>
              </a:rPr>
              <a:t>الإصدار </a:t>
            </a:r>
            <a:r xmlns:a="http://schemas.openxmlformats.org/drawingml/2006/main">
              <a:rPr lang="ar" sz="1000" b="1" baseline="30000" smtClean="0">
                <a:solidFill>
                  <a:srgbClr val="006699"/>
                </a:solidFill>
                <a:latin typeface="Helvetica" pitchFamily="-84" charset="0"/>
              </a:rPr>
              <a:t>التاسع</a:t>
            </a: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67" r:id="rId1"/>
    <p:sldLayoutId id="2147484157" r:id="rId2"/>
    <p:sldLayoutId id="2147484158" r:id="rId3"/>
    <p:sldLayoutId id="2147484159" r:id="rId4"/>
    <p:sldLayoutId id="2147484160" r:id="rId5"/>
    <p:sldLayoutId id="2147484161" r:id="rId6"/>
    <p:sldLayoutId id="2147484162" r:id="rId7"/>
    <p:sldLayoutId id="2147484163" r:id="rId8"/>
    <p:sldLayoutId id="2147484164" r:id="rId9"/>
    <p:sldLayoutId id="2147484165" r:id="rId10"/>
    <p:sldLayoutId id="2147484166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-84" charset="2"/>
        <a:buChar char="n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-84" charset="2"/>
        <a:buChar char="l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71475" y="1831975"/>
            <a:ext cx="8458200" cy="1143000"/>
          </a:xfrm>
          <a:noFill/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dirty="0" smtClean="0"/>
              <a:t>الفصل 3: العمليات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644650" y="182563"/>
            <a:ext cx="6380163" cy="576262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الفصل 3: العمليات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120775"/>
            <a:ext cx="7370763" cy="3822700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مفهوم العملية</a:t>
            </a:r>
          </a:p>
          <a:p>
            <a:r xmlns:a="http://schemas.openxmlformats.org/drawingml/2006/main">
              <a:rPr lang="ar" altLang="en-US" smtClean="0"/>
              <a:t>جدولة العملية</a:t>
            </a:r>
          </a:p>
          <a:p>
            <a:r xmlns:a="http://schemas.openxmlformats.org/drawingml/2006/main">
              <a:rPr lang="ar" altLang="en-US" smtClean="0"/>
              <a:t>العمليات على العمليات</a:t>
            </a:r>
          </a:p>
          <a:p>
            <a:r xmlns:a="http://schemas.openxmlformats.org/drawingml/2006/main">
              <a:rPr lang="ar" altLang="en-US" smtClean="0"/>
              <a:t>اتصال interprocess</a:t>
            </a:r>
          </a:p>
          <a:p>
            <a:r xmlns:a="http://schemas.openxmlformats.org/drawingml/2006/main">
              <a:rPr lang="ar" altLang="en-US" smtClean="0"/>
              <a:t>أمثلة على أنظمة IPC</a:t>
            </a:r>
          </a:p>
          <a:p>
            <a:r xmlns:a="http://schemas.openxmlformats.org/drawingml/2006/main">
              <a:rPr lang="ar" altLang="en-US" smtClean="0"/>
              <a:t>الاتصالات في أنظمة خادم العميل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أهداف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838200" y="1138238"/>
            <a:ext cx="6823075" cy="4530725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لتقديم مفهوم العملية - برنامج في التنفيذ ، والذي يشكل أساس كل الحسابات</a:t>
            </a:r>
          </a:p>
          <a:p>
            <a:r xmlns:a="http://schemas.openxmlformats.org/drawingml/2006/main">
              <a:rPr lang="ar" altLang="en-US" smtClean="0"/>
              <a:t>لوصف الميزات المختلفة للعمليات ، بما في ذلك الجدولة والإنشاء والإنهاء والاتصال</a:t>
            </a:r>
          </a:p>
          <a:p>
            <a:r xmlns:a="http://schemas.openxmlformats.org/drawingml/2006/main">
              <a:rPr lang="ar" altLang="en-US" smtClean="0"/>
              <a:t>لاستكشاف الاتصال بين العمليات باستخدام الذاكرة المشتركة وتمرير الرسائل</a:t>
            </a:r>
          </a:p>
          <a:p>
            <a:r xmlns:a="http://schemas.openxmlformats.org/drawingml/2006/main">
              <a:rPr lang="ar" altLang="en-US" smtClean="0"/>
              <a:t>لوصف الاتصال في أنظمة خادم العميل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76388" y="166688"/>
            <a:ext cx="6107112" cy="576262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مفهوم العملية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177925"/>
            <a:ext cx="7370762" cy="4786313"/>
          </a:xfrm>
        </p:spPr>
        <p:txBody>
          <a:bodyPr/>
          <a:lstStyle/>
          <a:p>
            <a:pPr xmlns:a="http://schemas.openxmlformats.org/drawingml/2006/main">
              <a:lnSpc>
                <a:spcPct val="90000"/>
              </a:lnSpc>
              <a:bidi/>
            </a:pPr>
            <a:r xmlns:a="http://schemas.openxmlformats.org/drawingml/2006/main">
              <a:rPr lang="ar" altLang="en-US" smtClean="0"/>
              <a:t>ينفذ نظام التشغيل مجموعة متنوعة من البرامج:</a:t>
            </a:r>
          </a:p>
          <a:p>
            <a:pPr xmlns:a="http://schemas.openxmlformats.org/drawingml/2006/main" lvl="1">
              <a:lnSpc>
                <a:spcPct val="90000"/>
              </a:lnSpc>
              <a:bidi/>
            </a:pPr>
            <a:r xmlns:a="http://schemas.openxmlformats.org/drawingml/2006/main">
              <a:rPr lang="ar" altLang="en-US" smtClean="0"/>
              <a:t>نظام الدُفعات - </a:t>
            </a: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الوظائف</a:t>
            </a:r>
          </a:p>
          <a:p>
            <a:pPr xmlns:a="http://schemas.openxmlformats.org/drawingml/2006/main" lvl="1">
              <a:lnSpc>
                <a:spcPct val="90000"/>
              </a:lnSpc>
              <a:bidi/>
            </a:pPr>
            <a:r xmlns:a="http://schemas.openxmlformats.org/drawingml/2006/main">
              <a:rPr lang="ar" altLang="en-US" smtClean="0"/>
              <a:t>أنظمة الوقت المشترك - </a:t>
            </a: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برامج المستخدم </a:t>
            </a:r>
            <a:r xmlns:a="http://schemas.openxmlformats.org/drawingml/2006/main">
              <a:rPr lang="ar" altLang="en-US" smtClean="0"/>
              <a:t>أو </a:t>
            </a: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المهام</a:t>
            </a:r>
            <a:endParaRPr xmlns:a="http://schemas.openxmlformats.org/drawingml/2006/main" lang="en-US" altLang="en-US" smtClean="0"/>
          </a:p>
          <a:p>
            <a:pPr xmlns:a="http://schemas.openxmlformats.org/drawingml/2006/main">
              <a:lnSpc>
                <a:spcPct val="90000"/>
              </a:lnSpc>
              <a:bidi/>
            </a:pPr>
            <a:r xmlns:a="http://schemas.openxmlformats.org/drawingml/2006/main">
              <a:rPr lang="ar" altLang="en-US" smtClean="0"/>
              <a:t>يستخدم الكتاب المدرسي مصطلحي </a:t>
            </a:r>
            <a:r xmlns:a="http://schemas.openxmlformats.org/drawingml/2006/main">
              <a:rPr lang="ar" altLang="en-US" b="1" i="1" smtClean="0"/>
              <a:t>الوظيفة </a:t>
            </a:r>
            <a:r xmlns:a="http://schemas.openxmlformats.org/drawingml/2006/main">
              <a:rPr lang="ar" altLang="en-US" smtClean="0"/>
              <a:t>والعملية </a:t>
            </a:r>
            <a:r xmlns:a="http://schemas.openxmlformats.org/drawingml/2006/main">
              <a:rPr lang="ar" altLang="en-US" b="1" i="1" smtClean="0"/>
              <a:t>بالتبادل </a:t>
            </a:r>
            <a:r xmlns:a="http://schemas.openxmlformats.org/drawingml/2006/main">
              <a:rPr lang="ar" altLang="en-US" smtClean="0"/>
              <a:t>تقريبًا</a:t>
            </a:r>
          </a:p>
          <a:p>
            <a:pPr xmlns:a="http://schemas.openxmlformats.org/drawingml/2006/main">
              <a:lnSpc>
                <a:spcPct val="90000"/>
              </a:lnSpc>
              <a:bidi/>
            </a:pP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عملية </a:t>
            </a:r>
            <a:r xmlns:a="http://schemas.openxmlformats.org/drawingml/2006/main">
              <a:rPr lang="ar" altLang="en-US" smtClean="0"/>
              <a:t>- برنامج في التنفيذ ؛ يجب أن يتقدم تنفيذ العملية بطريقة متسلسلة</a:t>
            </a:r>
          </a:p>
          <a:p>
            <a:r xmlns:a="http://schemas.openxmlformats.org/drawingml/2006/main">
              <a:rPr lang="ar" altLang="en-US" smtClean="0"/>
              <a:t>أجزاء متعددة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رمز البرنامج ، ويسمى أيضًا </a:t>
            </a: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قسم النص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النشاط الحالي بما في ذلك </a:t>
            </a: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البرنامج</a:t>
            </a:r>
            <a:r xmlns:a="http://schemas.openxmlformats.org/drawingml/2006/main">
              <a:rPr lang="ar" altLang="en-US" b="1" smtClean="0"/>
              <a:t> </a:t>
            </a: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عداد </a:t>
            </a:r>
            <a:r xmlns:a="http://schemas.openxmlformats.org/drawingml/2006/main">
              <a:rPr lang="ar" altLang="en-US" smtClean="0"/>
              <a:t>، سجلات المعالج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كومة</a:t>
            </a:r>
            <a:r xmlns:a="http://schemas.openxmlformats.org/drawingml/2006/main">
              <a:rPr lang="ar" altLang="en-US" b="1" smtClean="0"/>
              <a:t> </a:t>
            </a:r>
            <a:r xmlns:a="http://schemas.openxmlformats.org/drawingml/2006/main">
              <a:rPr lang="ar" altLang="en-US" smtClean="0"/>
              <a:t>تحتوي على بيانات مؤقتة</a:t>
            </a:r>
          </a:p>
          <a:p>
            <a:pPr xmlns:a="http://schemas.openxmlformats.org/drawingml/2006/main" lvl="2">
              <a:bidi/>
            </a:pPr>
            <a:r xmlns:a="http://schemas.openxmlformats.org/drawingml/2006/main">
              <a:rPr lang="ar" altLang="en-US" smtClean="0"/>
              <a:t>معلمات الوظيفة وعناوين الإرجاع والمتغيرات المحلية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قسم البيانات</a:t>
            </a:r>
            <a:r xmlns:a="http://schemas.openxmlformats.org/drawingml/2006/main">
              <a:rPr lang="ar" altLang="en-US" b="1" smtClean="0"/>
              <a:t> </a:t>
            </a:r>
            <a:r xmlns:a="http://schemas.openxmlformats.org/drawingml/2006/main">
              <a:rPr lang="ar" altLang="en-US" smtClean="0"/>
              <a:t>تحتوي على متغيرات عالمية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كومة</a:t>
            </a:r>
            <a:r xmlns:a="http://schemas.openxmlformats.org/drawingml/2006/main">
              <a:rPr lang="ar" altLang="en-US" b="1" smtClean="0"/>
              <a:t> </a:t>
            </a:r>
            <a:r xmlns:a="http://schemas.openxmlformats.org/drawingml/2006/main">
              <a:rPr lang="ar" altLang="en-US" smtClean="0"/>
              <a:t>تحتوي على ذاكرة مخصصة ديناميكيًا أثناء وقت التشغيل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576388" y="155575"/>
            <a:ext cx="6107112" cy="576263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مفهوم العملية (تابع)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1041400"/>
            <a:ext cx="7164388" cy="4786313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البرنامج عبارة عن </a:t>
            </a:r>
            <a:r xmlns:a="http://schemas.openxmlformats.org/drawingml/2006/main">
              <a:rPr lang="ar" altLang="en-US" smtClean="0"/>
              <a:t>كيان </a:t>
            </a:r>
            <a:r xmlns:a="http://schemas.openxmlformats.org/drawingml/2006/main">
              <a:rPr lang="ar" altLang="en-US" b="1" i="1" smtClean="0"/>
              <a:t>سلبي مخزن على القرص ( </a:t>
            </a: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ملف قابل للتنفيذ </a:t>
            </a:r>
            <a:r xmlns:a="http://schemas.openxmlformats.org/drawingml/2006/main">
              <a:rPr lang="ar" altLang="en-US" smtClean="0"/>
              <a:t>) ، العملية </a:t>
            </a:r>
            <a:r xmlns:a="http://schemas.openxmlformats.org/drawingml/2006/main">
              <a:rPr lang="ar" altLang="en-US" b="1" i="1" smtClean="0"/>
              <a:t>نشطة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يصبح البرنامج عملية عند تحميل الملف القابل للتنفيذ في الذاكرة</a:t>
            </a:r>
          </a:p>
          <a:p>
            <a:r xmlns:a="http://schemas.openxmlformats.org/drawingml/2006/main">
              <a:rPr lang="ar" altLang="en-US" smtClean="0"/>
              <a:t>بدأ تنفيذ البرنامج عن طريق نقرات الماوس على واجهة المستخدم الرسومية ، وإدخال سطر الأوامر لاسمه ، وما إلى ذلك</a:t>
            </a:r>
          </a:p>
          <a:p>
            <a:r xmlns:a="http://schemas.openxmlformats.org/drawingml/2006/main">
              <a:rPr lang="ar" altLang="en-US" smtClean="0"/>
              <a:t>برنامج واحد يمكن أن يكون عدة عمليات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ضع في اعتبارك عدة مستخدمين يقومون بتنفيذ نفس البرنامج</a:t>
            </a:r>
          </a:p>
          <a:p>
            <a:pPr>
              <a:lnSpc>
                <a:spcPct val="90000"/>
              </a:lnSpc>
            </a:pPr>
            <a:endParaRPr lang="en-US" altLang="en-US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6688"/>
            <a:ext cx="8229600" cy="576262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العملية في الذاكرة</a:t>
            </a:r>
          </a:p>
        </p:txBody>
      </p:sp>
      <p:pic>
        <p:nvPicPr>
          <p:cNvPr id="819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0025" y="1254125"/>
            <a:ext cx="2911475" cy="459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60488" y="182563"/>
            <a:ext cx="6251575" cy="576262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حالة العملية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46188"/>
            <a:ext cx="7370763" cy="3254375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عندما يتم تنفيذ العملية ، فإنها تغير </a:t>
            </a: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الحالة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b="1" smtClean="0"/>
              <a:t>جديد </a:t>
            </a:r>
            <a:r xmlns:a="http://schemas.openxmlformats.org/drawingml/2006/main">
              <a:rPr lang="ar" altLang="en-US" smtClean="0"/>
              <a:t>: العملية قيد الإنشاء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b="1" smtClean="0"/>
              <a:t>قيد التشغيل </a:t>
            </a:r>
            <a:r xmlns:a="http://schemas.openxmlformats.org/drawingml/2006/main">
              <a:rPr lang="ar" altLang="en-US" smtClean="0"/>
              <a:t>: يتم تنفيذ التعليمات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b="1" smtClean="0"/>
              <a:t>الانتظار </a:t>
            </a:r>
            <a:r xmlns:a="http://schemas.openxmlformats.org/drawingml/2006/main">
              <a:rPr lang="ar" altLang="en-US" smtClean="0"/>
              <a:t>: العملية تنتظر حدوث بعض الأحداث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b="1" smtClean="0"/>
              <a:t>جاهز </a:t>
            </a:r>
            <a:r xmlns:a="http://schemas.openxmlformats.org/drawingml/2006/main">
              <a:rPr lang="ar" altLang="en-US" smtClean="0"/>
              <a:t>: العملية تنتظر تعيينها إلى معالج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b="1" smtClean="0"/>
              <a:t>إنهاؤه </a:t>
            </a:r>
            <a:r xmlns:a="http://schemas.openxmlformats.org/drawingml/2006/main">
              <a:rPr lang="ar" altLang="en-US" smtClean="0"/>
              <a:t>: انتهت العملية من التنفيذ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739775" y="182563"/>
            <a:ext cx="7947025" cy="576262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رسم تخطيطي لحالة العملية</a:t>
            </a:r>
          </a:p>
        </p:txBody>
      </p:sp>
      <p:pic>
        <p:nvPicPr>
          <p:cNvPr id="10243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0" y="1308100"/>
            <a:ext cx="6635750" cy="264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66813" y="136525"/>
            <a:ext cx="7519987" cy="576263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كتلة التحكم في العمليات (PCB)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041400"/>
            <a:ext cx="4579938" cy="4772025"/>
          </a:xfrm>
        </p:spPr>
        <p:txBody>
          <a:bodyPr/>
          <a:lstStyle/>
          <a:p>
            <a:pPr xmlns:a="http://schemas.openxmlformats.org/drawingml/2006/main">
              <a:buFont typeface="Monotype Sorts" pitchFamily="-84" charset="2"/>
              <a:buNone/>
              <a:bidi/>
            </a:pPr>
            <a:r xmlns:a="http://schemas.openxmlformats.org/drawingml/2006/main">
              <a:rPr lang="ar" altLang="en-US" smtClean="0"/>
              <a:t>المعلومات المرتبطة بكل عملية</a:t>
            </a:r>
          </a:p>
          <a:p>
            <a:pPr xmlns:a="http://schemas.openxmlformats.org/drawingml/2006/main">
              <a:buFont typeface="Monotype Sorts" pitchFamily="-84" charset="2"/>
              <a:buNone/>
              <a:bidi/>
            </a:pPr>
            <a:r xmlns:a="http://schemas.openxmlformats.org/drawingml/2006/main">
              <a:rPr lang="ar" altLang="en-US" smtClean="0"/>
              <a:t>(تسمى أيضًا </a:t>
            </a: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كتلة التحكم في المهام </a:t>
            </a:r>
            <a:r xmlns:a="http://schemas.openxmlformats.org/drawingml/2006/main">
              <a:rPr lang="ar" altLang="en-US" smtClean="0"/>
              <a:t>)</a:t>
            </a:r>
          </a:p>
          <a:p>
            <a:r xmlns:a="http://schemas.openxmlformats.org/drawingml/2006/main">
              <a:rPr lang="ar" altLang="en-US" smtClean="0"/>
              <a:t>حالة العملية - قيد التشغيل ، الانتظار ، إلخ</a:t>
            </a:r>
          </a:p>
          <a:p>
            <a:r xmlns:a="http://schemas.openxmlformats.org/drawingml/2006/main">
              <a:rPr lang="ar" altLang="en-US" smtClean="0"/>
              <a:t>عداد البرنامج - موقع التعليمات للتنفيذ التالي</a:t>
            </a:r>
          </a:p>
          <a:p>
            <a:r xmlns:a="http://schemas.openxmlformats.org/drawingml/2006/main">
              <a:rPr lang="ar" altLang="en-US" smtClean="0"/>
              <a:t>سجلات وحدة المعالجة المركزية - محتويات جميع السجلات التي تتمحور حول العملية</a:t>
            </a:r>
          </a:p>
          <a:p>
            <a:r xmlns:a="http://schemas.openxmlformats.org/drawingml/2006/main">
              <a:rPr lang="ar" altLang="en-US" smtClean="0"/>
              <a:t>معلومات جدولة وحدة المعالجة المركزية- الأولويات ، جدولة مؤشرات قائمة الانتظار</a:t>
            </a:r>
          </a:p>
          <a:p>
            <a:r xmlns:a="http://schemas.openxmlformats.org/drawingml/2006/main">
              <a:rPr lang="ar" altLang="en-US" smtClean="0"/>
              <a:t>معلومات إدارة الذاكرة - الذاكرة المخصصة للعملية</a:t>
            </a:r>
          </a:p>
          <a:p>
            <a:r xmlns:a="http://schemas.openxmlformats.org/drawingml/2006/main">
              <a:rPr lang="ar" altLang="en-US" smtClean="0"/>
              <a:t>معلومات المحاسبة - وحدة المعالجة المركزية المستخدمة ، الوقت المنقضي على مدار الساعة منذ البداية ، الحدود الزمنية</a:t>
            </a:r>
          </a:p>
          <a:p>
            <a:r xmlns:a="http://schemas.openxmlformats.org/drawingml/2006/main">
              <a:rPr lang="ar" altLang="en-US" smtClean="0"/>
              <a:t>معلومات حالة الإدخال / الإخراج - أجهزة الإدخال / الإخراج المخصصة للمعالجة ، قائمة الملفات المفتوحة</a:t>
            </a:r>
          </a:p>
          <a:p>
            <a:endParaRPr lang="en-US" altLang="en-US" smtClean="0"/>
          </a:p>
        </p:txBody>
      </p:sp>
      <p:pic>
        <p:nvPicPr>
          <p:cNvPr id="11268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0400" y="1393825"/>
            <a:ext cx="2795588" cy="448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82663" y="182563"/>
            <a:ext cx="8229600" cy="576262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تبديل وحدة المعالجة المركزية من عملية إلى عملية</a:t>
            </a:r>
          </a:p>
        </p:txBody>
      </p:sp>
      <p:pic>
        <p:nvPicPr>
          <p:cNvPr id="12291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300" y="1104900"/>
            <a:ext cx="6969125" cy="467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41400" y="136525"/>
            <a:ext cx="7645400" cy="576263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الخيوط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7425" y="1093788"/>
            <a:ext cx="6975475" cy="3983037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حتى الآن ، العملية لديها سلسلة واحدة من التنفيذ</a:t>
            </a:r>
          </a:p>
          <a:p>
            <a:r xmlns:a="http://schemas.openxmlformats.org/drawingml/2006/main">
              <a:rPr lang="ar" altLang="en-US" smtClean="0"/>
              <a:t>ضع في اعتبارك وجود عدادات برامج متعددة لكل عملية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يمكن تنفيذ مواقع متعددة في وقت واحد</a:t>
            </a:r>
          </a:p>
          <a:p>
            <a:pPr xmlns:a="http://schemas.openxmlformats.org/drawingml/2006/main" lvl="2">
              <a:bidi/>
            </a:pPr>
            <a:r xmlns:a="http://schemas.openxmlformats.org/drawingml/2006/main">
              <a:rPr lang="ar" altLang="en-US" smtClean="0"/>
              <a:t>خيوط متعددة للتحكم -&gt; </a:t>
            </a: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المواضيع</a:t>
            </a:r>
          </a:p>
          <a:p>
            <a:r xmlns:a="http://schemas.openxmlformats.org/drawingml/2006/main">
              <a:rPr lang="ar" altLang="en-US" smtClean="0"/>
              <a:t>يجب أن يكون لديك بعد ذلك تخزين لتفاصيل الخيط ، عدادات برامج متعددة في ثنائي الفينيل متعدد الكلور</a:t>
            </a:r>
          </a:p>
          <a:p>
            <a:r xmlns:a="http://schemas.openxmlformats.org/drawingml/2006/main">
              <a:rPr lang="ar" altLang="en-US" smtClean="0"/>
              <a:t>انظر الفصل التالي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960438" y="144463"/>
            <a:ext cx="8229600" cy="576262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تمثيل العمليات في Linux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xmlns:a="http://schemas.openxmlformats.org/drawingml/2006/main">
              <a:buFont typeface="Monotype Sorts" pitchFamily="-84" charset="2"/>
              <a:buNone/>
              <a:bidi/>
            </a:pPr>
            <a:r xmlns:a="http://schemas.openxmlformats.org/drawingml/2006/main">
              <a:rPr lang="ar" altLang="en-US" smtClean="0"/>
              <a:t>يمثلها هيكل C </a:t>
            </a:r>
            <a:r xmlns:a="http://schemas.openxmlformats.org/drawingml/2006/main">
              <a:rPr lang="ar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Task_struct</a:t>
            </a:r>
          </a:p>
          <a:p>
            <a:pPr xmlns:a="http://schemas.openxmlformats.org/drawingml/2006/main">
              <a:buFont typeface="Monotype Sorts" pitchFamily="-84" charset="2"/>
              <a:buNone/>
              <a:bidi/>
            </a:pPr>
            <a:r xmlns:a="http://schemas.openxmlformats.org/drawingml/2006/main">
              <a:rPr lang="ar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 xmlns:a="http://schemas.openxmlformats.org/drawingml/2006/main">
              <a:rPr lang="en-US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 xmlns:a="http://schemas.openxmlformats.org/drawingml/2006/main">
              <a:rPr lang="ar" altLang="en-US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معرف المنتج t_pid ؛ / * معرف العملية * / </a:t>
            </a:r>
            <a:br xmlns:a="http://schemas.openxmlformats.org/drawingml/2006/main">
              <a:rPr lang="en-US" altLang="en-US" sz="160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 xmlns:a="http://schemas.openxmlformats.org/drawingml/2006/main">
              <a:rPr lang="ar" altLang="en-US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الحالة الطويلة ؛ / * حالة العملية * / </a:t>
            </a:r>
            <a:br xmlns:a="http://schemas.openxmlformats.org/drawingml/2006/main">
              <a:rPr lang="en-US" altLang="en-US" sz="160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 xmlns:a="http://schemas.openxmlformats.org/drawingml/2006/main">
              <a:rPr lang="ar" altLang="en-US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unsigned int time_slice / * معلومات الجدولة * / </a:t>
            </a:r>
            <a:br xmlns:a="http://schemas.openxmlformats.org/drawingml/2006/main">
              <a:rPr lang="en-US" altLang="en-US" sz="160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 xmlns:a="http://schemas.openxmlformats.org/drawingml/2006/main">
              <a:rPr lang="ar" altLang="en-US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architecture task_struct * parent؛ / * أصل هذه العملية </a:t>
            </a:r>
            <a:r xmlns:a="http://schemas.openxmlformats.org/drawingml/2006/main">
              <a:rPr lang="ar" altLang="en-US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 xmlns:a="http://schemas.openxmlformats.org/drawingml/2006/main">
              <a:rPr lang="ar" altLang="ja-JP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/ </a:t>
            </a:r>
            <a:br xmlns:a="http://schemas.openxmlformats.org/drawingml/2006/main">
              <a:rPr lang="en-US" altLang="ja-JP" sz="160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 xmlns:a="http://schemas.openxmlformats.org/drawingml/2006/main">
              <a:rPr lang="ar" altLang="ja-JP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هيكلة list_head children؛ / * الأطفال التابعون لهذه العملية </a:t>
            </a:r>
            <a:r xmlns:a="http://schemas.openxmlformats.org/drawingml/2006/main">
              <a:rPr lang="ar" altLang="en-US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 xmlns:a="http://schemas.openxmlformats.org/drawingml/2006/main">
              <a:rPr lang="ar" altLang="ja-JP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/ </a:t>
            </a:r>
            <a:br xmlns:a="http://schemas.openxmlformats.org/drawingml/2006/main">
              <a:rPr lang="en-US" altLang="ja-JP" sz="160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 xmlns:a="http://schemas.openxmlformats.org/drawingml/2006/main">
              <a:rPr lang="ar" altLang="ja-JP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Struct files_struct * files؛ / * قائمة الملفات المفتوحة * / </a:t>
            </a:r>
            <a:br xmlns:a="http://schemas.openxmlformats.org/drawingml/2006/main">
              <a:rPr lang="en-US" altLang="ja-JP" sz="160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 xmlns:a="http://schemas.openxmlformats.org/drawingml/2006/main">
              <a:rPr lang="ar" altLang="ja-JP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Struct mm_struct * mm؛ / * مساحة العنوان لهذه العملية * /</a:t>
            </a:r>
            <a:endParaRPr xmlns:a="http://schemas.openxmlformats.org/drawingml/2006/main" lang="en-US" altLang="en-US" sz="160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4340" name="Picture 3" descr="C:\Users\as668\Desktop\in-3_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188" y="4111625"/>
            <a:ext cx="5865812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1400" y="136525"/>
            <a:ext cx="7645400" cy="576263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جدولة العملية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7413" y="1168400"/>
            <a:ext cx="6975475" cy="3983038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تعظيم استخدام وحدة المعالجة المركزية ، وتحويل العمليات بسرعة إلى وحدة المعالجة المركزية لمشاركة الوقت</a:t>
            </a:r>
          </a:p>
          <a:p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جدولة العمليات </a:t>
            </a:r>
            <a:r xmlns:a="http://schemas.openxmlformats.org/drawingml/2006/main">
              <a:rPr lang="ar" altLang="en-US" smtClean="0"/>
              <a:t>من بين العمليات المتاحة للتنفيذ التالي على وحدة المعالجة المركزية</a:t>
            </a:r>
          </a:p>
          <a:p>
            <a:r xmlns:a="http://schemas.openxmlformats.org/drawingml/2006/main">
              <a:rPr lang="ar" altLang="en-US" smtClean="0"/>
              <a:t>يحافظ على </a:t>
            </a: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جدولة قوائم انتظار </a:t>
            </a:r>
            <a:r xmlns:a="http://schemas.openxmlformats.org/drawingml/2006/main">
              <a:rPr lang="ar" altLang="en-US" smtClean="0"/>
              <a:t>العمليات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قائمة انتظار الوظائف </a:t>
            </a:r>
            <a:r xmlns:a="http://schemas.openxmlformats.org/drawingml/2006/main">
              <a:rPr lang="ar" altLang="en-US" smtClean="0"/>
              <a:t>- مجموعة من جميع العمليات في النظام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قائمة انتظار جاهزة </a:t>
            </a:r>
            <a:r xmlns:a="http://schemas.openxmlformats.org/drawingml/2006/main">
              <a:rPr lang="ar" altLang="en-US" smtClean="0"/>
              <a:t>- مجموعة من جميع العمليات الموجودة في الذاكرة الرئيسية وجاهزة وتنتظر التنفيذ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قوائم انتظار الجهاز </a:t>
            </a:r>
            <a:r xmlns:a="http://schemas.openxmlformats.org/drawingml/2006/main">
              <a:rPr lang="ar" altLang="en-US" smtClean="0"/>
              <a:t>- مجموعة من العمليات في انتظار جهاز الإدخال / الإخراج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تهاجر العمليات بين قوائم الانتظار المختلفة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74725" y="236538"/>
            <a:ext cx="7983538" cy="457200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z="2400" smtClean="0"/>
              <a:t>قائمة انتظار جاهزة وقوائم انتظار مختلفة لجهاز الإدخال / الإخراج</a:t>
            </a:r>
          </a:p>
        </p:txBody>
      </p:sp>
      <p:pic>
        <p:nvPicPr>
          <p:cNvPr id="1638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8475" y="1214438"/>
            <a:ext cx="5822950" cy="502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152400"/>
            <a:ext cx="8229600" cy="576263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z="2800" smtClean="0"/>
              <a:t>تمثيل جدولة العملية</a:t>
            </a:r>
          </a:p>
        </p:txBody>
      </p:sp>
      <p:pic>
        <p:nvPicPr>
          <p:cNvPr id="17411" name="Picture 4" descr="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488" y="1966913"/>
            <a:ext cx="6546850" cy="378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Rectangle 3"/>
          <p:cNvSpPr txBox="1">
            <a:spLocks noChangeArrowheads="1"/>
          </p:cNvSpPr>
          <p:nvPr/>
        </p:nvSpPr>
        <p:spPr bwMode="auto">
          <a:xfrm>
            <a:off x="808038" y="1303338"/>
            <a:ext cx="6975475" cy="398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xmlns:a="http://schemas.openxmlformats.org/drawingml/2006/main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bidi/>
            </a:pPr>
            <a:r xmlns:a="http://schemas.openxmlformats.org/drawingml/2006/main">
              <a:rPr kumimoji="1" lang="ar" altLang="en-US" b="1">
                <a:solidFill>
                  <a:srgbClr val="3366FF"/>
                </a:solidFill>
                <a:latin typeface="Helvetica" panose="020B0604020202020204" pitchFamily="34" charset="0"/>
              </a:rPr>
              <a:t>مخطط قائمة </a:t>
            </a:r>
            <a:r xmlns:a="http://schemas.openxmlformats.org/drawingml/2006/main">
              <a:rPr kumimoji="1" lang="ar" altLang="en-US">
                <a:latin typeface="Helvetica" panose="020B0604020202020204" pitchFamily="34" charset="0"/>
              </a:rPr>
              <a:t>الانتظار قوائم الانتظار والموارد والتدفقات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2563"/>
            <a:ext cx="8229600" cy="576262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المنظمون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7413" y="1108075"/>
            <a:ext cx="7453312" cy="5022850"/>
          </a:xfrm>
        </p:spPr>
        <p:txBody>
          <a:bodyPr/>
          <a:lstStyle/>
          <a:p>
            <a:r xmlns:a="http://schemas.openxmlformats.org/drawingml/2006/main">
              <a:rPr lang="ar" altLang="en-US" sz="1600" b="1" smtClean="0">
                <a:solidFill>
                  <a:srgbClr val="3366FF"/>
                </a:solidFill>
              </a:rPr>
              <a:t>المجدول قصير المدى </a:t>
            </a:r>
            <a:r xmlns:a="http://schemas.openxmlformats.org/drawingml/2006/main">
              <a:rPr lang="ar" altLang="en-US" sz="1600" smtClean="0"/>
              <a:t>(أو </a:t>
            </a:r>
            <a:r xmlns:a="http://schemas.openxmlformats.org/drawingml/2006/main">
              <a:rPr lang="ar" altLang="en-US" sz="1600" b="1" smtClean="0">
                <a:solidFill>
                  <a:srgbClr val="3366FF"/>
                </a:solidFill>
              </a:rPr>
              <a:t>جدولة وحدة المعالجة المركزية </a:t>
            </a:r>
            <a:r xmlns:a="http://schemas.openxmlformats.org/drawingml/2006/main">
              <a:rPr lang="ar" altLang="en-US" sz="1600" smtClean="0"/>
              <a:t>) - يحدد العملية التي يجب تنفيذها بعد ذلك ويخصص وحدة المعالجة المركزية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z="1600" smtClean="0"/>
              <a:t>أحيانًا يكون المجدول الوحيد في النظام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z="1600" smtClean="0"/>
              <a:t>يتم استدعاء جدولة المدى القصير بشكل متكرر (مللي ثانية) </a:t>
            </a:r>
            <a:r xmlns:a="http://schemas.openxmlformats.org/drawingml/2006/main">
              <a:rPr lang="ar" altLang="en-US" sz="1600" smtClean="0">
                <a:sym typeface="Symbol" panose="05050102010706020507" pitchFamily="18" charset="2"/>
              </a:rPr>
              <a:t> (يجب أن يكون سريعًا)</a:t>
            </a:r>
            <a:endParaRPr xmlns:a="http://schemas.openxmlformats.org/drawingml/2006/main" lang="en-US" altLang="en-US" sz="800" smtClean="0">
              <a:sym typeface="Symbol" panose="05050102010706020507" pitchFamily="18" charset="2"/>
            </a:endParaRPr>
          </a:p>
          <a:p>
            <a:r xmlns:a="http://schemas.openxmlformats.org/drawingml/2006/main">
              <a:rPr lang="ar" altLang="en-US" sz="1600" b="1" smtClean="0">
                <a:solidFill>
                  <a:srgbClr val="3366FF"/>
                </a:solidFill>
              </a:rPr>
              <a:t>جدولة طويلة المدى </a:t>
            </a:r>
            <a:r xmlns:a="http://schemas.openxmlformats.org/drawingml/2006/main">
              <a:rPr lang="ar" altLang="en-US" sz="1600" smtClean="0"/>
              <a:t>(أو برنامج </a:t>
            </a:r>
            <a:r xmlns:a="http://schemas.openxmlformats.org/drawingml/2006/main">
              <a:rPr lang="ar" altLang="en-US" sz="1600" b="1" smtClean="0">
                <a:solidFill>
                  <a:srgbClr val="3366FF"/>
                </a:solidFill>
              </a:rPr>
              <a:t>جدولة الوظائف </a:t>
            </a:r>
            <a:r xmlns:a="http://schemas.openxmlformats.org/drawingml/2006/main">
              <a:rPr lang="ar" altLang="en-US" sz="1600" smtClean="0"/>
              <a:t>) - يحدد العمليات التي يجب إحضارها إلى قائمة الانتظار الجاهزة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z="1600" smtClean="0">
                <a:sym typeface="Symbol" panose="05050102010706020507" pitchFamily="18" charset="2"/>
              </a:rPr>
              <a:t>يتم استدعاء المجدول طويل المدى بشكل غير متكرر (ثوانٍ ، دقائق)  (قد يكون بطيئًا)</a:t>
            </a:r>
            <a:endParaRPr xmlns:a="http://schemas.openxmlformats.org/drawingml/2006/main" lang="en-US" altLang="en-US" sz="800" smtClean="0">
              <a:sym typeface="Symbol" panose="05050102010706020507" pitchFamily="18" charset="2"/>
            </a:endParaRP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z="1600" smtClean="0">
                <a:sym typeface="Symbol" panose="05050102010706020507" pitchFamily="18" charset="2"/>
              </a:rPr>
              <a:t>يتحكم المجدول طويل المدى في </a:t>
            </a:r>
            <a:r xmlns:a="http://schemas.openxmlformats.org/drawingml/2006/main">
              <a:rPr lang="ar" altLang="en-US" sz="1600" b="1" smtClean="0">
                <a:solidFill>
                  <a:srgbClr val="3366FF"/>
                </a:solidFill>
                <a:sym typeface="Symbol" panose="05050102010706020507" pitchFamily="18" charset="2"/>
              </a:rPr>
              <a:t>درجة البرمجة المتعددة</a:t>
            </a:r>
            <a:endParaRPr xmlns:a="http://schemas.openxmlformats.org/drawingml/2006/main" lang="en-US" altLang="en-US" sz="800" i="1" smtClean="0">
              <a:sym typeface="Symbol" panose="05050102010706020507" pitchFamily="18" charset="2"/>
            </a:endParaRPr>
          </a:p>
          <a:p>
            <a:r xmlns:a="http://schemas.openxmlformats.org/drawingml/2006/main">
              <a:rPr lang="ar" altLang="en-US" sz="1600" smtClean="0">
                <a:sym typeface="Symbol" panose="05050102010706020507" pitchFamily="18" charset="2"/>
              </a:rPr>
              <a:t>يمكن وصف العمليات على أنها إما: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z="1600" b="1" smtClean="0">
                <a:solidFill>
                  <a:srgbClr val="3366FF"/>
                </a:solidFill>
                <a:sym typeface="Symbol" panose="05050102010706020507" pitchFamily="18" charset="2"/>
              </a:rPr>
              <a:t>عملية مرتبطة I / O</a:t>
            </a:r>
            <a:r xmlns:a="http://schemas.openxmlformats.org/drawingml/2006/main">
              <a:rPr lang="ar" altLang="en-US" sz="1600" smtClean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 xmlns:a="http://schemas.openxmlformats.org/drawingml/2006/main">
              <a:rPr lang="ar" altLang="en-US" sz="1600" smtClean="0">
                <a:sym typeface="Symbol" panose="05050102010706020507" pitchFamily="18" charset="2"/>
              </a:rPr>
              <a:t>- يقضي وقتًا أطول في إجراء عمليات الإدخال / الإخراج مقارنة بالعمليات الحسابية ، والعديد من دفعات وحدة المعالجة المركزية القصيرة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z="1600" b="1" smtClean="0">
                <a:solidFill>
                  <a:srgbClr val="3366FF"/>
                </a:solidFill>
                <a:sym typeface="Symbol" panose="05050102010706020507" pitchFamily="18" charset="2"/>
              </a:rPr>
              <a:t>عملية مرتبطة بوحدة المعالجة المركزية </a:t>
            </a:r>
            <a:r xmlns:a="http://schemas.openxmlformats.org/drawingml/2006/main">
              <a:rPr lang="ar" altLang="en-US" sz="1600" smtClean="0">
                <a:sym typeface="Symbol" panose="05050102010706020507" pitchFamily="18" charset="2"/>
              </a:rPr>
              <a:t>- تقضي وقتًا أطول في إجراء العمليات الحسابية ؛ بضع دفعات طويلة جدًا من وحدة المعالجة المركزية</a:t>
            </a:r>
          </a:p>
          <a:p>
            <a:r xmlns:a="http://schemas.openxmlformats.org/drawingml/2006/main">
              <a:rPr lang="ar" altLang="en-US" sz="1600" smtClean="0">
                <a:sym typeface="Symbol" panose="05050102010706020507" pitchFamily="18" charset="2"/>
              </a:rPr>
              <a:t>يسعى برنامج الجدولة على المدى الطويل لتحقيق </a:t>
            </a:r>
            <a:r xmlns:a="http://schemas.openxmlformats.org/drawingml/2006/main">
              <a:rPr lang="ar" altLang="en-US" sz="1600" b="1" i="1" smtClean="0">
                <a:sym typeface="Symbol" panose="05050102010706020507" pitchFamily="18" charset="2"/>
              </a:rPr>
              <a:t>مزيج عمليات جيد</a:t>
            </a:r>
            <a:endParaRPr xmlns:a="http://schemas.openxmlformats.org/drawingml/2006/main" lang="en-US" altLang="en-US" sz="1600" smtClean="0">
              <a:sym typeface="Symbol" panose="05050102010706020507" pitchFamily="18" charset="2"/>
            </a:endParaRPr>
          </a:p>
          <a:p>
            <a:endParaRPr lang="en-US" altLang="en-US" smtClean="0"/>
          </a:p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085850" y="182563"/>
            <a:ext cx="8229600" cy="576262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إضافة جدولة متوسطة المدى</a:t>
            </a:r>
          </a:p>
        </p:txBody>
      </p:sp>
      <p:pic>
        <p:nvPicPr>
          <p:cNvPr id="19459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875" y="2827338"/>
            <a:ext cx="7327900" cy="266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Rectangle 3"/>
          <p:cNvSpPr txBox="1">
            <a:spLocks noChangeArrowheads="1"/>
          </p:cNvSpPr>
          <p:nvPr/>
        </p:nvSpPr>
        <p:spPr bwMode="auto">
          <a:xfrm>
            <a:off x="806450" y="1160463"/>
            <a:ext cx="7200900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xmlns:a="http://schemas.openxmlformats.org/drawingml/2006/main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bidi/>
            </a:pPr>
            <a:r xmlns:a="http://schemas.openxmlformats.org/drawingml/2006/main">
              <a:rPr kumimoji="1" lang="ar" altLang="en-US">
                <a:latin typeface="Helvetica" panose="020B0604020202020204" pitchFamily="34" charset="0"/>
              </a:rPr>
              <a:t>يمكن إضافة </a:t>
            </a:r>
            <a:r xmlns:a="http://schemas.openxmlformats.org/drawingml/2006/main">
              <a:rPr kumimoji="1" lang="ar" altLang="en-US" b="1">
                <a:solidFill>
                  <a:srgbClr val="3366FF"/>
                </a:solidFill>
                <a:latin typeface="Helvetica" panose="020B0604020202020204" pitchFamily="34" charset="0"/>
              </a:rPr>
              <a:t>برنامج جدولة متوسط المدى إذا كانت درجة البرمجة المتعددة بحاجة إلى تقليل</a:t>
            </a:r>
          </a:p>
          <a:p>
            <a:pPr xmlns:a="http://schemas.openxmlformats.org/drawingml/2006/main"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bidi/>
            </a:pPr>
            <a:r xmlns:a="http://schemas.openxmlformats.org/drawingml/2006/main">
              <a:rPr kumimoji="1" lang="ar" altLang="en-US">
                <a:latin typeface="Helvetica" panose="020B0604020202020204" pitchFamily="34" charset="0"/>
              </a:rPr>
              <a:t>قم بإزالة العملية من الذاكرة ، وتخزينها على القرص ، وإعادتها من القرص لمواصلة التنفيذ: </a:t>
            </a:r>
            <a:r xmlns:a="http://schemas.openxmlformats.org/drawingml/2006/main">
              <a:rPr kumimoji="1" lang="ar" altLang="en-US" b="1">
                <a:solidFill>
                  <a:srgbClr val="3366FF"/>
                </a:solidFill>
                <a:latin typeface="Helvetica" panose="020B0604020202020204" pitchFamily="34" charset="0"/>
              </a:rPr>
              <a:t>التبديل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>
              <a:latin typeface="Helvetica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819150" y="182563"/>
            <a:ext cx="8229600" cy="576262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تعدد المهام في الأنظمة المتنقلة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122363"/>
            <a:ext cx="7359650" cy="4448175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تسمح بعض أنظمة الأجهزة المحمولة (على سبيل المثال ، الإصدار الأول من iOS) بتشغيل عملية واحدة فقط ، بينما يتم تعليق البعض الآخر</a:t>
            </a:r>
          </a:p>
          <a:p>
            <a:r xmlns:a="http://schemas.openxmlformats.org/drawingml/2006/main">
              <a:rPr lang="ar" altLang="en-US" smtClean="0"/>
              <a:t>نظرًا لعقار الشاشة ، فإن حدود واجهة المستخدم التي يوفرها iOS لـ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مقدمة </a:t>
            </a:r>
            <a:r xmlns:a="http://schemas.openxmlformats.org/drawingml/2006/main">
              <a:rPr lang="ar" altLang="en-US" smtClean="0"/>
              <a:t>واحدة </a:t>
            </a:r>
            <a:r xmlns:a="http://schemas.openxmlformats.org/drawingml/2006/main">
              <a:rPr lang="ar" altLang="en-US" smtClean="0"/>
              <a:t>- يتم التحكم فيها عبر واجهة المستخدم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متعددة في </a:t>
            </a: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الخلفية </a:t>
            </a:r>
            <a:r xmlns:a="http://schemas.openxmlformats.org/drawingml/2006/main">
              <a:rPr lang="ar" altLang="en-US" smtClean="0"/>
              <a:t>- في الذاكرة ، قيد التشغيل ، ولكن ليس على الشاشة ، ومع حدود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تشمل الحدود مهمة واحدة قصيرة ، وتلقي إخطار بالأحداث ، ومهام محددة طويلة المدى مثل تشغيل الصوت</a:t>
            </a:r>
          </a:p>
          <a:p>
            <a:r xmlns:a="http://schemas.openxmlformats.org/drawingml/2006/main">
              <a:rPr lang="ar" altLang="en-US" smtClean="0"/>
              <a:t>يعمل Android في المقدمة والخلفية ، مع قيود أقل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تستخدم عملية الخلفية </a:t>
            </a: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خدمة </a:t>
            </a:r>
            <a:r xmlns:a="http://schemas.openxmlformats.org/drawingml/2006/main">
              <a:rPr lang="ar" altLang="en-US" smtClean="0"/>
              <a:t>لأداء المهام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يمكن أن تستمر الخدمة في العمل حتى إذا تم تعليق العملية في الخلفية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الخدمة ليس لها واجهة مستخدم ، استخدام ذاكرة صغيرة</a:t>
            </a:r>
          </a:p>
          <a:p>
            <a:pPr lvl="1"/>
            <a:endParaRPr lang="en-US" altLang="en-US" smtClean="0"/>
          </a:p>
          <a:p>
            <a:endParaRPr lang="en-US" altLang="en-US" smtClean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6688"/>
            <a:ext cx="8229600" cy="576262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تبديل السياق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4075" y="1108075"/>
            <a:ext cx="6997700" cy="4448175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عندما تتحول وحدة المعالجة المركزية إلى عملية أخرى ، يجب على النظام </a:t>
            </a: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حفظ حالة </a:t>
            </a:r>
            <a:r xmlns:a="http://schemas.openxmlformats.org/drawingml/2006/main">
              <a:rPr lang="ar" altLang="en-US" smtClean="0"/>
              <a:t>العملية القديمة وتحميل </a:t>
            </a: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الحالة المحفوظة </a:t>
            </a:r>
            <a:r xmlns:a="http://schemas.openxmlformats.org/drawingml/2006/main">
              <a:rPr lang="ar" altLang="en-US" smtClean="0"/>
              <a:t>للعملية الجديدة عبر </a:t>
            </a: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مفتاح السياق</a:t>
            </a:r>
            <a:endParaRPr xmlns:a="http://schemas.openxmlformats.org/drawingml/2006/main" lang="en-US" altLang="en-US" smtClean="0"/>
          </a:p>
          <a:p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سياق </a:t>
            </a:r>
            <a:r xmlns:a="http://schemas.openxmlformats.org/drawingml/2006/main">
              <a:rPr lang="ar" altLang="en-US" smtClean="0"/>
              <a:t>عملية ممثلة في ثنائي الفينيل متعدد الكلور</a:t>
            </a:r>
          </a:p>
          <a:p>
            <a:r xmlns:a="http://schemas.openxmlformats.org/drawingml/2006/main">
              <a:rPr lang="ar" altLang="en-US" smtClean="0"/>
              <a:t>وقت تبديل السياق عبء ؛ لا يقوم النظام بعمل مفيد أثناء التبديل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كلما كان نظام التشغيل و PCB أكثر تعقيدًا - كلما </a:t>
            </a:r>
            <a:r xmlns:a="http://schemas.openxmlformats.org/drawingml/2006/main">
              <a:rPr lang="ar" altLang="en-US" smtClean="0">
                <a:sym typeface="Wingdings" panose="05000000000000000000" pitchFamily="2" charset="2"/>
              </a:rPr>
              <a:t>زاد </a:t>
            </a:r>
            <a:r xmlns:a="http://schemas.openxmlformats.org/drawingml/2006/main">
              <a:rPr lang="ar" altLang="en-US" smtClean="0"/>
              <a:t>طول تبديل السياق</a:t>
            </a:r>
          </a:p>
          <a:p>
            <a:r xmlns:a="http://schemas.openxmlformats.org/drawingml/2006/main">
              <a:rPr lang="ar" altLang="en-US" smtClean="0"/>
              <a:t>يعتمد الوقت على دعم الأجهزة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توفر بعض الأجهزة مجموعات متعددة من السجلات لكل سياقات متعددة لوحدة المعالجة المركزية </a:t>
            </a:r>
            <a:r xmlns:a="http://schemas.openxmlformats.org/drawingml/2006/main">
              <a:rPr lang="ar" altLang="en-US" smtClean="0">
                <a:sym typeface="Wingdings" panose="05000000000000000000" pitchFamily="2" charset="2"/>
              </a:rPr>
              <a:t>يتم </a:t>
            </a:r>
            <a:r xmlns:a="http://schemas.openxmlformats.org/drawingml/2006/main">
              <a:rPr lang="ar" altLang="en-US" smtClean="0"/>
              <a:t>تحميلها في وقت واحد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العمليات على العمليات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480300" cy="4448175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يجب أن يوفر النظام آليات من أجل: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إنشاء العملية ،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إنهاء العملية ،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وهكذا كما هو مفصل بعد ذلك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إنشاء العملية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4075" y="1169988"/>
            <a:ext cx="6918325" cy="5076825"/>
          </a:xfrm>
        </p:spPr>
        <p:txBody>
          <a:bodyPr/>
          <a:lstStyle/>
          <a:p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الأبوين</a:t>
            </a:r>
            <a:r xmlns:a="http://schemas.openxmlformats.org/drawingml/2006/main">
              <a:rPr lang="ar" altLang="en-US" b="1" smtClean="0"/>
              <a:t> </a:t>
            </a:r>
            <a:r xmlns:a="http://schemas.openxmlformats.org/drawingml/2006/main">
              <a:rPr lang="ar" altLang="en-US" smtClean="0"/>
              <a:t>عملية خلق </a:t>
            </a: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الأطفال</a:t>
            </a:r>
            <a:r xmlns:a="http://schemas.openxmlformats.org/drawingml/2006/main">
              <a:rPr lang="ar" altLang="en-US" b="1" smtClean="0"/>
              <a:t> </a:t>
            </a:r>
            <a:r xmlns:a="http://schemas.openxmlformats.org/drawingml/2006/main">
              <a:rPr lang="ar" altLang="en-US" smtClean="0"/>
              <a:t>والتي بدورها تخلق عمليات أخرى ، وتشكل </a:t>
            </a: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شجرة </a:t>
            </a:r>
            <a:r xmlns:a="http://schemas.openxmlformats.org/drawingml/2006/main">
              <a:rPr lang="ar" altLang="en-US" smtClean="0"/>
              <a:t>من العمليات</a:t>
            </a:r>
            <a:endParaRPr xmlns:a="http://schemas.openxmlformats.org/drawingml/2006/main" lang="en-US" altLang="en-US" sz="800" smtClean="0"/>
          </a:p>
          <a:p>
            <a:r xmlns:a="http://schemas.openxmlformats.org/drawingml/2006/main">
              <a:rPr lang="ar" altLang="en-US" smtClean="0"/>
              <a:t>بشكل عام ، يتم تحديد العملية وإدارتها عبر أ</a:t>
            </a:r>
            <a:r xmlns:a="http://schemas.openxmlformats.org/drawingml/2006/main">
              <a:rPr lang="ar" altLang="en-US" b="1" smtClean="0"/>
              <a:t> </a:t>
            </a: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معرف العملية </a:t>
            </a:r>
            <a:r xmlns:a="http://schemas.openxmlformats.org/drawingml/2006/main">
              <a:rPr lang="ar" altLang="en-US" smtClean="0"/>
              <a:t>( </a:t>
            </a: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pid </a:t>
            </a:r>
            <a:r xmlns:a="http://schemas.openxmlformats.org/drawingml/2006/main">
              <a:rPr lang="ar" altLang="en-US" smtClean="0"/>
              <a:t>)</a:t>
            </a:r>
            <a:endParaRPr xmlns:a="http://schemas.openxmlformats.org/drawingml/2006/main" lang="en-US" altLang="en-US" sz="800" smtClean="0"/>
          </a:p>
          <a:p>
            <a:r xmlns:a="http://schemas.openxmlformats.org/drawingml/2006/main">
              <a:rPr lang="ar" altLang="en-US" smtClean="0"/>
              <a:t>خيارات تقاسم الموارد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يتشارك الآباء والأطفال في جميع الموارد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يتشارك الأطفال مجموعة فرعية من </a:t>
            </a:r>
            <a:r xmlns:a="http://schemas.openxmlformats.org/drawingml/2006/main">
              <a:rPr lang="ar" altLang="ja-JP" smtClean="0"/>
              <a:t>موارد </a:t>
            </a:r>
            <a:r xmlns:a="http://schemas.openxmlformats.org/drawingml/2006/main">
              <a:rPr lang="ar" altLang="en-US" smtClean="0"/>
              <a:t>الوالدين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الوالد والطفل لا يتشاركان في الموارد</a:t>
            </a:r>
            <a:endParaRPr xmlns:a="http://schemas.openxmlformats.org/drawingml/2006/main" lang="en-US" altLang="en-US" sz="800" smtClean="0"/>
          </a:p>
          <a:p>
            <a:r xmlns:a="http://schemas.openxmlformats.org/drawingml/2006/main">
              <a:rPr lang="ar" altLang="en-US" smtClean="0"/>
              <a:t>خيارات التنفيذ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الوالد والأطفال ينفذون بشكل متزامن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الوالد ينتظر حتى ينتهي الأطفال</a:t>
            </a:r>
          </a:p>
          <a:p>
            <a:pPr>
              <a:buFont typeface="Monotype Sorts" pitchFamily="-84" charset="2"/>
              <a:buNone/>
            </a:pPr>
            <a:endParaRPr lang="en-US" altLang="en-US" smtClean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277813"/>
            <a:ext cx="8229600" cy="576262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شجرة العمليات في لينكس</a:t>
            </a:r>
          </a:p>
        </p:txBody>
      </p:sp>
      <p:pic>
        <p:nvPicPr>
          <p:cNvPr id="24579" name="Picture 1" descr="3_08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688" y="1352550"/>
            <a:ext cx="7061200" cy="374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9975" y="152400"/>
            <a:ext cx="7616825" cy="576263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إنشاء العملية (تابع)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950" y="1060450"/>
            <a:ext cx="7154863" cy="4530725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مساحة العنوان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طفل مكرر من الوالد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الطفل لديه برنامج تم تحميله فيه</a:t>
            </a:r>
          </a:p>
          <a:p>
            <a:r xmlns:a="http://schemas.openxmlformats.org/drawingml/2006/main">
              <a:rPr lang="ar" altLang="en-US" smtClean="0"/>
              <a:t>أمثلة UNIX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b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شوكة()</a:t>
            </a:r>
            <a:r xmlns:a="http://schemas.openxmlformats.org/drawingml/2006/main">
              <a:rPr lang="ar" altLang="en-US" smtClean="0">
                <a:solidFill>
                  <a:srgbClr val="000000"/>
                </a:solidFill>
              </a:rPr>
              <a:t> </a:t>
            </a:r>
            <a:r xmlns:a="http://schemas.openxmlformats.org/drawingml/2006/main">
              <a:rPr lang="ar" altLang="en-US" smtClean="0"/>
              <a:t>ينشئ استدعاء النظام عملية جديدة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b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exec () </a:t>
            </a:r>
            <a:r xmlns:a="http://schemas.openxmlformats.org/drawingml/2006/main">
              <a:rPr lang="ar" altLang="en-US" smtClean="0"/>
              <a:t>نظام استدعاء يُستخدم بعد </a:t>
            </a:r>
            <a:r xmlns:a="http://schemas.openxmlformats.org/drawingml/2006/main">
              <a:rPr lang="ar" altLang="en-US" b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fork () </a:t>
            </a:r>
            <a:r xmlns:a="http://schemas.openxmlformats.org/drawingml/2006/main">
              <a:rPr lang="ar" altLang="en-US" smtClean="0"/>
              <a:t>لاستبدال </a:t>
            </a:r>
            <a:r xmlns:a="http://schemas.openxmlformats.org/drawingml/2006/main">
              <a:rPr lang="ar" altLang="en-US" smtClean="0"/>
              <a:t>مساحة </a:t>
            </a:r>
            <a:r xmlns:a="http://schemas.openxmlformats.org/drawingml/2006/main">
              <a:rPr lang="ar" altLang="ja-JP" smtClean="0"/>
              <a:t>ذاكرة العملية ببرنامج جديد</a:t>
            </a:r>
            <a:endParaRPr xmlns:a="http://schemas.openxmlformats.org/drawingml/2006/main" lang="en-US" altLang="en-US" smtClean="0"/>
          </a:p>
        </p:txBody>
      </p:sp>
      <p:pic>
        <p:nvPicPr>
          <p:cNvPr id="25604" name="Picture 4" descr="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013" y="3798888"/>
            <a:ext cx="641985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996950" y="161925"/>
            <a:ext cx="8229600" cy="576263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برنامج C عملية منفصلة Forking</a:t>
            </a:r>
          </a:p>
        </p:txBody>
      </p:sp>
      <p:pic>
        <p:nvPicPr>
          <p:cNvPr id="26627" name="Picture 5" descr="Screen Shot 2012-12-04 at 11.21.10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138" y="969963"/>
            <a:ext cx="6038850" cy="56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84263" y="115888"/>
            <a:ext cx="8229600" cy="576262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z="2800" smtClean="0"/>
              <a:t>إنشاء عملية منفصلة عبر Windows API</a:t>
            </a:r>
          </a:p>
        </p:txBody>
      </p:sp>
      <p:pic>
        <p:nvPicPr>
          <p:cNvPr id="27651" name="Picture 1" descr="Screen Shot 2012-12-04 at 11.23.48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238" y="963613"/>
            <a:ext cx="4365625" cy="553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إنهاء العملية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170738" cy="4530725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تقوم العملية بتنفيذ العبارة الأخيرة ثم تطلب من نظام التشغيل حذفها باستخدام </a:t>
            </a:r>
            <a:r xmlns:a="http://schemas.openxmlformats.org/drawingml/2006/main">
              <a:rPr lang="ar" altLang="en-US" smtClean="0">
                <a:cs typeface="Courier New" panose="02070309020205020404" pitchFamily="49" charset="0"/>
              </a:rPr>
              <a:t>استدعاء نظام </a:t>
            </a:r>
            <a:endParaRPr xmlns:a="http://schemas.openxmlformats.org/drawingml/2006/main" lang="en-US" altLang="en-US" smtClean="0"/>
            <a:r xmlns:a="http://schemas.openxmlformats.org/drawingml/2006/main">
              <a:rPr lang="ar" altLang="en-US" b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 () .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إرجاع بيانات الحالة من الطفل إلى الوالد (عبر </a:t>
            </a:r>
            <a:r xmlns:a="http://schemas.openxmlformats.org/drawingml/2006/main">
              <a:rPr lang="ar" altLang="en-US" b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الانتظار () </a:t>
            </a:r>
            <a:r xmlns:a="http://schemas.openxmlformats.org/drawingml/2006/main">
              <a:rPr lang="ar" altLang="en-US" smtClean="0"/>
              <a:t>)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تخصيص </a:t>
            </a:r>
            <a:r xmlns:a="http://schemas.openxmlformats.org/drawingml/2006/main">
              <a:rPr lang="ar" altLang="ja-JP" smtClean="0"/>
              <a:t>موارد </a:t>
            </a:r>
            <a:endParaRPr xmlns:a="http://schemas.openxmlformats.org/drawingml/2006/main" lang="en-US" altLang="en-US" smtClean="0"/>
            <a:r xmlns:a="http://schemas.openxmlformats.org/drawingml/2006/main">
              <a:rPr lang="ar" altLang="en-US" smtClean="0"/>
              <a:t>العملية بواسطة نظام التشغيل</a:t>
            </a:r>
          </a:p>
          <a:p>
            <a:r xmlns:a="http://schemas.openxmlformats.org/drawingml/2006/main">
              <a:rPr lang="ar" altLang="en-US" smtClean="0"/>
              <a:t>يمكن للوالد إنهاء تنفيذ عمليات الأطفال باستخدام </a:t>
            </a:r>
            <a:r xmlns:a="http://schemas.openxmlformats.org/drawingml/2006/main">
              <a:rPr lang="ar" altLang="en-US" smtClean="0">
                <a:cs typeface="Courier New" panose="02070309020205020404" pitchFamily="49" charset="0"/>
              </a:rPr>
              <a:t>استدعاء النظام </a:t>
            </a:r>
            <a:r xmlns:a="http://schemas.openxmlformats.org/drawingml/2006/main">
              <a:rPr lang="ar" altLang="en-US" b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abort () . </a:t>
            </a:r>
            <a:r xmlns:a="http://schemas.openxmlformats.org/drawingml/2006/main">
              <a:rPr lang="ar" altLang="en-US" smtClean="0">
                <a:cs typeface="Courier New" panose="02070309020205020404" pitchFamily="49" charset="0"/>
              </a:rPr>
              <a:t>بعض الأسباب للقيام بذلك:</a:t>
            </a:r>
            <a:endParaRPr xmlns:a="http://schemas.openxmlformats.org/drawingml/2006/main" lang="en-US" altLang="en-US" smtClean="0"/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تجاوز الطفل الموارد المخصصة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المهمة المعينة للطفل لم تعد مطلوبة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يقوم الوالد بالخروج وأن أنظمة التشغيل لا تسمح للطفل بالمتابعة إذا تم إنهاء الأصل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2563"/>
            <a:ext cx="8229600" cy="576262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إنهاء العملية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7263" y="1042988"/>
            <a:ext cx="7369175" cy="4530725"/>
          </a:xfrm>
        </p:spPr>
        <p:txBody>
          <a:bodyPr/>
          <a:lstStyle/>
          <a:p>
            <a:pPr lvl="1"/>
            <a:endParaRPr lang="en-US" altLang="en-US" sz="800" smtClean="0"/>
          </a:p>
          <a:p>
            <a:r xmlns:a="http://schemas.openxmlformats.org/drawingml/2006/main">
              <a:rPr lang="ar" altLang="en-US" smtClean="0"/>
              <a:t>لا تسمح بعض أنظمة التشغيل للطفل بالتواجد إذا تم إنهاء الأصل. إذا انتهت العملية ، فيجب أيضًا إنهاء جميع توابعها.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b="1" smtClean="0"/>
              <a:t>إنهاء متتالي. </a:t>
            </a:r>
            <a:r xmlns:a="http://schemas.openxmlformats.org/drawingml/2006/main">
              <a:rPr lang="ar" altLang="en-US" smtClean="0"/>
              <a:t>يتم إنهاء جميع الأبناء والأحفاد ، وما إلى ذلك.</a:t>
            </a:r>
            <a:endParaRPr xmlns:a="http://schemas.openxmlformats.org/drawingml/2006/main" lang="en-US" altLang="en-US" b="1" smtClean="0"/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يتم بدء الإنهاء بواسطة نظام التشغيل.</a:t>
            </a:r>
            <a:endParaRPr xmlns:a="http://schemas.openxmlformats.org/drawingml/2006/main" lang="en-US" altLang="en-US" b="1" smtClean="0"/>
          </a:p>
          <a:p>
            <a:r xmlns:a="http://schemas.openxmlformats.org/drawingml/2006/main">
              <a:rPr lang="ar" altLang="en-US" smtClean="0"/>
              <a:t>قد تنتظر العملية الأصل إنهاء عملية تابعة باستخدام </a:t>
            </a:r>
            <a:r xmlns:a="http://schemas.openxmlformats.org/drawingml/2006/main">
              <a:rPr lang="ar" altLang="en-US" smtClean="0"/>
              <a:t>استدعاء نظام </a:t>
            </a:r>
            <a:r xmlns:a="http://schemas.openxmlformats.org/drawingml/2006/main">
              <a:rPr lang="ar" altLang="en-US" b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الانتظار () </a:t>
            </a:r>
            <a:r xmlns:a="http://schemas.openxmlformats.org/drawingml/2006/main">
              <a:rPr lang="ar" altLang="en-US" b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 xmlns:a="http://schemas.openxmlformats.org/drawingml/2006/main">
              <a:rPr lang="ar" altLang="en-US" smtClean="0"/>
              <a:t>تقوم المكالمة بإرجاع معلومات الحالة ومعرف البيانات الخاص بالعملية المنتهية</a:t>
            </a:r>
            <a:endParaRPr xmlns:a="http://schemas.openxmlformats.org/drawingml/2006/main" lang="en-US" altLang="en-US" b="1" smtClean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xmlns:a="http://schemas.openxmlformats.org/drawingml/2006/main">
              <a:buFont typeface="Monotype Sorts" pitchFamily="-84" charset="2"/>
              <a:buNone/>
              <a:bidi/>
            </a:pPr>
            <a:r xmlns:a="http://schemas.openxmlformats.org/drawingml/2006/main">
              <a:rPr lang="ar" altLang="en-US" b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pid = انتظر (&amp; status) ؛</a:t>
            </a:r>
          </a:p>
          <a:p>
            <a:r xmlns:a="http://schemas.openxmlformats.org/drawingml/2006/main">
              <a:rPr lang="ar" altLang="en-US" smtClean="0"/>
              <a:t>إذا لم يكن هناك والد ينتظر (لم يستدعي </a:t>
            </a:r>
            <a:r xmlns:a="http://schemas.openxmlformats.org/drawingml/2006/main">
              <a:rPr lang="ar" altLang="en-US" b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الانتظار () </a:t>
            </a:r>
            <a:r xmlns:a="http://schemas.openxmlformats.org/drawingml/2006/main">
              <a:rPr lang="ar" altLang="en-US" smtClean="0">
                <a:cs typeface="Courier New" panose="02070309020205020404" pitchFamily="49" charset="0"/>
              </a:rPr>
              <a:t>) </a:t>
            </a:r>
            <a:r xmlns:a="http://schemas.openxmlformats.org/drawingml/2006/main">
              <a:rPr lang="ar" altLang="en-US" smtClean="0"/>
              <a:t>، فإن عملية الانتظار هي </a:t>
            </a: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غيبوبة</a:t>
            </a:r>
          </a:p>
          <a:p>
            <a:r xmlns:a="http://schemas.openxmlformats.org/drawingml/2006/main">
              <a:rPr lang="ar" altLang="en-US" smtClean="0"/>
              <a:t>إذا تم إنهاء الوالد دون استدعاء </a:t>
            </a:r>
            <a:r xmlns:a="http://schemas.openxmlformats.org/drawingml/2006/main">
              <a:rPr lang="ar" altLang="en-US" b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الانتظار </a:t>
            </a:r>
            <a:r xmlns:a="http://schemas.openxmlformats.org/drawingml/2006/main">
              <a:rPr lang="ar" altLang="en-US" smtClean="0"/>
              <a:t>، فإن العملية </a:t>
            </a: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يتيمة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1225550" y="150813"/>
            <a:ext cx="7997825" cy="576262"/>
          </a:xfrm>
        </p:spPr>
        <p:txBody>
          <a:bodyPr/>
          <a:lstStyle/>
          <a:p>
            <a:r xmlns:a="http://schemas.openxmlformats.org/drawingml/2006/main">
              <a:rPr lang="ar" altLang="en-US" sz="2800" smtClean="0"/>
              <a:t>هندسة العمليات المتعددة - متصفح كروم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7512050" cy="4530725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تم تشغيل العديد من متصفحات الويب كعملية واحدة (لا يزال بعضها يعمل)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إذا تسبب أحد مواقع الويب في حدوث مشكلات ، فيمكن أن يتعطل المتصفح بأكمله أو يتعطل</a:t>
            </a:r>
          </a:p>
          <a:p>
            <a:r xmlns:a="http://schemas.openxmlformats.org/drawingml/2006/main">
              <a:rPr lang="ar" altLang="en-US" smtClean="0"/>
              <a:t>متصفح Google Chrome هو متعدد العمليات مع 3 أنواع مختلفة من العمليات: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المتصفح </a:t>
            </a:r>
            <a:r xmlns:a="http://schemas.openxmlformats.org/drawingml/2006/main">
              <a:rPr lang="ar" altLang="en-US" smtClean="0"/>
              <a:t>واجهة المستخدم والقرص والشبكة I / O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Renderer </a:t>
            </a:r>
            <a:r xmlns:a="http://schemas.openxmlformats.org/drawingml/2006/main">
              <a:rPr lang="ar" altLang="en-US" smtClean="0"/>
              <a:t>صفحات الويب ، وتتعامل مع HTML ، و Javascript. تم فتح عارض جديد تم إنشاؤه لكل موقع ويب</a:t>
            </a:r>
          </a:p>
          <a:p>
            <a:pPr xmlns:a="http://schemas.openxmlformats.org/drawingml/2006/main" lvl="2">
              <a:bidi/>
            </a:pPr>
            <a:r xmlns:a="http://schemas.openxmlformats.org/drawingml/2006/main">
              <a:rPr lang="ar" altLang="en-US" smtClean="0"/>
              <a:t>يعمل في </a:t>
            </a: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وضع الحماية </a:t>
            </a:r>
            <a:r xmlns:a="http://schemas.openxmlformats.org/drawingml/2006/main">
              <a:rPr lang="ar" altLang="en-US" smtClean="0"/>
              <a:t>الذي يقيد إدخال / إخراج القرص والشبكة ، مما يقلل من تأثير عمليات استغلال الأمان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التوصيل </a:t>
            </a:r>
            <a:r xmlns:a="http://schemas.openxmlformats.org/drawingml/2006/main">
              <a:rPr lang="ar" altLang="en-US" smtClean="0"/>
              <a:t>لكل نوع من المكونات الإضافية</a:t>
            </a:r>
          </a:p>
          <a:p>
            <a:pPr lvl="1"/>
            <a:endParaRPr lang="en-US" altLang="en-US" smtClean="0"/>
          </a:p>
          <a:p>
            <a:pPr lvl="1"/>
            <a:endParaRPr lang="en-US" altLang="en-US" smtClean="0"/>
          </a:p>
          <a:p>
            <a:pPr lvl="1"/>
            <a:endParaRPr lang="en-US" altLang="en-US" smtClean="0"/>
          </a:p>
        </p:txBody>
      </p:sp>
      <p:pic>
        <p:nvPicPr>
          <p:cNvPr id="30724" name="Picture 1" descr="in-3_2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200" y="4926013"/>
            <a:ext cx="6292850" cy="1141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982663" y="168275"/>
            <a:ext cx="7704137" cy="576263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اتصال interprocess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885825" y="1154113"/>
            <a:ext cx="7485063" cy="4530725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قد تكون العمليات داخل النظام </a:t>
            </a:r>
            <a:r xmlns:a="http://schemas.openxmlformats.org/drawingml/2006/main">
              <a:rPr lang="ar" altLang="en-US" b="1" i="1" smtClean="0"/>
              <a:t>مستقلة</a:t>
            </a:r>
            <a:r xmlns:a="http://schemas.openxmlformats.org/drawingml/2006/main">
              <a:rPr lang="ar" altLang="en-US" b="1" smtClean="0"/>
              <a:t> </a:t>
            </a:r>
            <a:r xmlns:a="http://schemas.openxmlformats.org/drawingml/2006/main">
              <a:rPr lang="ar" altLang="en-US" smtClean="0"/>
              <a:t>أو </a:t>
            </a:r>
            <a:r xmlns:a="http://schemas.openxmlformats.org/drawingml/2006/main">
              <a:rPr lang="ar" altLang="en-US" b="1" i="1" smtClean="0"/>
              <a:t>تتعاون</a:t>
            </a:r>
          </a:p>
          <a:p>
            <a:r xmlns:a="http://schemas.openxmlformats.org/drawingml/2006/main">
              <a:rPr lang="ar" altLang="en-US" smtClean="0"/>
              <a:t>يمكن أن تؤثر العملية التعاونية أو تتأثر بعمليات أخرى ، بما في ذلك مشاركة البيانات</a:t>
            </a:r>
          </a:p>
          <a:p>
            <a:r xmlns:a="http://schemas.openxmlformats.org/drawingml/2006/main">
              <a:rPr lang="ar" altLang="en-US" smtClean="0"/>
              <a:t>أسباب التعاون: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مشاركة المعلومات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تسريع الحساب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نمطية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راحة</a:t>
            </a:r>
          </a:p>
          <a:p>
            <a:r xmlns:a="http://schemas.openxmlformats.org/drawingml/2006/main">
              <a:rPr lang="ar" altLang="en-US" smtClean="0"/>
              <a:t>تحتاج العمليات المتعاونة إلى </a:t>
            </a: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اتصال بين العمليات </a:t>
            </a:r>
            <a:r xmlns:a="http://schemas.openxmlformats.org/drawingml/2006/main">
              <a:rPr lang="ar" altLang="en-US" smtClean="0"/>
              <a:t>( </a:t>
            </a: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IPC </a:t>
            </a:r>
            <a:r xmlns:a="http://schemas.openxmlformats.org/drawingml/2006/main">
              <a:rPr lang="ar" altLang="en-US" smtClean="0"/>
              <a:t>)</a:t>
            </a:r>
          </a:p>
          <a:p>
            <a:r xmlns:a="http://schemas.openxmlformats.org/drawingml/2006/main">
              <a:rPr lang="ar" altLang="en-US" smtClean="0"/>
              <a:t>نموذجان من IPC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ذكريات مشتركه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تمر الرسالة</a:t>
            </a:r>
          </a:p>
          <a:p>
            <a:pPr lvl="1"/>
            <a:endParaRPr lang="en-US" altLang="en-US" smtClean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2563"/>
            <a:ext cx="8229600" cy="576262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نماذج الاتصالات</a:t>
            </a:r>
          </a:p>
        </p:txBody>
      </p:sp>
      <p:pic>
        <p:nvPicPr>
          <p:cNvPr id="32771" name="Picture 1" descr="3_12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013" y="1725613"/>
            <a:ext cx="6100762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Rectangle 3"/>
          <p:cNvSpPr>
            <a:spLocks noChangeArrowheads="1"/>
          </p:cNvSpPr>
          <p:nvPr/>
        </p:nvSpPr>
        <p:spPr bwMode="auto">
          <a:xfrm>
            <a:off x="969963" y="1143000"/>
            <a:ext cx="63722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r xmlns:a="http://schemas.openxmlformats.org/drawingml/2006/main">
              <a:rPr lang="ar" altLang="en-US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 xmlns:a="http://schemas.openxmlformats.org/drawingml/2006/main">
              <a:rPr lang="ar" altLang="en-US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أ) مرور الرسالة. (ب) الذاكرة المشتركة.</a:t>
            </a:r>
            <a:r xmlns:a="http://schemas.openxmlformats.org/drawingml/2006/main">
              <a:rPr lang="ar" altLang="en-US">
                <a:cs typeface="Courier New" panose="02070309020205020404" pitchFamily="49" charset="0"/>
              </a:rPr>
              <a:t>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0450" y="277813"/>
            <a:ext cx="7626350" cy="576262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العمليات المتعاونة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529513" cy="4530725"/>
          </a:xfrm>
        </p:spPr>
        <p:txBody>
          <a:bodyPr/>
          <a:lstStyle/>
          <a:p>
            <a:r xmlns:a="http://schemas.openxmlformats.org/drawingml/2006/main">
              <a:rPr lang="ar" altLang="en-US" b="1" i="1" smtClean="0"/>
              <a:t>المستقلة </a:t>
            </a:r>
            <a:r xmlns:a="http://schemas.openxmlformats.org/drawingml/2006/main">
              <a:rPr lang="ar" altLang="en-US" smtClean="0"/>
              <a:t>أو تتأثر بتنفيذ عملية أخرى</a:t>
            </a:r>
          </a:p>
          <a:p>
            <a:r xmlns:a="http://schemas.openxmlformats.org/drawingml/2006/main">
              <a:rPr lang="ar" altLang="en-US" b="1" i="1" smtClean="0">
                <a:solidFill>
                  <a:srgbClr val="000000"/>
                </a:solidFill>
              </a:rPr>
              <a:t>التعاونية </a:t>
            </a:r>
            <a:r xmlns:a="http://schemas.openxmlformats.org/drawingml/2006/main">
              <a:rPr lang="ar" altLang="en-US" smtClean="0"/>
              <a:t>أو تتأثر بتنفيذ عملية أخرى</a:t>
            </a:r>
          </a:p>
          <a:p>
            <a:r xmlns:a="http://schemas.openxmlformats.org/drawingml/2006/main">
              <a:rPr lang="ar" altLang="en-US" smtClean="0"/>
              <a:t>مزايا عملية التعاون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مشاركة المعلومات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تسريع الحساب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نمطية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راحة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247650"/>
            <a:ext cx="7937500" cy="576263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مشكلة المنتج والمستهلك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2963" y="1185863"/>
            <a:ext cx="6667500" cy="4498975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نموذج للعمليات المتعاونة ، تنتج عملية </a:t>
            </a:r>
            <a:r xmlns:a="http://schemas.openxmlformats.org/drawingml/2006/main">
              <a:rPr lang="ar" altLang="en-US" i="1" smtClean="0"/>
              <a:t>المنتج </a:t>
            </a:r>
            <a:r xmlns:a="http://schemas.openxmlformats.org/drawingml/2006/main">
              <a:rPr lang="ar" altLang="en-US" smtClean="0"/>
              <a:t>المعلومات التي تستهلكها </a:t>
            </a:r>
            <a:r xmlns:a="http://schemas.openxmlformats.org/drawingml/2006/main">
              <a:rPr lang="ar" altLang="en-US" smtClean="0"/>
              <a:t>عملية </a:t>
            </a:r>
            <a:r xmlns:a="http://schemas.openxmlformats.org/drawingml/2006/main">
              <a:rPr lang="ar" altLang="en-US" i="1" smtClean="0"/>
              <a:t>المستهلك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المخزن المؤقت غير المحدود </a:t>
            </a:r>
            <a:r xmlns:a="http://schemas.openxmlformats.org/drawingml/2006/main">
              <a:rPr lang="ar" altLang="en-US" smtClean="0"/>
              <a:t>أي حد عملي على حجم المخزن المؤقت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b="1" smtClean="0">
                <a:solidFill>
                  <a:srgbClr val="3366FF"/>
                </a:solidFill>
              </a:rPr>
              <a:t>المخزن </a:t>
            </a:r>
            <a:r xmlns:a="http://schemas.openxmlformats.org/drawingml/2006/main">
              <a:rPr lang="ar" altLang="en-US" smtClean="0"/>
              <a:t>المؤقت المحدد وجود حجم مخزن مؤقت ثابت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6163" y="300038"/>
            <a:ext cx="8074025" cy="457200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z="2800" smtClean="0"/>
              <a:t>المخزن المؤقت - حل الذاكرة المشتركة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5388" y="1203325"/>
            <a:ext cx="7131050" cy="4700588"/>
          </a:xfrm>
        </p:spPr>
        <p:txBody>
          <a:bodyPr/>
          <a:lstStyle/>
          <a:p>
            <a:r xmlns:a="http://schemas.openxmlformats.org/drawingml/2006/main">
              <a:rPr lang="ar" altLang="en-US" sz="1600" smtClean="0"/>
              <a:t>البيانات المشتركة</a:t>
            </a:r>
          </a:p>
          <a:p>
            <a:pPr xmlns:a="http://schemas.openxmlformats.org/drawingml/2006/main" marL="1598613" lvl="3">
              <a:buFontTx/>
              <a:buNone/>
              <a:bidi/>
            </a:pPr>
            <a:r xmlns:a="http://schemas.openxmlformats.org/drawingml/2006/main">
              <a:rPr lang="ar" altLang="en-US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#define BUFFER_SIZE 10</a:t>
            </a:r>
          </a:p>
          <a:p>
            <a:pPr xmlns:a="http://schemas.openxmlformats.org/drawingml/2006/main" marL="1598613" lvl="3">
              <a:buFontTx/>
              <a:buNone/>
              <a:bidi/>
            </a:pPr>
            <a:r xmlns:a="http://schemas.openxmlformats.org/drawingml/2006/main">
              <a:rPr lang="ar" altLang="en-US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بنية typedef {</a:t>
            </a:r>
          </a:p>
          <a:p>
            <a:pPr xmlns:a="http://schemas.openxmlformats.org/drawingml/2006/main" marL="1598613" lvl="3">
              <a:buFontTx/>
              <a:buNone/>
              <a:bidi/>
            </a:pPr>
            <a:r xmlns:a="http://schemas.openxmlformats.org/drawingml/2006/main">
              <a:rPr lang="ar" altLang="en-US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. . .</a:t>
            </a:r>
          </a:p>
          <a:p>
            <a:pPr xmlns:a="http://schemas.openxmlformats.org/drawingml/2006/main" marL="1598613" lvl="3">
              <a:buFontTx/>
              <a:buNone/>
              <a:bidi/>
            </a:pPr>
            <a:r xmlns:a="http://schemas.openxmlformats.org/drawingml/2006/main">
              <a:rPr lang="ar" altLang="en-US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} العنصر؛</a:t>
            </a:r>
          </a:p>
          <a:p>
            <a:pPr marL="1598613" lvl="3">
              <a:buFontTx/>
              <a:buNone/>
            </a:pPr>
            <a:endParaRPr lang="en-US" altLang="en-US" sz="160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xmlns:a="http://schemas.openxmlformats.org/drawingml/2006/main" marL="1598613" lvl="3">
              <a:buFontTx/>
              <a:buNone/>
              <a:bidi/>
            </a:pPr>
            <a:r xmlns:a="http://schemas.openxmlformats.org/drawingml/2006/main">
              <a:rPr lang="ar" altLang="en-US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مخزن مؤقت للعناصر [BUFFER_SIZE] ؛</a:t>
            </a:r>
          </a:p>
          <a:p>
            <a:pPr xmlns:a="http://schemas.openxmlformats.org/drawingml/2006/main" marL="1598613" lvl="3">
              <a:buFontTx/>
              <a:buNone/>
              <a:bidi/>
            </a:pPr>
            <a:r xmlns:a="http://schemas.openxmlformats.org/drawingml/2006/main">
              <a:rPr lang="ar" altLang="en-US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كثافة العمليات = 0 ؛</a:t>
            </a:r>
          </a:p>
          <a:p>
            <a:pPr xmlns:a="http://schemas.openxmlformats.org/drawingml/2006/main" marL="1598613" lvl="3">
              <a:buFontTx/>
              <a:buNone/>
              <a:bidi/>
            </a:pPr>
            <a:r xmlns:a="http://schemas.openxmlformats.org/drawingml/2006/main">
              <a:rPr lang="ar" altLang="en-US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int خارج = 0 ؛</a:t>
            </a:r>
          </a:p>
          <a:p>
            <a:pPr marL="1598613" lvl="3">
              <a:buFontTx/>
              <a:buNone/>
            </a:pPr>
            <a:endParaRPr lang="en-US" altLang="en-US" sz="1600" smtClean="0"/>
          </a:p>
          <a:p>
            <a:r xmlns:a="http://schemas.openxmlformats.org/drawingml/2006/main">
              <a:rPr lang="ar" altLang="en-US" sz="1600" smtClean="0"/>
              <a:t>الحل صحيح ، ولكن يمكن فقط استخدام عناصر BUFFER_SIZE-1</a:t>
            </a:r>
          </a:p>
          <a:p>
            <a:pPr marL="1598613" lvl="3">
              <a:buFontTx/>
              <a:buNone/>
            </a:pPr>
            <a:endParaRPr lang="en-US" altLang="en-US" sz="2000" b="1" smtClean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7600" y="203200"/>
            <a:ext cx="7569200" cy="576263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حدود - عازلة - منتج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75" y="1014413"/>
            <a:ext cx="6940550" cy="4483100"/>
          </a:xfrm>
        </p:spPr>
        <p:txBody>
          <a:bodyPr/>
          <a:lstStyle/>
          <a:p>
            <a:pPr>
              <a:buFont typeface="Monotype Sorts" charset="0"/>
              <a:buNone/>
              <a:defRPr/>
            </a:pPr>
            <a:endParaRPr lang="en-US" sz="1600" dirty="0">
              <a:latin typeface="Monaco" charset="0"/>
              <a:ea typeface="ＭＳ Ｐゴシック" charset="0"/>
              <a:cs typeface="ＭＳ Ｐゴシック" charset="0"/>
            </a:endParaRPr>
          </a:p>
          <a:p>
            <a:pPr xmlns:a="http://schemas.openxmlformats.org/drawingml/2006/main" marL="0" indent="0">
              <a:buFont typeface="Monotype Sorts" pitchFamily="-84" charset="2"/>
              <a:buNone/>
              <a:defRPr/>
              <a:bidi/>
            </a:pPr>
            <a:r xmlns:a="http://schemas.openxmlformats.org/drawingml/2006/main">
              <a:rPr lang="ar" sz="1600" dirty="0" smtClean="0"/>
              <a:t>العنصر </a:t>
            </a:r>
            <a:r xmlns:a="http://schemas.openxmlformats.org/drawingml/2006/main">
              <a:rPr lang="ar" sz="1600" dirty="0" err="1" smtClean="0"/>
              <a:t>التالي </a:t>
            </a:r>
            <a:r xmlns:a="http://schemas.openxmlformats.org/drawingml/2006/main">
              <a:rPr lang="ar" sz="1600" dirty="0" smtClean="0"/>
              <a:t>؛</a:t>
            </a:r>
          </a:p>
          <a:p>
            <a:pPr xmlns:a="http://schemas.openxmlformats.org/drawingml/2006/main" marL="0" indent="0">
              <a:buFont typeface="Monotype Sorts" pitchFamily="-84" charset="2"/>
              <a:buNone/>
              <a:defRPr/>
              <a:bidi/>
            </a:pPr>
            <a:r xmlns:a="http://schemas.openxmlformats.org/drawingml/2006/main">
              <a:rPr lang="ar" sz="1600" dirty="0" smtClean="0"/>
              <a:t>احيانا صحيح) {</a:t>
            </a:r>
          </a:p>
          <a:p>
            <a:pPr xmlns:a="http://schemas.openxmlformats.org/drawingml/2006/main" marL="0" indent="0">
              <a:buFont typeface="Monotype Sorts" pitchFamily="-84" charset="2"/>
              <a:buNone/>
              <a:defRPr/>
              <a:bidi/>
            </a:pPr>
            <a:r xmlns:a="http://schemas.openxmlformats.org/drawingml/2006/main">
              <a:rPr lang="ar" sz="1600" dirty="0" smtClean="0"/>
              <a:t>/ * إنتاج عنصر في الإنتاج التالي * /</a:t>
            </a:r>
          </a:p>
          <a:p>
            <a:pPr xmlns:a="http://schemas.openxmlformats.org/drawingml/2006/main" marL="0" indent="0">
              <a:buFont typeface="Monotype Sorts" pitchFamily="-84" charset="2"/>
              <a:buNone/>
              <a:defRPr/>
              <a:bidi/>
            </a:pPr>
            <a:r xmlns:a="http://schemas.openxmlformats.org/drawingml/2006/main">
              <a:rPr lang="ar" sz="1600" dirty="0" smtClean="0"/>
              <a:t>بينما ((في + 1)٪ BUFFER_SIZE) == خارج)</a:t>
            </a:r>
          </a:p>
          <a:p>
            <a:pPr xmlns:a="http://schemas.openxmlformats.org/drawingml/2006/main" marL="0" indent="0">
              <a:buFont typeface="Monotype Sorts" pitchFamily="-84" charset="2"/>
              <a:buNone/>
              <a:defRPr/>
              <a:bidi/>
            </a:pPr>
            <a:r xmlns:a="http://schemas.openxmlformats.org/drawingml/2006/main">
              <a:rPr lang="ar" sz="1600" dirty="0" smtClean="0"/>
              <a:t>؛ /* لا تفعل شيئا */</a:t>
            </a:r>
          </a:p>
          <a:p>
            <a:pPr xmlns:a="http://schemas.openxmlformats.org/drawingml/2006/main" marL="0" indent="0">
              <a:buFont typeface="Monotype Sorts" pitchFamily="-84" charset="2"/>
              <a:buNone/>
              <a:defRPr/>
              <a:bidi/>
            </a:pPr>
            <a:r xmlns:a="http://schemas.openxmlformats.org/drawingml/2006/main">
              <a:rPr lang="ar" sz="1600" dirty="0" smtClean="0"/>
              <a:t>المخزن المؤقت [في] = </a:t>
            </a:r>
            <a:r xmlns:a="http://schemas.openxmlformats.org/drawingml/2006/main">
              <a:rPr lang="ar" sz="1600" dirty="0" err="1" smtClean="0"/>
              <a:t>إنتاج_ التالي </a:t>
            </a:r>
            <a:r xmlns:a="http://schemas.openxmlformats.org/drawingml/2006/main">
              <a:rPr lang="ar" sz="1600" dirty="0" smtClean="0"/>
              <a:t>؛</a:t>
            </a:r>
          </a:p>
          <a:p>
            <a:pPr xmlns:a="http://schemas.openxmlformats.org/drawingml/2006/main" marL="0" indent="0">
              <a:buFont typeface="Monotype Sorts" pitchFamily="-84" charset="2"/>
              <a:buNone/>
              <a:defRPr/>
              <a:bidi/>
            </a:pPr>
            <a:r xmlns:a="http://schemas.openxmlformats.org/drawingml/2006/main">
              <a:rPr lang="ar" sz="1600" dirty="0" smtClean="0"/>
              <a:t>في = (في + 1)٪ BUFFER_SIZE ؛</a:t>
            </a:r>
          </a:p>
          <a:p>
            <a:pPr xmlns:a="http://schemas.openxmlformats.org/drawingml/2006/main" marL="0" indent="0">
              <a:buFont typeface="Monotype Sorts" pitchFamily="-84" charset="2"/>
              <a:buNone/>
              <a:defRPr/>
              <a:bidi/>
            </a:pPr>
            <a:r xmlns:a="http://schemas.openxmlformats.org/drawingml/2006/main">
              <a:rPr lang="ar" sz="1600" dirty="0" smtClean="0"/>
              <a:t>}</a:t>
            </a:r>
          </a:p>
          <a:p>
            <a:pPr>
              <a:buFont typeface="Monotype Sorts" charset="0"/>
              <a:buNone/>
              <a:defRPr/>
            </a:pPr>
            <a:endParaRPr lang="en-US" sz="2000" dirty="0">
              <a:latin typeface="Monaco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  <a:defRPr/>
            </a:pPr>
            <a:endParaRPr lang="en-US" sz="2000" dirty="0">
              <a:ea typeface="ＭＳ Ｐゴシック" charset="0"/>
              <a:cs typeface="ＭＳ Ｐゴシック" charset="0"/>
            </a:endParaRPr>
          </a:p>
          <a:p>
            <a:pPr xmlns:a="http://schemas.openxmlformats.org/drawingml/2006/main">
              <a:buFont typeface="Monotype Sorts" charset="0"/>
              <a:buNone/>
              <a:defRPr/>
              <a:bidi/>
            </a:pPr>
            <a:r xmlns:a="http://schemas.openxmlformats.org/drawingml/2006/main">
              <a:rPr lang="ar" sz="1400" dirty="0">
                <a:ea typeface="ＭＳ Ｐゴシック" charset="0"/>
                <a:cs typeface="ＭＳ Ｐゴシック" charset="0"/>
              </a:rPr>
              <a:t> </a:t>
            </a:r>
          </a:p>
          <a:p>
            <a:pPr marL="7168674" lvl="4">
              <a:buFontTx/>
              <a:buNone/>
              <a:defRPr/>
            </a:pPr>
            <a:endParaRPr lang="en-US" sz="1100" dirty="0"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3200"/>
            <a:ext cx="8229600" cy="576263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العازلة المقيدة - المستهلك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49413" y="1219200"/>
            <a:ext cx="6894512" cy="4411663"/>
          </a:xfrm>
        </p:spPr>
        <p:txBody>
          <a:bodyPr/>
          <a:lstStyle/>
          <a:p>
            <a:pPr xmlns:a="http://schemas.openxmlformats.org/drawingml/2006/main" marL="0" indent="0">
              <a:buFont typeface="Monotype Sorts" pitchFamily="-84" charset="2"/>
              <a:buNone/>
              <a:bidi/>
            </a:pPr>
            <a:r xmlns:a="http://schemas.openxmlformats.org/drawingml/2006/main">
              <a:rPr lang="ar" altLang="en-US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العنصر next_consumed ؛</a:t>
            </a:r>
          </a:p>
          <a:p>
            <a:pPr xmlns:a="http://schemas.openxmlformats.org/drawingml/2006/main" marL="0" indent="0">
              <a:buFont typeface="Monotype Sorts" pitchFamily="-84" charset="2"/>
              <a:buNone/>
              <a:bidi/>
            </a:pPr>
            <a:r xmlns:a="http://schemas.openxmlformats.org/drawingml/2006/main">
              <a:rPr lang="ar" altLang="en-US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بينما (صحيح) { </a:t>
            </a:r>
            <a:br xmlns:a="http://schemas.openxmlformats.org/drawingml/2006/main">
              <a:rPr lang="en-US" altLang="en-US" sz="160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 xmlns:a="http://schemas.openxmlformats.org/drawingml/2006/main">
              <a:rPr lang="ar" altLang="en-US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بينما (في == خارج)</a:t>
            </a:r>
          </a:p>
          <a:p>
            <a:pPr xmlns:a="http://schemas.openxmlformats.org/drawingml/2006/main" marL="0" indent="0">
              <a:buFont typeface="Monotype Sorts" pitchFamily="-84" charset="2"/>
              <a:buNone/>
              <a:bidi/>
            </a:pPr>
            <a:r xmlns:a="http://schemas.openxmlformats.org/drawingml/2006/main">
              <a:rPr lang="ar" altLang="en-US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؛ / * لا تفعل شيئًا * / </a:t>
            </a:r>
            <a:br xmlns:a="http://schemas.openxmlformats.org/drawingml/2006/main">
              <a:rPr lang="en-US" altLang="en-US" sz="160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 xmlns:a="http://schemas.openxmlformats.org/drawingml/2006/main">
              <a:rPr lang="ar" altLang="en-US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next_consumed = المخزن المؤقت [out] ؛</a:t>
            </a:r>
          </a:p>
          <a:p>
            <a:pPr xmlns:a="http://schemas.openxmlformats.org/drawingml/2006/main" marL="0" indent="0">
              <a:buFont typeface="Monotype Sorts" pitchFamily="-84" charset="2"/>
              <a:buNone/>
              <a:bidi/>
            </a:pPr>
            <a:r xmlns:a="http://schemas.openxmlformats.org/drawingml/2006/main">
              <a:rPr lang="ar" altLang="en-US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خارج = (خارج + 1)٪ BUFFER_SIZE ؛</a:t>
            </a:r>
            <a:br xmlns:a="http://schemas.openxmlformats.org/drawingml/2006/main">
              <a:rPr lang="en-US" altLang="en-US" sz="160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xmlns:a="http://schemas.openxmlformats.org/drawingml/2006/main" lang="en-US" altLang="en-US" sz="160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xmlns:a="http://schemas.openxmlformats.org/drawingml/2006/main" marL="0" indent="0">
              <a:buFont typeface="Monotype Sorts" pitchFamily="-84" charset="2"/>
              <a:buNone/>
              <a:bidi/>
            </a:pPr>
            <a:r xmlns:a="http://schemas.openxmlformats.org/drawingml/2006/main">
              <a:rPr lang="ar" altLang="en-US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/ * استهلاك العنصر في المرة القادمة المستهلكة * /</a:t>
            </a:r>
          </a:p>
          <a:p>
            <a:pPr xmlns:a="http://schemas.openxmlformats.org/drawingml/2006/main" marL="0" indent="0">
              <a:buFont typeface="Monotype Sorts" pitchFamily="-84" charset="2"/>
              <a:buNone/>
              <a:bidi/>
            </a:pPr>
            <a:r xmlns:a="http://schemas.openxmlformats.org/drawingml/2006/main">
              <a:rPr lang="ar" altLang="en-US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57275" y="95250"/>
            <a:ext cx="8229600" cy="576263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z="2500" smtClean="0"/>
              <a:t>الاتصال بين العمليات - الذاكرة المشتركة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1233488"/>
            <a:ext cx="6621463" cy="4530725"/>
          </a:xfrm>
        </p:spPr>
        <p:txBody>
          <a:bodyPr/>
          <a:lstStyle/>
          <a:p>
            <a:pPr xmlns:a="http://schemas.openxmlformats.org/drawingml/2006/main">
              <a:lnSpc>
                <a:spcPct val="90000"/>
              </a:lnSpc>
              <a:bidi/>
            </a:pPr>
            <a:r xmlns:a="http://schemas.openxmlformats.org/drawingml/2006/main">
              <a:rPr lang="ar" altLang="en-US" smtClean="0"/>
              <a:t>مساحة من الذاكرة مشتركة بين العمليات التي ترغب في التواصل</a:t>
            </a:r>
          </a:p>
          <a:p>
            <a:pPr xmlns:a="http://schemas.openxmlformats.org/drawingml/2006/main">
              <a:lnSpc>
                <a:spcPct val="90000"/>
              </a:lnSpc>
              <a:bidi/>
            </a:pPr>
            <a:r xmlns:a="http://schemas.openxmlformats.org/drawingml/2006/main">
              <a:rPr lang="ar" altLang="en-US" smtClean="0"/>
              <a:t>الاتصال تحت سيطرة عمليات المستخدمين وليس نظام التشغيل.</a:t>
            </a:r>
          </a:p>
          <a:p>
            <a:pPr xmlns:a="http://schemas.openxmlformats.org/drawingml/2006/main">
              <a:lnSpc>
                <a:spcPct val="90000"/>
              </a:lnSpc>
              <a:bidi/>
            </a:pPr>
            <a:r xmlns:a="http://schemas.openxmlformats.org/drawingml/2006/main">
              <a:rPr lang="ar" altLang="en-US" smtClean="0"/>
              <a:t>تتمثل المشكلات الرئيسية في توفير آلية تسمح لعمليات المستخدم بمزامنة إجراءاتهم عند الوصول إلى الذاكرة المشتركة.</a:t>
            </a:r>
          </a:p>
          <a:p>
            <a:pPr xmlns:a="http://schemas.openxmlformats.org/drawingml/2006/main">
              <a:lnSpc>
                <a:spcPct val="90000"/>
              </a:lnSpc>
              <a:bidi/>
            </a:pPr>
            <a:r xmlns:a="http://schemas.openxmlformats.org/drawingml/2006/main">
              <a:rPr lang="ar" altLang="en-US" smtClean="0"/>
              <a:t>تمت مناقشة المزامنة بتفصيل كبير في الفصل الخامس.</a:t>
            </a:r>
          </a:p>
          <a:p>
            <a:pPr>
              <a:lnSpc>
                <a:spcPct val="90000"/>
              </a:lnSpc>
            </a:pPr>
            <a:endParaRPr lang="en-US" altLang="en-US" smtClean="0"/>
          </a:p>
          <a:p>
            <a:pPr>
              <a:lnSpc>
                <a:spcPct val="90000"/>
              </a:lnSpc>
            </a:pPr>
            <a:endParaRPr lang="en-US" altLang="en-US" smtClean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mtClean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57275" y="127000"/>
            <a:ext cx="8229600" cy="576263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z="2500" smtClean="0"/>
              <a:t>الاتصال بين العمليات - تمرير الرسائل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825" y="1201738"/>
            <a:ext cx="6934200" cy="4530725"/>
          </a:xfrm>
        </p:spPr>
        <p:txBody>
          <a:bodyPr/>
          <a:lstStyle/>
          <a:p>
            <a:pPr xmlns:a="http://schemas.openxmlformats.org/drawingml/2006/main">
              <a:lnSpc>
                <a:spcPct val="90000"/>
              </a:lnSpc>
              <a:bidi/>
            </a:pPr>
            <a:r xmlns:a="http://schemas.openxmlformats.org/drawingml/2006/main">
              <a:rPr lang="ar" altLang="en-US" smtClean="0"/>
              <a:t>آلية لعمليات التواصل ومزامنة أفعالهم</a:t>
            </a:r>
          </a:p>
          <a:p>
            <a:pPr>
              <a:lnSpc>
                <a:spcPct val="90000"/>
              </a:lnSpc>
            </a:pPr>
            <a:endParaRPr lang="en-US" altLang="en-US" sz="800" smtClean="0"/>
          </a:p>
          <a:p>
            <a:pPr xmlns:a="http://schemas.openxmlformats.org/drawingml/2006/main">
              <a:lnSpc>
                <a:spcPct val="90000"/>
              </a:lnSpc>
              <a:bidi/>
            </a:pPr>
            <a:r xmlns:a="http://schemas.openxmlformats.org/drawingml/2006/main">
              <a:rPr lang="ar" altLang="en-US" smtClean="0"/>
              <a:t>نظام الرسائل - تتواصل العمليات مع بعضها البعض دون اللجوء إلى المتغيرات المشتركة</a:t>
            </a:r>
          </a:p>
          <a:p>
            <a:pPr>
              <a:lnSpc>
                <a:spcPct val="90000"/>
              </a:lnSpc>
            </a:pPr>
            <a:endParaRPr lang="en-US" altLang="en-US" sz="800" smtClean="0"/>
          </a:p>
          <a:p>
            <a:pPr xmlns:a="http://schemas.openxmlformats.org/drawingml/2006/main">
              <a:lnSpc>
                <a:spcPct val="90000"/>
              </a:lnSpc>
              <a:bidi/>
            </a:pPr>
            <a:r xmlns:a="http://schemas.openxmlformats.org/drawingml/2006/main">
              <a:rPr lang="ar" altLang="en-US" smtClean="0"/>
              <a:t>يوفر مرفق IPC عمليتين:</a:t>
            </a:r>
          </a:p>
          <a:p>
            <a:pPr xmlns:a="http://schemas.openxmlformats.org/drawingml/2006/main" lvl="1">
              <a:lnSpc>
                <a:spcPct val="90000"/>
              </a:lnSpc>
              <a:bidi/>
            </a:pPr>
            <a:r xmlns:a="http://schemas.openxmlformats.org/drawingml/2006/main">
              <a:rPr lang="ar" altLang="en-US" b="1" smtClean="0">
                <a:latin typeface="Courier New" panose="02070309020205020404" pitchFamily="49" charset="0"/>
                <a:cs typeface="Courier New" panose="02070309020205020404" pitchFamily="49" charset="0"/>
              </a:rPr>
              <a:t>إرسال </a:t>
            </a:r>
            <a:r xmlns:a="http://schemas.openxmlformats.org/drawingml/2006/main">
              <a:rPr lang="ar" altLang="en-US" smtClean="0"/>
              <a:t>( </a:t>
            </a:r>
            <a:r xmlns:a="http://schemas.openxmlformats.org/drawingml/2006/main">
              <a:rPr lang="ar" altLang="en-US" i="1" smtClean="0"/>
              <a:t>رسالة </a:t>
            </a:r>
            <a:r xmlns:a="http://schemas.openxmlformats.org/drawingml/2006/main">
              <a:rPr lang="ar" altLang="en-US" smtClean="0"/>
              <a:t>)</a:t>
            </a:r>
          </a:p>
          <a:p>
            <a:pPr xmlns:a="http://schemas.openxmlformats.org/drawingml/2006/main" lvl="1">
              <a:lnSpc>
                <a:spcPct val="90000"/>
              </a:lnSpc>
              <a:bidi/>
            </a:pPr>
            <a:r xmlns:a="http://schemas.openxmlformats.org/drawingml/2006/main">
              <a:rPr lang="ar" altLang="en-US" b="1" smtClean="0">
                <a:latin typeface="Courier New" panose="02070309020205020404" pitchFamily="49" charset="0"/>
                <a:cs typeface="Courier New" panose="02070309020205020404" pitchFamily="49" charset="0"/>
              </a:rPr>
              <a:t>تلقي </a:t>
            </a:r>
            <a:r xmlns:a="http://schemas.openxmlformats.org/drawingml/2006/main">
              <a:rPr lang="ar" altLang="en-US" smtClean="0"/>
              <a:t>( </a:t>
            </a:r>
            <a:r xmlns:a="http://schemas.openxmlformats.org/drawingml/2006/main">
              <a:rPr lang="ar" altLang="en-US" i="1" smtClean="0"/>
              <a:t>رسالة </a:t>
            </a:r>
            <a:r xmlns:a="http://schemas.openxmlformats.org/drawingml/2006/main">
              <a:rPr lang="ar" altLang="en-US" smtClean="0"/>
              <a:t>)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smtClean="0"/>
          </a:p>
          <a:p>
            <a:pPr xmlns:a="http://schemas.openxmlformats.org/drawingml/2006/main">
              <a:lnSpc>
                <a:spcPct val="90000"/>
              </a:lnSpc>
              <a:bidi/>
            </a:pPr>
            <a:r xmlns:a="http://schemas.openxmlformats.org/drawingml/2006/main">
              <a:rPr lang="ar" altLang="en-US" smtClean="0"/>
              <a:t>حجم </a:t>
            </a:r>
            <a:r xmlns:a="http://schemas.openxmlformats.org/drawingml/2006/main">
              <a:rPr lang="ar" altLang="en-US" i="1" smtClean="0"/>
              <a:t>الرسالة </a:t>
            </a:r>
            <a:r xmlns:a="http://schemas.openxmlformats.org/drawingml/2006/main">
              <a:rPr lang="ar" altLang="en-US" smtClean="0"/>
              <a:t>إما ثابت أو متغير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mtClean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996950" y="107950"/>
            <a:ext cx="8229600" cy="576263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z="2500" smtClean="0"/>
              <a:t>اجتياز الرسائل (تابع)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1016000"/>
            <a:ext cx="7694613" cy="4530725"/>
          </a:xfrm>
        </p:spPr>
        <p:txBody>
          <a:bodyPr/>
          <a:lstStyle/>
          <a:p>
            <a:pPr lvl="1">
              <a:lnSpc>
                <a:spcPct val="90000"/>
              </a:lnSpc>
            </a:pPr>
            <a:endParaRPr lang="en-US" altLang="en-US" sz="800" smtClean="0"/>
          </a:p>
          <a:p>
            <a:pPr xmlns:a="http://schemas.openxmlformats.org/drawingml/2006/main">
              <a:lnSpc>
                <a:spcPct val="90000"/>
              </a:lnSpc>
              <a:bidi/>
            </a:pPr>
            <a:r xmlns:a="http://schemas.openxmlformats.org/drawingml/2006/main">
              <a:rPr lang="ar" altLang="en-US" smtClean="0"/>
              <a:t>إذا رغبت العمليات </a:t>
            </a:r>
            <a:r xmlns:a="http://schemas.openxmlformats.org/drawingml/2006/main">
              <a:rPr lang="ar" altLang="en-US" i="1" smtClean="0"/>
              <a:t>P </a:t>
            </a:r>
            <a:r xmlns:a="http://schemas.openxmlformats.org/drawingml/2006/main">
              <a:rPr lang="ar" altLang="en-US" smtClean="0"/>
              <a:t>و </a:t>
            </a:r>
            <a:r xmlns:a="http://schemas.openxmlformats.org/drawingml/2006/main">
              <a:rPr lang="ar" altLang="en-US" i="1" smtClean="0"/>
              <a:t>Q </a:t>
            </a:r>
            <a:r xmlns:a="http://schemas.openxmlformats.org/drawingml/2006/main">
              <a:rPr lang="ar" altLang="en-US" smtClean="0"/>
              <a:t>في التواصل ، فهما بحاجة إلى:</a:t>
            </a:r>
          </a:p>
          <a:p>
            <a:pPr xmlns:a="http://schemas.openxmlformats.org/drawingml/2006/main" lvl="1">
              <a:lnSpc>
                <a:spcPct val="90000"/>
              </a:lnSpc>
              <a:bidi/>
            </a:pPr>
            <a:r xmlns:a="http://schemas.openxmlformats.org/drawingml/2006/main">
              <a:rPr lang="ar" altLang="en-US" smtClean="0"/>
              <a:t>إنشاء </a:t>
            </a:r>
            <a:r xmlns:a="http://schemas.openxmlformats.org/drawingml/2006/main">
              <a:rPr lang="ar" altLang="en-US" b="1" i="1" smtClean="0"/>
              <a:t>اتصال</a:t>
            </a:r>
            <a:r xmlns:a="http://schemas.openxmlformats.org/drawingml/2006/main">
              <a:rPr lang="ar" altLang="en-US" b="1" smtClean="0"/>
              <a:t> </a:t>
            </a:r>
            <a:r xmlns:a="http://schemas.openxmlformats.org/drawingml/2006/main">
              <a:rPr lang="ar" altLang="en-US" b="1" i="1" smtClean="0"/>
              <a:t>حلقة الوصل</a:t>
            </a:r>
            <a:r xmlns:a="http://schemas.openxmlformats.org/drawingml/2006/main">
              <a:rPr lang="ar" altLang="en-US" b="1" smtClean="0"/>
              <a:t> </a:t>
            </a:r>
            <a:r xmlns:a="http://schemas.openxmlformats.org/drawingml/2006/main">
              <a:rPr lang="ar" altLang="en-US" smtClean="0"/>
              <a:t>بينهم</a:t>
            </a:r>
          </a:p>
          <a:p>
            <a:pPr xmlns:a="http://schemas.openxmlformats.org/drawingml/2006/main" lvl="1">
              <a:lnSpc>
                <a:spcPct val="90000"/>
              </a:lnSpc>
              <a:bidi/>
            </a:pPr>
            <a:r xmlns:a="http://schemas.openxmlformats.org/drawingml/2006/main">
              <a:rPr lang="ar" altLang="en-US" smtClean="0"/>
              <a:t>تبادل الرسائل عبر إرسال / استقبال</a:t>
            </a:r>
          </a:p>
          <a:p>
            <a:pPr xmlns:a="http://schemas.openxmlformats.org/drawingml/2006/main">
              <a:lnSpc>
                <a:spcPct val="90000"/>
              </a:lnSpc>
              <a:bidi/>
            </a:pPr>
            <a:r xmlns:a="http://schemas.openxmlformats.org/drawingml/2006/main">
              <a:rPr lang="ar" altLang="en-US" smtClean="0"/>
              <a:t>قضايا التنفيذ: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كيف يتم إنشاء الروابط؟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هل يمكن ربط ارتباط بأكثر من عمليتين؟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كم عدد الروابط التي يمكن أن توجد بين كل زوج من عمليات الاتصال؟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ما هي قدرة الارتباط؟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هل حجم الرسالة التي يمكن للرابط أن يستوعبها ثابت أم متغير؟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هل الرابط أحادي الاتجاه أم ثنائي الاتجاه؟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mtClean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933450" y="123825"/>
            <a:ext cx="8229600" cy="576263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z="2500" smtClean="0"/>
              <a:t>اجتياز الرسائل (تابع)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785813"/>
            <a:ext cx="7694613" cy="4530725"/>
          </a:xfrm>
        </p:spPr>
        <p:txBody>
          <a:bodyPr/>
          <a:lstStyle/>
          <a:p>
            <a:pPr lvl="1">
              <a:lnSpc>
                <a:spcPct val="90000"/>
              </a:lnSpc>
            </a:pPr>
            <a:endParaRPr lang="en-US" altLang="en-US" sz="800" smtClean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smtClean="0"/>
          </a:p>
          <a:p>
            <a:pPr xmlns:a="http://schemas.openxmlformats.org/drawingml/2006/main">
              <a:lnSpc>
                <a:spcPct val="90000"/>
              </a:lnSpc>
              <a:bidi/>
            </a:pPr>
            <a:r xmlns:a="http://schemas.openxmlformats.org/drawingml/2006/main">
              <a:rPr lang="ar" altLang="en-US" smtClean="0"/>
              <a:t>تنفيذ رابط الاتصال</a:t>
            </a:r>
          </a:p>
          <a:p>
            <a:pPr xmlns:a="http://schemas.openxmlformats.org/drawingml/2006/main" lvl="1">
              <a:lnSpc>
                <a:spcPct val="90000"/>
              </a:lnSpc>
              <a:bidi/>
            </a:pPr>
            <a:r xmlns:a="http://schemas.openxmlformats.org/drawingml/2006/main">
              <a:rPr lang="ar" altLang="en-US" smtClean="0"/>
              <a:t>بدني:</a:t>
            </a:r>
          </a:p>
          <a:p>
            <a:pPr xmlns:a="http://schemas.openxmlformats.org/drawingml/2006/main" lvl="2">
              <a:lnSpc>
                <a:spcPct val="90000"/>
              </a:lnSpc>
              <a:bidi/>
            </a:pPr>
            <a:r xmlns:a="http://schemas.openxmlformats.org/drawingml/2006/main">
              <a:rPr lang="ar" altLang="en-US" smtClean="0"/>
              <a:t>ذكريات مشتركه</a:t>
            </a:r>
          </a:p>
          <a:p>
            <a:pPr xmlns:a="http://schemas.openxmlformats.org/drawingml/2006/main" lvl="2">
              <a:lnSpc>
                <a:spcPct val="90000"/>
              </a:lnSpc>
              <a:bidi/>
            </a:pPr>
            <a:r xmlns:a="http://schemas.openxmlformats.org/drawingml/2006/main">
              <a:rPr lang="ar" altLang="en-US" smtClean="0"/>
              <a:t>ناقل الأجهزة</a:t>
            </a:r>
          </a:p>
          <a:p>
            <a:pPr xmlns:a="http://schemas.openxmlformats.org/drawingml/2006/main" lvl="2">
              <a:lnSpc>
                <a:spcPct val="90000"/>
              </a:lnSpc>
              <a:bidi/>
            </a:pPr>
            <a:r xmlns:a="http://schemas.openxmlformats.org/drawingml/2006/main">
              <a:rPr lang="ar" altLang="en-US" smtClean="0"/>
              <a:t>شبكة الاتصال</a:t>
            </a:r>
          </a:p>
          <a:p>
            <a:pPr xmlns:a="http://schemas.openxmlformats.org/drawingml/2006/main" lvl="1">
              <a:lnSpc>
                <a:spcPct val="90000"/>
              </a:lnSpc>
              <a:bidi/>
            </a:pPr>
            <a:r xmlns:a="http://schemas.openxmlformats.org/drawingml/2006/main">
              <a:rPr lang="ar" altLang="en-US" smtClean="0"/>
              <a:t>منطقي:</a:t>
            </a:r>
          </a:p>
          <a:p>
            <a:pPr xmlns:a="http://schemas.openxmlformats.org/drawingml/2006/main" lvl="2">
              <a:lnSpc>
                <a:spcPct val="90000"/>
              </a:lnSpc>
              <a:bidi/>
            </a:pPr>
            <a:r xmlns:a="http://schemas.openxmlformats.org/drawingml/2006/main">
              <a:rPr lang="ar" altLang="en-US" smtClean="0"/>
              <a:t>مباشر أو غير مباشر</a:t>
            </a:r>
          </a:p>
          <a:p>
            <a:pPr xmlns:a="http://schemas.openxmlformats.org/drawingml/2006/main" lvl="2">
              <a:lnSpc>
                <a:spcPct val="90000"/>
              </a:lnSpc>
              <a:bidi/>
            </a:pPr>
            <a:r xmlns:a="http://schemas.openxmlformats.org/drawingml/2006/main">
              <a:rPr lang="ar" altLang="en-US" smtClean="0"/>
              <a:t>متزامن أو غير متزامن</a:t>
            </a:r>
          </a:p>
          <a:p>
            <a:pPr xmlns:a="http://schemas.openxmlformats.org/drawingml/2006/main" lvl="2">
              <a:lnSpc>
                <a:spcPct val="90000"/>
              </a:lnSpc>
              <a:bidi/>
            </a:pPr>
            <a:r xmlns:a="http://schemas.openxmlformats.org/drawingml/2006/main">
              <a:rPr lang="ar" altLang="en-US" smtClean="0"/>
              <a:t>تخزين مؤقت تلقائي أو صريح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7800"/>
            <a:ext cx="8229600" cy="576263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الاتصال المباشر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825" y="1138238"/>
            <a:ext cx="7635875" cy="4530725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يجب أن تسمي العمليات بعضها البعض بشكل صريح: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b="1" smtClean="0">
                <a:latin typeface="Courier New" panose="02070309020205020404" pitchFamily="49" charset="0"/>
                <a:cs typeface="Courier New" panose="02070309020205020404" pitchFamily="49" charset="0"/>
              </a:rPr>
              <a:t>إرسال </a:t>
            </a:r>
            <a:r xmlns:a="http://schemas.openxmlformats.org/drawingml/2006/main">
              <a:rPr lang="ar" altLang="en-US" smtClean="0"/>
              <a:t>( </a:t>
            </a:r>
            <a:r xmlns:a="http://schemas.openxmlformats.org/drawingml/2006/main">
              <a:rPr lang="ar" altLang="en-US" i="1" smtClean="0"/>
              <a:t>P ، رسالة </a:t>
            </a:r>
            <a:r xmlns:a="http://schemas.openxmlformats.org/drawingml/2006/main">
              <a:rPr lang="ar" altLang="en-US" smtClean="0"/>
              <a:t>) - إرسال رسالة إلى العملية P.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b="1" smtClean="0">
                <a:latin typeface="Courier New" panose="02070309020205020404" pitchFamily="49" charset="0"/>
                <a:cs typeface="Courier New" panose="02070309020205020404" pitchFamily="49" charset="0"/>
              </a:rPr>
              <a:t>تلقي </a:t>
            </a:r>
            <a:r xmlns:a="http://schemas.openxmlformats.org/drawingml/2006/main">
              <a:rPr lang="ar" altLang="en-US" smtClean="0"/>
              <a:t>( </a:t>
            </a:r>
            <a:r xmlns:a="http://schemas.openxmlformats.org/drawingml/2006/main">
              <a:rPr lang="ar" altLang="en-US" i="1" smtClean="0"/>
              <a:t>Q ، رسالة </a:t>
            </a:r>
            <a:r xmlns:a="http://schemas.openxmlformats.org/drawingml/2006/main">
              <a:rPr lang="ar" altLang="en-US" smtClean="0"/>
              <a:t>) - تلقي رسالة من العملية Q</a:t>
            </a:r>
          </a:p>
          <a:p>
            <a:r xmlns:a="http://schemas.openxmlformats.org/drawingml/2006/main">
              <a:rPr lang="ar" altLang="en-US" smtClean="0"/>
              <a:t>ارتباط خصائص الاتصال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يتم إنشاء الروابط تلقائيًا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يرتبط الارتباط بزوج واحد من عمليات الاتصال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بين كل زوج يوجد رابط واحد بالضبط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قد يكون الارتباط أحادي الاتجاه ، ولكنه عادة ما يكون ثنائي الاتجاه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76263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التواصل غير المباشر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4075" y="1166813"/>
            <a:ext cx="7391400" cy="4159250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يتم توجيه الرسائل واستلامها من صناديق البريد (يشار إليها أيضًا باسم المنافذ)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كل صندوق بريد له معرّف فريد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يمكن للعمليات الاتصال فقط إذا كانت تشترك في صندوق بريد</a:t>
            </a:r>
          </a:p>
          <a:p>
            <a:r xmlns:a="http://schemas.openxmlformats.org/drawingml/2006/main">
              <a:rPr lang="ar" altLang="en-US" smtClean="0"/>
              <a:t>ارتباط خصائص الاتصال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تم إنشاء الارتباط فقط إذا كانت العمليات تشترك في صندوق بريد مشترك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قد يرتبط الارتباط بالعديد من العمليات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قد تشترك كل زوج من العمليات في عدة روابط اتصال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قد يكون الارتباط أحادي الاتجاه أو ثنائي الاتجاه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882650" y="182563"/>
            <a:ext cx="8229600" cy="576262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التواصل غير المباشر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135063"/>
            <a:ext cx="7580313" cy="3821112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عمليات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إنشاء صندوق بريد جديد (منفذ)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إرسال واستقبال الرسائل من خلال صندوق البريد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تدمير صندوق البريد</a:t>
            </a:r>
          </a:p>
          <a:p>
            <a:r xmlns:a="http://schemas.openxmlformats.org/drawingml/2006/main">
              <a:rPr lang="ar" altLang="en-US" smtClean="0"/>
              <a:t>يتم تعريف الأوليات على النحو التالي:</a:t>
            </a:r>
          </a:p>
          <a:p>
            <a:pPr xmlns:a="http://schemas.openxmlformats.org/drawingml/2006/main">
              <a:buFont typeface="Monotype Sorts" pitchFamily="-84" charset="2"/>
              <a:buNone/>
              <a:bidi/>
            </a:pPr>
            <a:r xmlns:a="http://schemas.openxmlformats.org/drawingml/2006/main">
              <a:rPr lang="ar" altLang="en-US" smtClean="0"/>
              <a:t> </a:t>
            </a:r>
            <a:r xmlns:a="http://schemas.openxmlformats.org/drawingml/2006/main">
              <a:rPr lang="ar" altLang="en-US" b="1" smtClean="0">
                <a:latin typeface="Courier New" panose="02070309020205020404" pitchFamily="49" charset="0"/>
                <a:cs typeface="Courier New" panose="02070309020205020404" pitchFamily="49" charset="0"/>
              </a:rPr>
              <a:t>إرسال </a:t>
            </a:r>
            <a:r xmlns:a="http://schemas.openxmlformats.org/drawingml/2006/main">
              <a:rPr lang="ar" altLang="en-US" smtClean="0"/>
              <a:t>( </a:t>
            </a:r>
            <a:r xmlns:a="http://schemas.openxmlformats.org/drawingml/2006/main">
              <a:rPr lang="ar" altLang="en-US" i="1" smtClean="0"/>
              <a:t>A ، رسالة </a:t>
            </a:r>
            <a:r xmlns:a="http://schemas.openxmlformats.org/drawingml/2006/main">
              <a:rPr lang="ar" altLang="en-US" smtClean="0"/>
              <a:t>) - إرسال رسالة إلى صندوق البريد أ</a:t>
            </a:r>
          </a:p>
          <a:p>
            <a:pPr xmlns:a="http://schemas.openxmlformats.org/drawingml/2006/main">
              <a:buFont typeface="Monotype Sorts" pitchFamily="-84" charset="2"/>
              <a:buNone/>
              <a:bidi/>
            </a:pPr>
            <a:r xmlns:a="http://schemas.openxmlformats.org/drawingml/2006/main">
              <a:rPr lang="ar" altLang="en-US" smtClean="0"/>
              <a:t> </a:t>
            </a:r>
            <a:r xmlns:a="http://schemas.openxmlformats.org/drawingml/2006/main">
              <a:rPr lang="ar" altLang="en-US" b="1" smtClean="0">
                <a:latin typeface="Courier New" panose="02070309020205020404" pitchFamily="49" charset="0"/>
                <a:cs typeface="Courier New" panose="02070309020205020404" pitchFamily="49" charset="0"/>
              </a:rPr>
              <a:t>استقبال </a:t>
            </a:r>
            <a:r xmlns:a="http://schemas.openxmlformats.org/drawingml/2006/main">
              <a:rPr lang="ar" altLang="en-US" smtClean="0"/>
              <a:t>( </a:t>
            </a:r>
            <a:r xmlns:a="http://schemas.openxmlformats.org/drawingml/2006/main">
              <a:rPr lang="ar" altLang="en-US" i="1" smtClean="0"/>
              <a:t>A ، رسالة </a:t>
            </a:r>
            <a:r xmlns:a="http://schemas.openxmlformats.org/drawingml/2006/main">
              <a:rPr lang="ar" altLang="en-US" smtClean="0"/>
              <a:t>) - تلقي رسالة من صندوق البريد أ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76300" y="182563"/>
            <a:ext cx="7810500" cy="576262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التواصل غير المباشر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650" y="1127125"/>
            <a:ext cx="6637338" cy="4530725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تقاسم علبة البريد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i="1" smtClean="0"/>
              <a:t>P </a:t>
            </a:r>
            <a:r xmlns:a="http://schemas.openxmlformats.org/drawingml/2006/main">
              <a:rPr lang="ar" altLang="en-US" i="1" baseline="-25000" smtClean="0"/>
              <a:t>1 </a:t>
            </a:r>
            <a:r xmlns:a="http://schemas.openxmlformats.org/drawingml/2006/main">
              <a:rPr lang="ar" altLang="en-US" smtClean="0"/>
              <a:t>و </a:t>
            </a:r>
            <a:r xmlns:a="http://schemas.openxmlformats.org/drawingml/2006/main">
              <a:rPr lang="ar" altLang="en-US" i="1" smtClean="0"/>
              <a:t>P </a:t>
            </a:r>
            <a:r xmlns:a="http://schemas.openxmlformats.org/drawingml/2006/main">
              <a:rPr lang="ar" altLang="en-US" i="1" baseline="-25000" smtClean="0"/>
              <a:t>2 </a:t>
            </a:r>
            <a:r xmlns:a="http://schemas.openxmlformats.org/drawingml/2006/main">
              <a:rPr lang="ar" altLang="en-US" i="1" smtClean="0"/>
              <a:t>و </a:t>
            </a:r>
            <a:r xmlns:a="http://schemas.openxmlformats.org/drawingml/2006/main">
              <a:rPr lang="ar" altLang="en-US" i="1" smtClean="0"/>
              <a:t>P </a:t>
            </a:r>
            <a:r xmlns:a="http://schemas.openxmlformats.org/drawingml/2006/main">
              <a:rPr lang="ar" altLang="en-US" i="1" baseline="-25000" smtClean="0"/>
              <a:t>3 </a:t>
            </a:r>
            <a:r xmlns:a="http://schemas.openxmlformats.org/drawingml/2006/main">
              <a:rPr lang="ar" altLang="en-US" smtClean="0"/>
              <a:t>صندوق بريد A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i="1" smtClean="0"/>
              <a:t>P </a:t>
            </a:r>
            <a:r xmlns:a="http://schemas.openxmlformats.org/drawingml/2006/main">
              <a:rPr lang="ar" altLang="en-US" i="1" baseline="-25000" smtClean="0"/>
              <a:t>1 </a:t>
            </a:r>
            <a:r xmlns:a="http://schemas.openxmlformats.org/drawingml/2006/main">
              <a:rPr lang="ar" altLang="en-US" smtClean="0"/>
              <a:t>، يرسل ؛ </a:t>
            </a:r>
            <a:r xmlns:a="http://schemas.openxmlformats.org/drawingml/2006/main">
              <a:rPr lang="ar" altLang="en-US" i="1" smtClean="0"/>
              <a:t>ص </a:t>
            </a:r>
            <a:r xmlns:a="http://schemas.openxmlformats.org/drawingml/2006/main">
              <a:rPr lang="ar" altLang="en-US" i="1" baseline="-25000" smtClean="0"/>
              <a:t>2</a:t>
            </a:r>
            <a:r xmlns:a="http://schemas.openxmlformats.org/drawingml/2006/main">
              <a:rPr lang="ar" altLang="en-US" i="1" smtClean="0"/>
              <a:t> </a:t>
            </a:r>
            <a:r xmlns:a="http://schemas.openxmlformats.org/drawingml/2006/main">
              <a:rPr lang="ar" altLang="en-US" smtClean="0"/>
              <a:t>و </a:t>
            </a:r>
            <a:r xmlns:a="http://schemas.openxmlformats.org/drawingml/2006/main">
              <a:rPr lang="ar" altLang="en-US" i="1" smtClean="0"/>
              <a:t>P </a:t>
            </a:r>
            <a:r xmlns:a="http://schemas.openxmlformats.org/drawingml/2006/main">
              <a:rPr lang="ar" altLang="en-US" i="1" baseline="-25000" smtClean="0"/>
              <a:t>3 </a:t>
            </a:r>
            <a:r xmlns:a="http://schemas.openxmlformats.org/drawingml/2006/main">
              <a:rPr lang="ar" altLang="en-US" smtClean="0"/>
              <a:t>استقبال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من وصل الرسالة؟</a:t>
            </a:r>
          </a:p>
          <a:p>
            <a:r xmlns:a="http://schemas.openxmlformats.org/drawingml/2006/main">
              <a:rPr lang="ar" altLang="en-US" smtClean="0"/>
              <a:t>حلول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السماح بربط ارتباط بعمليتين على الأكثر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اسمح لعملية واحدة فقط في كل مرة بتنفيذ عملية استلام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اسمح للنظام بتحديد جهاز الاستقبال بشكل تعسفي. يتم إخطار المرسل من كان المتلقي.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8275"/>
            <a:ext cx="8229600" cy="576263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التزامن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1050925"/>
            <a:ext cx="7267575" cy="4984750"/>
          </a:xfrm>
        </p:spPr>
        <p:txBody>
          <a:bodyPr/>
          <a:lstStyle/>
          <a:p>
            <a:pPr xmlns:a="http://schemas.openxmlformats.org/drawingml/2006/main" marL="379413" indent="-379413">
              <a:defRPr/>
              <a:bidi/>
            </a:pPr>
            <a:r xmlns:a="http://schemas.openxmlformats.org/drawingml/2006/main">
              <a:rPr lang="ar" dirty="0" smtClean="0"/>
              <a:t>قد يكون تمرير الرسالة إما محظورًا أو غير محظور</a:t>
            </a:r>
          </a:p>
          <a:p>
            <a:pPr xmlns:a="http://schemas.openxmlformats.org/drawingml/2006/main" marL="379413" indent="-379413">
              <a:defRPr/>
              <a:bidi/>
            </a:pPr>
            <a:r xmlns:a="http://schemas.openxmlformats.org/drawingml/2006/main">
              <a:rPr lang="ar" dirty="0" smtClean="0"/>
              <a:t>يعتبر </a:t>
            </a:r>
            <a:r xmlns:a="http://schemas.openxmlformats.org/drawingml/2006/main">
              <a:rPr lang="ar" b="1" dirty="0" smtClean="0">
                <a:solidFill>
                  <a:srgbClr val="3366FF"/>
                </a:solidFill>
              </a:rPr>
              <a:t>الحظر </a:t>
            </a:r>
            <a:r xmlns:a="http://schemas.openxmlformats.org/drawingml/2006/main">
              <a:rPr lang="ar" b="1" dirty="0" smtClean="0">
                <a:solidFill>
                  <a:srgbClr val="3366FF"/>
                </a:solidFill>
              </a:rPr>
              <a:t>متزامنًا</a:t>
            </a:r>
          </a:p>
          <a:p>
            <a:pPr xmlns:a="http://schemas.openxmlformats.org/drawingml/2006/main" marL="798513" lvl="1" indent="-341313">
              <a:defRPr/>
              <a:bidi/>
            </a:pPr>
            <a:r xmlns:a="http://schemas.openxmlformats.org/drawingml/2006/main">
              <a:rPr lang="ar" b="1" dirty="0" smtClean="0"/>
              <a:t>حظر الإرسال </a:t>
            </a:r>
            <a:r xmlns:a="http://schemas.openxmlformats.org/drawingml/2006/main">
              <a:rPr lang="ar" dirty="0" smtClean="0"/>
              <a:t>-</a:t>
            </a:r>
            <a:r xmlns:a="http://schemas.openxmlformats.org/drawingml/2006/main">
              <a:rPr lang="ar" b="1" dirty="0" smtClean="0"/>
              <a:t> </a:t>
            </a:r>
            <a:r xmlns:a="http://schemas.openxmlformats.org/drawingml/2006/main">
              <a:rPr lang="ar" dirty="0" smtClean="0"/>
              <a:t>تم حظر المرسل حتى يتم استلام الرسالة</a:t>
            </a:r>
          </a:p>
          <a:p>
            <a:pPr xmlns:a="http://schemas.openxmlformats.org/drawingml/2006/main" marL="798513" lvl="1" indent="-341313">
              <a:defRPr/>
              <a:bidi/>
            </a:pPr>
            <a:r xmlns:a="http://schemas.openxmlformats.org/drawingml/2006/main">
              <a:rPr lang="ar" b="1" dirty="0" smtClean="0"/>
              <a:t>تلقي الحظر </a:t>
            </a:r>
            <a:r xmlns:a="http://schemas.openxmlformats.org/drawingml/2006/main">
              <a:rPr lang="ar" dirty="0" smtClean="0"/>
              <a:t>-</a:t>
            </a:r>
            <a:r xmlns:a="http://schemas.openxmlformats.org/drawingml/2006/main">
              <a:rPr lang="ar" b="1" dirty="0" smtClean="0"/>
              <a:t> </a:t>
            </a:r>
            <a:r xmlns:a="http://schemas.openxmlformats.org/drawingml/2006/main">
              <a:rPr lang="ar" dirty="0" smtClean="0"/>
              <a:t>يتم حظر جهاز الاستقبال حتى تتوفر رسالة</a:t>
            </a:r>
          </a:p>
          <a:p>
            <a:pPr xmlns:a="http://schemas.openxmlformats.org/drawingml/2006/main" marL="379413" indent="-379413">
              <a:defRPr/>
              <a:bidi/>
            </a:pPr>
            <a:r xmlns:a="http://schemas.openxmlformats.org/drawingml/2006/main">
              <a:rPr lang="ar" b="1" dirty="0" smtClean="0">
                <a:solidFill>
                  <a:srgbClr val="3366FF"/>
                </a:solidFill>
              </a:rPr>
              <a:t>عدم الحظر </a:t>
            </a:r>
            <a:r xmlns:a="http://schemas.openxmlformats.org/drawingml/2006/main">
              <a:rPr lang="ar" dirty="0" smtClean="0"/>
              <a:t>غير </a:t>
            </a:r>
            <a:r xmlns:a="http://schemas.openxmlformats.org/drawingml/2006/main">
              <a:rPr lang="ar" b="1" dirty="0" smtClean="0">
                <a:solidFill>
                  <a:srgbClr val="3366FF"/>
                </a:solidFill>
              </a:rPr>
              <a:t>متزامن</a:t>
            </a:r>
          </a:p>
          <a:p>
            <a:pPr xmlns:a="http://schemas.openxmlformats.org/drawingml/2006/main" marL="798513" lvl="1" indent="-341313">
              <a:defRPr/>
              <a:bidi/>
            </a:pPr>
            <a:r xmlns:a="http://schemas.openxmlformats.org/drawingml/2006/main">
              <a:rPr lang="ar" b="1" dirty="0" smtClean="0"/>
              <a:t>إرسال غير محظور </a:t>
            </a:r>
            <a:r xmlns:a="http://schemas.openxmlformats.org/drawingml/2006/main">
              <a:rPr lang="ar" dirty="0" smtClean="0"/>
              <a:t>- يرسل المرسل الرسالة والمتابعة</a:t>
            </a:r>
          </a:p>
          <a:p>
            <a:pPr xmlns:a="http://schemas.openxmlformats.org/drawingml/2006/main" marL="798513" lvl="1" indent="-341313">
              <a:defRPr/>
              <a:bidi/>
            </a:pPr>
            <a:r xmlns:a="http://schemas.openxmlformats.org/drawingml/2006/main">
              <a:rPr lang="ar" b="1" dirty="0" smtClean="0"/>
              <a:t>استقبال بدون حظر </a:t>
            </a:r>
            <a:r xmlns:a="http://schemas.openxmlformats.org/drawingml/2006/main">
              <a:rPr lang="ar" dirty="0" smtClean="0"/>
              <a:t>- يتلقى المتلقي:</a:t>
            </a:r>
          </a:p>
          <a:p>
            <a:pPr xmlns:a="http://schemas.openxmlformats.org/drawingml/2006/main" marL="1141413" lvl="2" indent="-341313">
              <a:buFont typeface="Monotype Sorts" pitchFamily="-84" charset="2"/>
              <a:buChar char="l"/>
              <a:defRPr/>
              <a:bidi/>
            </a:pPr>
            <a:r xmlns:a="http://schemas.openxmlformats.org/drawingml/2006/main">
              <a:rPr lang="ar" dirty="0" smtClean="0"/>
              <a:t>رسالة صالحة ، أو</a:t>
            </a:r>
          </a:p>
          <a:p>
            <a:pPr xmlns:a="http://schemas.openxmlformats.org/drawingml/2006/main" marL="1141413" lvl="2" indent="-341313">
              <a:buFont typeface="Monotype Sorts" pitchFamily="-84" charset="2"/>
              <a:buChar char="l"/>
              <a:defRPr/>
              <a:bidi/>
            </a:pPr>
            <a:r xmlns:a="http://schemas.openxmlformats.org/drawingml/2006/main">
              <a:rPr lang="ar" dirty="0" smtClean="0"/>
              <a:t>رسالة لاغية</a:t>
            </a:r>
          </a:p>
          <a:p>
            <a:pPr xmlns:a="http://schemas.openxmlformats.org/drawingml/2006/main" marL="398939">
              <a:buFont typeface="Monotype Sorts" charset="0"/>
              <a:buChar char="n"/>
              <a:defRPr/>
              <a:bidi/>
            </a:pPr>
            <a:r xmlns:a="http://schemas.openxmlformats.org/drawingml/2006/main">
              <a:rPr lang="ar" dirty="0" smtClean="0">
                <a:ea typeface="ＭＳ Ｐゴシック" charset="0"/>
              </a:rPr>
              <a:t>مجموعات مختلفة ممكنة</a:t>
            </a:r>
          </a:p>
          <a:p>
            <a:pPr xmlns:a="http://schemas.openxmlformats.org/drawingml/2006/main" marL="798989" lvl="1">
              <a:buFont typeface="Monotype Sorts" charset="0"/>
              <a:buChar char="l"/>
              <a:defRPr/>
              <a:bidi/>
            </a:pPr>
            <a:r xmlns:a="http://schemas.openxmlformats.org/drawingml/2006/main">
              <a:rPr lang="ar" dirty="0" smtClean="0">
                <a:ea typeface="ＭＳ Ｐゴシック" charset="0"/>
              </a:rPr>
              <a:t>إذا تم حظر كل من الإرسال والاستلام ، فلدينا </a:t>
            </a:r>
            <a:r xmlns:a="http://schemas.openxmlformats.org/drawingml/2006/main">
              <a:rPr lang="ar" b="1" dirty="0" smtClean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موعد</a:t>
            </a:r>
          </a:p>
          <a:p>
            <a:pPr marL="398463" indent="-341313">
              <a:defRPr/>
            </a:pPr>
            <a:endParaRPr lang="en-US" dirty="0" smtClean="0"/>
          </a:p>
          <a:p>
            <a:pPr marL="1141413" lvl="2" indent="-341313">
              <a:buFont typeface="Monotype Sorts" pitchFamily="-84" charset="2"/>
              <a:buChar char="l"/>
              <a:defRPr/>
            </a:pPr>
            <a:endParaRPr lang="en-US" dirty="0" smtClean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3200"/>
            <a:ext cx="8229600" cy="576263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التزامن (تابع)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1063" y="1203325"/>
            <a:ext cx="6599237" cy="534988"/>
          </a:xfrm>
        </p:spPr>
        <p:txBody>
          <a:bodyPr/>
          <a:lstStyle/>
          <a:p>
            <a:pPr xmlns:a="http://schemas.openxmlformats.org/drawingml/2006/main">
              <a:buFont typeface="Monotype Sorts" charset="0"/>
              <a:buChar char="n"/>
              <a:defRPr/>
              <a:bidi/>
            </a:pPr>
            <a:r xmlns:a="http://schemas.openxmlformats.org/drawingml/2006/main">
              <a:rPr lang="ar" dirty="0" smtClean="0">
                <a:ea typeface="ＭＳ Ｐゴシック" charset="0"/>
              </a:rPr>
              <a:t>المنتج المستهلك يصبح تافها</a:t>
            </a:r>
            <a:br xmlns:a="http://schemas.openxmlformats.org/drawingml/2006/main">
              <a:rPr lang="en-US" dirty="0" smtClean="0">
                <a:ea typeface="ＭＳ Ｐゴシック" charset="0"/>
              </a:rPr>
            </a:br>
            <a:endParaRPr xmlns:a="http://schemas.openxmlformats.org/drawingml/2006/main" lang="en-US" dirty="0" smtClean="0">
              <a:ea typeface="ＭＳ Ｐゴシック" charset="0"/>
            </a:endParaRPr>
          </a:p>
          <a:p>
            <a:pPr xmlns:a="http://schemas.openxmlformats.org/drawingml/2006/main" marL="0" indent="0">
              <a:buFont typeface="Monotype Sorts" pitchFamily="-84" charset="2"/>
              <a:buNone/>
              <a:defRPr/>
              <a:bidi/>
            </a:pPr>
            <a:r xmlns:a="http://schemas.openxmlformats.org/drawingml/2006/main">
              <a:rPr lang="ar" sz="1600" dirty="0" smtClean="0">
                <a:latin typeface="Courier New"/>
                <a:ea typeface="ＭＳ Ｐゴシック" charset="-128"/>
                <a:cs typeface="Courier New"/>
              </a:rPr>
              <a:t>الرسالة </a:t>
            </a:r>
            <a:r xmlns:a="http://schemas.openxmlformats.org/drawingml/2006/main">
              <a:rPr lang="ar" sz="1600" dirty="0" err="1" smtClean="0">
                <a:latin typeface="Courier New"/>
                <a:ea typeface="ＭＳ Ｐゴシック" charset="-128"/>
                <a:cs typeface="Courier New"/>
              </a:rPr>
              <a:t>التالية </a:t>
            </a:r>
            <a:r xmlns:a="http://schemas.openxmlformats.org/drawingml/2006/main">
              <a:rPr lang="ar" sz="1600" dirty="0">
                <a:latin typeface="Courier New"/>
                <a:ea typeface="ＭＳ Ｐゴシック" charset="-128"/>
                <a:cs typeface="Courier New"/>
              </a:rPr>
              <a:t>؛</a:t>
            </a:r>
            <a:endParaRPr xmlns:a="http://schemas.openxmlformats.org/drawingml/2006/main" lang="en-US" sz="1600" dirty="0" smtClean="0">
              <a:latin typeface="Courier New"/>
              <a:ea typeface="ＭＳ Ｐゴシック" charset="-128"/>
              <a:cs typeface="Courier New"/>
            </a:endParaRPr>
          </a:p>
          <a:p>
            <a:pPr xmlns:a="http://schemas.openxmlformats.org/drawingml/2006/main" marL="0" indent="0">
              <a:buFont typeface="Monotype Sorts" pitchFamily="-84" charset="2"/>
              <a:buNone/>
              <a:defRPr/>
              <a:bidi/>
            </a:pPr>
            <a:r xmlns:a="http://schemas.openxmlformats.org/drawingml/2006/main">
              <a:rPr lang="ar" sz="1600" dirty="0" smtClean="0">
                <a:latin typeface="Courier New"/>
                <a:ea typeface="ＭＳ Ｐゴシック" charset="-128"/>
                <a:cs typeface="Courier New"/>
              </a:rPr>
              <a:t>بينما </a:t>
            </a:r>
            <a:r xmlns:a="http://schemas.openxmlformats.org/drawingml/2006/main">
              <a:rPr lang="ar" sz="1600" dirty="0">
                <a:latin typeface="Courier New"/>
                <a:ea typeface="ＭＳ Ｐゴシック" charset="-128"/>
                <a:cs typeface="Courier New"/>
              </a:rPr>
              <a:t>(صحيح) {</a:t>
            </a:r>
            <a:br xmlns:a="http://schemas.openxmlformats.org/drawingml/2006/main">
              <a:rPr lang="en-US" sz="1600" dirty="0">
                <a:latin typeface="Courier New"/>
                <a:ea typeface="ＭＳ Ｐゴシック" charset="-128"/>
                <a:cs typeface="Courier New"/>
              </a:rPr>
            </a:br>
            <a:r xmlns:a="http://schemas.openxmlformats.org/drawingml/2006/main">
              <a:rPr lang="ar" sz="1600" dirty="0">
                <a:latin typeface="Courier New"/>
                <a:ea typeface="ＭＳ Ｐゴシック" charset="-128"/>
                <a:cs typeface="Courier New"/>
              </a:rPr>
              <a:t> </a:t>
            </a:r>
            <a:r xmlns:a="http://schemas.openxmlformats.org/drawingml/2006/main">
              <a:rPr lang="ar" sz="1600" dirty="0" smtClean="0">
                <a:latin typeface="Courier New"/>
                <a:ea typeface="ＭＳ Ｐゴシック" charset="-128"/>
                <a:cs typeface="Courier New"/>
              </a:rPr>
              <a:t>/ * </a:t>
            </a:r>
            <a:r xmlns:a="http://schemas.openxmlformats.org/drawingml/2006/main">
              <a:rPr lang="ar" sz="1600" dirty="0">
                <a:latin typeface="Courier New"/>
                <a:ea typeface="ＭＳ Ｐゴシック" charset="-128"/>
                <a:cs typeface="Courier New"/>
              </a:rPr>
              <a:t>إنتاج عنصر في الإنتاج التالي * /</a:t>
            </a:r>
            <a:endParaRPr xmlns:a="http://schemas.openxmlformats.org/drawingml/2006/main" lang="en-US" sz="1600" dirty="0" smtClean="0">
              <a:latin typeface="Courier New"/>
              <a:ea typeface="ＭＳ Ｐゴシック" charset="-128"/>
              <a:cs typeface="Courier New"/>
            </a:endParaRPr>
          </a:p>
          <a:p>
            <a:pPr xmlns:a="http://schemas.openxmlformats.org/drawingml/2006/main" marL="0" indent="0">
              <a:buFont typeface="Monotype Sorts" pitchFamily="-84" charset="2"/>
              <a:buNone/>
              <a:defRPr/>
              <a:bidi/>
            </a:pPr>
            <a:r xmlns:a="http://schemas.openxmlformats.org/drawingml/2006/main">
              <a:rPr lang="ar" sz="1600" dirty="0">
                <a:latin typeface="Courier New"/>
                <a:ea typeface="ＭＳ Ｐゴシック" charset="-128"/>
                <a:cs typeface="Courier New"/>
              </a:rPr>
              <a:t> </a:t>
            </a:r>
            <a:r xmlns:a="http://schemas.openxmlformats.org/drawingml/2006/main">
              <a:rPr lang="ar" sz="1600" dirty="0" smtClean="0">
                <a:latin typeface="Courier New"/>
                <a:ea typeface="ＭＳ Ｐゴシック" charset="-128"/>
                <a:cs typeface="Courier New"/>
              </a:rPr>
              <a:t>إرسال ( </a:t>
            </a:r>
            <a:r xmlns:a="http://schemas.openxmlformats.org/drawingml/2006/main">
              <a:rPr lang="ar" sz="1600" dirty="0" err="1" smtClean="0">
                <a:latin typeface="Courier New"/>
                <a:ea typeface="ＭＳ Ｐゴシック" charset="-128"/>
                <a:cs typeface="Courier New"/>
              </a:rPr>
              <a:t>إنتاج_التالي </a:t>
            </a:r>
            <a:r xmlns:a="http://schemas.openxmlformats.org/drawingml/2006/main">
              <a:rPr lang="ar" sz="1600" dirty="0">
                <a:latin typeface="Courier New"/>
                <a:ea typeface="ＭＳ Ｐゴシック" charset="-128"/>
                <a:cs typeface="Courier New"/>
              </a:rPr>
              <a:t>) ؛</a:t>
            </a:r>
            <a:endParaRPr xmlns:a="http://schemas.openxmlformats.org/drawingml/2006/main" lang="en-US" sz="1600" dirty="0" smtClean="0">
              <a:latin typeface="Courier New"/>
              <a:ea typeface="ＭＳ Ｐゴシック" charset="-128"/>
              <a:cs typeface="Courier New"/>
            </a:endParaRPr>
          </a:p>
          <a:p>
            <a:pPr xmlns:a="http://schemas.openxmlformats.org/drawingml/2006/main" marL="0" indent="0">
              <a:buFont typeface="Monotype Sorts" pitchFamily="-84" charset="2"/>
              <a:buNone/>
              <a:defRPr/>
              <a:bidi/>
            </a:pPr>
            <a:r xmlns:a="http://schemas.openxmlformats.org/drawingml/2006/main">
              <a:rPr lang="ar" sz="1600" dirty="0" smtClean="0">
                <a:latin typeface="Courier New"/>
                <a:ea typeface="ＭＳ Ｐゴシック" charset="-128"/>
                <a:cs typeface="Courier New"/>
              </a:rPr>
              <a:t>}</a:t>
            </a:r>
          </a:p>
        </p:txBody>
      </p:sp>
      <p:sp>
        <p:nvSpPr>
          <p:cNvPr id="48132" name="TextBox 1"/>
          <p:cNvSpPr txBox="1">
            <a:spLocks noChangeArrowheads="1"/>
          </p:cNvSpPr>
          <p:nvPr/>
        </p:nvSpPr>
        <p:spPr bwMode="auto">
          <a:xfrm>
            <a:off x="1558925" y="3598863"/>
            <a:ext cx="6370638" cy="163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r xmlns:a="http://schemas.openxmlformats.org/drawingml/2006/main">
              <a:rPr kumimoji="1" lang="ar" altLang="en-US" sz="1700">
                <a:latin typeface="Courier New" panose="02070309020205020404" pitchFamily="49" charset="0"/>
                <a:cs typeface="Courier New" panose="02070309020205020404" pitchFamily="49" charset="0"/>
              </a:rPr>
              <a:t>م </a:t>
            </a:r>
            <a:r xmlns:a="http://schemas.openxmlformats.org/drawingml/2006/main">
              <a:rPr kumimoji="1" lang="ar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الرسالة next_consumed ؛</a:t>
            </a:r>
          </a:p>
          <a:p>
            <a:r xmlns:a="http://schemas.openxmlformats.org/drawingml/2006/main">
              <a:rPr kumimoji="1" lang="ar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احيانا صحيح) {</a:t>
            </a:r>
          </a:p>
          <a:p>
            <a:r xmlns:a="http://schemas.openxmlformats.org/drawingml/2006/main">
              <a:rPr kumimoji="1" lang="ar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تلقي (next_consumed) ؛</a:t>
            </a:r>
          </a:p>
          <a:p>
            <a:r xmlns:a="http://schemas.openxmlformats.org/drawingml/2006/main">
              <a:rPr kumimoji="1" lang="ar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 xmlns:a="http://schemas.openxmlformats.org/drawingml/2006/main">
              <a:rPr kumimoji="1" lang="ar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/ * استهلاك العنصر في المرة القادمة المستهلكة * /</a:t>
            </a:r>
          </a:p>
          <a:p>
            <a:r xmlns:a="http://schemas.openxmlformats.org/drawingml/2006/main">
              <a:rPr kumimoji="1" lang="ar" altLang="en-US" sz="17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6525"/>
            <a:ext cx="8229600" cy="576263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التخزين المؤقت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000" y="1233488"/>
            <a:ext cx="7121525" cy="4530725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قائمة انتظار الرسائل المرفقة بالارتباط.</a:t>
            </a:r>
          </a:p>
          <a:p>
            <a:r xmlns:a="http://schemas.openxmlformats.org/drawingml/2006/main">
              <a:rPr lang="ar" altLang="en-US" smtClean="0"/>
              <a:t>تم تنفيذها بإحدى الطرق الثلاث</a:t>
            </a:r>
          </a:p>
          <a:p>
            <a:pPr xmlns:a="http://schemas.openxmlformats.org/drawingml/2006/main" lvl="1">
              <a:buFont typeface="Monotype Sorts" pitchFamily="-84" charset="2"/>
              <a:buNone/>
              <a:bidi/>
            </a:pPr>
            <a:r xmlns:a="http://schemas.openxmlformats.org/drawingml/2006/main">
              <a:rPr lang="ar" altLang="en-US" smtClean="0">
                <a:solidFill>
                  <a:srgbClr val="CC6600"/>
                </a:solidFill>
              </a:rPr>
              <a:t>1. </a:t>
            </a:r>
            <a:r xmlns:a="http://schemas.openxmlformats.org/drawingml/2006/main">
              <a:rPr lang="ar" altLang="en-US" smtClean="0"/>
              <a:t>سعة صفرية - لا توجد رسائل في قائمة الانتظار على ارتباط. </a:t>
            </a:r>
            <a:br xmlns:a="http://schemas.openxmlformats.org/drawingml/2006/main">
              <a:rPr lang="en-US" altLang="en-US" smtClean="0"/>
            </a:br>
            <a:r xmlns:a="http://schemas.openxmlformats.org/drawingml/2006/main">
              <a:rPr lang="ar" altLang="en-US" smtClean="0"/>
              <a:t>يجب على المرسل انتظار المتلقي (موعد)</a:t>
            </a:r>
          </a:p>
          <a:p>
            <a:pPr xmlns:a="http://schemas.openxmlformats.org/drawingml/2006/main" lvl="1">
              <a:buFont typeface="Monotype Sorts" pitchFamily="-84" charset="2"/>
              <a:buNone/>
              <a:bidi/>
            </a:pPr>
            <a:r xmlns:a="http://schemas.openxmlformats.org/drawingml/2006/main">
              <a:rPr lang="ar" altLang="en-US" smtClean="0">
                <a:solidFill>
                  <a:srgbClr val="CC6600"/>
                </a:solidFill>
              </a:rPr>
              <a:t>2. </a:t>
            </a:r>
            <a:r xmlns:a="http://schemas.openxmlformats.org/drawingml/2006/main">
              <a:rPr lang="ar" altLang="en-US" smtClean="0"/>
              <a:t>السعة المحدودة - الطول المحدد لعدد </a:t>
            </a:r>
            <a:r xmlns:a="http://schemas.openxmlformats.org/drawingml/2006/main">
              <a:rPr lang="ar" altLang="en-US" i="1" smtClean="0"/>
              <a:t>n من </a:t>
            </a:r>
            <a:r xmlns:a="http://schemas.openxmlformats.org/drawingml/2006/main">
              <a:rPr lang="ar" altLang="en-US" smtClean="0"/>
              <a:t>الرسائل </a:t>
            </a:r>
            <a:br xmlns:a="http://schemas.openxmlformats.org/drawingml/2006/main">
              <a:rPr lang="en-US" altLang="en-US" smtClean="0"/>
            </a:br>
            <a:r xmlns:a="http://schemas.openxmlformats.org/drawingml/2006/main">
              <a:rPr lang="ar" altLang="en-US" smtClean="0"/>
              <a:t>يجب على المرسل الانتظار إذا كان الارتباط ممتلئًا</a:t>
            </a:r>
          </a:p>
          <a:p>
            <a:pPr xmlns:a="http://schemas.openxmlformats.org/drawingml/2006/main" lvl="1">
              <a:buFont typeface="Monotype Sorts" pitchFamily="-84" charset="2"/>
              <a:buNone/>
              <a:bidi/>
            </a:pPr>
            <a:r xmlns:a="http://schemas.openxmlformats.org/drawingml/2006/main">
              <a:rPr lang="ar" altLang="en-US" smtClean="0">
                <a:solidFill>
                  <a:srgbClr val="CC6600"/>
                </a:solidFill>
              </a:rPr>
              <a:t>3. </a:t>
            </a:r>
            <a:r xmlns:a="http://schemas.openxmlformats.org/drawingml/2006/main">
              <a:rPr lang="ar" altLang="en-US" smtClean="0"/>
              <a:t>سعة غير محدودة - طول لانهائي </a:t>
            </a:r>
            <a:br xmlns:a="http://schemas.openxmlformats.org/drawingml/2006/main">
              <a:rPr lang="en-US" altLang="en-US" smtClean="0"/>
            </a:br>
            <a:r xmlns:a="http://schemas.openxmlformats.org/drawingml/2006/main">
              <a:rPr lang="ar" altLang="en-US" smtClean="0"/>
              <a:t>لا ينتظر المرسل أبدًا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966788" y="187325"/>
            <a:ext cx="7850187" cy="576263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أمثلة على أنظمة IPC - POSIX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>
          <a:xfrm>
            <a:off x="911225" y="1233488"/>
            <a:ext cx="7577138" cy="4530725"/>
          </a:xfrm>
        </p:spPr>
        <p:txBody>
          <a:bodyPr/>
          <a:lstStyle/>
          <a:p>
            <a:pPr xmlns:a="http://schemas.openxmlformats.org/drawingml/2006/main">
              <a:buFont typeface="Monotype Sorts" charset="0"/>
              <a:buChar char="n"/>
              <a:defRPr/>
              <a:bidi/>
            </a:pPr>
            <a:r xmlns:a="http://schemas.openxmlformats.org/drawingml/2006/main">
              <a:rPr lang="ar" dirty="0">
                <a:ea typeface="ＭＳ Ｐゴシック" charset="0"/>
                <a:cs typeface="ＭＳ Ｐゴシック" charset="0"/>
              </a:rPr>
              <a:t>الذاكرة المشتركة POSIX</a:t>
            </a:r>
          </a:p>
          <a:p>
            <a:pPr xmlns:a="http://schemas.openxmlformats.org/drawingml/2006/main" lvl="1">
              <a:buFont typeface="Monotype Sorts" charset="0"/>
              <a:buChar char="l"/>
              <a:defRPr/>
              <a:bidi/>
            </a:pPr>
            <a:r xmlns:a="http://schemas.openxmlformats.org/drawingml/2006/main">
              <a:rPr lang="ar" dirty="0" smtClean="0">
                <a:ea typeface="ＭＳ Ｐゴシック" charset="0"/>
              </a:rPr>
              <a:t>شريحة </a:t>
            </a:r>
            <a:br xmlns:a="http://schemas.openxmlformats.org/drawingml/2006/main">
              <a:rPr lang="en-US" dirty="0" smtClean="0">
                <a:ea typeface="ＭＳ Ｐゴシック" charset="0"/>
              </a:rPr>
            </a:br>
            <a:r xmlns:a="http://schemas.openxmlformats.org/drawingml/2006/main">
              <a:rPr lang="ar" dirty="0">
                <a:ea typeface="ＭＳ Ｐゴシック" charset="0"/>
              </a:rPr>
              <a:t>ذاكرة مشتركة </a:t>
            </a:r>
            <a:r xmlns:a="http://schemas.openxmlformats.org/drawingml/2006/main">
              <a:rPr lang="ar" b="1" dirty="0" err="1" smtClean="0">
                <a:latin typeface="Courier New" charset="0"/>
                <a:ea typeface="ＭＳ Ｐゴシック" charset="0"/>
                <a:cs typeface="Courier New" charset="0"/>
              </a:rPr>
              <a:t>shm </a:t>
            </a:r>
            <a:r xmlns:a="http://schemas.openxmlformats.org/drawingml/2006/main">
              <a:rPr lang="ar" b="1" dirty="0" err="1">
                <a:latin typeface="Courier New" charset="0"/>
                <a:ea typeface="ＭＳ Ｐゴシック" charset="0"/>
                <a:cs typeface="Courier New" charset="0"/>
              </a:rPr>
              <a:t>_ </a:t>
            </a:r>
            <a:r xmlns:a="http://schemas.openxmlformats.org/drawingml/2006/main">
              <a:rPr lang="ar" b="1" dirty="0" err="1" smtClean="0">
                <a:latin typeface="Courier New" charset="0"/>
                <a:ea typeface="ＭＳ Ｐゴシック" charset="0"/>
                <a:cs typeface="Courier New" charset="0"/>
              </a:rPr>
              <a:t>fd</a:t>
            </a:r>
            <a:r xmlns:a="http://schemas.openxmlformats.org/drawingml/2006/main">
              <a:rPr lang="ar" b="1" dirty="0" smtClean="0">
                <a:latin typeface="Courier New" charset="0"/>
                <a:ea typeface="ＭＳ Ｐゴシック" charset="0"/>
                <a:cs typeface="Courier New" charset="0"/>
              </a:rPr>
              <a:t> </a:t>
            </a:r>
            <a:r xmlns:a="http://schemas.openxmlformats.org/drawingml/2006/main">
              <a:rPr lang="ar" b="1" dirty="0">
                <a:latin typeface="Courier New" charset="0"/>
                <a:ea typeface="ＭＳ Ｐゴシック" charset="0"/>
                <a:cs typeface="Courier New" charset="0"/>
              </a:rPr>
              <a:t>= </a:t>
            </a:r>
            <a:r xmlns:a="http://schemas.openxmlformats.org/drawingml/2006/main">
              <a:rPr lang="ar" b="1" dirty="0" err="1" smtClean="0">
                <a:latin typeface="Courier New" charset="0"/>
                <a:ea typeface="ＭＳ Ｐゴシック" charset="0"/>
                <a:cs typeface="Courier New" charset="0"/>
              </a:rPr>
              <a:t>shm </a:t>
            </a:r>
            <a:r xmlns:a="http://schemas.openxmlformats.org/drawingml/2006/main">
              <a:rPr lang="ar" b="1" dirty="0" err="1">
                <a:latin typeface="Courier New" charset="0"/>
                <a:ea typeface="ＭＳ Ｐゴシック" charset="0"/>
                <a:cs typeface="Courier New" charset="0"/>
              </a:rPr>
              <a:t>_ </a:t>
            </a:r>
            <a:r xmlns:a="http://schemas.openxmlformats.org/drawingml/2006/main">
              <a:rPr lang="ar" b="1" dirty="0" err="1" smtClean="0">
                <a:latin typeface="Courier New" charset="0"/>
                <a:ea typeface="ＭＳ Ｐゴシック" charset="0"/>
                <a:cs typeface="Courier New" charset="0"/>
              </a:rPr>
              <a:t>open </a:t>
            </a:r>
            <a:r xmlns:a="http://schemas.openxmlformats.org/drawingml/2006/main">
              <a:rPr lang="ar" b="1" dirty="0">
                <a:latin typeface="Courier New" charset="0"/>
                <a:ea typeface="ＭＳ Ｐゴシック" charset="0"/>
                <a:cs typeface="Courier New" charset="0"/>
              </a:rPr>
              <a:t>(name، O CREAT | O </a:t>
            </a:r>
            <a:r xmlns:a="http://schemas.openxmlformats.org/drawingml/2006/main">
              <a:rPr lang="ar" b="1" dirty="0" smtClean="0">
                <a:latin typeface="Courier New" charset="0"/>
                <a:ea typeface="ＭＳ Ｐゴシック" charset="0"/>
                <a:cs typeface="Courier New" charset="0"/>
              </a:rPr>
              <a:t>RDWR، </a:t>
            </a:r>
            <a:r xmlns:a="http://schemas.openxmlformats.org/drawingml/2006/main">
              <a:rPr lang="ar" b="1" dirty="0">
                <a:latin typeface="Courier New" charset="0"/>
                <a:ea typeface="ＭＳ Ｐゴシック" charset="0"/>
                <a:cs typeface="Courier New" charset="0"/>
              </a:rPr>
              <a:t>0666) </a:t>
            </a:r>
            <a:r xmlns:a="http://schemas.openxmlformats.org/drawingml/2006/main">
              <a:rPr lang="ar" b="1" dirty="0" smtClean="0">
                <a:latin typeface="Courier New" charset="0"/>
                <a:ea typeface="ＭＳ Ｐゴシック" charset="0"/>
                <a:cs typeface="Courier New" charset="0"/>
              </a:rPr>
              <a:t>؛</a:t>
            </a:r>
          </a:p>
          <a:p>
            <a:pPr xmlns:a="http://schemas.openxmlformats.org/drawingml/2006/main" lvl="1">
              <a:buFont typeface="Monotype Sorts" charset="0"/>
              <a:buChar char="l"/>
              <a:defRPr/>
              <a:bidi/>
            </a:pPr>
            <a:r xmlns:a="http://schemas.openxmlformats.org/drawingml/2006/main">
              <a:rPr lang="ar" dirty="0">
                <a:ea typeface="ＭＳ Ｐゴシック" charset="0"/>
              </a:rPr>
              <a:t>تستخدم أيضًا لفتح شريحة موجودة لمشاركتها</a:t>
            </a:r>
          </a:p>
          <a:p>
            <a:pPr xmlns:a="http://schemas.openxmlformats.org/drawingml/2006/main" lvl="1">
              <a:buFont typeface="Monotype Sorts" charset="0"/>
              <a:buChar char="l"/>
              <a:defRPr/>
              <a:bidi/>
            </a:pPr>
            <a:r xmlns:a="http://schemas.openxmlformats.org/drawingml/2006/main">
              <a:rPr lang="ar" dirty="0" smtClean="0">
                <a:ea typeface="ＭＳ Ｐゴシック" charset="0"/>
              </a:rPr>
              <a:t>اضبط حجم الكائن</a:t>
            </a:r>
            <a:endParaRPr xmlns:a="http://schemas.openxmlformats.org/drawingml/2006/main" lang="en-US" dirty="0">
              <a:ea typeface="ＭＳ Ｐゴシック" charset="0"/>
            </a:endParaRPr>
          </a:p>
          <a:p>
            <a:pPr xmlns:a="http://schemas.openxmlformats.org/drawingml/2006/main" marL="0" indent="0">
              <a:buFont typeface="Monotype Sorts" pitchFamily="-84" charset="2"/>
              <a:buNone/>
              <a:defRPr/>
              <a:bidi/>
            </a:pPr>
            <a:r xmlns:a="http://schemas.openxmlformats.org/drawingml/2006/main">
              <a:rPr lang="ar" dirty="0" smtClean="0">
                <a:ea typeface="ＭＳ Ｐゴシック" charset="-128"/>
              </a:rPr>
              <a:t> </a:t>
            </a:r>
            <a:r xmlns:a="http://schemas.openxmlformats.org/drawingml/2006/main">
              <a:rPr lang="ar" b="1" dirty="0" err="1">
                <a:latin typeface="Courier New" charset="0"/>
                <a:ea typeface="ＭＳ Ｐゴシック" charset="0"/>
                <a:cs typeface="Courier New" charset="0"/>
              </a:rPr>
              <a:t>ftruncate </a:t>
            </a:r>
            <a:r xmlns:a="http://schemas.openxmlformats.org/drawingml/2006/main">
              <a:rPr lang="ar" b="1" dirty="0">
                <a:latin typeface="Courier New" charset="0"/>
                <a:ea typeface="ＭＳ Ｐゴシック" charset="0"/>
                <a:cs typeface="Courier New" charset="0"/>
              </a:rPr>
              <a:t>( </a:t>
            </a:r>
            <a:r xmlns:a="http://schemas.openxmlformats.org/drawingml/2006/main">
              <a:rPr lang="ar" b="1" dirty="0" err="1">
                <a:latin typeface="Courier New" charset="0"/>
                <a:ea typeface="ＭＳ Ｐゴシック" charset="0"/>
                <a:cs typeface="Courier New" charset="0"/>
              </a:rPr>
              <a:t>shm</a:t>
            </a:r>
            <a:r xmlns:a="http://schemas.openxmlformats.org/drawingml/2006/main">
              <a:rPr lang="ar" b="1" dirty="0">
                <a:latin typeface="Courier New" charset="0"/>
                <a:ea typeface="ＭＳ Ｐゴシック" charset="0"/>
                <a:cs typeface="Courier New" charset="0"/>
              </a:rPr>
              <a:t> </a:t>
            </a:r>
            <a:r xmlns:a="http://schemas.openxmlformats.org/drawingml/2006/main">
              <a:rPr lang="ar" b="1" dirty="0" err="1">
                <a:latin typeface="Courier New" charset="0"/>
                <a:ea typeface="ＭＳ Ｐゴシック" charset="0"/>
                <a:cs typeface="Courier New" charset="0"/>
              </a:rPr>
              <a:t>فد </a:t>
            </a:r>
            <a:r xmlns:a="http://schemas.openxmlformats.org/drawingml/2006/main">
              <a:rPr lang="ar" b="1" dirty="0">
                <a:latin typeface="Courier New" charset="0"/>
                <a:ea typeface="ＭＳ Ｐゴシック" charset="0"/>
                <a:cs typeface="Courier New" charset="0"/>
              </a:rPr>
              <a:t>، 4096) ؛</a:t>
            </a:r>
          </a:p>
          <a:p>
            <a:pPr xmlns:a="http://schemas.openxmlformats.org/drawingml/2006/main" lvl="1">
              <a:buFont typeface="Monotype Sorts" charset="0"/>
              <a:buChar char="l"/>
              <a:defRPr/>
              <a:bidi/>
            </a:pPr>
            <a:r xmlns:a="http://schemas.openxmlformats.org/drawingml/2006/main">
              <a:rPr lang="ar" dirty="0" smtClean="0">
                <a:ea typeface="ＭＳ Ｐゴシック" charset="0"/>
              </a:rPr>
              <a:t>الآن </a:t>
            </a:r>
            <a:r xmlns:a="http://schemas.openxmlformats.org/drawingml/2006/main">
              <a:rPr lang="ar" dirty="0">
                <a:ea typeface="ＭＳ Ｐゴシック" charset="0"/>
              </a:rPr>
              <a:t>يمكن أن تكتب العملية إلى الذاكرة المشتركة</a:t>
            </a:r>
          </a:p>
          <a:p>
            <a:pPr xmlns:a="http://schemas.openxmlformats.org/drawingml/2006/main" lvl="1">
              <a:buFont typeface="Monotype Sorts" charset="0"/>
              <a:buNone/>
              <a:defRPr/>
              <a:bidi/>
            </a:pPr>
            <a:r xmlns:a="http://schemas.openxmlformats.org/drawingml/2006/main">
              <a:rPr lang="ar" b="1" dirty="0" smtClean="0">
                <a:latin typeface="Courier New" charset="0"/>
                <a:ea typeface="ＭＳ Ｐゴシック" charset="0"/>
                <a:cs typeface="Courier New" charset="0"/>
              </a:rPr>
              <a:t> </a:t>
            </a:r>
            <a:r xmlns:a="http://schemas.openxmlformats.org/drawingml/2006/main">
              <a:rPr lang="ar" b="1" dirty="0" err="1" smtClean="0">
                <a:latin typeface="Courier New" charset="0"/>
                <a:ea typeface="ＭＳ Ｐゴシック" charset="0"/>
                <a:cs typeface="Courier New" charset="0"/>
              </a:rPr>
              <a:t>sprintf </a:t>
            </a:r>
            <a:r xmlns:a="http://schemas.openxmlformats.org/drawingml/2006/main">
              <a:rPr lang="ar" b="1" dirty="0">
                <a:latin typeface="Courier New" charset="0"/>
                <a:ea typeface="ＭＳ Ｐゴシック" charset="0"/>
                <a:cs typeface="Courier New" charset="0"/>
              </a:rPr>
              <a:t>(الذاكرة المشتركة ، "الكتابة إلى الذاكرة المشتركة") </a:t>
            </a:r>
            <a:r xmlns:a="http://schemas.openxmlformats.org/drawingml/2006/main">
              <a:rPr lang="ar" b="1" dirty="0" smtClean="0">
                <a:latin typeface="Courier New" charset="0"/>
                <a:ea typeface="ＭＳ Ｐゴシック" charset="0"/>
                <a:cs typeface="Courier New" charset="0"/>
              </a:rPr>
              <a:t>؛</a:t>
            </a:r>
            <a:endParaRPr xmlns:a="http://schemas.openxmlformats.org/drawingml/2006/main" lang="en-US" b="1" dirty="0">
              <a:latin typeface="Courier New" charset="0"/>
              <a:ea typeface="ＭＳ Ｐゴシック" charset="0"/>
              <a:cs typeface="Courier New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936625" y="173038"/>
            <a:ext cx="7850188" cy="576262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منتج IPC POSIX</a:t>
            </a:r>
          </a:p>
        </p:txBody>
      </p:sp>
      <p:pic>
        <p:nvPicPr>
          <p:cNvPr id="51203" name="Picture 1" descr="Screen Shot 2013-03-14 at 6.46.57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263" y="903288"/>
            <a:ext cx="3754437" cy="575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>
          <a:xfrm>
            <a:off x="936625" y="187325"/>
            <a:ext cx="7850188" cy="576263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IPC POSIX المستهلك</a:t>
            </a:r>
          </a:p>
        </p:txBody>
      </p:sp>
      <p:pic>
        <p:nvPicPr>
          <p:cNvPr id="52227" name="Picture 1" descr="Screen Shot 2013-03-12 at 1.38.41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625" y="892175"/>
            <a:ext cx="4521200" cy="566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>
          <a:xfrm>
            <a:off x="1138238" y="155575"/>
            <a:ext cx="7548562" cy="576263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أمثلة على أنظمة IPC - Mach</a:t>
            </a:r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>
          <a:xfrm>
            <a:off x="854075" y="1076325"/>
            <a:ext cx="8229600" cy="4530725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التواصل ماخ يعتمد على الرسائل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حتى مكالمات النظام رسائل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تحصل كل مهمة على صندوقي بريد عند الإنشاء - Kernel و Notify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مطلوب فقط ثلاث مكالمات نظام لنقل الرسائل</a:t>
            </a:r>
          </a:p>
          <a:p>
            <a:pPr xmlns:a="http://schemas.openxmlformats.org/drawingml/2006/main" lvl="1">
              <a:buFont typeface="Monotype Sorts" pitchFamily="-84" charset="2"/>
              <a:buNone/>
              <a:bidi/>
            </a:pPr>
            <a:r xmlns:a="http://schemas.openxmlformats.org/drawingml/2006/main">
              <a:rPr lang="ar" altLang="en-US" b="1" smtClean="0">
                <a:latin typeface="Courier New" panose="02070309020205020404" pitchFamily="49" charset="0"/>
                <a:cs typeface="Courier New" panose="02070309020205020404" pitchFamily="49" charset="0"/>
              </a:rPr>
              <a:t>msg_send () ، msg_receive () ، msg_rpc ()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علب البريد اللازمة للاتصال ، التي تم إنشاؤها عبر</a:t>
            </a:r>
          </a:p>
          <a:p>
            <a:pPr xmlns:a="http://schemas.openxmlformats.org/drawingml/2006/main" lvl="1">
              <a:buFont typeface="Monotype Sorts" pitchFamily="-84" charset="2"/>
              <a:buNone/>
              <a:bidi/>
            </a:pPr>
            <a:r xmlns:a="http://schemas.openxmlformats.org/drawingml/2006/main">
              <a:rPr lang="ar" altLang="en-US" b="1" smtClean="0">
                <a:latin typeface="Courier New" panose="02070309020205020404" pitchFamily="49" charset="0"/>
                <a:cs typeface="Courier New" panose="02070309020205020404" pitchFamily="49" charset="0"/>
              </a:rPr>
              <a:t>port_allocate ()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تتسم ميزة الإرسال والاستلام بالمرونة ، على سبيل المثال أربعة خيارات إذا كان صندوق البريد ممتلئًا:</a:t>
            </a:r>
          </a:p>
          <a:p>
            <a:pPr xmlns:a="http://schemas.openxmlformats.org/drawingml/2006/main" lvl="2">
              <a:bidi/>
            </a:pPr>
            <a:r xmlns:a="http://schemas.openxmlformats.org/drawingml/2006/main">
              <a:rPr lang="ar" altLang="en-US" smtClean="0"/>
              <a:t>انتظر لأجل غير مسمى</a:t>
            </a:r>
          </a:p>
          <a:p>
            <a:pPr xmlns:a="http://schemas.openxmlformats.org/drawingml/2006/main" lvl="2">
              <a:bidi/>
            </a:pPr>
            <a:r xmlns:a="http://schemas.openxmlformats.org/drawingml/2006/main">
              <a:rPr lang="ar" altLang="en-US" smtClean="0"/>
              <a:t>انتظر n مللي ثانية على الأكثر</a:t>
            </a:r>
          </a:p>
          <a:p>
            <a:pPr xmlns:a="http://schemas.openxmlformats.org/drawingml/2006/main" lvl="2">
              <a:bidi/>
            </a:pPr>
            <a:r xmlns:a="http://schemas.openxmlformats.org/drawingml/2006/main">
              <a:rPr lang="ar" altLang="en-US" smtClean="0"/>
              <a:t>العودة على الفور</a:t>
            </a:r>
          </a:p>
          <a:p>
            <a:pPr xmlns:a="http://schemas.openxmlformats.org/drawingml/2006/main" lvl="2">
              <a:bidi/>
            </a:pPr>
            <a:r xmlns:a="http://schemas.openxmlformats.org/drawingml/2006/main">
              <a:rPr lang="ar" altLang="en-US" smtClean="0"/>
              <a:t>تخزين رسالة مؤقتًا</a:t>
            </a:r>
          </a:p>
          <a:p>
            <a:pPr lvl="1"/>
            <a:endParaRPr lang="en-US" altLang="en-US" b="1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757238" y="182563"/>
            <a:ext cx="8229600" cy="576262"/>
          </a:xfrm>
        </p:spPr>
        <p:txBody>
          <a:bodyPr/>
          <a:lstStyle/>
          <a:p>
            <a:r xmlns:a="http://schemas.openxmlformats.org/drawingml/2006/main">
              <a:rPr lang="ar" altLang="en-US" sz="2800" smtClean="0"/>
              <a:t>أمثلة على أنظمة IPC - Windows</a:t>
            </a:r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>
          <a:xfrm>
            <a:off x="869950" y="1154113"/>
            <a:ext cx="6950075" cy="4530725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مركزية تمرير الرسائل عبر </a:t>
            </a:r>
            <a:r xmlns:a="http://schemas.openxmlformats.org/drawingml/2006/main">
              <a:rPr lang="ar" altLang="en-US" smtClean="0"/>
              <a:t>مرفق </a:t>
            </a:r>
            <a:r xmlns:a="http://schemas.openxmlformats.org/drawingml/2006/main">
              <a:rPr lang="ar" altLang="en-US" b="1" smtClean="0">
                <a:solidFill>
                  <a:srgbClr val="0000FF"/>
                </a:solidFill>
              </a:rPr>
              <a:t>استدعاء الإجراء المحلي المتقدم </a:t>
            </a:r>
            <a:r xmlns:a="http://schemas.openxmlformats.org/drawingml/2006/main">
              <a:rPr lang="ar" altLang="en-US" b="1" smtClean="0">
                <a:solidFill>
                  <a:srgbClr val="000000"/>
                </a:solidFill>
              </a:rPr>
              <a:t>( </a:t>
            </a:r>
            <a:r xmlns:a="http://schemas.openxmlformats.org/drawingml/2006/main">
              <a:rPr lang="ar" altLang="en-US" b="1" smtClean="0">
                <a:solidFill>
                  <a:srgbClr val="0000FF"/>
                </a:solidFill>
              </a:rPr>
              <a:t>LPC </a:t>
            </a:r>
            <a:r xmlns:a="http://schemas.openxmlformats.org/drawingml/2006/main">
              <a:rPr lang="ar" altLang="en-US" b="1" smtClean="0">
                <a:solidFill>
                  <a:srgbClr val="000000"/>
                </a:solidFill>
              </a:rPr>
              <a:t>)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يعمل فقط بين العمليات على نفس النظام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يستخدم المنافذ (مثل علب البريد) لإنشاء قنوات الاتصال وصيانتها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تعمل الاتصالات على النحو التالي:</a:t>
            </a:r>
          </a:p>
          <a:p>
            <a:pPr xmlns:a="http://schemas.openxmlformats.org/drawingml/2006/main" lvl="2">
              <a:bidi/>
            </a:pPr>
            <a:r xmlns:a="http://schemas.openxmlformats.org/drawingml/2006/main">
              <a:rPr lang="ar" altLang="en-US" smtClean="0"/>
              <a:t>يفتح العميل مؤشرًا </a:t>
            </a:r>
            <a:r xmlns:a="http://schemas.openxmlformats.org/drawingml/2006/main">
              <a:rPr lang="ar" altLang="ja-JP" smtClean="0"/>
              <a:t>لكائن </a:t>
            </a:r>
            <a:r xmlns:a="http://schemas.openxmlformats.org/drawingml/2006/main">
              <a:rPr lang="ar" altLang="ja-JP" b="1" smtClean="0">
                <a:solidFill>
                  <a:srgbClr val="0000FF"/>
                </a:solidFill>
              </a:rPr>
              <a:t>منفذ اتصال النظام الفرعي </a:t>
            </a:r>
            <a:r xmlns:a="http://schemas.openxmlformats.org/drawingml/2006/main">
              <a:rPr lang="ar" altLang="ja-JP" smtClean="0"/>
              <a:t>.</a:t>
            </a:r>
          </a:p>
          <a:p>
            <a:pPr xmlns:a="http://schemas.openxmlformats.org/drawingml/2006/main" lvl="2">
              <a:bidi/>
            </a:pPr>
            <a:r xmlns:a="http://schemas.openxmlformats.org/drawingml/2006/main">
              <a:rPr lang="ar" altLang="en-US" smtClean="0"/>
              <a:t>يرسل العميل طلب اتصال.</a:t>
            </a:r>
          </a:p>
          <a:p>
            <a:pPr xmlns:a="http://schemas.openxmlformats.org/drawingml/2006/main" lvl="2">
              <a:bidi/>
            </a:pPr>
            <a:r xmlns:a="http://schemas.openxmlformats.org/drawingml/2006/main">
              <a:rPr lang="ar" altLang="en-US" smtClean="0"/>
              <a:t>ينشئ الخادم منفذي </a:t>
            </a:r>
            <a:r xmlns:a="http://schemas.openxmlformats.org/drawingml/2006/main">
              <a:rPr lang="ar" altLang="en-US" b="1" smtClean="0">
                <a:solidFill>
                  <a:srgbClr val="0000FF"/>
                </a:solidFill>
              </a:rPr>
              <a:t>اتصال خاصين </a:t>
            </a:r>
            <a:r xmlns:a="http://schemas.openxmlformats.org/drawingml/2006/main">
              <a:rPr lang="ar" altLang="en-US" smtClean="0"/>
              <a:t>ويعيد المقبض إلى أحدهما إلى العميل.</a:t>
            </a:r>
          </a:p>
          <a:p>
            <a:pPr xmlns:a="http://schemas.openxmlformats.org/drawingml/2006/main" lvl="2">
              <a:bidi/>
            </a:pPr>
            <a:r xmlns:a="http://schemas.openxmlformats.org/drawingml/2006/main">
              <a:rPr lang="ar" altLang="en-US" smtClean="0"/>
              <a:t>يستخدم العميل والخادم مقبض المنفذ المقابل لإرسال الرسائل أو عمليات الاسترجاعات والاستماع إلى الردود.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>
          <a:xfrm>
            <a:off x="1025525" y="182563"/>
            <a:ext cx="8229600" cy="576262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استدعاءات الإجراءات المحلية في Windows</a:t>
            </a:r>
          </a:p>
        </p:txBody>
      </p:sp>
      <p:pic>
        <p:nvPicPr>
          <p:cNvPr id="55299" name="Picture 4" descr="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538" y="1830388"/>
            <a:ext cx="6567487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700" y="123825"/>
            <a:ext cx="8229600" cy="576263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z="2800" smtClean="0"/>
              <a:t>الاتصالات في أنظمة خادم العميل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000" y="1233488"/>
            <a:ext cx="6794500" cy="4530725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مآخذ</a:t>
            </a:r>
          </a:p>
          <a:p>
            <a:r xmlns:a="http://schemas.openxmlformats.org/drawingml/2006/main">
              <a:rPr lang="ar" altLang="en-US" smtClean="0"/>
              <a:t>استدعاءات الإجراءات عن بعد</a:t>
            </a:r>
          </a:p>
          <a:p>
            <a:r xmlns:a="http://schemas.openxmlformats.org/drawingml/2006/main">
              <a:rPr lang="ar" altLang="en-US" smtClean="0"/>
              <a:t>أنابيب</a:t>
            </a:r>
          </a:p>
          <a:p>
            <a:r xmlns:a="http://schemas.openxmlformats.org/drawingml/2006/main">
              <a:rPr lang="ar" altLang="en-US" smtClean="0"/>
              <a:t>استدعاء الطريقة عن بعد (جافا)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76263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مآخذ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2325" y="1154113"/>
            <a:ext cx="6977063" cy="4530725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يتم تعريف </a:t>
            </a:r>
            <a:r xmlns:a="http://schemas.openxmlformats.org/drawingml/2006/main">
              <a:rPr lang="ar" altLang="en-US" b="1" smtClean="0">
                <a:solidFill>
                  <a:srgbClr val="0000FF"/>
                </a:solidFill>
              </a:rPr>
              <a:t>المقبس </a:t>
            </a:r>
            <a:r xmlns:a="http://schemas.openxmlformats.org/drawingml/2006/main">
              <a:rPr lang="ar" altLang="en-US" smtClean="0"/>
              <a:t>كنقطة نهاية للاتصال</a:t>
            </a:r>
          </a:p>
          <a:p>
            <a:endParaRPr lang="en-US" altLang="en-US" sz="800" smtClean="0"/>
          </a:p>
          <a:p>
            <a:r xmlns:a="http://schemas.openxmlformats.org/drawingml/2006/main">
              <a:rPr lang="ar" altLang="en-US" smtClean="0"/>
              <a:t>تسلسل عنوان IP </a:t>
            </a:r>
            <a:r xmlns:a="http://schemas.openxmlformats.org/drawingml/2006/main">
              <a:rPr lang="ar" altLang="en-US" b="1" smtClean="0">
                <a:solidFill>
                  <a:srgbClr val="0000FF"/>
                </a:solidFill>
              </a:rPr>
              <a:t>والمنفذ </a:t>
            </a:r>
            <a:r xmlns:a="http://schemas.openxmlformats.org/drawingml/2006/main">
              <a:rPr lang="ar" altLang="en-US" smtClean="0"/>
              <a:t>- رقم مضمن في بداية حزمة الرسائل للتمييز بين خدمات الشبكة على مضيف</a:t>
            </a:r>
          </a:p>
          <a:p>
            <a:endParaRPr lang="en-US" altLang="en-US" sz="800" smtClean="0"/>
          </a:p>
          <a:p>
            <a:r xmlns:a="http://schemas.openxmlformats.org/drawingml/2006/main">
              <a:rPr lang="ar" altLang="en-US" smtClean="0"/>
              <a:t>المقبس </a:t>
            </a:r>
            <a:r xmlns:a="http://schemas.openxmlformats.org/drawingml/2006/main">
              <a:rPr lang="ar" altLang="en-US" b="1" smtClean="0"/>
              <a:t>161.25.19.8:1625 </a:t>
            </a:r>
            <a:r xmlns:a="http://schemas.openxmlformats.org/drawingml/2006/main">
              <a:rPr lang="ar" altLang="en-US" smtClean="0"/>
              <a:t>إلى المنفذ </a:t>
            </a:r>
            <a:r xmlns:a="http://schemas.openxmlformats.org/drawingml/2006/main">
              <a:rPr lang="ar" altLang="en-US" b="1" smtClean="0"/>
              <a:t>1625 </a:t>
            </a:r>
            <a:r xmlns:a="http://schemas.openxmlformats.org/drawingml/2006/main">
              <a:rPr lang="ar" altLang="en-US" smtClean="0"/>
              <a:t>على المضيف </a:t>
            </a:r>
            <a:r xmlns:a="http://schemas.openxmlformats.org/drawingml/2006/main">
              <a:rPr lang="ar" altLang="en-US" b="1" smtClean="0"/>
              <a:t>161.25.19.8</a:t>
            </a:r>
          </a:p>
          <a:p>
            <a:endParaRPr lang="en-US" altLang="en-US" sz="800" b="1" smtClean="0"/>
          </a:p>
          <a:p>
            <a:r xmlns:a="http://schemas.openxmlformats.org/drawingml/2006/main">
              <a:rPr lang="ar" altLang="en-US" smtClean="0"/>
              <a:t>يتكون الاتصال بين زوج من المقابس</a:t>
            </a:r>
          </a:p>
          <a:p>
            <a:endParaRPr lang="en-US" altLang="en-US" sz="800" smtClean="0"/>
          </a:p>
          <a:p>
            <a:r xmlns:a="http://schemas.openxmlformats.org/drawingml/2006/main">
              <a:rPr lang="ar" altLang="en-US" smtClean="0"/>
              <a:t>جميع المنافذ الأقل من 1024 </a:t>
            </a:r>
            <a:r xmlns:a="http://schemas.openxmlformats.org/drawingml/2006/main">
              <a:rPr lang="ar" altLang="en-US" b="1" i="1" smtClean="0"/>
              <a:t>معروفة جيدًا </a:t>
            </a:r>
            <a:r xmlns:a="http://schemas.openxmlformats.org/drawingml/2006/main">
              <a:rPr lang="ar" altLang="en-US" smtClean="0"/>
              <a:t>وتستخدم للخدمات القياسية</a:t>
            </a:r>
          </a:p>
          <a:p>
            <a:endParaRPr lang="en-US" altLang="en-US" sz="800" smtClean="0"/>
          </a:p>
          <a:p>
            <a:r xmlns:a="http://schemas.openxmlformats.org/drawingml/2006/main">
              <a:rPr lang="ar" altLang="en-US" smtClean="0"/>
              <a:t>عنوان IP الخاص 127.0.0.1 ( </a:t>
            </a:r>
            <a:r xmlns:a="http://schemas.openxmlformats.org/drawingml/2006/main">
              <a:rPr lang="ar" altLang="en-US" b="1" smtClean="0">
                <a:solidFill>
                  <a:srgbClr val="0000FF"/>
                </a:solidFill>
              </a:rPr>
              <a:t>استرجاع </a:t>
            </a:r>
            <a:r xmlns:a="http://schemas.openxmlformats.org/drawingml/2006/main">
              <a:rPr lang="ar" altLang="en-US" smtClean="0"/>
              <a:t>) للإشارة إلى النظام الذي تعمل عليه العملية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757238" y="152400"/>
            <a:ext cx="8229600" cy="576263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اتصالات مأخذ التوصيل</a:t>
            </a:r>
          </a:p>
        </p:txBody>
      </p:sp>
      <p:pic>
        <p:nvPicPr>
          <p:cNvPr id="5837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763" y="1166813"/>
            <a:ext cx="5794375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76263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مآخذ في جافا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3419475" cy="4530725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ثلاثة أنواع من المقابس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b="1" smtClean="0">
                <a:solidFill>
                  <a:srgbClr val="0000FF"/>
                </a:solidFill>
              </a:rPr>
              <a:t>مهيأ للاتصال </a:t>
            </a:r>
            <a:r xmlns:a="http://schemas.openxmlformats.org/drawingml/2006/main">
              <a:rPr lang="ar" altLang="en-US" smtClean="0"/>
              <a:t>( </a:t>
            </a:r>
            <a:r xmlns:a="http://schemas.openxmlformats.org/drawingml/2006/main">
              <a:rPr lang="ar" altLang="en-US" b="1" smtClean="0">
                <a:solidFill>
                  <a:srgbClr val="0000FF"/>
                </a:solidFill>
              </a:rPr>
              <a:t>TCP </a:t>
            </a:r>
            <a:r xmlns:a="http://schemas.openxmlformats.org/drawingml/2006/main">
              <a:rPr lang="ar" altLang="en-US" smtClean="0"/>
              <a:t>)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b="1" smtClean="0">
                <a:solidFill>
                  <a:srgbClr val="0000FF"/>
                </a:solidFill>
              </a:rPr>
              <a:t>بدون اتصال </a:t>
            </a:r>
            <a:r xmlns:a="http://schemas.openxmlformats.org/drawingml/2006/main">
              <a:rPr lang="ar" altLang="en-US" smtClean="0"/>
              <a:t>( </a:t>
            </a:r>
            <a:r xmlns:a="http://schemas.openxmlformats.org/drawingml/2006/main">
              <a:rPr lang="ar" altLang="en-US" b="1" smtClean="0">
                <a:solidFill>
                  <a:srgbClr val="0000FF"/>
                </a:solidFill>
              </a:rPr>
              <a:t>UDP </a:t>
            </a:r>
            <a:r xmlns:a="http://schemas.openxmlformats.org/drawingml/2006/main">
              <a:rPr lang="ar" altLang="en-US" smtClean="0"/>
              <a:t>)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b="1" smtClean="0">
                <a:latin typeface="Courier New" panose="02070309020205020404" pitchFamily="49" charset="0"/>
                <a:cs typeface="Courier New" panose="02070309020205020404" pitchFamily="49" charset="0"/>
              </a:rPr>
              <a:t>MulticastSocket- </a:t>
            </a:r>
            <a:r xmlns:a="http://schemas.openxmlformats.org/drawingml/2006/main">
              <a:rPr lang="ar" altLang="en-US" smtClean="0"/>
              <a:t>يمكن إرسال البيانات إلى عدة مستلمين</a:t>
            </a:r>
          </a:p>
          <a:p>
            <a:pPr>
              <a:buFont typeface="Monotype Sorts" pitchFamily="-84" charset="2"/>
              <a:buNone/>
            </a:pPr>
            <a:endParaRPr lang="en-US" altLang="en-US" smtClean="0"/>
          </a:p>
          <a:p>
            <a:r xmlns:a="http://schemas.openxmlformats.org/drawingml/2006/main">
              <a:rPr lang="ar" altLang="en-US" smtClean="0"/>
              <a:t>ضع في اعتبارك خادم "التاريخ" هذا:</a:t>
            </a:r>
          </a:p>
          <a:p>
            <a:pPr lvl="1"/>
            <a:endParaRPr lang="en-US" altLang="en-US" smtClean="0"/>
          </a:p>
          <a:p>
            <a:endParaRPr lang="en-US" altLang="en-US" smtClean="0"/>
          </a:p>
        </p:txBody>
      </p:sp>
      <p:pic>
        <p:nvPicPr>
          <p:cNvPr id="59396" name="Picture 1" descr="Screen Shot 2012-12-04 at 1.11.28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813" y="1125538"/>
            <a:ext cx="4967287" cy="5097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8275"/>
            <a:ext cx="8229600" cy="576263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استدعاءات الإجراءات عن بعد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1138238"/>
            <a:ext cx="6823075" cy="4867275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تلخص استدعاء الإجراء البعيد (RPC) استدعاءات الإجراءات بين العمليات على الأنظمة المتصلة بالشبكة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مرة أخرى يستخدم المنافذ لتمايز الخدمة</a:t>
            </a:r>
          </a:p>
          <a:p>
            <a:r xmlns:a="http://schemas.openxmlformats.org/drawingml/2006/main">
              <a:rPr lang="ar" altLang="en-US" b="1" smtClean="0">
                <a:solidFill>
                  <a:srgbClr val="0000FF"/>
                </a:solidFill>
              </a:rPr>
              <a:t>Stubs </a:t>
            </a:r>
            <a:r xmlns:a="http://schemas.openxmlformats.org/drawingml/2006/main">
              <a:rPr lang="ar" altLang="en-US" smtClean="0"/>
              <a:t>- وكيل من جانب العميل للإجراء الفعلي على الخادم</a:t>
            </a:r>
          </a:p>
          <a:p>
            <a:r xmlns:a="http://schemas.openxmlformats.org/drawingml/2006/main">
              <a:rPr lang="ar" altLang="en-US" smtClean="0"/>
              <a:t>يحدد كعب العميل موقع الخادم </a:t>
            </a:r>
            <a:r xmlns:a="http://schemas.openxmlformats.org/drawingml/2006/main">
              <a:rPr lang="ar" altLang="en-US" b="1" smtClean="0">
                <a:solidFill>
                  <a:srgbClr val="0000FF"/>
                </a:solidFill>
              </a:rPr>
              <a:t>وينظم </a:t>
            </a:r>
            <a:r xmlns:a="http://schemas.openxmlformats.org/drawingml/2006/main">
              <a:rPr lang="ar" altLang="en-US" smtClean="0"/>
              <a:t>المعلمات</a:t>
            </a:r>
          </a:p>
          <a:p>
            <a:r xmlns:a="http://schemas.openxmlformats.org/drawingml/2006/main">
              <a:rPr lang="ar" altLang="en-US" smtClean="0"/>
              <a:t>يتلقى كعب الخادم من جانب الخادم هذه الرسالة ، ويفكك المعلمات المنظمة ، وينفذ الإجراء على الخادم</a:t>
            </a:r>
          </a:p>
          <a:p>
            <a:r xmlns:a="http://schemas.openxmlformats.org/drawingml/2006/main">
              <a:rPr lang="ar" altLang="en-US" smtClean="0"/>
              <a:t>في نظام التشغيل Windows ، يتم تجميع كود كعب الروتين من المواصفات المكتوبة بلغة </a:t>
            </a:r>
            <a:r xmlns:a="http://schemas.openxmlformats.org/drawingml/2006/main">
              <a:rPr lang="ar" altLang="en-US" b="1" smtClean="0">
                <a:solidFill>
                  <a:srgbClr val="0000FF"/>
                </a:solidFill>
              </a:rPr>
              <a:t>تعريف واجهة Microsoft </a:t>
            </a:r>
            <a:r xmlns:a="http://schemas.openxmlformats.org/drawingml/2006/main">
              <a:rPr lang="ar" altLang="en-US" smtClean="0"/>
              <a:t>( </a:t>
            </a:r>
            <a:r xmlns:a="http://schemas.openxmlformats.org/drawingml/2006/main">
              <a:rPr lang="ar" altLang="en-US" b="1" smtClean="0">
                <a:solidFill>
                  <a:srgbClr val="0000FF"/>
                </a:solidFill>
              </a:rPr>
              <a:t>MIDL </a:t>
            </a:r>
            <a:r xmlns:a="http://schemas.openxmlformats.org/drawingml/2006/main">
              <a:rPr lang="ar" altLang="en-US" smtClean="0"/>
              <a:t>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930275" y="230188"/>
            <a:ext cx="8229600" cy="576262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استدعاءات الإجراءات عن بعد (تابع)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4713" y="777875"/>
            <a:ext cx="6818312" cy="4867275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endParaRPr lang="en-US" altLang="en-US" sz="1600" smtClean="0"/>
          </a:p>
          <a:p>
            <a:r xmlns:a="http://schemas.openxmlformats.org/drawingml/2006/main">
              <a:rPr lang="ar" altLang="en-US" smtClean="0"/>
              <a:t>يتم التعامل مع تمثيل البيانات عبر تنسيق </a:t>
            </a:r>
            <a:r xmlns:a="http://schemas.openxmlformats.org/drawingml/2006/main">
              <a:rPr lang="ar" altLang="en-US" b="1" smtClean="0">
                <a:solidFill>
                  <a:srgbClr val="0000FF"/>
                </a:solidFill>
              </a:rPr>
              <a:t>تمثيل البيانات الخارجية </a:t>
            </a:r>
            <a:r xmlns:a="http://schemas.openxmlformats.org/drawingml/2006/main">
              <a:rPr lang="ar" altLang="en-US" smtClean="0"/>
              <a:t>( </a:t>
            </a:r>
            <a:r xmlns:a="http://schemas.openxmlformats.org/drawingml/2006/main">
              <a:rPr lang="ar" altLang="en-US" b="1" smtClean="0">
                <a:solidFill>
                  <a:srgbClr val="0000FF"/>
                </a:solidFill>
              </a:rPr>
              <a:t>XDL </a:t>
            </a:r>
            <a:r xmlns:a="http://schemas.openxmlformats.org/drawingml/2006/main">
              <a:rPr lang="ar" altLang="en-US" smtClean="0"/>
              <a:t>) لحساب البنى المختلفة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b="1" smtClean="0">
                <a:solidFill>
                  <a:srgbClr val="0000FF"/>
                </a:solidFill>
              </a:rPr>
              <a:t>كبير Endian </a:t>
            </a:r>
            <a:r xmlns:a="http://schemas.openxmlformats.org/drawingml/2006/main">
              <a:rPr lang="ar" altLang="en-US" smtClean="0"/>
              <a:t>وصغير </a:t>
            </a:r>
            <a:r xmlns:a="http://schemas.openxmlformats.org/drawingml/2006/main">
              <a:rPr lang="ar" altLang="en-US" b="1" smtClean="0">
                <a:solidFill>
                  <a:srgbClr val="0000FF"/>
                </a:solidFill>
              </a:rPr>
              <a:t>Endian</a:t>
            </a:r>
          </a:p>
          <a:p>
            <a:r xmlns:a="http://schemas.openxmlformats.org/drawingml/2006/main">
              <a:rPr lang="ar" altLang="en-US" smtClean="0"/>
              <a:t>الاتصالات عن بعد لديها سيناريوهات فشل أكثر من المحلية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يمكن تسليم الرسائل </a:t>
            </a:r>
            <a:r xmlns:a="http://schemas.openxmlformats.org/drawingml/2006/main">
              <a:rPr lang="ar" altLang="en-US" b="1" i="1" smtClean="0"/>
              <a:t>مرة واحدة بالضبط </a:t>
            </a:r>
            <a:r xmlns:a="http://schemas.openxmlformats.org/drawingml/2006/main">
              <a:rPr lang="ar" altLang="en-US" smtClean="0"/>
              <a:t>وليس مرة واحدة </a:t>
            </a:r>
            <a:r xmlns:a="http://schemas.openxmlformats.org/drawingml/2006/main">
              <a:rPr lang="ar" altLang="en-US" b="1" i="1" smtClean="0"/>
              <a:t>على الأكثر</a:t>
            </a:r>
          </a:p>
          <a:p>
            <a:r xmlns:a="http://schemas.openxmlformats.org/drawingml/2006/main">
              <a:rPr lang="ar" altLang="en-US" smtClean="0"/>
              <a:t>يوفر نظام التشغيل عادةً خدمة موعد (أو </a:t>
            </a:r>
            <a:r xmlns:a="http://schemas.openxmlformats.org/drawingml/2006/main">
              <a:rPr lang="ar" altLang="en-US" b="1" smtClean="0">
                <a:solidFill>
                  <a:srgbClr val="0000FF"/>
                </a:solidFill>
              </a:rPr>
              <a:t>صانع مطابقة </a:t>
            </a:r>
            <a:r xmlns:a="http://schemas.openxmlformats.org/drawingml/2006/main">
              <a:rPr lang="ar" altLang="en-US" smtClean="0"/>
              <a:t>) لتوصيل العميل والخادم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6525"/>
            <a:ext cx="8229600" cy="576263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تنفيذ RPC</a:t>
            </a:r>
          </a:p>
        </p:txBody>
      </p:sp>
      <p:pic>
        <p:nvPicPr>
          <p:cNvPr id="62467" name="Picture 6" descr="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4413" y="1016000"/>
            <a:ext cx="4421187" cy="532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2563"/>
            <a:ext cx="8229600" cy="576262"/>
          </a:xfrm>
        </p:spPr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أنابيب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4713" y="1154113"/>
            <a:ext cx="6945312" cy="4530725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يعمل كقناة تسمح لعمليتين بالتواصل</a:t>
            </a:r>
          </a:p>
          <a:p>
            <a:r xmlns:a="http://schemas.openxmlformats.org/drawingml/2006/main">
              <a:rPr lang="ar" altLang="en-US" smtClean="0"/>
              <a:t>مشاكل: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هل الاتصال أحادي الاتجاه أم ثنائي الاتجاه؟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في حالة الاتصال ثنائي الاتجاه ، هل هو نصف أم ثنائي الاتجاه؟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هل يجب أن توجد علاقة (أي </a:t>
            </a:r>
            <a:r xmlns:a="http://schemas.openxmlformats.org/drawingml/2006/main">
              <a:rPr lang="ar" altLang="en-US" b="1" i="1" smtClean="0"/>
              <a:t>بين الوالدين والطفل </a:t>
            </a:r>
            <a:r xmlns:a="http://schemas.openxmlformats.org/drawingml/2006/main">
              <a:rPr lang="ar" altLang="en-US" smtClean="0"/>
              <a:t>) بين عمليات الاتصال؟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 altLang="en-US" smtClean="0"/>
              <a:t>هل يمكن استخدام الأنابيب عبر الشبكة؟</a:t>
            </a:r>
          </a:p>
          <a:p>
            <a:r xmlns:a="http://schemas.openxmlformats.org/drawingml/2006/main">
              <a:rPr lang="ar" altLang="en-US" smtClean="0"/>
              <a:t>الأنابيب العادية - لا يمكن الوصول إليها من خارج العملية التي أنشأتها. بشكل نموذجي ، تنشئ العملية الرئيسية أنبوبًا وتستخدمه للتواصل مع العملية الفرعية التي أنشأتها.</a:t>
            </a:r>
          </a:p>
          <a:p>
            <a:r xmlns:a="http://schemas.openxmlformats.org/drawingml/2006/main">
              <a:rPr lang="ar" altLang="en-US" smtClean="0"/>
              <a:t>الأنابيب المسماة - يمكن الوصول إليها بدون علاقة بين الوالدين والطفل.</a:t>
            </a:r>
          </a:p>
          <a:p>
            <a:pPr>
              <a:buFont typeface="Monotype Sorts" pitchFamily="-84" charset="2"/>
              <a:buNone/>
            </a:pPr>
            <a:endParaRPr lang="en-US" altLang="en-US" smtClean="0"/>
          </a:p>
          <a:p>
            <a:pPr lvl="1"/>
            <a:endParaRPr lang="en-US" altLang="en-US" smtClean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6"/>
          <p:cNvSpPr>
            <a:spLocks noGrp="1"/>
          </p:cNvSpPr>
          <p:nvPr>
            <p:ph type="title"/>
          </p:nvPr>
        </p:nvSpPr>
        <p:spPr>
          <a:xfrm>
            <a:off x="457200" y="130175"/>
            <a:ext cx="8229600" cy="576263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مواسير عادية</a:t>
            </a:r>
          </a:p>
        </p:txBody>
      </p:sp>
      <p:sp>
        <p:nvSpPr>
          <p:cNvPr id="54275" name="Content Placeholder 7"/>
          <p:cNvSpPr>
            <a:spLocks noGrp="1"/>
          </p:cNvSpPr>
          <p:nvPr>
            <p:ph idx="1"/>
          </p:nvPr>
        </p:nvSpPr>
        <p:spPr>
          <a:xfrm>
            <a:off x="822325" y="1138238"/>
            <a:ext cx="7612063" cy="4930775"/>
          </a:xfrm>
        </p:spPr>
        <p:txBody>
          <a:bodyPr/>
          <a:lstStyle/>
          <a:p>
            <a:pPr xmlns:a="http://schemas.openxmlformats.org/drawingml/2006/main">
              <a:buFont typeface="Monotype Sorts" charset="0"/>
              <a:buChar char="n"/>
              <a:defRPr/>
              <a:bidi/>
            </a:pPr>
            <a:r xmlns:a="http://schemas.openxmlformats.org/drawingml/2006/main">
              <a:rPr lang="ar" dirty="0">
                <a:ea typeface="ＭＳ Ｐゴシック" charset="0"/>
                <a:cs typeface="ＭＳ Ｐゴシック" charset="0"/>
              </a:rPr>
              <a:t>مواسير عادية</a:t>
            </a:r>
            <a:r xmlns:a="http://schemas.openxmlformats.org/drawingml/2006/main">
              <a:rPr lang="ar" b="1" dirty="0">
                <a:ea typeface="ＭＳ Ｐゴシック" charset="0"/>
                <a:cs typeface="ＭＳ Ｐゴシック" charset="0"/>
              </a:rPr>
              <a:t> السماح بالاتصال </a:t>
            </a:r>
            <a:r xmlns:a="http://schemas.openxmlformats.org/drawingml/2006/main">
              <a:rPr lang="ar" dirty="0" smtClean="0">
                <a:ea typeface="ＭＳ Ｐゴシック" charset="0"/>
                <a:cs typeface="ＭＳ Ｐゴシック" charset="0"/>
              </a:rPr>
              <a:t>بأسلوب </a:t>
            </a:r>
            <a:endParaRPr xmlns:a="http://schemas.openxmlformats.org/drawingml/2006/main" lang="en-US" dirty="0">
              <a:ea typeface="ＭＳ Ｐゴシック" charset="0"/>
              <a:cs typeface="ＭＳ Ｐゴシック" charset="0"/>
            </a:endParaRPr>
            <a:r xmlns:a="http://schemas.openxmlformats.org/drawingml/2006/main">
              <a:rPr lang="ar" dirty="0">
                <a:ea typeface="ＭＳ Ｐゴシック" charset="0"/>
                <a:cs typeface="ＭＳ Ｐゴシック" charset="0"/>
              </a:rPr>
              <a:t>المنتج-المستهلك القياسي</a:t>
            </a:r>
          </a:p>
          <a:p>
            <a:pPr xmlns:a="http://schemas.openxmlformats.org/drawingml/2006/main">
              <a:buFont typeface="Monotype Sorts" charset="0"/>
              <a:buChar char="n"/>
              <a:defRPr/>
              <a:bidi/>
            </a:pPr>
            <a:r xmlns:a="http://schemas.openxmlformats.org/drawingml/2006/main">
              <a:rPr lang="ar" dirty="0">
                <a:ea typeface="ＭＳ Ｐゴシック" charset="0"/>
                <a:cs typeface="ＭＳ Ｐゴシック" charset="0"/>
              </a:rPr>
              <a:t>يكتب المُنتِج في أحد طرفي الأنبوب (نهاية </a:t>
            </a:r>
            <a:r xmlns:a="http://schemas.openxmlformats.org/drawingml/2006/main">
              <a:rPr lang="ar" b="1" dirty="0">
                <a:solidFill>
                  <a:srgbClr val="0000FF"/>
                </a:solidFill>
                <a:ea typeface="ＭＳ Ｐゴシック" charset="0"/>
                <a:cs typeface="ＭＳ Ｐゴシック" charset="0"/>
              </a:rPr>
              <a:t>كتابة </a:t>
            </a:r>
            <a:r xmlns:a="http://schemas.openxmlformats.org/drawingml/2006/main">
              <a:rPr lang="ar" dirty="0">
                <a:ea typeface="ＭＳ Ｐゴシック" charset="0"/>
                <a:cs typeface="ＭＳ Ｐゴシック" charset="0"/>
              </a:rPr>
              <a:t>الأنبوب </a:t>
            </a:r>
            <a:r xmlns:a="http://schemas.openxmlformats.org/drawingml/2006/main">
              <a:rPr lang="ar" dirty="0" smtClean="0">
                <a:ea typeface="ＭＳ Ｐゴシック" charset="0"/>
                <a:cs typeface="ＭＳ Ｐゴシック" charset="0"/>
              </a:rPr>
              <a:t>)</a:t>
            </a:r>
            <a:endParaRPr xmlns:a="http://schemas.openxmlformats.org/drawingml/2006/main" lang="en-US" dirty="0">
              <a:ea typeface="ＭＳ Ｐゴシック" charset="0"/>
              <a:cs typeface="ＭＳ Ｐゴシック" charset="0"/>
            </a:endParaRPr>
          </a:p>
          <a:p>
            <a:pPr xmlns:a="http://schemas.openxmlformats.org/drawingml/2006/main">
              <a:buFont typeface="Monotype Sorts" charset="0"/>
              <a:buChar char="n"/>
              <a:defRPr/>
              <a:bidi/>
            </a:pPr>
            <a:r xmlns:a="http://schemas.openxmlformats.org/drawingml/2006/main">
              <a:rPr lang="ar" dirty="0" smtClean="0">
                <a:ea typeface="ＭＳ Ｐゴシック" charset="0"/>
                <a:cs typeface="ＭＳ Ｐゴシック" charset="0"/>
              </a:rPr>
              <a:t>يقرأ </a:t>
            </a:r>
            <a:r xmlns:a="http://schemas.openxmlformats.org/drawingml/2006/main">
              <a:rPr lang="ar" dirty="0">
                <a:ea typeface="ＭＳ Ｐゴシック" charset="0"/>
                <a:cs typeface="ＭＳ Ｐゴシック" charset="0"/>
              </a:rPr>
              <a:t>المستهلك </a:t>
            </a:r>
            <a:r xmlns:a="http://schemas.openxmlformats.org/drawingml/2006/main">
              <a:rPr lang="ar" dirty="0">
                <a:ea typeface="ＭＳ Ｐゴシック" charset="0"/>
                <a:cs typeface="ＭＳ Ｐゴシック" charset="0"/>
              </a:rPr>
              <a:t>من الطرف الآخر ( </a:t>
            </a:r>
            <a:r xmlns:a="http://schemas.openxmlformats.org/drawingml/2006/main">
              <a:rPr lang="ar" b="1" dirty="0">
                <a:solidFill>
                  <a:srgbClr val="0000FF"/>
                </a:solidFill>
                <a:ea typeface="ＭＳ Ｐゴシック" charset="0"/>
                <a:cs typeface="ＭＳ Ｐゴシック" charset="0"/>
              </a:rPr>
              <a:t>القراءة والنهاية</a:t>
            </a:r>
            <a:r xmlns:a="http://schemas.openxmlformats.org/drawingml/2006/main">
              <a:rPr lang="ar" i="1" dirty="0">
                <a:ea typeface="ＭＳ Ｐゴシック" charset="0"/>
                <a:cs typeface="ＭＳ Ｐゴシック" charset="0"/>
              </a:rPr>
              <a:t> </a:t>
            </a:r>
            <a:r xmlns:a="http://schemas.openxmlformats.org/drawingml/2006/main">
              <a:rPr lang="ar" dirty="0">
                <a:ea typeface="ＭＳ Ｐゴシック" charset="0"/>
                <a:cs typeface="ＭＳ Ｐゴシック" charset="0"/>
              </a:rPr>
              <a:t>من الأنبوب </a:t>
            </a:r>
            <a:r xmlns:a="http://schemas.openxmlformats.org/drawingml/2006/main">
              <a:rPr lang="ar" dirty="0" smtClean="0">
                <a:ea typeface="ＭＳ Ｐゴシック" charset="0"/>
                <a:cs typeface="ＭＳ Ｐゴシック" charset="0"/>
              </a:rPr>
              <a:t>)</a:t>
            </a:r>
            <a:endParaRPr xmlns:a="http://schemas.openxmlformats.org/drawingml/2006/main" lang="en-US" dirty="0">
              <a:ea typeface="ＭＳ Ｐゴシック" charset="0"/>
              <a:cs typeface="ＭＳ Ｐゴシック" charset="0"/>
            </a:endParaRPr>
          </a:p>
          <a:p>
            <a:pPr xmlns:a="http://schemas.openxmlformats.org/drawingml/2006/main">
              <a:buFont typeface="Monotype Sorts" charset="0"/>
              <a:buChar char="n"/>
              <a:defRPr/>
              <a:bidi/>
            </a:pPr>
            <a:r xmlns:a="http://schemas.openxmlformats.org/drawingml/2006/main">
              <a:rPr lang="ar" dirty="0">
                <a:ea typeface="ＭＳ Ｐゴシック" charset="0"/>
                <a:cs typeface="ＭＳ Ｐゴシック" charset="0"/>
              </a:rPr>
              <a:t>لذلك فإن الأنابيب العادية </a:t>
            </a:r>
            <a:r xmlns:a="http://schemas.openxmlformats.org/drawingml/2006/main">
              <a:rPr lang="ar" dirty="0" smtClean="0">
                <a:ea typeface="ＭＳ Ｐゴシック" charset="0"/>
                <a:cs typeface="ＭＳ Ｐゴシック" charset="0"/>
              </a:rPr>
              <a:t>أحادية الاتجاه</a:t>
            </a:r>
            <a:endParaRPr xmlns:a="http://schemas.openxmlformats.org/drawingml/2006/main" lang="en-US" dirty="0">
              <a:ea typeface="ＭＳ Ｐゴシック" charset="0"/>
              <a:cs typeface="ＭＳ Ｐゴシック" charset="0"/>
            </a:endParaRPr>
          </a:p>
          <a:p>
            <a:pPr xmlns:a="http://schemas.openxmlformats.org/drawingml/2006/main">
              <a:buFont typeface="Monotype Sorts" charset="0"/>
              <a:buChar char="n"/>
              <a:defRPr/>
              <a:bidi/>
            </a:pPr>
            <a:r xmlns:a="http://schemas.openxmlformats.org/drawingml/2006/main">
              <a:rPr lang="ar" dirty="0">
                <a:ea typeface="ＭＳ Ｐゴシック" charset="0"/>
                <a:cs typeface="ＭＳ Ｐゴシック" charset="0"/>
              </a:rPr>
              <a:t>تتطلب علاقة الوالدين والطفل بين </a:t>
            </a:r>
            <a:r xmlns:a="http://schemas.openxmlformats.org/drawingml/2006/main">
              <a:rPr lang="ar" dirty="0" smtClean="0">
                <a:ea typeface="ＭＳ Ｐゴシック" charset="0"/>
                <a:cs typeface="ＭＳ Ｐゴシック" charset="0"/>
              </a:rPr>
              <a:t>عمليات الاتصال</a:t>
            </a:r>
          </a:p>
          <a:p>
            <a:pPr marL="0" indent="0">
              <a:buFont typeface="Monotype Sorts" pitchFamily="-84" charset="2"/>
              <a:buNone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Char char="n"/>
              <a:defRPr/>
            </a:pPr>
            <a:endParaRPr lang="en-US" dirty="0" smtClean="0"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Char char="n"/>
              <a:defRPr/>
            </a:pPr>
            <a:endParaRPr lang="en-US" dirty="0" smtClean="0">
              <a:ea typeface="ＭＳ Ｐゴシック" charset="0"/>
              <a:cs typeface="ＭＳ Ｐゴシック" charset="0"/>
            </a:endParaRPr>
          </a:p>
          <a:p>
            <a:pPr marL="0" indent="0">
              <a:buFont typeface="Monotype Sorts" pitchFamily="-84" charset="2"/>
              <a:buNone/>
              <a:defRPr/>
            </a:pPr>
            <a:endParaRPr lang="en-US" dirty="0" smtClean="0">
              <a:ea typeface="ＭＳ Ｐゴシック" charset="0"/>
              <a:cs typeface="ＭＳ Ｐゴシック" charset="0"/>
            </a:endParaRPr>
          </a:p>
          <a:p>
            <a:pPr marL="0" indent="0">
              <a:buFont typeface="Monotype Sorts" pitchFamily="-84" charset="2"/>
              <a:buNone/>
              <a:defRPr/>
            </a:pPr>
            <a:endParaRPr lang="en-US" sz="800" dirty="0" smtClean="0">
              <a:ea typeface="ＭＳ Ｐゴシック" charset="0"/>
              <a:cs typeface="ＭＳ Ｐゴシック" charset="0"/>
            </a:endParaRPr>
          </a:p>
          <a:p>
            <a:pPr xmlns:a="http://schemas.openxmlformats.org/drawingml/2006/main">
              <a:buFont typeface="Monotype Sorts" charset="0"/>
              <a:buChar char="n"/>
              <a:defRPr/>
              <a:bidi/>
            </a:pPr>
            <a:r xmlns:a="http://schemas.openxmlformats.org/drawingml/2006/main">
              <a:rPr lang="ar" dirty="0" smtClean="0">
                <a:ea typeface="ＭＳ Ｐゴシック" charset="0"/>
                <a:cs typeface="ＭＳ Ｐゴシック" charset="0"/>
              </a:rPr>
              <a:t>يسمي Windows هذه </a:t>
            </a:r>
            <a:r xmlns:a="http://schemas.openxmlformats.org/drawingml/2006/main">
              <a:rPr lang="ar" b="1" dirty="0" smtClean="0">
                <a:solidFill>
                  <a:srgbClr val="0000FF"/>
                </a:solidFill>
                <a:ea typeface="ＭＳ Ｐゴシック" charset="0"/>
                <a:cs typeface="ＭＳ Ｐゴシック" charset="0"/>
              </a:rPr>
              <a:t>الأنابيب </a:t>
            </a:r>
            <a:r xmlns:a="http://schemas.openxmlformats.org/drawingml/2006/main">
              <a:rPr lang="ar" b="1" dirty="0">
                <a:solidFill>
                  <a:srgbClr val="0000FF"/>
                </a:solidFill>
                <a:ea typeface="ＭＳ Ｐゴシック" charset="0"/>
                <a:cs typeface="ＭＳ Ｐゴシック" charset="0"/>
              </a:rPr>
              <a:t>المجهولة</a:t>
            </a:r>
          </a:p>
          <a:p>
            <a:pPr xmlns:a="http://schemas.openxmlformats.org/drawingml/2006/main">
              <a:buFont typeface="Monotype Sorts" charset="0"/>
              <a:buChar char="n"/>
              <a:defRPr/>
              <a:bidi/>
            </a:pPr>
            <a:r xmlns:a="http://schemas.openxmlformats.org/drawingml/2006/main">
              <a:rPr lang="ar" dirty="0">
                <a:ea typeface="ＭＳ Ｐゴシック" charset="0"/>
                <a:cs typeface="ＭＳ Ｐゴシック" charset="0"/>
              </a:rPr>
              <a:t>راجع نماذج رموز يونكس وويندوز في الكتاب المدرسي</a:t>
            </a: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</p:txBody>
      </p:sp>
      <p:pic>
        <p:nvPicPr>
          <p:cNvPr id="64516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288" y="3313113"/>
            <a:ext cx="5592762" cy="170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6"/>
          <p:cNvSpPr>
            <a:spLocks noGrp="1"/>
          </p:cNvSpPr>
          <p:nvPr>
            <p:ph type="title"/>
          </p:nvPr>
        </p:nvSpPr>
        <p:spPr>
          <a:xfrm>
            <a:off x="473075" y="152400"/>
            <a:ext cx="8229600" cy="576263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الأنابيب المسماة</a:t>
            </a:r>
          </a:p>
        </p:txBody>
      </p:sp>
      <p:sp>
        <p:nvSpPr>
          <p:cNvPr id="65539" name="Content Placeholder 7"/>
          <p:cNvSpPr>
            <a:spLocks noGrp="1"/>
          </p:cNvSpPr>
          <p:nvPr>
            <p:ph idx="1"/>
          </p:nvPr>
        </p:nvSpPr>
        <p:spPr>
          <a:xfrm>
            <a:off x="806450" y="1233488"/>
            <a:ext cx="7061200" cy="4530725"/>
          </a:xfrm>
        </p:spPr>
        <p:txBody>
          <a:bodyPr/>
          <a:lstStyle/>
          <a:p>
            <a:r xmlns:a="http://schemas.openxmlformats.org/drawingml/2006/main">
              <a:rPr lang="ar" altLang="en-US" smtClean="0"/>
              <a:t>الأنابيب المسماة أقوى من الأنابيب العادية</a:t>
            </a:r>
          </a:p>
          <a:p>
            <a:r xmlns:a="http://schemas.openxmlformats.org/drawingml/2006/main">
              <a:rPr lang="ar" altLang="en-US" smtClean="0"/>
              <a:t>الاتصال ثنائي الاتجاه</a:t>
            </a:r>
          </a:p>
          <a:p>
            <a:r xmlns:a="http://schemas.openxmlformats.org/drawingml/2006/main">
              <a:rPr lang="ar" altLang="en-US" smtClean="0"/>
              <a:t>لا توجد علاقة بين الوالدين والطفل ضرورية بين عمليات الاتصال</a:t>
            </a:r>
          </a:p>
          <a:p>
            <a:r xmlns:a="http://schemas.openxmlformats.org/drawingml/2006/main">
              <a:rPr lang="ar" altLang="en-US" smtClean="0"/>
              <a:t>يمكن أن تستخدم العديد من العمليات الأنبوب المحدد للاتصال</a:t>
            </a:r>
          </a:p>
          <a:p>
            <a:r xmlns:a="http://schemas.openxmlformats.org/drawingml/2006/main">
              <a:rPr lang="ar" altLang="en-US" smtClean="0"/>
              <a:t>متوفر على كل من أنظمة UNIX و Windows</a:t>
            </a:r>
          </a:p>
          <a:p>
            <a:endParaRPr lang="en-US" altLang="en-US" smtClean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xmlns:a="http://schemas.openxmlformats.org/drawingml/2006/main" eaLnBrk="1" hangingPunct="1">
              <a:bidi/>
            </a:pPr>
            <a:r xmlns:a="http://schemas.openxmlformats.org/drawingml/2006/main">
              <a:rPr lang="ar" altLang="en-US" smtClean="0"/>
              <a:t>نهاية الفصل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13192</TotalTime>
  <Words>2733</Words>
  <Application>Microsoft Office PowerPoint</Application>
  <PresentationFormat>On-screen Show (4:3)</PresentationFormat>
  <Paragraphs>422</Paragraphs>
  <Slides>63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5" baseType="lpstr">
      <vt:lpstr>Verdana</vt:lpstr>
      <vt:lpstr>MS PGothic</vt:lpstr>
      <vt:lpstr>Arial</vt:lpstr>
      <vt:lpstr>Helvetica</vt:lpstr>
      <vt:lpstr>Monotype Sorts</vt:lpstr>
      <vt:lpstr>Webdings</vt:lpstr>
      <vt:lpstr>Times New Roman</vt:lpstr>
      <vt:lpstr>Courier New</vt:lpstr>
      <vt:lpstr>Symbol</vt:lpstr>
      <vt:lpstr>Wingdings</vt:lpstr>
      <vt:lpstr>Monaco</vt:lpstr>
      <vt:lpstr>os-8</vt:lpstr>
      <vt:lpstr>Chapter 3:  Processes</vt:lpstr>
      <vt:lpstr>Chapter 3:  Processes</vt:lpstr>
      <vt:lpstr>Objectives</vt:lpstr>
      <vt:lpstr>Process Concept</vt:lpstr>
      <vt:lpstr>Process Concept (Cont.)</vt:lpstr>
      <vt:lpstr>Process in Memory</vt:lpstr>
      <vt:lpstr>Process State</vt:lpstr>
      <vt:lpstr>Diagram of Process State</vt:lpstr>
      <vt:lpstr>Process Control Block (PCB)</vt:lpstr>
      <vt:lpstr>CPU Switch From Process to Process</vt:lpstr>
      <vt:lpstr>Threads</vt:lpstr>
      <vt:lpstr>Process Representation in Linux</vt:lpstr>
      <vt:lpstr>Process Scheduling</vt:lpstr>
      <vt:lpstr>Ready Queue And Various I/O Device Queues</vt:lpstr>
      <vt:lpstr>Representation of Process Scheduling</vt:lpstr>
      <vt:lpstr>Schedulers</vt:lpstr>
      <vt:lpstr>Addition of Medium Term Scheduling</vt:lpstr>
      <vt:lpstr>Multitasking in Mobile Systems</vt:lpstr>
      <vt:lpstr>Context Switch</vt:lpstr>
      <vt:lpstr>Operations on Processes</vt:lpstr>
      <vt:lpstr>Process Creation</vt:lpstr>
      <vt:lpstr>A Tree of Processes in Linux</vt:lpstr>
      <vt:lpstr>Process Creation (Cont.)</vt:lpstr>
      <vt:lpstr>C Program Forking Separate Process</vt:lpstr>
      <vt:lpstr>Creating a Separate Process via Windows API</vt:lpstr>
      <vt:lpstr>Process Termination</vt:lpstr>
      <vt:lpstr>Process Termination</vt:lpstr>
      <vt:lpstr>Multiprocess Architecture – Chrome Browser</vt:lpstr>
      <vt:lpstr>Interprocess Communication</vt:lpstr>
      <vt:lpstr>Communications Models </vt:lpstr>
      <vt:lpstr>Cooperating Processes</vt:lpstr>
      <vt:lpstr>Producer-Consumer Problem</vt:lpstr>
      <vt:lpstr>Bounded-Buffer – Shared-Memory Solution</vt:lpstr>
      <vt:lpstr>Bounded-Buffer – Producer</vt:lpstr>
      <vt:lpstr>Bounded Buffer – Consumer</vt:lpstr>
      <vt:lpstr>Interprocess Communication –  Shared Memory</vt:lpstr>
      <vt:lpstr>Interprocess Communication – Message Passing</vt:lpstr>
      <vt:lpstr>Message Passing (Cont.)</vt:lpstr>
      <vt:lpstr>Message Passing (Cont.)</vt:lpstr>
      <vt:lpstr>Direct Communication</vt:lpstr>
      <vt:lpstr>Indirect Communication</vt:lpstr>
      <vt:lpstr>Indirect Communication</vt:lpstr>
      <vt:lpstr>Indirect Communication</vt:lpstr>
      <vt:lpstr>Synchronization</vt:lpstr>
      <vt:lpstr>Synchronization (Cont.)</vt:lpstr>
      <vt:lpstr>Buffering</vt:lpstr>
      <vt:lpstr>Examples of IPC Systems - POSIX</vt:lpstr>
      <vt:lpstr>IPC POSIX Producer</vt:lpstr>
      <vt:lpstr>IPC POSIX Consumer</vt:lpstr>
      <vt:lpstr>Examples of IPC Systems - Mach</vt:lpstr>
      <vt:lpstr>Examples of IPC Systems – Windows</vt:lpstr>
      <vt:lpstr>Local Procedure Calls in Windows</vt:lpstr>
      <vt:lpstr>Communications in Client-Server Systems</vt:lpstr>
      <vt:lpstr>Sockets</vt:lpstr>
      <vt:lpstr>Socket Communication</vt:lpstr>
      <vt:lpstr>Sockets in Java</vt:lpstr>
      <vt:lpstr>Remote Procedure Calls</vt:lpstr>
      <vt:lpstr>Remote Procedure Calls (Cont.)</vt:lpstr>
      <vt:lpstr>Execution of RPC</vt:lpstr>
      <vt:lpstr>Pipes</vt:lpstr>
      <vt:lpstr>Ordinary Pipes</vt:lpstr>
      <vt:lpstr>Named Pipes</vt:lpstr>
      <vt:lpstr>End of Chapter 3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Omer Mohammed</cp:lastModifiedBy>
  <cp:revision>280</cp:revision>
  <cp:lastPrinted>2013-10-02T18:16:40Z</cp:lastPrinted>
  <dcterms:created xsi:type="dcterms:W3CDTF">2011-01-13T23:43:38Z</dcterms:created>
  <dcterms:modified xsi:type="dcterms:W3CDTF">2022-12-14T07:34:00Z</dcterms:modified>
</cp:coreProperties>
</file>