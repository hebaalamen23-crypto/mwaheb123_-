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53"/>
  </p:notesMasterIdLst>
  <p:sldIdLst>
    <p:sldId id="385" r:id="rId3"/>
    <p:sldId id="307" r:id="rId4"/>
    <p:sldId id="308" r:id="rId5"/>
    <p:sldId id="310" r:id="rId6"/>
    <p:sldId id="311" r:id="rId7"/>
    <p:sldId id="312" r:id="rId8"/>
    <p:sldId id="313" r:id="rId9"/>
    <p:sldId id="314" r:id="rId10"/>
    <p:sldId id="316" r:id="rId11"/>
    <p:sldId id="317" r:id="rId12"/>
    <p:sldId id="318" r:id="rId13"/>
    <p:sldId id="319" r:id="rId14"/>
    <p:sldId id="320" r:id="rId15"/>
    <p:sldId id="321" r:id="rId16"/>
    <p:sldId id="335" r:id="rId17"/>
    <p:sldId id="337" r:id="rId18"/>
    <p:sldId id="342" r:id="rId19"/>
    <p:sldId id="343" r:id="rId20"/>
    <p:sldId id="344" r:id="rId21"/>
    <p:sldId id="386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60" r:id="rId38"/>
    <p:sldId id="361" r:id="rId39"/>
    <p:sldId id="362" r:id="rId40"/>
    <p:sldId id="365" r:id="rId41"/>
    <p:sldId id="366" r:id="rId42"/>
    <p:sldId id="367" r:id="rId43"/>
    <p:sldId id="368" r:id="rId44"/>
    <p:sldId id="369" r:id="rId45"/>
    <p:sldId id="370" r:id="rId46"/>
    <p:sldId id="374" r:id="rId47"/>
    <p:sldId id="375" r:id="rId48"/>
    <p:sldId id="377" r:id="rId49"/>
    <p:sldId id="378" r:id="rId50"/>
    <p:sldId id="380" r:id="rId51"/>
    <p:sldId id="381" r:id="rId5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062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3E925-54E6-4B8E-8855-A8799CF3BD22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EC8FB-1242-4DDA-A11A-5B5E08AFF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97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14573A-9071-4CDE-8CA2-C51BC3C787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94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EC8FB-1242-4DDA-A11A-5B5E08AFFF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9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EC8FB-1242-4DDA-A11A-5B5E08AFFF2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74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4807" y="1453718"/>
            <a:ext cx="8514384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5B11E-9EF5-4745-8C63-B6AB9CF4948B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FC768-BE3F-45AF-A62D-746B0E9DD1B3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015C1-37D3-4864-B81B-77914B8B56CF}" type="datetime1">
              <a:rPr lang="en-US" smtClean="0"/>
              <a:t>12/27/2022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CBF3C-A674-4975-B71A-631EA5E0A4A1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6470B-CC7A-498A-9AAF-99C39EB07CB8}" type="datetime1">
              <a:rPr lang="en-US" smtClean="0"/>
              <a:t>12/27/2022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2"/>
          <p:cNvSpPr>
            <a:spLocks noChangeArrowheads="1"/>
          </p:cNvSpPr>
          <p:nvPr/>
        </p:nvSpPr>
        <p:spPr bwMode="auto">
          <a:xfrm>
            <a:off x="228600" y="381000"/>
            <a:ext cx="8686800" cy="5638800"/>
          </a:xfrm>
          <a:prstGeom prst="roundRect">
            <a:avLst>
              <a:gd name="adj" fmla="val 7912"/>
            </a:avLst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white">
          <a:xfrm>
            <a:off x="327025" y="488950"/>
            <a:ext cx="8435975" cy="476885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8196" name="AutoShape 4"/>
          <p:cNvSpPr>
            <a:spLocks noChangeArrowheads="1"/>
          </p:cNvSpPr>
          <p:nvPr/>
        </p:nvSpPr>
        <p:spPr bwMode="blackWhite">
          <a:xfrm>
            <a:off x="1371600" y="3338513"/>
            <a:ext cx="6400800" cy="2286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857250"/>
            <a:ext cx="7772400" cy="2266950"/>
          </a:xfrm>
        </p:spPr>
        <p:txBody>
          <a:bodyPr anchor="ctr" anchorCtr="1"/>
          <a:lstStyle>
            <a:lvl1pPr>
              <a:defRPr sz="4400" i="1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3567113"/>
            <a:ext cx="5410200" cy="19050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sz="33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083304F3-8080-4511-AB9B-BF257B8432C0}" type="datetime1">
              <a:rPr lang="en-US" smtClean="0"/>
              <a:t>12/27/2022</a:t>
            </a:fld>
            <a:endParaRPr lang="en-US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391275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201" name="Rectangle 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391275"/>
            <a:ext cx="1600200" cy="4572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8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BD0307-42E7-419F-A2C8-03BAC30CAC08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21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155417-01B6-4337-A9CC-83CE1477F560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5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905000"/>
            <a:ext cx="37719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905000"/>
            <a:ext cx="37719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424CEB-1ACA-42FC-9CF2-328C615ABFC4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8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F3552C-6025-498E-A319-4BFD5474AD3C}" type="datetime1">
              <a:rPr lang="en-US" smtClean="0"/>
              <a:t>12/27/2022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8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E3BD2A-2AC3-4048-A4BB-5704C5700264}" type="datetime1">
              <a:rPr lang="en-US" smtClean="0"/>
              <a:t>12/27/2022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12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3B8DC9-B0D2-4A31-9AB2-E2C83F6F23EE}" type="datetime1">
              <a:rPr lang="en-US" smtClean="0"/>
              <a:t>12/27/2022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56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8E9C7B-C5F8-4A7F-BCC2-3FB0784D1C7C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59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E9C57DC-9607-4E10-AD54-678A8BB0AEC8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05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AD19EF-5F11-4A01-B896-337CD5AEE582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46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34150" y="533400"/>
            <a:ext cx="192405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533400"/>
            <a:ext cx="561975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65D610-D03F-4375-8A92-0A91D2EF3678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5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5693" y="191846"/>
            <a:ext cx="7852613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18462"/>
            <a:ext cx="8294370" cy="4754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74576-57A6-48A7-80C7-AE0B7430F4B2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905000"/>
            <a:ext cx="76962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fld id="{89616C71-67F5-409F-8184-F2193E9B2C21}" type="datetime1">
              <a:rPr lang="en-US" smtClean="0"/>
              <a:t>12/27/2022</a:t>
            </a:fld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grpSp>
        <p:nvGrpSpPr>
          <p:cNvPr id="7175" name="Group 7"/>
          <p:cNvGrpSpPr>
            <a:grpSpLocks/>
          </p:cNvGrpSpPr>
          <p:nvPr/>
        </p:nvGrpSpPr>
        <p:grpSpPr bwMode="auto">
          <a:xfrm>
            <a:off x="168275" y="228600"/>
            <a:ext cx="8823325" cy="6096000"/>
            <a:chOff x="106" y="144"/>
            <a:chExt cx="5558" cy="3840"/>
          </a:xfrm>
        </p:grpSpPr>
        <p:sp>
          <p:nvSpPr>
            <p:cNvPr id="7176" name="AutoShape 8"/>
            <p:cNvSpPr>
              <a:spLocks noChangeArrowheads="1"/>
            </p:cNvSpPr>
            <p:nvPr/>
          </p:nvSpPr>
          <p:spPr bwMode="auto">
            <a:xfrm>
              <a:off x="106" y="144"/>
              <a:ext cx="5558" cy="3840"/>
            </a:xfrm>
            <a:prstGeom prst="roundRect">
              <a:avLst>
                <a:gd name="adj" fmla="val 11046"/>
              </a:avLst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77" name="Line 9"/>
            <p:cNvSpPr>
              <a:spLocks noChangeShapeType="1"/>
            </p:cNvSpPr>
            <p:nvPr/>
          </p:nvSpPr>
          <p:spPr bwMode="auto">
            <a:xfrm>
              <a:off x="480" y="1077"/>
              <a:ext cx="4848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8108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l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15000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6331"/>
            <a:ext cx="7772400" cy="615553"/>
          </a:xfrm>
        </p:spPr>
        <p:txBody>
          <a:bodyPr/>
          <a:lstStyle/>
          <a:p>
            <a:r>
              <a:rPr lang="en-US" dirty="0"/>
              <a:t>Internet Technology (1)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5940" y="3810000"/>
            <a:ext cx="5410200" cy="142875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latin typeface="Times" pitchFamily="18" charset="0"/>
              </a:rPr>
              <a:t>Lecture </a:t>
            </a:r>
            <a:r>
              <a:rPr lang="en-US" sz="3600" b="1" smtClean="0">
                <a:latin typeface="Times" pitchFamily="18" charset="0"/>
              </a:rPr>
              <a:t>(7)</a:t>
            </a:r>
            <a:endParaRPr lang="en-US" sz="3600" b="1" dirty="0">
              <a:latin typeface="Times" pitchFamily="18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 bwMode="auto">
          <a:xfrm>
            <a:off x="1752141" y="1244282"/>
            <a:ext cx="5410200" cy="511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None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SA" sz="2475" dirty="0">
                <a:cs typeface="Traditional Arabic" pitchFamily="2" charset="-78"/>
              </a:rPr>
              <a:t>بسم الله الرحمن الرحيم</a:t>
            </a:r>
            <a:endParaRPr lang="en-US" sz="2475" dirty="0">
              <a:cs typeface="Traditional Arabic" pitchFamily="2" charset="-78"/>
            </a:endParaRPr>
          </a:p>
        </p:txBody>
      </p:sp>
      <p:sp>
        <p:nvSpPr>
          <p:cNvPr id="8" name="object 2"/>
          <p:cNvSpPr/>
          <p:nvPr/>
        </p:nvSpPr>
        <p:spPr>
          <a:xfrm>
            <a:off x="1" y="5064977"/>
            <a:ext cx="2514600" cy="17930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6553200" y="0"/>
            <a:ext cx="2590800" cy="16324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812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9161" y="377774"/>
            <a:ext cx="42640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70" dirty="0">
                <a:solidFill>
                  <a:srgbClr val="00AF50"/>
                </a:solidFill>
              </a:rPr>
              <a:t>Web</a:t>
            </a:r>
            <a:r>
              <a:rPr sz="5400" spc="-75" dirty="0">
                <a:solidFill>
                  <a:srgbClr val="00AF50"/>
                </a:solidFill>
              </a:rPr>
              <a:t> </a:t>
            </a:r>
            <a:r>
              <a:rPr sz="5400" spc="-5" dirty="0">
                <a:solidFill>
                  <a:srgbClr val="00AF50"/>
                </a:solidFill>
              </a:rPr>
              <a:t>Designing</a:t>
            </a:r>
            <a:endParaRPr sz="5400" dirty="0"/>
          </a:p>
        </p:txBody>
      </p:sp>
      <p:sp>
        <p:nvSpPr>
          <p:cNvPr id="3" name="object 3"/>
          <p:cNvSpPr/>
          <p:nvPr/>
        </p:nvSpPr>
        <p:spPr>
          <a:xfrm>
            <a:off x="577888" y="1920113"/>
            <a:ext cx="8185150" cy="3794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6200"/>
            <a:ext cx="9144000" cy="49994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l" rtl="0">
              <a:lnSpc>
                <a:spcPct val="150000"/>
              </a:lnSpc>
              <a:spcBef>
                <a:spcPts val="105"/>
              </a:spcBef>
            </a:pPr>
            <a:r>
              <a:rPr sz="3600" b="0" spc="-5" dirty="0">
                <a:latin typeface="Times" panose="02020603050405020304" pitchFamily="18" charset="0"/>
                <a:cs typeface="Times" panose="02020603050405020304" pitchFamily="18" charset="0"/>
              </a:rPr>
              <a:t>The </a:t>
            </a:r>
            <a:r>
              <a:rPr sz="3600" b="0" spc="-30" dirty="0">
                <a:latin typeface="Times" panose="02020603050405020304" pitchFamily="18" charset="0"/>
                <a:cs typeface="Times" panose="02020603050405020304" pitchFamily="18" charset="0"/>
              </a:rPr>
              <a:t>first </a:t>
            </a:r>
            <a:r>
              <a:rPr sz="3600" b="0" spc="-20" dirty="0">
                <a:latin typeface="Times" panose="02020603050405020304" pitchFamily="18" charset="0"/>
                <a:cs typeface="Times" panose="02020603050405020304" pitchFamily="18" charset="0"/>
              </a:rPr>
              <a:t>step </a:t>
            </a:r>
            <a:r>
              <a:rPr sz="3600" b="0" dirty="0">
                <a:latin typeface="Times" panose="02020603050405020304" pitchFamily="18" charset="0"/>
                <a:cs typeface="Times" panose="02020603050405020304" pitchFamily="18" charset="0"/>
              </a:rPr>
              <a:t>in </a:t>
            </a:r>
            <a:r>
              <a:rPr sz="3600" b="0" spc="-10" dirty="0">
                <a:latin typeface="Times" panose="02020603050405020304" pitchFamily="18" charset="0"/>
                <a:cs typeface="Times" panose="02020603050405020304" pitchFamily="18" charset="0"/>
              </a:rPr>
              <a:t>setting </a:t>
            </a:r>
            <a:r>
              <a:rPr sz="3600" b="0" dirty="0">
                <a:latin typeface="Times" panose="02020603050405020304" pitchFamily="18" charset="0"/>
                <a:cs typeface="Times" panose="02020603050405020304" pitchFamily="18" charset="0"/>
              </a:rPr>
              <a:t>up a  </a:t>
            </a:r>
            <a:r>
              <a:rPr sz="3600" b="0" spc="-15" dirty="0">
                <a:latin typeface="Times" panose="02020603050405020304" pitchFamily="18" charset="0"/>
                <a:cs typeface="Times" panose="02020603050405020304" pitchFamily="18" charset="0"/>
              </a:rPr>
              <a:t>website </a:t>
            </a:r>
            <a:r>
              <a:rPr sz="3600" b="0" dirty="0">
                <a:latin typeface="Times" panose="02020603050405020304" pitchFamily="18" charset="0"/>
                <a:cs typeface="Times" panose="02020603050405020304" pitchFamily="18" charset="0"/>
              </a:rPr>
              <a:t>is </a:t>
            </a:r>
            <a:r>
              <a:rPr sz="3600" b="0" spc="-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planning</a:t>
            </a:r>
            <a:r>
              <a:rPr sz="3600" b="0" spc="-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sz="3600" b="0" dirty="0">
                <a:latin typeface="Times" panose="02020603050405020304" pitchFamily="18" charset="0"/>
                <a:cs typeface="Times" panose="02020603050405020304" pitchFamily="18" charset="0"/>
              </a:rPr>
              <a:t>the </a:t>
            </a:r>
            <a:r>
              <a:rPr sz="3600" b="0" spc="-15" dirty="0">
                <a:latin typeface="Times" panose="02020603050405020304" pitchFamily="18" charset="0"/>
                <a:cs typeface="Times" panose="02020603050405020304" pitchFamily="18" charset="0"/>
              </a:rPr>
              <a:t>web </a:t>
            </a:r>
            <a:r>
              <a:rPr sz="3600" b="0" spc="-5" dirty="0">
                <a:latin typeface="Times" panose="02020603050405020304" pitchFamily="18" charset="0"/>
                <a:cs typeface="Times" panose="02020603050405020304" pitchFamily="18" charset="0"/>
              </a:rPr>
              <a:t>pages  </a:t>
            </a:r>
            <a:r>
              <a:rPr sz="3600" b="0" spc="-35" dirty="0">
                <a:latin typeface="Times" panose="02020603050405020304" pitchFamily="18" charset="0"/>
                <a:cs typeface="Times" panose="02020603050405020304" pitchFamily="18" charset="0"/>
              </a:rPr>
              <a:t>for </a:t>
            </a:r>
            <a:r>
              <a:rPr sz="3600" b="0" dirty="0">
                <a:latin typeface="Times" panose="02020603050405020304" pitchFamily="18" charset="0"/>
                <a:cs typeface="Times" panose="02020603050405020304" pitchFamily="18" charset="0"/>
              </a:rPr>
              <a:t>the</a:t>
            </a:r>
            <a:r>
              <a:rPr sz="3600" b="0" spc="2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sz="3600" b="0" spc="-15" dirty="0">
                <a:latin typeface="Times" panose="02020603050405020304" pitchFamily="18" charset="0"/>
                <a:cs typeface="Times" panose="02020603050405020304" pitchFamily="18" charset="0"/>
              </a:rPr>
              <a:t>websites</a:t>
            </a:r>
            <a:r>
              <a:rPr lang="en-US" sz="3600" b="0" spc="-15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br>
              <a:rPr lang="en-US" sz="3600" b="0" spc="-15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3600" b="0" spc="-15" dirty="0">
                <a:latin typeface="Times" panose="02020603050405020304" pitchFamily="18" charset="0"/>
                <a:cs typeface="Times" panose="02020603050405020304" pitchFamily="18" charset="0"/>
              </a:rPr>
              <a:t>Any website is divided into Two stages in the development stage </a:t>
            </a:r>
            <a:br>
              <a:rPr lang="en-US" sz="3600" b="0" spc="-15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3600" b="0" spc="-1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A)Front end (Designing). </a:t>
            </a:r>
            <a:br>
              <a:rPr lang="en-US" sz="3600" b="0" spc="-1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3600" b="0" spc="-1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B)Back end(Programming).</a:t>
            </a:r>
            <a:endParaRPr sz="36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67525" y="4848225"/>
            <a:ext cx="2276475" cy="200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8465" y="507314"/>
            <a:ext cx="168846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C00000"/>
                </a:solidFill>
              </a:rPr>
              <a:t>HTML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384683" y="1524000"/>
            <a:ext cx="8454517" cy="43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235" algn="l"/>
              </a:tabLst>
            </a:pPr>
            <a:r>
              <a:rPr sz="4000" spc="-10" dirty="0">
                <a:latin typeface="Calibri"/>
                <a:cs typeface="Calibri"/>
              </a:rPr>
              <a:t>Hyper </a:t>
            </a:r>
            <a:r>
              <a:rPr sz="4000" spc="-110" dirty="0">
                <a:latin typeface="Calibri"/>
                <a:cs typeface="Calibri"/>
              </a:rPr>
              <a:t>Text </a:t>
            </a:r>
            <a:r>
              <a:rPr sz="4000" spc="-15" dirty="0">
                <a:latin typeface="Calibri"/>
                <a:cs typeface="Calibri"/>
              </a:rPr>
              <a:t>Markup</a:t>
            </a:r>
            <a:r>
              <a:rPr sz="4000" spc="12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Language</a:t>
            </a:r>
            <a:endParaRPr sz="5800" dirty="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sz="4000" spc="-5" dirty="0">
                <a:latin typeface="Calibri"/>
                <a:cs typeface="Calibri"/>
              </a:rPr>
              <a:t>It </a:t>
            </a:r>
            <a:r>
              <a:rPr sz="4000" spc="-15" dirty="0">
                <a:latin typeface="Calibri"/>
                <a:cs typeface="Calibri"/>
              </a:rPr>
              <a:t>consists </a:t>
            </a:r>
            <a:r>
              <a:rPr sz="4000" dirty="0">
                <a:latin typeface="Calibri"/>
                <a:cs typeface="Calibri"/>
              </a:rPr>
              <a:t>of </a:t>
            </a:r>
            <a:r>
              <a:rPr sz="4000" spc="-10" dirty="0">
                <a:latin typeface="Calibri"/>
                <a:cs typeface="Calibri"/>
              </a:rPr>
              <a:t>tags </a:t>
            </a:r>
            <a:r>
              <a:rPr sz="4000" spc="-5" dirty="0">
                <a:latin typeface="Calibri"/>
                <a:cs typeface="Calibri"/>
              </a:rPr>
              <a:t>and its </a:t>
            </a:r>
            <a:r>
              <a:rPr sz="4000" spc="-15" dirty="0">
                <a:latin typeface="Calibri"/>
                <a:cs typeface="Calibri"/>
              </a:rPr>
              <a:t>attributes  </a:t>
            </a:r>
            <a:r>
              <a:rPr sz="4000" spc="-10" dirty="0">
                <a:latin typeface="Calibri"/>
                <a:cs typeface="Calibri"/>
              </a:rPr>
              <a:t>used </a:t>
            </a:r>
            <a:r>
              <a:rPr sz="4000" spc="-20" dirty="0">
                <a:latin typeface="Calibri"/>
                <a:cs typeface="Calibri"/>
              </a:rPr>
              <a:t>to </a:t>
            </a:r>
            <a:r>
              <a:rPr sz="4000" spc="-25" dirty="0">
                <a:latin typeface="Calibri"/>
                <a:cs typeface="Calibri"/>
              </a:rPr>
              <a:t>format </a:t>
            </a:r>
            <a:r>
              <a:rPr sz="4000" spc="-15" dirty="0">
                <a:latin typeface="Calibri"/>
                <a:cs typeface="Calibri"/>
              </a:rPr>
              <a:t>web</a:t>
            </a:r>
            <a:r>
              <a:rPr sz="4000" spc="5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pages</a:t>
            </a:r>
            <a:endParaRPr lang="en-US" sz="4000" spc="-10" dirty="0">
              <a:latin typeface="Calibri"/>
              <a:cs typeface="Calibri"/>
            </a:endParaRPr>
          </a:p>
          <a:p>
            <a:pPr marL="583565" marR="5080" indent="-5715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56235" algn="l"/>
              </a:tabLst>
            </a:pPr>
            <a:r>
              <a:rPr lang="en-US" sz="4000" spc="-10" dirty="0" smtClean="0">
                <a:latin typeface="Calibri"/>
                <a:cs typeface="Calibri"/>
              </a:rPr>
              <a:t>Type of </a:t>
            </a:r>
            <a:r>
              <a:rPr lang="en-US" sz="4000" spc="-15" dirty="0">
                <a:cs typeface="Calibri"/>
              </a:rPr>
              <a:t>web</a:t>
            </a:r>
            <a:r>
              <a:rPr lang="en-US" sz="4000" spc="55" dirty="0">
                <a:cs typeface="Calibri"/>
              </a:rPr>
              <a:t> </a:t>
            </a:r>
            <a:r>
              <a:rPr lang="en-US" sz="4000" spc="-10" dirty="0" smtClean="0">
                <a:cs typeface="Calibri"/>
              </a:rPr>
              <a:t>pages</a:t>
            </a:r>
          </a:p>
          <a:p>
            <a:pPr marL="755015" marR="5080" indent="-742950">
              <a:lnSpc>
                <a:spcPct val="100000"/>
              </a:lnSpc>
              <a:buFont typeface="+mj-lt"/>
              <a:buAutoNum type="arabicPeriod"/>
              <a:tabLst>
                <a:tab pos="356235" algn="l"/>
              </a:tabLst>
            </a:pPr>
            <a:r>
              <a:rPr lang="en-US" sz="4000" spc="-20" dirty="0">
                <a:solidFill>
                  <a:srgbClr val="C00000"/>
                </a:solidFill>
              </a:rPr>
              <a:t>Static web</a:t>
            </a:r>
            <a:r>
              <a:rPr lang="en-US" sz="4000" spc="-40" dirty="0">
                <a:solidFill>
                  <a:srgbClr val="C00000"/>
                </a:solidFill>
              </a:rPr>
              <a:t> </a:t>
            </a:r>
            <a:r>
              <a:rPr lang="en-US" sz="4000" spc="-20" dirty="0" smtClean="0">
                <a:solidFill>
                  <a:srgbClr val="C00000"/>
                </a:solidFill>
              </a:rPr>
              <a:t>pages</a:t>
            </a:r>
          </a:p>
          <a:p>
            <a:pPr marL="755015" marR="5080" indent="-742950">
              <a:lnSpc>
                <a:spcPct val="100000"/>
              </a:lnSpc>
              <a:buFont typeface="+mj-lt"/>
              <a:buAutoNum type="arabicPeriod"/>
              <a:tabLst>
                <a:tab pos="356235" algn="l"/>
              </a:tabLst>
            </a:pPr>
            <a:r>
              <a:rPr lang="en-US" sz="4000" spc="-5" dirty="0">
                <a:solidFill>
                  <a:srgbClr val="C00000"/>
                </a:solidFill>
              </a:rPr>
              <a:t>Dynamic </a:t>
            </a:r>
            <a:r>
              <a:rPr lang="en-US" sz="4000" spc="-15" dirty="0">
                <a:solidFill>
                  <a:srgbClr val="C00000"/>
                </a:solidFill>
              </a:rPr>
              <a:t>web</a:t>
            </a:r>
            <a:r>
              <a:rPr lang="en-US" sz="4000" spc="-75" dirty="0">
                <a:solidFill>
                  <a:srgbClr val="C00000"/>
                </a:solidFill>
              </a:rPr>
              <a:t> </a:t>
            </a:r>
            <a:r>
              <a:rPr lang="en-US" sz="4000" spc="-15" dirty="0">
                <a:solidFill>
                  <a:srgbClr val="C00000"/>
                </a:solidFill>
              </a:rPr>
              <a:t>pages</a:t>
            </a:r>
            <a:endParaRPr lang="en-US" sz="4000" spc="-10" dirty="0" smtClean="0">
              <a:cs typeface="Calibri"/>
            </a:endParaRPr>
          </a:p>
          <a:p>
            <a:pPr marL="12065" marR="5080">
              <a:lnSpc>
                <a:spcPct val="100000"/>
              </a:lnSpc>
              <a:tabLst>
                <a:tab pos="356235" algn="l"/>
              </a:tabLst>
            </a:pPr>
            <a:endParaRPr lang="en-US" sz="4000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2748" y="507314"/>
            <a:ext cx="47777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0" dirty="0">
                <a:solidFill>
                  <a:srgbClr val="C00000"/>
                </a:solidFill>
              </a:rPr>
              <a:t>Static web</a:t>
            </a:r>
            <a:r>
              <a:rPr sz="5400" spc="-40" dirty="0">
                <a:solidFill>
                  <a:srgbClr val="C00000"/>
                </a:solidFill>
              </a:rPr>
              <a:t> </a:t>
            </a:r>
            <a:r>
              <a:rPr sz="5400" spc="-20" dirty="0">
                <a:solidFill>
                  <a:srgbClr val="C00000"/>
                </a:solidFill>
              </a:rPr>
              <a:t>pages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59050"/>
            <a:ext cx="7777480" cy="3317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235" algn="l"/>
              </a:tabLst>
            </a:pPr>
            <a:r>
              <a:rPr sz="4000" spc="-55" dirty="0">
                <a:latin typeface="Calibri"/>
                <a:cs typeface="Calibri"/>
              </a:rPr>
              <a:t>Web </a:t>
            </a:r>
            <a:r>
              <a:rPr sz="4000" spc="-10" dirty="0">
                <a:latin typeface="Calibri"/>
                <a:cs typeface="Calibri"/>
              </a:rPr>
              <a:t>pages that remain </a:t>
            </a:r>
            <a:r>
              <a:rPr sz="4000" spc="-5" dirty="0">
                <a:latin typeface="Calibri"/>
                <a:cs typeface="Calibri"/>
              </a:rPr>
              <a:t>the </a:t>
            </a:r>
            <a:r>
              <a:rPr sz="4000" spc="-10" dirty="0">
                <a:latin typeface="Calibri"/>
                <a:cs typeface="Calibri"/>
              </a:rPr>
              <a:t>same </a:t>
            </a:r>
            <a:r>
              <a:rPr sz="4000" spc="-5" dirty="0">
                <a:latin typeface="Calibri"/>
                <a:cs typeface="Calibri"/>
              </a:rPr>
              <a:t>all  the time </a:t>
            </a:r>
            <a:r>
              <a:rPr sz="4000" spc="-10" dirty="0">
                <a:latin typeface="Calibri"/>
                <a:cs typeface="Calibri"/>
              </a:rPr>
              <a:t>until </a:t>
            </a:r>
            <a:r>
              <a:rPr sz="4000" dirty="0">
                <a:latin typeface="Calibri"/>
                <a:cs typeface="Calibri"/>
              </a:rPr>
              <a:t>their </a:t>
            </a:r>
            <a:r>
              <a:rPr sz="4000" spc="-15" dirty="0">
                <a:latin typeface="Calibri"/>
                <a:cs typeface="Calibri"/>
              </a:rPr>
              <a:t>code </a:t>
            </a:r>
            <a:r>
              <a:rPr sz="4000" spc="-5" dirty="0">
                <a:latin typeface="Calibri"/>
                <a:cs typeface="Calibri"/>
              </a:rPr>
              <a:t>is changed  </a:t>
            </a:r>
            <a:r>
              <a:rPr sz="4000" spc="-35" dirty="0">
                <a:latin typeface="Calibri"/>
                <a:cs typeface="Calibri"/>
              </a:rPr>
              <a:t>manually.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5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sz="4000" spc="-5" dirty="0">
                <a:latin typeface="Calibri"/>
                <a:cs typeface="Calibri"/>
              </a:rPr>
              <a:t>It is </a:t>
            </a:r>
            <a:r>
              <a:rPr sz="4000" spc="-20" dirty="0">
                <a:latin typeface="Calibri"/>
                <a:cs typeface="Calibri"/>
              </a:rPr>
              <a:t>created </a:t>
            </a:r>
            <a:r>
              <a:rPr sz="4000" spc="-10" dirty="0">
                <a:latin typeface="Calibri"/>
                <a:cs typeface="Calibri"/>
              </a:rPr>
              <a:t>using</a:t>
            </a:r>
            <a:r>
              <a:rPr sz="4000" spc="1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HTML.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4692" y="507314"/>
            <a:ext cx="56730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" dirty="0">
                <a:solidFill>
                  <a:srgbClr val="C00000"/>
                </a:solidFill>
              </a:rPr>
              <a:t>Dynamic </a:t>
            </a:r>
            <a:r>
              <a:rPr sz="5400" spc="-15" dirty="0">
                <a:solidFill>
                  <a:srgbClr val="C00000"/>
                </a:solidFill>
              </a:rPr>
              <a:t>web</a:t>
            </a:r>
            <a:r>
              <a:rPr sz="5400" spc="-75" dirty="0">
                <a:solidFill>
                  <a:srgbClr val="C00000"/>
                </a:solidFill>
              </a:rPr>
              <a:t> </a:t>
            </a:r>
            <a:r>
              <a:rPr sz="5400" spc="-15" dirty="0">
                <a:solidFill>
                  <a:srgbClr val="C00000"/>
                </a:solidFill>
              </a:rPr>
              <a:t>pages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604594"/>
            <a:ext cx="7902575" cy="4763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03505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235" algn="l"/>
              </a:tabLst>
            </a:pPr>
            <a:r>
              <a:rPr sz="3700" spc="-5" dirty="0">
                <a:latin typeface="Calibri"/>
                <a:cs typeface="Calibri"/>
              </a:rPr>
              <a:t>The </a:t>
            </a:r>
            <a:r>
              <a:rPr sz="3700" spc="-15" dirty="0">
                <a:latin typeface="Calibri"/>
                <a:cs typeface="Calibri"/>
              </a:rPr>
              <a:t>web </a:t>
            </a:r>
            <a:r>
              <a:rPr sz="3700" spc="-10" dirty="0">
                <a:latin typeface="Calibri"/>
                <a:cs typeface="Calibri"/>
              </a:rPr>
              <a:t>pages that </a:t>
            </a:r>
            <a:r>
              <a:rPr sz="3700" spc="-25" dirty="0">
                <a:latin typeface="Calibri"/>
                <a:cs typeface="Calibri"/>
              </a:rPr>
              <a:t>contain </a:t>
            </a:r>
            <a:r>
              <a:rPr sz="3700" spc="-10" dirty="0">
                <a:latin typeface="Calibri"/>
                <a:cs typeface="Calibri"/>
              </a:rPr>
              <a:t>server side  </a:t>
            </a:r>
            <a:r>
              <a:rPr sz="3700" spc="-20" dirty="0">
                <a:latin typeface="Calibri"/>
                <a:cs typeface="Calibri"/>
              </a:rPr>
              <a:t>code </a:t>
            </a:r>
            <a:r>
              <a:rPr sz="3700" spc="-5" dirty="0">
                <a:latin typeface="Calibri"/>
                <a:cs typeface="Calibri"/>
              </a:rPr>
              <a:t>which </a:t>
            </a:r>
            <a:r>
              <a:rPr sz="3700" spc="-25" dirty="0">
                <a:latin typeface="Calibri"/>
                <a:cs typeface="Calibri"/>
              </a:rPr>
              <a:t>creates </a:t>
            </a:r>
            <a:r>
              <a:rPr sz="3700" spc="-5" dirty="0">
                <a:latin typeface="Calibri"/>
                <a:cs typeface="Calibri"/>
              </a:rPr>
              <a:t>a </a:t>
            </a:r>
            <a:r>
              <a:rPr sz="3700" spc="-15" dirty="0">
                <a:latin typeface="Calibri"/>
                <a:cs typeface="Calibri"/>
              </a:rPr>
              <a:t>web page </a:t>
            </a:r>
            <a:r>
              <a:rPr sz="3700" spc="-5" dirty="0">
                <a:latin typeface="Calibri"/>
                <a:cs typeface="Calibri"/>
              </a:rPr>
              <a:t>each  time it is accessed </a:t>
            </a:r>
            <a:r>
              <a:rPr sz="3700" spc="-20" dirty="0">
                <a:latin typeface="Calibri"/>
                <a:cs typeface="Calibri"/>
              </a:rPr>
              <a:t>are </a:t>
            </a:r>
            <a:r>
              <a:rPr sz="3700" spc="-10" dirty="0">
                <a:latin typeface="Calibri"/>
                <a:cs typeface="Calibri"/>
              </a:rPr>
              <a:t>called dynamic  </a:t>
            </a:r>
            <a:r>
              <a:rPr sz="3700" spc="-20" dirty="0">
                <a:latin typeface="Calibri"/>
                <a:cs typeface="Calibri"/>
              </a:rPr>
              <a:t>web</a:t>
            </a:r>
            <a:r>
              <a:rPr sz="3700" spc="25" dirty="0">
                <a:latin typeface="Calibri"/>
                <a:cs typeface="Calibri"/>
              </a:rPr>
              <a:t> </a:t>
            </a:r>
            <a:r>
              <a:rPr sz="3700" spc="-15" dirty="0">
                <a:latin typeface="Calibri"/>
                <a:cs typeface="Calibri"/>
              </a:rPr>
              <a:t>pages.</a:t>
            </a:r>
            <a:endParaRPr sz="37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6235" algn="l"/>
              </a:tabLst>
            </a:pPr>
            <a:r>
              <a:rPr sz="3700" spc="-30" dirty="0">
                <a:latin typeface="Calibri"/>
                <a:cs typeface="Calibri"/>
              </a:rPr>
              <a:t>Program </a:t>
            </a:r>
            <a:r>
              <a:rPr sz="3700" spc="-15" dirty="0">
                <a:latin typeface="Calibri"/>
                <a:cs typeface="Calibri"/>
              </a:rPr>
              <a:t>code </a:t>
            </a:r>
            <a:r>
              <a:rPr sz="3700" spc="-10" dirty="0">
                <a:latin typeface="Calibri"/>
                <a:cs typeface="Calibri"/>
              </a:rPr>
              <a:t>that </a:t>
            </a:r>
            <a:r>
              <a:rPr sz="3700" spc="-5" dirty="0">
                <a:latin typeface="Calibri"/>
                <a:cs typeface="Calibri"/>
              </a:rPr>
              <a:t>runs on the </a:t>
            </a:r>
            <a:r>
              <a:rPr sz="3700" spc="-10" dirty="0">
                <a:latin typeface="Calibri"/>
                <a:cs typeface="Calibri"/>
              </a:rPr>
              <a:t>server </a:t>
            </a:r>
            <a:r>
              <a:rPr sz="3700" spc="-5" dirty="0">
                <a:latin typeface="Calibri"/>
                <a:cs typeface="Calibri"/>
              </a:rPr>
              <a:t>is  </a:t>
            </a:r>
            <a:r>
              <a:rPr sz="3700" spc="-10" dirty="0">
                <a:latin typeface="Calibri"/>
                <a:cs typeface="Calibri"/>
              </a:rPr>
              <a:t>called server side</a:t>
            </a:r>
            <a:r>
              <a:rPr sz="3700" spc="60" dirty="0">
                <a:latin typeface="Calibri"/>
                <a:cs typeface="Calibri"/>
              </a:rPr>
              <a:t> </a:t>
            </a:r>
            <a:r>
              <a:rPr sz="3700" spc="-15" dirty="0">
                <a:latin typeface="Calibri"/>
                <a:cs typeface="Calibri"/>
              </a:rPr>
              <a:t>code.</a:t>
            </a:r>
            <a:endParaRPr sz="3700">
              <a:latin typeface="Calibri"/>
              <a:cs typeface="Calibri"/>
            </a:endParaRPr>
          </a:p>
          <a:p>
            <a:pPr marL="355600" marR="53975" indent="-343535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356235" algn="l"/>
              </a:tabLst>
            </a:pPr>
            <a:r>
              <a:rPr sz="3700" spc="-30" dirty="0">
                <a:latin typeface="Calibri"/>
                <a:cs typeface="Calibri"/>
              </a:rPr>
              <a:t>Technologies </a:t>
            </a:r>
            <a:r>
              <a:rPr sz="3700" spc="-35" dirty="0">
                <a:latin typeface="Calibri"/>
                <a:cs typeface="Calibri"/>
              </a:rPr>
              <a:t>like </a:t>
            </a:r>
            <a:r>
              <a:rPr sz="3700" spc="-120" dirty="0">
                <a:latin typeface="Calibri"/>
                <a:cs typeface="Calibri"/>
              </a:rPr>
              <a:t>PHP, </a:t>
            </a:r>
            <a:r>
              <a:rPr sz="3700" spc="-114" dirty="0">
                <a:latin typeface="Calibri"/>
                <a:cs typeface="Calibri"/>
              </a:rPr>
              <a:t>ASP, JSP, </a:t>
            </a:r>
            <a:r>
              <a:rPr sz="3700" spc="-20" dirty="0">
                <a:latin typeface="Calibri"/>
                <a:cs typeface="Calibri"/>
              </a:rPr>
              <a:t>etc., are  </a:t>
            </a:r>
            <a:r>
              <a:rPr sz="3700" spc="-10" dirty="0">
                <a:latin typeface="Calibri"/>
                <a:cs typeface="Calibri"/>
              </a:rPr>
              <a:t>used </a:t>
            </a:r>
            <a:r>
              <a:rPr sz="3700" spc="-25" dirty="0">
                <a:latin typeface="Calibri"/>
                <a:cs typeface="Calibri"/>
              </a:rPr>
              <a:t>to </a:t>
            </a:r>
            <a:r>
              <a:rPr sz="3700" spc="-15" dirty="0">
                <a:latin typeface="Calibri"/>
                <a:cs typeface="Calibri"/>
              </a:rPr>
              <a:t>develop </a:t>
            </a:r>
            <a:r>
              <a:rPr sz="3700" spc="-5" dirty="0">
                <a:latin typeface="Calibri"/>
                <a:cs typeface="Calibri"/>
              </a:rPr>
              <a:t>dynamic </a:t>
            </a:r>
            <a:r>
              <a:rPr sz="3700" spc="-20" dirty="0">
                <a:latin typeface="Calibri"/>
                <a:cs typeface="Calibri"/>
              </a:rPr>
              <a:t>web</a:t>
            </a:r>
            <a:r>
              <a:rPr sz="3700" spc="125" dirty="0">
                <a:latin typeface="Calibri"/>
                <a:cs typeface="Calibri"/>
              </a:rPr>
              <a:t> </a:t>
            </a:r>
            <a:r>
              <a:rPr sz="3700" spc="-10" dirty="0">
                <a:latin typeface="Calibri"/>
                <a:cs typeface="Calibri"/>
              </a:rPr>
              <a:t>pages</a:t>
            </a:r>
            <a:endParaRPr sz="3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9210" y="126314"/>
            <a:ext cx="694817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C00000"/>
                </a:solidFill>
              </a:rPr>
              <a:t>Comparison</a:t>
            </a:r>
            <a:r>
              <a:rPr sz="4400" spc="-30" dirty="0">
                <a:solidFill>
                  <a:srgbClr val="C00000"/>
                </a:solidFill>
              </a:rPr>
              <a:t> </a:t>
            </a:r>
            <a:r>
              <a:rPr sz="4400" dirty="0">
                <a:solidFill>
                  <a:srgbClr val="C00000"/>
                </a:solidFill>
              </a:rPr>
              <a:t>of</a:t>
            </a:r>
            <a:endParaRPr sz="4400"/>
          </a:p>
          <a:p>
            <a:pPr algn="ctr">
              <a:lnSpc>
                <a:spcPct val="100000"/>
              </a:lnSpc>
            </a:pPr>
            <a:r>
              <a:rPr sz="4400" spc="-25" dirty="0">
                <a:solidFill>
                  <a:srgbClr val="C00000"/>
                </a:solidFill>
              </a:rPr>
              <a:t>static </a:t>
            </a:r>
            <a:r>
              <a:rPr sz="4400" spc="-5" dirty="0">
                <a:solidFill>
                  <a:srgbClr val="C00000"/>
                </a:solidFill>
              </a:rPr>
              <a:t>and </a:t>
            </a:r>
            <a:r>
              <a:rPr sz="4400" dirty="0">
                <a:solidFill>
                  <a:srgbClr val="C00000"/>
                </a:solidFill>
              </a:rPr>
              <a:t>dynamic </a:t>
            </a:r>
            <a:r>
              <a:rPr sz="4400" spc="-15" dirty="0">
                <a:solidFill>
                  <a:srgbClr val="C00000"/>
                </a:solidFill>
              </a:rPr>
              <a:t>web</a:t>
            </a:r>
            <a:r>
              <a:rPr sz="4400" spc="-40" dirty="0">
                <a:solidFill>
                  <a:srgbClr val="C00000"/>
                </a:solidFill>
              </a:rPr>
              <a:t> </a:t>
            </a:r>
            <a:r>
              <a:rPr sz="4400" spc="-15" dirty="0">
                <a:solidFill>
                  <a:srgbClr val="C00000"/>
                </a:solidFill>
              </a:rPr>
              <a:t>pages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2188590"/>
            <a:ext cx="3544570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content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>
                <a:latin typeface="Calibri"/>
                <a:cs typeface="Calibri"/>
              </a:rPr>
              <a:t>layout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 </a:t>
            </a:r>
            <a:r>
              <a:rPr sz="2400" spc="-10" dirty="0">
                <a:latin typeface="Calibri"/>
                <a:cs typeface="Calibri"/>
              </a:rPr>
              <a:t>web page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fixed</a:t>
            </a:r>
            <a:endParaRPr sz="24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It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never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71721"/>
            <a:ext cx="3763645" cy="192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directly </a:t>
            </a:r>
            <a:r>
              <a:rPr sz="2400" dirty="0">
                <a:latin typeface="Calibri"/>
                <a:cs typeface="Calibri"/>
              </a:rPr>
              <a:t>run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the  </a:t>
            </a:r>
            <a:r>
              <a:rPr sz="2400" spc="-15" dirty="0">
                <a:latin typeface="Calibri"/>
                <a:cs typeface="Calibri"/>
              </a:rPr>
              <a:t>browser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do </a:t>
            </a:r>
            <a:r>
              <a:rPr sz="2400" spc="-10" dirty="0">
                <a:latin typeface="Calibri"/>
                <a:cs typeface="Calibri"/>
              </a:rPr>
              <a:t>not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  </a:t>
            </a:r>
            <a:r>
              <a:rPr sz="2400" spc="-20" dirty="0">
                <a:latin typeface="Calibri"/>
                <a:cs typeface="Calibri"/>
              </a:rPr>
              <a:t>any </a:t>
            </a:r>
            <a:r>
              <a:rPr sz="2400" spc="-5" dirty="0">
                <a:latin typeface="Calibri"/>
                <a:cs typeface="Calibri"/>
              </a:rPr>
              <a:t>server side application  </a:t>
            </a:r>
            <a:r>
              <a:rPr sz="2400" spc="-15" dirty="0">
                <a:latin typeface="Calibri"/>
                <a:cs typeface="Calibri"/>
              </a:rPr>
              <a:t>program</a:t>
            </a:r>
            <a:endParaRPr sz="24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These </a:t>
            </a:r>
            <a:r>
              <a:rPr sz="2400" spc="-15" dirty="0">
                <a:latin typeface="Calibri"/>
                <a:cs typeface="Calibri"/>
              </a:rPr>
              <a:t>are easy to</a:t>
            </a:r>
            <a:r>
              <a:rPr sz="2400" spc="-10" dirty="0">
                <a:latin typeface="Calibri"/>
                <a:cs typeface="Calibri"/>
              </a:rPr>
              <a:t> develop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731390"/>
            <a:ext cx="6600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01160" algn="l"/>
              </a:tabLst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Static</a:t>
            </a:r>
            <a:r>
              <a:rPr sz="2400" b="1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web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page	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Dynamic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web</a:t>
            </a:r>
            <a:r>
              <a:rPr sz="24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page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4527" y="2188590"/>
            <a:ext cx="3841115" cy="3903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302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content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>
                <a:latin typeface="Calibri"/>
                <a:cs typeface="Calibri"/>
              </a:rPr>
              <a:t>layout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may 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change during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run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</a:p>
          <a:p>
            <a:pPr marL="355600" marR="240665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uses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databases </a:t>
            </a:r>
            <a:r>
              <a:rPr sz="2400" spc="-15" dirty="0">
                <a:latin typeface="Calibri"/>
                <a:cs typeface="Calibri"/>
              </a:rPr>
              <a:t>to  generate </a:t>
            </a:r>
            <a:r>
              <a:rPr sz="2400" spc="-5" dirty="0">
                <a:latin typeface="Calibri"/>
                <a:cs typeface="Calibri"/>
              </a:rPr>
              <a:t>dynamic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content  </a:t>
            </a:r>
            <a:r>
              <a:rPr sz="2400" spc="-10" dirty="0">
                <a:latin typeface="Calibri"/>
                <a:cs typeface="Calibri"/>
              </a:rPr>
              <a:t>through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queries</a:t>
            </a:r>
            <a:endParaRPr sz="2400" dirty="0">
              <a:latin typeface="Calibri"/>
              <a:cs typeface="Calibri"/>
            </a:endParaRPr>
          </a:p>
          <a:p>
            <a:pPr marL="355600" marR="401320" indent="-3429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It runs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server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side  application </a:t>
            </a:r>
            <a:r>
              <a:rPr sz="2400" spc="-15" dirty="0">
                <a:latin typeface="Calibri"/>
                <a:cs typeface="Calibri"/>
              </a:rPr>
              <a:t>program </a:t>
            </a:r>
            <a:r>
              <a:rPr sz="2400" dirty="0">
                <a:latin typeface="Calibri"/>
                <a:cs typeface="Calibri"/>
              </a:rPr>
              <a:t>and  </a:t>
            </a:r>
            <a:r>
              <a:rPr sz="2400" spc="-15" dirty="0">
                <a:latin typeface="Calibri"/>
                <a:cs typeface="Calibri"/>
              </a:rPr>
              <a:t>displays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results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spc="-10" dirty="0">
                <a:latin typeface="Calibri"/>
                <a:cs typeface="Calibri"/>
              </a:rPr>
              <a:t>web page development  requires programming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skills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3978" y="377774"/>
            <a:ext cx="187578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0000"/>
                </a:solidFill>
              </a:rPr>
              <a:t>scri</a:t>
            </a:r>
            <a:r>
              <a:rPr sz="5400" spc="-30" dirty="0">
                <a:solidFill>
                  <a:srgbClr val="FF0000"/>
                </a:solidFill>
              </a:rPr>
              <a:t>p</a:t>
            </a:r>
            <a:r>
              <a:rPr sz="5400" dirty="0">
                <a:solidFill>
                  <a:srgbClr val="FF0000"/>
                </a:solidFill>
              </a:rPr>
              <a:t>ts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76200" y="1607642"/>
            <a:ext cx="8534400" cy="36657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These </a:t>
            </a:r>
            <a:r>
              <a:rPr sz="3200" spc="-15" dirty="0">
                <a:latin typeface="Calibri"/>
                <a:cs typeface="Calibri"/>
              </a:rPr>
              <a:t>are </a:t>
            </a:r>
            <a:r>
              <a:rPr sz="3200" spc="-20" dirty="0">
                <a:latin typeface="Calibri"/>
                <a:cs typeface="Calibri"/>
              </a:rPr>
              <a:t>program </a:t>
            </a:r>
            <a:r>
              <a:rPr sz="3200" spc="-10" dirty="0">
                <a:latin typeface="Calibri"/>
                <a:cs typeface="Calibri"/>
              </a:rPr>
              <a:t>codes </a:t>
            </a:r>
            <a:r>
              <a:rPr sz="3200" spc="-15" dirty="0">
                <a:latin typeface="Calibri"/>
                <a:cs typeface="Calibri"/>
              </a:rPr>
              <a:t>written </a:t>
            </a:r>
            <a:r>
              <a:rPr sz="3200" dirty="0">
                <a:latin typeface="Calibri"/>
                <a:cs typeface="Calibri"/>
              </a:rPr>
              <a:t>inside </a:t>
            </a:r>
            <a:r>
              <a:rPr sz="3200" spc="-5" dirty="0">
                <a:latin typeface="Calibri"/>
                <a:cs typeface="Calibri"/>
              </a:rPr>
              <a:t>HTML  </a:t>
            </a:r>
            <a:r>
              <a:rPr sz="3200" spc="-10" dirty="0">
                <a:latin typeface="Calibri"/>
                <a:cs typeface="Calibri"/>
              </a:rPr>
              <a:t>page.</a:t>
            </a:r>
            <a:endParaRPr sz="3200" dirty="0">
              <a:latin typeface="Calibri"/>
              <a:cs typeface="Calibri"/>
            </a:endParaRPr>
          </a:p>
          <a:p>
            <a:pPr marL="355600" marR="113855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They are </a:t>
            </a:r>
            <a:r>
              <a:rPr sz="3200" spc="-15" dirty="0">
                <a:latin typeface="Calibri"/>
                <a:cs typeface="Calibri"/>
              </a:rPr>
              <a:t>written </a:t>
            </a:r>
            <a:r>
              <a:rPr sz="3200" spc="-5" dirty="0">
                <a:latin typeface="Calibri"/>
                <a:cs typeface="Calibri"/>
              </a:rPr>
              <a:t>using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20" dirty="0">
                <a:latin typeface="Calibri"/>
                <a:cs typeface="Calibri"/>
              </a:rPr>
              <a:t>text </a:t>
            </a:r>
            <a:r>
              <a:rPr sz="3200" spc="-10" dirty="0">
                <a:latin typeface="Calibri"/>
                <a:cs typeface="Calibri"/>
              </a:rPr>
              <a:t>editor </a:t>
            </a:r>
            <a:r>
              <a:rPr sz="3200" spc="-30" dirty="0" smtClean="0">
                <a:latin typeface="Calibri"/>
                <a:cs typeface="Calibri"/>
              </a:rPr>
              <a:t>like</a:t>
            </a:r>
            <a:r>
              <a:rPr lang="en-US" sz="3200" spc="-30" dirty="0" smtClean="0">
                <a:latin typeface="Calibri"/>
                <a:cs typeface="Calibri"/>
              </a:rPr>
              <a:t> </a:t>
            </a:r>
            <a:r>
              <a:rPr sz="3200" spc="-10" dirty="0" smtClean="0">
                <a:latin typeface="Calibri"/>
                <a:cs typeface="Calibri"/>
              </a:rPr>
              <a:t>notepad</a:t>
            </a:r>
            <a:endParaRPr sz="3200" dirty="0">
              <a:latin typeface="Calibri"/>
              <a:cs typeface="Calibri"/>
            </a:endParaRPr>
          </a:p>
          <a:p>
            <a:pPr marL="355600" marR="16827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Scripting languages </a:t>
            </a:r>
            <a:r>
              <a:rPr sz="3200" spc="-30" dirty="0">
                <a:latin typeface="Calibri"/>
                <a:cs typeface="Calibri"/>
              </a:rPr>
              <a:t>like </a:t>
            </a:r>
            <a:r>
              <a:rPr sz="3200" b="1" spc="-10" dirty="0">
                <a:latin typeface="Calibri"/>
                <a:cs typeface="Calibri"/>
              </a:rPr>
              <a:t>JavaScript, </a:t>
            </a:r>
            <a:r>
              <a:rPr sz="3200" b="1" spc="-5" dirty="0">
                <a:latin typeface="Calibri"/>
                <a:cs typeface="Calibri"/>
              </a:rPr>
              <a:t>VB script,  </a:t>
            </a:r>
            <a:r>
              <a:rPr sz="3200" b="1" spc="-90" dirty="0">
                <a:latin typeface="Calibri"/>
                <a:cs typeface="Calibri"/>
              </a:rPr>
              <a:t>PHP, </a:t>
            </a:r>
            <a:r>
              <a:rPr sz="3200" b="1" spc="-15" dirty="0">
                <a:latin typeface="Calibri"/>
                <a:cs typeface="Calibri"/>
              </a:rPr>
              <a:t>Perl, </a:t>
            </a:r>
            <a:r>
              <a:rPr sz="3200" spc="-10" dirty="0">
                <a:latin typeface="Calibri"/>
                <a:cs typeface="Calibri"/>
              </a:rPr>
              <a:t>etc., </a:t>
            </a:r>
            <a:r>
              <a:rPr sz="3200" spc="-15" dirty="0">
                <a:latin typeface="Calibri"/>
                <a:cs typeface="Calibri"/>
              </a:rPr>
              <a:t>are </a:t>
            </a:r>
            <a:r>
              <a:rPr sz="3200" spc="-5" dirty="0">
                <a:latin typeface="Calibri"/>
                <a:cs typeface="Calibri"/>
              </a:rPr>
              <a:t>used </a:t>
            </a:r>
            <a:r>
              <a:rPr sz="3200" b="1" spc="-15" dirty="0">
                <a:latin typeface="Calibri"/>
                <a:cs typeface="Calibri"/>
              </a:rPr>
              <a:t>to </a:t>
            </a:r>
            <a:r>
              <a:rPr sz="3200" b="1" spc="-20" dirty="0">
                <a:latin typeface="Calibri"/>
                <a:cs typeface="Calibri"/>
              </a:rPr>
              <a:t>create </a:t>
            </a:r>
            <a:r>
              <a:rPr sz="3200" b="1" dirty="0">
                <a:latin typeface="Calibri"/>
                <a:cs typeface="Calibri"/>
              </a:rPr>
              <a:t>dynamic  </a:t>
            </a:r>
            <a:r>
              <a:rPr sz="3200" b="1" spc="-10" dirty="0">
                <a:latin typeface="Calibri"/>
                <a:cs typeface="Calibri"/>
              </a:rPr>
              <a:t>web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pages.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697" y="598678"/>
            <a:ext cx="799528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5" dirty="0">
                <a:solidFill>
                  <a:srgbClr val="FF0000"/>
                </a:solidFill>
              </a:rPr>
              <a:t>Types </a:t>
            </a:r>
            <a:r>
              <a:rPr sz="5400" dirty="0">
                <a:solidFill>
                  <a:srgbClr val="FF0000"/>
                </a:solidFill>
              </a:rPr>
              <a:t>of </a:t>
            </a:r>
            <a:r>
              <a:rPr sz="5400" spc="-5" dirty="0">
                <a:solidFill>
                  <a:srgbClr val="FF0000"/>
                </a:solidFill>
              </a:rPr>
              <a:t>scripting</a:t>
            </a:r>
            <a:r>
              <a:rPr sz="5400" dirty="0">
                <a:solidFill>
                  <a:srgbClr val="FF0000"/>
                </a:solidFill>
              </a:rPr>
              <a:t> </a:t>
            </a:r>
            <a:r>
              <a:rPr sz="5400" spc="-10" dirty="0">
                <a:solidFill>
                  <a:srgbClr val="FF0000"/>
                </a:solidFill>
              </a:rPr>
              <a:t>languages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069644" y="2363850"/>
            <a:ext cx="5049520" cy="2098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6285" indent="-74422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756285" algn="l"/>
                <a:tab pos="756920" algn="l"/>
              </a:tabLst>
            </a:pPr>
            <a:r>
              <a:rPr sz="4000" b="1" spc="-10" dirty="0">
                <a:solidFill>
                  <a:srgbClr val="006FC0"/>
                </a:solidFill>
                <a:latin typeface="Calibri"/>
                <a:cs typeface="Calibri"/>
              </a:rPr>
              <a:t>Client </a:t>
            </a:r>
            <a:r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Side</a:t>
            </a:r>
            <a:r>
              <a:rPr sz="40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scripting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Font typeface="Calibri"/>
              <a:buAutoNum type="arabicPeriod"/>
            </a:pPr>
            <a:endParaRPr sz="5800">
              <a:latin typeface="Times New Roman"/>
              <a:cs typeface="Times New Roman"/>
            </a:endParaRPr>
          </a:p>
          <a:p>
            <a:pPr marL="756285" indent="-744220">
              <a:lnSpc>
                <a:spcPct val="100000"/>
              </a:lnSpc>
              <a:buAutoNum type="arabicPeriod"/>
              <a:tabLst>
                <a:tab pos="756285" algn="l"/>
                <a:tab pos="756920" algn="l"/>
              </a:tabLst>
            </a:pPr>
            <a:r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Server Side</a:t>
            </a:r>
            <a:r>
              <a:rPr sz="40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scripting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0601" y="64973"/>
            <a:ext cx="56248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5" dirty="0">
                <a:solidFill>
                  <a:srgbClr val="006FC0"/>
                </a:solidFill>
              </a:rPr>
              <a:t>Client </a:t>
            </a:r>
            <a:r>
              <a:rPr sz="5400" spc="-5" dirty="0">
                <a:solidFill>
                  <a:srgbClr val="006FC0"/>
                </a:solidFill>
              </a:rPr>
              <a:t>Side</a:t>
            </a:r>
            <a:r>
              <a:rPr sz="5400" spc="-35" dirty="0">
                <a:solidFill>
                  <a:srgbClr val="006FC0"/>
                </a:solidFill>
              </a:rPr>
              <a:t> </a:t>
            </a:r>
            <a:r>
              <a:rPr sz="5400" spc="-5" dirty="0">
                <a:solidFill>
                  <a:srgbClr val="006FC0"/>
                </a:solidFill>
              </a:rPr>
              <a:t>scripting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383540" y="1098550"/>
            <a:ext cx="8208645" cy="54584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55600" marR="5080" indent="-342900">
              <a:lnSpc>
                <a:spcPts val="3570"/>
              </a:lnSpc>
              <a:spcBef>
                <a:spcPts val="5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300" dirty="0">
                <a:latin typeface="Calibri"/>
                <a:cs typeface="Calibri"/>
              </a:rPr>
              <a:t>It is </a:t>
            </a:r>
            <a:r>
              <a:rPr sz="3300" spc="-5" dirty="0">
                <a:latin typeface="Calibri"/>
                <a:cs typeface="Calibri"/>
              </a:rPr>
              <a:t>used </a:t>
            </a:r>
            <a:r>
              <a:rPr sz="3300" spc="-20" dirty="0">
                <a:latin typeface="Calibri"/>
                <a:cs typeface="Calibri"/>
              </a:rPr>
              <a:t>to </a:t>
            </a:r>
            <a:r>
              <a:rPr sz="3300" spc="-15" dirty="0">
                <a:latin typeface="Calibri"/>
                <a:cs typeface="Calibri"/>
              </a:rPr>
              <a:t>perform </a:t>
            </a:r>
            <a:r>
              <a:rPr sz="3300" spc="-25" dirty="0">
                <a:latin typeface="Calibri"/>
                <a:cs typeface="Calibri"/>
              </a:rPr>
              <a:t>any </a:t>
            </a:r>
            <a:r>
              <a:rPr sz="3300" spc="-15" dirty="0">
                <a:latin typeface="Calibri"/>
                <a:cs typeface="Calibri"/>
              </a:rPr>
              <a:t>task </a:t>
            </a:r>
            <a:r>
              <a:rPr sz="3300" spc="-20" dirty="0">
                <a:latin typeface="Calibri"/>
                <a:cs typeface="Calibri"/>
              </a:rPr>
              <a:t>at </a:t>
            </a:r>
            <a:r>
              <a:rPr sz="3300" dirty="0">
                <a:latin typeface="Calibri"/>
                <a:cs typeface="Calibri"/>
              </a:rPr>
              <a:t>the </a:t>
            </a:r>
            <a:r>
              <a:rPr sz="3300" spc="-10" dirty="0">
                <a:latin typeface="Calibri"/>
                <a:cs typeface="Calibri"/>
              </a:rPr>
              <a:t>client </a:t>
            </a:r>
            <a:r>
              <a:rPr sz="3300" spc="-5" dirty="0">
                <a:latin typeface="Calibri"/>
                <a:cs typeface="Calibri"/>
              </a:rPr>
              <a:t>side  </a:t>
            </a:r>
            <a:r>
              <a:rPr sz="3300" dirty="0">
                <a:latin typeface="Calibri"/>
                <a:cs typeface="Calibri"/>
              </a:rPr>
              <a:t>and is </a:t>
            </a:r>
            <a:r>
              <a:rPr sz="3300" spc="-25" dirty="0">
                <a:latin typeface="Calibri"/>
                <a:cs typeface="Calibri"/>
              </a:rPr>
              <a:t>executed </a:t>
            </a:r>
            <a:r>
              <a:rPr sz="3300" spc="-10" dirty="0">
                <a:latin typeface="Calibri"/>
                <a:cs typeface="Calibri"/>
              </a:rPr>
              <a:t>in </a:t>
            </a:r>
            <a:r>
              <a:rPr sz="3300" dirty="0">
                <a:latin typeface="Calibri"/>
                <a:cs typeface="Calibri"/>
              </a:rPr>
              <a:t>the</a:t>
            </a:r>
            <a:r>
              <a:rPr sz="3300" spc="35" dirty="0">
                <a:latin typeface="Calibri"/>
                <a:cs typeface="Calibri"/>
              </a:rPr>
              <a:t> </a:t>
            </a:r>
            <a:r>
              <a:rPr sz="3300" spc="-55" dirty="0">
                <a:latin typeface="Calibri"/>
                <a:cs typeface="Calibri"/>
              </a:rPr>
              <a:t>browser.</a:t>
            </a:r>
            <a:endParaRPr sz="3300">
              <a:latin typeface="Calibri"/>
              <a:cs typeface="Calibri"/>
            </a:endParaRPr>
          </a:p>
          <a:p>
            <a:pPr marL="355600" marR="108585" indent="-342900">
              <a:lnSpc>
                <a:spcPct val="90000"/>
              </a:lnSpc>
              <a:spcBef>
                <a:spcPts val="7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300" spc="-5" dirty="0">
                <a:latin typeface="Calibri"/>
                <a:cs typeface="Calibri"/>
              </a:rPr>
              <a:t>Since </a:t>
            </a:r>
            <a:r>
              <a:rPr sz="3300" dirty="0">
                <a:latin typeface="Calibri"/>
                <a:cs typeface="Calibri"/>
              </a:rPr>
              <a:t>the </a:t>
            </a:r>
            <a:r>
              <a:rPr sz="3300" spc="-10" dirty="0">
                <a:latin typeface="Calibri"/>
                <a:cs typeface="Calibri"/>
              </a:rPr>
              <a:t>script code </a:t>
            </a:r>
            <a:r>
              <a:rPr sz="3300" dirty="0">
                <a:latin typeface="Calibri"/>
                <a:cs typeface="Calibri"/>
              </a:rPr>
              <a:t>is </a:t>
            </a:r>
            <a:r>
              <a:rPr sz="3300" spc="-25" dirty="0">
                <a:latin typeface="Calibri"/>
                <a:cs typeface="Calibri"/>
              </a:rPr>
              <a:t>executed </a:t>
            </a:r>
            <a:r>
              <a:rPr sz="3300" spc="-5" dirty="0">
                <a:latin typeface="Calibri"/>
                <a:cs typeface="Calibri"/>
              </a:rPr>
              <a:t>on </a:t>
            </a:r>
            <a:r>
              <a:rPr sz="3300" dirty="0">
                <a:latin typeface="Calibri"/>
                <a:cs typeface="Calibri"/>
              </a:rPr>
              <a:t>the </a:t>
            </a:r>
            <a:r>
              <a:rPr sz="3300" spc="-10" dirty="0">
                <a:latin typeface="Calibri"/>
                <a:cs typeface="Calibri"/>
              </a:rPr>
              <a:t>client  </a:t>
            </a:r>
            <a:r>
              <a:rPr sz="3300" spc="-50" dirty="0">
                <a:latin typeface="Calibri"/>
                <a:cs typeface="Calibri"/>
              </a:rPr>
              <a:t>browser, </a:t>
            </a:r>
            <a:r>
              <a:rPr sz="3300" dirty="0">
                <a:latin typeface="Calibri"/>
                <a:cs typeface="Calibri"/>
              </a:rPr>
              <a:t>it </a:t>
            </a:r>
            <a:r>
              <a:rPr sz="3300" spc="-15" dirty="0">
                <a:latin typeface="Calibri"/>
                <a:cs typeface="Calibri"/>
              </a:rPr>
              <a:t>provides </a:t>
            </a:r>
            <a:r>
              <a:rPr sz="3300" dirty="0">
                <a:latin typeface="Calibri"/>
                <a:cs typeface="Calibri"/>
              </a:rPr>
              <a:t>a </a:t>
            </a:r>
            <a:r>
              <a:rPr sz="3300" spc="-5" dirty="0">
                <a:latin typeface="Calibri"/>
                <a:cs typeface="Calibri"/>
              </a:rPr>
              <a:t>quick </a:t>
            </a:r>
            <a:r>
              <a:rPr sz="3300" spc="-10" dirty="0">
                <a:latin typeface="Calibri"/>
                <a:cs typeface="Calibri"/>
              </a:rPr>
              <a:t>response </a:t>
            </a:r>
            <a:r>
              <a:rPr sz="3300" spc="-25" dirty="0">
                <a:latin typeface="Calibri"/>
                <a:cs typeface="Calibri"/>
              </a:rPr>
              <a:t>to </a:t>
            </a:r>
            <a:r>
              <a:rPr sz="3300" dirty="0">
                <a:latin typeface="Calibri"/>
                <a:cs typeface="Calibri"/>
              </a:rPr>
              <a:t>the  </a:t>
            </a:r>
            <a:r>
              <a:rPr sz="3300" spc="-15" dirty="0">
                <a:latin typeface="Calibri"/>
                <a:cs typeface="Calibri"/>
              </a:rPr>
              <a:t>users.</a:t>
            </a:r>
            <a:endParaRPr sz="3300">
              <a:latin typeface="Calibri"/>
              <a:cs typeface="Calibri"/>
            </a:endParaRPr>
          </a:p>
          <a:p>
            <a:pPr marL="355600" marR="89535" indent="-342900" algn="just">
              <a:lnSpc>
                <a:spcPct val="90000"/>
              </a:lnSpc>
              <a:spcBef>
                <a:spcPts val="790"/>
              </a:spcBef>
              <a:buFont typeface="Arial"/>
              <a:buChar char="•"/>
              <a:tabLst>
                <a:tab pos="355600" algn="l"/>
              </a:tabLst>
            </a:pPr>
            <a:r>
              <a:rPr sz="3300" b="1" spc="-15" dirty="0">
                <a:latin typeface="Calibri"/>
                <a:cs typeface="Calibri"/>
              </a:rPr>
              <a:t>Disadvantage</a:t>
            </a:r>
            <a:r>
              <a:rPr sz="3300" spc="-15" dirty="0">
                <a:latin typeface="Calibri"/>
                <a:cs typeface="Calibri"/>
              </a:rPr>
              <a:t>: there </a:t>
            </a:r>
            <a:r>
              <a:rPr sz="3300" spc="-20" dirty="0">
                <a:latin typeface="Calibri"/>
                <a:cs typeface="Calibri"/>
              </a:rPr>
              <a:t>are browsers </a:t>
            </a:r>
            <a:r>
              <a:rPr sz="3300" spc="-10" dirty="0">
                <a:latin typeface="Calibri"/>
                <a:cs typeface="Calibri"/>
              </a:rPr>
              <a:t>that </a:t>
            </a:r>
            <a:r>
              <a:rPr sz="3300" spc="-5" dirty="0">
                <a:latin typeface="Calibri"/>
                <a:cs typeface="Calibri"/>
              </a:rPr>
              <a:t>do not  support scripts. </a:t>
            </a:r>
            <a:r>
              <a:rPr sz="3300" dirty="0">
                <a:latin typeface="Calibri"/>
                <a:cs typeface="Calibri"/>
              </a:rPr>
              <a:t>In </a:t>
            </a:r>
            <a:r>
              <a:rPr sz="3300" spc="-5" dirty="0">
                <a:latin typeface="Calibri"/>
                <a:cs typeface="Calibri"/>
              </a:rPr>
              <a:t>some </a:t>
            </a:r>
            <a:r>
              <a:rPr sz="3300" spc="-10" dirty="0">
                <a:latin typeface="Calibri"/>
                <a:cs typeface="Calibri"/>
              </a:rPr>
              <a:t>cases </a:t>
            </a:r>
            <a:r>
              <a:rPr sz="3300" spc="-15" dirty="0">
                <a:latin typeface="Calibri"/>
                <a:cs typeface="Calibri"/>
              </a:rPr>
              <a:t>users </a:t>
            </a:r>
            <a:r>
              <a:rPr sz="3300" spc="-25" dirty="0">
                <a:latin typeface="Calibri"/>
                <a:cs typeface="Calibri"/>
              </a:rPr>
              <a:t>may </a:t>
            </a:r>
            <a:r>
              <a:rPr sz="3300" dirty="0">
                <a:latin typeface="Calibri"/>
                <a:cs typeface="Calibri"/>
              </a:rPr>
              <a:t>turn  </a:t>
            </a:r>
            <a:r>
              <a:rPr sz="3300" spc="-15" dirty="0">
                <a:latin typeface="Calibri"/>
                <a:cs typeface="Calibri"/>
              </a:rPr>
              <a:t>off </a:t>
            </a:r>
            <a:r>
              <a:rPr sz="3300" dirty="0">
                <a:latin typeface="Calibri"/>
                <a:cs typeface="Calibri"/>
              </a:rPr>
              <a:t>the </a:t>
            </a:r>
            <a:r>
              <a:rPr sz="3300" spc="-20" dirty="0">
                <a:latin typeface="Calibri"/>
                <a:cs typeface="Calibri"/>
              </a:rPr>
              <a:t>execution </a:t>
            </a:r>
            <a:r>
              <a:rPr sz="3300" spc="-5" dirty="0">
                <a:latin typeface="Calibri"/>
                <a:cs typeface="Calibri"/>
              </a:rPr>
              <a:t>of scripts </a:t>
            </a:r>
            <a:r>
              <a:rPr sz="3300" dirty="0">
                <a:latin typeface="Calibri"/>
                <a:cs typeface="Calibri"/>
              </a:rPr>
              <a:t>in the</a:t>
            </a:r>
            <a:r>
              <a:rPr sz="3300" spc="25" dirty="0">
                <a:latin typeface="Calibri"/>
                <a:cs typeface="Calibri"/>
              </a:rPr>
              <a:t> </a:t>
            </a:r>
            <a:r>
              <a:rPr sz="3300" spc="-55" dirty="0">
                <a:latin typeface="Calibri"/>
                <a:cs typeface="Calibri"/>
              </a:rPr>
              <a:t>browser.</a:t>
            </a:r>
            <a:endParaRPr sz="330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355600" algn="l"/>
              </a:tabLst>
            </a:pPr>
            <a:r>
              <a:rPr sz="3300" b="1" spc="-5" dirty="0">
                <a:latin typeface="Calibri"/>
                <a:cs typeface="Calibri"/>
              </a:rPr>
              <a:t>Eg. </a:t>
            </a:r>
            <a:r>
              <a:rPr sz="3300" spc="-15" dirty="0">
                <a:latin typeface="Calibri"/>
                <a:cs typeface="Calibri"/>
              </a:rPr>
              <a:t>JavaScript, </a:t>
            </a:r>
            <a:r>
              <a:rPr sz="3300" spc="-5" dirty="0">
                <a:latin typeface="Calibri"/>
                <a:cs typeface="Calibri"/>
              </a:rPr>
              <a:t>VB</a:t>
            </a:r>
            <a:r>
              <a:rPr sz="3300" spc="40" dirty="0">
                <a:latin typeface="Calibri"/>
                <a:cs typeface="Calibri"/>
              </a:rPr>
              <a:t> </a:t>
            </a:r>
            <a:r>
              <a:rPr sz="3300" spc="-10" dirty="0">
                <a:latin typeface="Calibri"/>
                <a:cs typeface="Calibri"/>
              </a:rPr>
              <a:t>script</a:t>
            </a:r>
            <a:endParaRPr sz="3300">
              <a:latin typeface="Calibri"/>
              <a:cs typeface="Calibri"/>
            </a:endParaRPr>
          </a:p>
          <a:p>
            <a:pPr marL="355600" marR="309880" indent="-342900" algn="just">
              <a:lnSpc>
                <a:spcPts val="3560"/>
              </a:lnSpc>
              <a:spcBef>
                <a:spcPts val="850"/>
              </a:spcBef>
              <a:buFont typeface="Arial"/>
              <a:buChar char="•"/>
              <a:tabLst>
                <a:tab pos="355600" algn="l"/>
              </a:tabLst>
            </a:pPr>
            <a:r>
              <a:rPr sz="3300" dirty="0">
                <a:latin typeface="Calibri"/>
                <a:cs typeface="Calibri"/>
              </a:rPr>
              <a:t>It is </a:t>
            </a:r>
            <a:r>
              <a:rPr sz="3300" b="1" spc="-10" dirty="0">
                <a:latin typeface="Calibri"/>
                <a:cs typeface="Calibri"/>
              </a:rPr>
              <a:t>mostly </a:t>
            </a:r>
            <a:r>
              <a:rPr sz="3300" b="1" dirty="0">
                <a:latin typeface="Calibri"/>
                <a:cs typeface="Calibri"/>
              </a:rPr>
              <a:t>used </a:t>
            </a:r>
            <a:r>
              <a:rPr sz="3300" b="1" spc="-20" dirty="0">
                <a:latin typeface="Calibri"/>
                <a:cs typeface="Calibri"/>
              </a:rPr>
              <a:t>for </a:t>
            </a:r>
            <a:r>
              <a:rPr sz="3300" b="1" spc="-10" dirty="0">
                <a:latin typeface="Calibri"/>
                <a:cs typeface="Calibri"/>
              </a:rPr>
              <a:t>validations </a:t>
            </a:r>
            <a:r>
              <a:rPr sz="3300" b="1" dirty="0">
                <a:latin typeface="Calibri"/>
                <a:cs typeface="Calibri"/>
              </a:rPr>
              <a:t>and also </a:t>
            </a:r>
            <a:r>
              <a:rPr sz="3300" b="1" spc="-20" dirty="0">
                <a:latin typeface="Calibri"/>
                <a:cs typeface="Calibri"/>
              </a:rPr>
              <a:t>for  </a:t>
            </a:r>
            <a:r>
              <a:rPr sz="3300" b="1" spc="-5" dirty="0">
                <a:latin typeface="Calibri"/>
                <a:cs typeface="Calibri"/>
              </a:rPr>
              <a:t>performing </a:t>
            </a:r>
            <a:r>
              <a:rPr sz="3300" b="1" dirty="0">
                <a:latin typeface="Calibri"/>
                <a:cs typeface="Calibri"/>
              </a:rPr>
              <a:t>simple</a:t>
            </a:r>
            <a:r>
              <a:rPr sz="3300" b="1" spc="5" dirty="0">
                <a:latin typeface="Calibri"/>
                <a:cs typeface="Calibri"/>
              </a:rPr>
              <a:t> </a:t>
            </a:r>
            <a:r>
              <a:rPr sz="3300" b="1" spc="-5" dirty="0">
                <a:latin typeface="Calibri"/>
                <a:cs typeface="Calibri"/>
              </a:rPr>
              <a:t>calculations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9160" y="64973"/>
            <a:ext cx="58115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006FC0"/>
                </a:solidFill>
              </a:rPr>
              <a:t>Server Side</a:t>
            </a:r>
            <a:r>
              <a:rPr sz="5400" spc="-70" dirty="0">
                <a:solidFill>
                  <a:srgbClr val="006FC0"/>
                </a:solidFill>
              </a:rPr>
              <a:t> </a:t>
            </a:r>
            <a:r>
              <a:rPr sz="5400" spc="-5" dirty="0">
                <a:solidFill>
                  <a:srgbClr val="006FC0"/>
                </a:solidFill>
              </a:rPr>
              <a:t>scripting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612140" y="1299717"/>
            <a:ext cx="7789545" cy="408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3600" dirty="0">
                <a:latin typeface="Calibri"/>
                <a:cs typeface="Calibri"/>
              </a:rPr>
              <a:t>It is </a:t>
            </a:r>
            <a:r>
              <a:rPr sz="3600" spc="-5" dirty="0">
                <a:latin typeface="Calibri"/>
                <a:cs typeface="Calibri"/>
              </a:rPr>
              <a:t>used </a:t>
            </a:r>
            <a:r>
              <a:rPr sz="3600" b="1" spc="-20" dirty="0">
                <a:latin typeface="Calibri"/>
                <a:cs typeface="Calibri"/>
              </a:rPr>
              <a:t>to </a:t>
            </a:r>
            <a:r>
              <a:rPr sz="3600" b="1" spc="-25" dirty="0">
                <a:latin typeface="Calibri"/>
                <a:cs typeface="Calibri"/>
              </a:rPr>
              <a:t>create </a:t>
            </a:r>
            <a:r>
              <a:rPr sz="3600" b="1" dirty="0">
                <a:latin typeface="Calibri"/>
                <a:cs typeface="Calibri"/>
              </a:rPr>
              <a:t>dynamic </a:t>
            </a:r>
            <a:r>
              <a:rPr sz="3600" b="1" spc="-5" dirty="0">
                <a:latin typeface="Calibri"/>
                <a:cs typeface="Calibri"/>
              </a:rPr>
              <a:t>web</a:t>
            </a:r>
            <a:r>
              <a:rPr sz="3600" b="1" spc="-3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pages</a:t>
            </a:r>
            <a:endParaRPr sz="36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600" dirty="0">
                <a:latin typeface="Calibri"/>
                <a:cs typeface="Calibri"/>
              </a:rPr>
              <a:t>and </a:t>
            </a:r>
            <a:r>
              <a:rPr sz="3600" spc="-15" dirty="0">
                <a:latin typeface="Calibri"/>
                <a:cs typeface="Calibri"/>
              </a:rPr>
              <a:t>are </a:t>
            </a:r>
            <a:r>
              <a:rPr sz="3600" b="1" spc="-30" dirty="0">
                <a:latin typeface="Calibri"/>
                <a:cs typeface="Calibri"/>
              </a:rPr>
              <a:t>executed </a:t>
            </a:r>
            <a:r>
              <a:rPr sz="3600" b="1" dirty="0">
                <a:latin typeface="Calibri"/>
                <a:cs typeface="Calibri"/>
              </a:rPr>
              <a:t>in the</a:t>
            </a:r>
            <a:r>
              <a:rPr sz="3600" b="1" spc="1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server</a:t>
            </a:r>
            <a:r>
              <a:rPr sz="3600" dirty="0">
                <a:latin typeface="Calibri"/>
                <a:cs typeface="Calibri"/>
              </a:rPr>
              <a:t>.</a:t>
            </a:r>
          </a:p>
          <a:p>
            <a:pPr marL="355600" marR="734060" indent="-34353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6235" algn="l"/>
              </a:tabLst>
            </a:pPr>
            <a:r>
              <a:rPr sz="3600" spc="-5" dirty="0">
                <a:latin typeface="Calibri"/>
                <a:cs typeface="Calibri"/>
              </a:rPr>
              <a:t>Since </a:t>
            </a:r>
            <a:r>
              <a:rPr sz="3600" dirty="0">
                <a:latin typeface="Calibri"/>
                <a:cs typeface="Calibri"/>
              </a:rPr>
              <a:t>the </a:t>
            </a:r>
            <a:r>
              <a:rPr sz="3600" spc="-5" dirty="0">
                <a:latin typeface="Calibri"/>
                <a:cs typeface="Calibri"/>
              </a:rPr>
              <a:t>scripts </a:t>
            </a:r>
            <a:r>
              <a:rPr sz="3600" spc="-15" dirty="0">
                <a:latin typeface="Calibri"/>
                <a:cs typeface="Calibri"/>
              </a:rPr>
              <a:t>are </a:t>
            </a:r>
            <a:r>
              <a:rPr sz="3600" spc="-25" dirty="0">
                <a:latin typeface="Calibri"/>
                <a:cs typeface="Calibri"/>
              </a:rPr>
              <a:t>executed </a:t>
            </a:r>
            <a:r>
              <a:rPr sz="3600" spc="-20" dirty="0">
                <a:latin typeface="Calibri"/>
                <a:cs typeface="Calibri"/>
              </a:rPr>
              <a:t>at </a:t>
            </a:r>
            <a:r>
              <a:rPr sz="3600" dirty="0">
                <a:latin typeface="Calibri"/>
                <a:cs typeface="Calibri"/>
              </a:rPr>
              <a:t>the  </a:t>
            </a:r>
            <a:r>
              <a:rPr sz="3600" spc="-65" dirty="0">
                <a:latin typeface="Calibri"/>
                <a:cs typeface="Calibri"/>
              </a:rPr>
              <a:t>sever, </a:t>
            </a:r>
            <a:r>
              <a:rPr sz="3600" b="1" dirty="0">
                <a:latin typeface="Calibri"/>
                <a:cs typeface="Calibri"/>
              </a:rPr>
              <a:t>the type and </a:t>
            </a:r>
            <a:r>
              <a:rPr sz="3600" b="1" spc="-15" dirty="0">
                <a:latin typeface="Calibri"/>
                <a:cs typeface="Calibri"/>
              </a:rPr>
              <a:t>version </a:t>
            </a:r>
            <a:r>
              <a:rPr sz="3600" b="1" dirty="0">
                <a:latin typeface="Calibri"/>
                <a:cs typeface="Calibri"/>
              </a:rPr>
              <a:t>of</a:t>
            </a:r>
            <a:r>
              <a:rPr sz="3600" b="1" spc="4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the</a:t>
            </a:r>
            <a:endParaRPr sz="3600" dirty="0">
              <a:latin typeface="Calibri"/>
              <a:cs typeface="Calibri"/>
            </a:endParaRPr>
          </a:p>
          <a:p>
            <a:pPr marL="355600" marR="5080">
              <a:lnSpc>
                <a:spcPct val="100000"/>
              </a:lnSpc>
              <a:spcBef>
                <a:spcPts val="5"/>
              </a:spcBef>
            </a:pPr>
            <a:r>
              <a:rPr sz="3600" b="1" spc="-10" dirty="0">
                <a:latin typeface="Calibri"/>
                <a:cs typeface="Calibri"/>
              </a:rPr>
              <a:t>browser </a:t>
            </a:r>
            <a:r>
              <a:rPr sz="3600" b="1" dirty="0">
                <a:latin typeface="Calibri"/>
                <a:cs typeface="Calibri"/>
              </a:rPr>
              <a:t>or </a:t>
            </a:r>
            <a:r>
              <a:rPr sz="3600" b="1" spc="-5" dirty="0">
                <a:latin typeface="Calibri"/>
                <a:cs typeface="Calibri"/>
              </a:rPr>
              <a:t>OS </a:t>
            </a:r>
            <a:r>
              <a:rPr sz="3600" b="1" dirty="0">
                <a:latin typeface="Calibri"/>
                <a:cs typeface="Calibri"/>
              </a:rPr>
              <a:t>on the </a:t>
            </a:r>
            <a:r>
              <a:rPr sz="3600" b="1" spc="-25" dirty="0">
                <a:latin typeface="Calibri"/>
                <a:cs typeface="Calibri"/>
              </a:rPr>
              <a:t>client’s </a:t>
            </a:r>
            <a:r>
              <a:rPr sz="3600" b="1" spc="-10" dirty="0">
                <a:latin typeface="Calibri"/>
                <a:cs typeface="Calibri"/>
              </a:rPr>
              <a:t>computer  </a:t>
            </a:r>
            <a:r>
              <a:rPr sz="3600" b="1" dirty="0">
                <a:latin typeface="Calibri"/>
                <a:cs typeface="Calibri"/>
              </a:rPr>
              <a:t>does not </a:t>
            </a:r>
            <a:r>
              <a:rPr sz="3600" b="1" spc="-20" dirty="0">
                <a:latin typeface="Calibri"/>
                <a:cs typeface="Calibri"/>
              </a:rPr>
              <a:t>affect </a:t>
            </a:r>
            <a:r>
              <a:rPr sz="3600" b="1" dirty="0">
                <a:latin typeface="Calibri"/>
                <a:cs typeface="Calibri"/>
              </a:rPr>
              <a:t>its</a:t>
            </a:r>
            <a:r>
              <a:rPr sz="3600" b="1" spc="20" dirty="0">
                <a:latin typeface="Calibri"/>
                <a:cs typeface="Calibri"/>
              </a:rPr>
              <a:t> </a:t>
            </a:r>
            <a:r>
              <a:rPr sz="3600" b="1" spc="-20" dirty="0">
                <a:latin typeface="Calibri"/>
                <a:cs typeface="Calibri"/>
              </a:rPr>
              <a:t>execution</a:t>
            </a:r>
            <a:r>
              <a:rPr sz="3600" spc="-20" dirty="0">
                <a:latin typeface="Calibri"/>
                <a:cs typeface="Calibri"/>
              </a:rPr>
              <a:t>.</a:t>
            </a:r>
            <a:endParaRPr sz="36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6235" algn="l"/>
              </a:tabLst>
            </a:pPr>
            <a:r>
              <a:rPr sz="3600" b="1" spc="-5" dirty="0">
                <a:latin typeface="Calibri"/>
                <a:cs typeface="Calibri"/>
              </a:rPr>
              <a:t>Eg</a:t>
            </a:r>
            <a:r>
              <a:rPr sz="3600" spc="-5" dirty="0">
                <a:latin typeface="Calibri"/>
                <a:cs typeface="Calibri"/>
              </a:rPr>
              <a:t>. </a:t>
            </a:r>
            <a:r>
              <a:rPr sz="3600" spc="-15" dirty="0">
                <a:latin typeface="Calibri"/>
                <a:cs typeface="Calibri"/>
              </a:rPr>
              <a:t>Perl, </a:t>
            </a:r>
            <a:r>
              <a:rPr sz="3600" spc="-114" dirty="0">
                <a:latin typeface="Calibri"/>
                <a:cs typeface="Calibri"/>
              </a:rPr>
              <a:t>PHP, ASP, </a:t>
            </a:r>
            <a:r>
              <a:rPr sz="3600" dirty="0">
                <a:latin typeface="Calibri"/>
                <a:cs typeface="Calibri"/>
              </a:rPr>
              <a:t>JSP</a:t>
            </a:r>
            <a:r>
              <a:rPr sz="3600" spc="24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etc.,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1371600"/>
            <a:ext cx="2971800" cy="4419600"/>
          </a:xfrm>
          <a:custGeom>
            <a:avLst/>
            <a:gdLst/>
            <a:ahLst/>
            <a:cxnLst/>
            <a:rect l="l" t="t" r="r" b="b"/>
            <a:pathLst>
              <a:path w="2971800" h="4419600">
                <a:moveTo>
                  <a:pt x="0" y="4419600"/>
                </a:moveTo>
                <a:lnTo>
                  <a:pt x="2971800" y="4419600"/>
                </a:lnTo>
                <a:lnTo>
                  <a:pt x="2971800" y="0"/>
                </a:lnTo>
                <a:lnTo>
                  <a:pt x="0" y="0"/>
                </a:lnTo>
                <a:lnTo>
                  <a:pt x="0" y="441960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3406" y="461594"/>
            <a:ext cx="6862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" dirty="0"/>
              <a:t>Working </a:t>
            </a:r>
            <a:r>
              <a:rPr sz="4400" dirty="0"/>
              <a:t>of </a:t>
            </a:r>
            <a:r>
              <a:rPr sz="4400" spc="-5" dirty="0"/>
              <a:t>server side</a:t>
            </a:r>
            <a:r>
              <a:rPr sz="4400" spc="-20" dirty="0"/>
              <a:t> </a:t>
            </a:r>
            <a:r>
              <a:rPr sz="4400" spc="-5" dirty="0"/>
              <a:t>scripts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1371600" y="4114800"/>
            <a:ext cx="2209800" cy="1371600"/>
          </a:xfrm>
          <a:custGeom>
            <a:avLst/>
            <a:gdLst/>
            <a:ahLst/>
            <a:cxnLst/>
            <a:rect l="l" t="t" r="r" b="b"/>
            <a:pathLst>
              <a:path w="2209800" h="1371600">
                <a:moveTo>
                  <a:pt x="1104900" y="0"/>
                </a:moveTo>
                <a:lnTo>
                  <a:pt x="1029249" y="527"/>
                </a:lnTo>
                <a:lnTo>
                  <a:pt x="954968" y="2087"/>
                </a:lnTo>
                <a:lnTo>
                  <a:pt x="882219" y="4644"/>
                </a:lnTo>
                <a:lnTo>
                  <a:pt x="811168" y="8166"/>
                </a:lnTo>
                <a:lnTo>
                  <a:pt x="741979" y="12618"/>
                </a:lnTo>
                <a:lnTo>
                  <a:pt x="674816" y="17966"/>
                </a:lnTo>
                <a:lnTo>
                  <a:pt x="609844" y="24176"/>
                </a:lnTo>
                <a:lnTo>
                  <a:pt x="547228" y="31213"/>
                </a:lnTo>
                <a:lnTo>
                  <a:pt x="487133" y="39045"/>
                </a:lnTo>
                <a:lnTo>
                  <a:pt x="429721" y="47636"/>
                </a:lnTo>
                <a:lnTo>
                  <a:pt x="375160" y="56952"/>
                </a:lnTo>
                <a:lnTo>
                  <a:pt x="323611" y="66960"/>
                </a:lnTo>
                <a:lnTo>
                  <a:pt x="275242" y="77626"/>
                </a:lnTo>
                <a:lnTo>
                  <a:pt x="230215" y="88915"/>
                </a:lnTo>
                <a:lnTo>
                  <a:pt x="188695" y="100793"/>
                </a:lnTo>
                <a:lnTo>
                  <a:pt x="150847" y="113227"/>
                </a:lnTo>
                <a:lnTo>
                  <a:pt x="86826" y="139624"/>
                </a:lnTo>
                <a:lnTo>
                  <a:pt x="39467" y="167834"/>
                </a:lnTo>
                <a:lnTo>
                  <a:pt x="10086" y="197583"/>
                </a:lnTo>
                <a:lnTo>
                  <a:pt x="0" y="228600"/>
                </a:lnTo>
                <a:lnTo>
                  <a:pt x="0" y="1143000"/>
                </a:lnTo>
                <a:lnTo>
                  <a:pt x="22447" y="1189066"/>
                </a:lnTo>
                <a:lnTo>
                  <a:pt x="60981" y="1218080"/>
                </a:lnTo>
                <a:lnTo>
                  <a:pt x="116836" y="1245417"/>
                </a:lnTo>
                <a:lnTo>
                  <a:pt x="188695" y="1270806"/>
                </a:lnTo>
                <a:lnTo>
                  <a:pt x="230215" y="1282684"/>
                </a:lnTo>
                <a:lnTo>
                  <a:pt x="275242" y="1293973"/>
                </a:lnTo>
                <a:lnTo>
                  <a:pt x="323611" y="1304639"/>
                </a:lnTo>
                <a:lnTo>
                  <a:pt x="375160" y="1314647"/>
                </a:lnTo>
                <a:lnTo>
                  <a:pt x="429721" y="1323963"/>
                </a:lnTo>
                <a:lnTo>
                  <a:pt x="487133" y="1332554"/>
                </a:lnTo>
                <a:lnTo>
                  <a:pt x="547228" y="1340386"/>
                </a:lnTo>
                <a:lnTo>
                  <a:pt x="609844" y="1347423"/>
                </a:lnTo>
                <a:lnTo>
                  <a:pt x="674816" y="1353633"/>
                </a:lnTo>
                <a:lnTo>
                  <a:pt x="741979" y="1358981"/>
                </a:lnTo>
                <a:lnTo>
                  <a:pt x="811168" y="1363433"/>
                </a:lnTo>
                <a:lnTo>
                  <a:pt x="882219" y="1366955"/>
                </a:lnTo>
                <a:lnTo>
                  <a:pt x="954968" y="1369512"/>
                </a:lnTo>
                <a:lnTo>
                  <a:pt x="1029249" y="1371072"/>
                </a:lnTo>
                <a:lnTo>
                  <a:pt x="1104900" y="1371600"/>
                </a:lnTo>
                <a:lnTo>
                  <a:pt x="1180550" y="1371072"/>
                </a:lnTo>
                <a:lnTo>
                  <a:pt x="1254831" y="1369512"/>
                </a:lnTo>
                <a:lnTo>
                  <a:pt x="1327580" y="1366955"/>
                </a:lnTo>
                <a:lnTo>
                  <a:pt x="1398631" y="1363433"/>
                </a:lnTo>
                <a:lnTo>
                  <a:pt x="1467820" y="1358981"/>
                </a:lnTo>
                <a:lnTo>
                  <a:pt x="1534983" y="1353633"/>
                </a:lnTo>
                <a:lnTo>
                  <a:pt x="1599955" y="1347423"/>
                </a:lnTo>
                <a:lnTo>
                  <a:pt x="1662571" y="1340386"/>
                </a:lnTo>
                <a:lnTo>
                  <a:pt x="1722666" y="1332554"/>
                </a:lnTo>
                <a:lnTo>
                  <a:pt x="1780078" y="1323963"/>
                </a:lnTo>
                <a:lnTo>
                  <a:pt x="1834639" y="1314647"/>
                </a:lnTo>
                <a:lnTo>
                  <a:pt x="1886188" y="1304639"/>
                </a:lnTo>
                <a:lnTo>
                  <a:pt x="1934557" y="1293973"/>
                </a:lnTo>
                <a:lnTo>
                  <a:pt x="1979584" y="1282684"/>
                </a:lnTo>
                <a:lnTo>
                  <a:pt x="2021104" y="1270806"/>
                </a:lnTo>
                <a:lnTo>
                  <a:pt x="2058952" y="1258372"/>
                </a:lnTo>
                <a:lnTo>
                  <a:pt x="2122973" y="1231975"/>
                </a:lnTo>
                <a:lnTo>
                  <a:pt x="2170332" y="1203765"/>
                </a:lnTo>
                <a:lnTo>
                  <a:pt x="2199713" y="1174016"/>
                </a:lnTo>
                <a:lnTo>
                  <a:pt x="2209800" y="1143000"/>
                </a:lnTo>
                <a:lnTo>
                  <a:pt x="2209800" y="228600"/>
                </a:lnTo>
                <a:lnTo>
                  <a:pt x="2187352" y="182533"/>
                </a:lnTo>
                <a:lnTo>
                  <a:pt x="2148818" y="153519"/>
                </a:lnTo>
                <a:lnTo>
                  <a:pt x="2092963" y="126182"/>
                </a:lnTo>
                <a:lnTo>
                  <a:pt x="2021104" y="100793"/>
                </a:lnTo>
                <a:lnTo>
                  <a:pt x="1979584" y="88915"/>
                </a:lnTo>
                <a:lnTo>
                  <a:pt x="1934557" y="77626"/>
                </a:lnTo>
                <a:lnTo>
                  <a:pt x="1886188" y="66960"/>
                </a:lnTo>
                <a:lnTo>
                  <a:pt x="1834639" y="56952"/>
                </a:lnTo>
                <a:lnTo>
                  <a:pt x="1780078" y="47636"/>
                </a:lnTo>
                <a:lnTo>
                  <a:pt x="1722666" y="39045"/>
                </a:lnTo>
                <a:lnTo>
                  <a:pt x="1662571" y="31213"/>
                </a:lnTo>
                <a:lnTo>
                  <a:pt x="1599955" y="24176"/>
                </a:lnTo>
                <a:lnTo>
                  <a:pt x="1534983" y="17966"/>
                </a:lnTo>
                <a:lnTo>
                  <a:pt x="1467820" y="12618"/>
                </a:lnTo>
                <a:lnTo>
                  <a:pt x="1398631" y="8166"/>
                </a:lnTo>
                <a:lnTo>
                  <a:pt x="1327580" y="4644"/>
                </a:lnTo>
                <a:lnTo>
                  <a:pt x="1254831" y="2087"/>
                </a:lnTo>
                <a:lnTo>
                  <a:pt x="1180550" y="527"/>
                </a:lnTo>
                <a:lnTo>
                  <a:pt x="11049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4343400"/>
            <a:ext cx="2209800" cy="228600"/>
          </a:xfrm>
          <a:custGeom>
            <a:avLst/>
            <a:gdLst/>
            <a:ahLst/>
            <a:cxnLst/>
            <a:rect l="l" t="t" r="r" b="b"/>
            <a:pathLst>
              <a:path w="2209800" h="228600">
                <a:moveTo>
                  <a:pt x="2209800" y="0"/>
                </a:moveTo>
                <a:lnTo>
                  <a:pt x="2187352" y="46066"/>
                </a:lnTo>
                <a:lnTo>
                  <a:pt x="2148818" y="75080"/>
                </a:lnTo>
                <a:lnTo>
                  <a:pt x="2092963" y="102417"/>
                </a:lnTo>
                <a:lnTo>
                  <a:pt x="2021104" y="127806"/>
                </a:lnTo>
                <a:lnTo>
                  <a:pt x="1979584" y="139684"/>
                </a:lnTo>
                <a:lnTo>
                  <a:pt x="1934557" y="150973"/>
                </a:lnTo>
                <a:lnTo>
                  <a:pt x="1886188" y="161639"/>
                </a:lnTo>
                <a:lnTo>
                  <a:pt x="1834639" y="171647"/>
                </a:lnTo>
                <a:lnTo>
                  <a:pt x="1780078" y="180963"/>
                </a:lnTo>
                <a:lnTo>
                  <a:pt x="1722666" y="189554"/>
                </a:lnTo>
                <a:lnTo>
                  <a:pt x="1662571" y="197386"/>
                </a:lnTo>
                <a:lnTo>
                  <a:pt x="1599955" y="204423"/>
                </a:lnTo>
                <a:lnTo>
                  <a:pt x="1534983" y="210633"/>
                </a:lnTo>
                <a:lnTo>
                  <a:pt x="1467820" y="215981"/>
                </a:lnTo>
                <a:lnTo>
                  <a:pt x="1398631" y="220433"/>
                </a:lnTo>
                <a:lnTo>
                  <a:pt x="1327580" y="223955"/>
                </a:lnTo>
                <a:lnTo>
                  <a:pt x="1254831" y="226512"/>
                </a:lnTo>
                <a:lnTo>
                  <a:pt x="1180550" y="228072"/>
                </a:lnTo>
                <a:lnTo>
                  <a:pt x="1104900" y="228600"/>
                </a:lnTo>
                <a:lnTo>
                  <a:pt x="1029249" y="228072"/>
                </a:lnTo>
                <a:lnTo>
                  <a:pt x="954968" y="226512"/>
                </a:lnTo>
                <a:lnTo>
                  <a:pt x="882219" y="223955"/>
                </a:lnTo>
                <a:lnTo>
                  <a:pt x="811168" y="220433"/>
                </a:lnTo>
                <a:lnTo>
                  <a:pt x="741979" y="215981"/>
                </a:lnTo>
                <a:lnTo>
                  <a:pt x="674816" y="210633"/>
                </a:lnTo>
                <a:lnTo>
                  <a:pt x="609844" y="204423"/>
                </a:lnTo>
                <a:lnTo>
                  <a:pt x="547228" y="197386"/>
                </a:lnTo>
                <a:lnTo>
                  <a:pt x="487133" y="189554"/>
                </a:lnTo>
                <a:lnTo>
                  <a:pt x="429721" y="180963"/>
                </a:lnTo>
                <a:lnTo>
                  <a:pt x="375160" y="171647"/>
                </a:lnTo>
                <a:lnTo>
                  <a:pt x="323611" y="161639"/>
                </a:lnTo>
                <a:lnTo>
                  <a:pt x="275242" y="150973"/>
                </a:lnTo>
                <a:lnTo>
                  <a:pt x="230215" y="139684"/>
                </a:lnTo>
                <a:lnTo>
                  <a:pt x="188695" y="127806"/>
                </a:lnTo>
                <a:lnTo>
                  <a:pt x="150847" y="115372"/>
                </a:lnTo>
                <a:lnTo>
                  <a:pt x="86826" y="88975"/>
                </a:lnTo>
                <a:lnTo>
                  <a:pt x="39467" y="60765"/>
                </a:lnTo>
                <a:lnTo>
                  <a:pt x="10086" y="31016"/>
                </a:lnTo>
                <a:lnTo>
                  <a:pt x="2548" y="15649"/>
                </a:lnTo>
                <a:lnTo>
                  <a:pt x="0" y="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71600" y="4114800"/>
            <a:ext cx="2209800" cy="1371600"/>
          </a:xfrm>
          <a:custGeom>
            <a:avLst/>
            <a:gdLst/>
            <a:ahLst/>
            <a:cxnLst/>
            <a:rect l="l" t="t" r="r" b="b"/>
            <a:pathLst>
              <a:path w="2209800" h="1371600">
                <a:moveTo>
                  <a:pt x="0" y="228600"/>
                </a:moveTo>
                <a:lnTo>
                  <a:pt x="22447" y="182533"/>
                </a:lnTo>
                <a:lnTo>
                  <a:pt x="60981" y="153519"/>
                </a:lnTo>
                <a:lnTo>
                  <a:pt x="116836" y="126182"/>
                </a:lnTo>
                <a:lnTo>
                  <a:pt x="188695" y="100793"/>
                </a:lnTo>
                <a:lnTo>
                  <a:pt x="230215" y="88915"/>
                </a:lnTo>
                <a:lnTo>
                  <a:pt x="275242" y="77626"/>
                </a:lnTo>
                <a:lnTo>
                  <a:pt x="323611" y="66960"/>
                </a:lnTo>
                <a:lnTo>
                  <a:pt x="375160" y="56952"/>
                </a:lnTo>
                <a:lnTo>
                  <a:pt x="429721" y="47636"/>
                </a:lnTo>
                <a:lnTo>
                  <a:pt x="487133" y="39045"/>
                </a:lnTo>
                <a:lnTo>
                  <a:pt x="547228" y="31213"/>
                </a:lnTo>
                <a:lnTo>
                  <a:pt x="609844" y="24176"/>
                </a:lnTo>
                <a:lnTo>
                  <a:pt x="674816" y="17966"/>
                </a:lnTo>
                <a:lnTo>
                  <a:pt x="741979" y="12618"/>
                </a:lnTo>
                <a:lnTo>
                  <a:pt x="811168" y="8166"/>
                </a:lnTo>
                <a:lnTo>
                  <a:pt x="882219" y="4644"/>
                </a:lnTo>
                <a:lnTo>
                  <a:pt x="954968" y="2087"/>
                </a:lnTo>
                <a:lnTo>
                  <a:pt x="1029249" y="527"/>
                </a:lnTo>
                <a:lnTo>
                  <a:pt x="1104900" y="0"/>
                </a:lnTo>
                <a:lnTo>
                  <a:pt x="1180550" y="527"/>
                </a:lnTo>
                <a:lnTo>
                  <a:pt x="1254831" y="2087"/>
                </a:lnTo>
                <a:lnTo>
                  <a:pt x="1327580" y="4644"/>
                </a:lnTo>
                <a:lnTo>
                  <a:pt x="1398631" y="8166"/>
                </a:lnTo>
                <a:lnTo>
                  <a:pt x="1467820" y="12618"/>
                </a:lnTo>
                <a:lnTo>
                  <a:pt x="1534983" y="17966"/>
                </a:lnTo>
                <a:lnTo>
                  <a:pt x="1599955" y="24176"/>
                </a:lnTo>
                <a:lnTo>
                  <a:pt x="1662571" y="31213"/>
                </a:lnTo>
                <a:lnTo>
                  <a:pt x="1722666" y="39045"/>
                </a:lnTo>
                <a:lnTo>
                  <a:pt x="1780078" y="47636"/>
                </a:lnTo>
                <a:lnTo>
                  <a:pt x="1834639" y="56952"/>
                </a:lnTo>
                <a:lnTo>
                  <a:pt x="1886188" y="66960"/>
                </a:lnTo>
                <a:lnTo>
                  <a:pt x="1934557" y="77626"/>
                </a:lnTo>
                <a:lnTo>
                  <a:pt x="1979584" y="88915"/>
                </a:lnTo>
                <a:lnTo>
                  <a:pt x="2021104" y="100793"/>
                </a:lnTo>
                <a:lnTo>
                  <a:pt x="2058952" y="113227"/>
                </a:lnTo>
                <a:lnTo>
                  <a:pt x="2122973" y="139624"/>
                </a:lnTo>
                <a:lnTo>
                  <a:pt x="2170332" y="167834"/>
                </a:lnTo>
                <a:lnTo>
                  <a:pt x="2199713" y="197583"/>
                </a:lnTo>
                <a:lnTo>
                  <a:pt x="2209800" y="228600"/>
                </a:lnTo>
                <a:lnTo>
                  <a:pt x="2209800" y="1143000"/>
                </a:lnTo>
                <a:lnTo>
                  <a:pt x="2187352" y="1189066"/>
                </a:lnTo>
                <a:lnTo>
                  <a:pt x="2148818" y="1218080"/>
                </a:lnTo>
                <a:lnTo>
                  <a:pt x="2092963" y="1245417"/>
                </a:lnTo>
                <a:lnTo>
                  <a:pt x="2021104" y="1270806"/>
                </a:lnTo>
                <a:lnTo>
                  <a:pt x="1979584" y="1282684"/>
                </a:lnTo>
                <a:lnTo>
                  <a:pt x="1934557" y="1293973"/>
                </a:lnTo>
                <a:lnTo>
                  <a:pt x="1886188" y="1304639"/>
                </a:lnTo>
                <a:lnTo>
                  <a:pt x="1834639" y="1314647"/>
                </a:lnTo>
                <a:lnTo>
                  <a:pt x="1780078" y="1323963"/>
                </a:lnTo>
                <a:lnTo>
                  <a:pt x="1722666" y="1332554"/>
                </a:lnTo>
                <a:lnTo>
                  <a:pt x="1662571" y="1340386"/>
                </a:lnTo>
                <a:lnTo>
                  <a:pt x="1599955" y="1347423"/>
                </a:lnTo>
                <a:lnTo>
                  <a:pt x="1534983" y="1353633"/>
                </a:lnTo>
                <a:lnTo>
                  <a:pt x="1467820" y="1358981"/>
                </a:lnTo>
                <a:lnTo>
                  <a:pt x="1398631" y="1363433"/>
                </a:lnTo>
                <a:lnTo>
                  <a:pt x="1327580" y="1366955"/>
                </a:lnTo>
                <a:lnTo>
                  <a:pt x="1254831" y="1369512"/>
                </a:lnTo>
                <a:lnTo>
                  <a:pt x="1180550" y="1371072"/>
                </a:lnTo>
                <a:lnTo>
                  <a:pt x="1104900" y="1371600"/>
                </a:lnTo>
                <a:lnTo>
                  <a:pt x="1029249" y="1371072"/>
                </a:lnTo>
                <a:lnTo>
                  <a:pt x="954968" y="1369512"/>
                </a:lnTo>
                <a:lnTo>
                  <a:pt x="882219" y="1366955"/>
                </a:lnTo>
                <a:lnTo>
                  <a:pt x="811168" y="1363433"/>
                </a:lnTo>
                <a:lnTo>
                  <a:pt x="741979" y="1358981"/>
                </a:lnTo>
                <a:lnTo>
                  <a:pt x="674816" y="1353633"/>
                </a:lnTo>
                <a:lnTo>
                  <a:pt x="609844" y="1347423"/>
                </a:lnTo>
                <a:lnTo>
                  <a:pt x="547228" y="1340386"/>
                </a:lnTo>
                <a:lnTo>
                  <a:pt x="487133" y="1332554"/>
                </a:lnTo>
                <a:lnTo>
                  <a:pt x="429721" y="1323963"/>
                </a:lnTo>
                <a:lnTo>
                  <a:pt x="375160" y="1314647"/>
                </a:lnTo>
                <a:lnTo>
                  <a:pt x="323611" y="1304639"/>
                </a:lnTo>
                <a:lnTo>
                  <a:pt x="275242" y="1293973"/>
                </a:lnTo>
                <a:lnTo>
                  <a:pt x="230215" y="1282684"/>
                </a:lnTo>
                <a:lnTo>
                  <a:pt x="188695" y="1270806"/>
                </a:lnTo>
                <a:lnTo>
                  <a:pt x="150847" y="1258372"/>
                </a:lnTo>
                <a:lnTo>
                  <a:pt x="86826" y="1231975"/>
                </a:lnTo>
                <a:lnTo>
                  <a:pt x="39467" y="1203765"/>
                </a:lnTo>
                <a:lnTo>
                  <a:pt x="10086" y="1174016"/>
                </a:lnTo>
                <a:lnTo>
                  <a:pt x="0" y="1143000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71852" y="4517897"/>
            <a:ext cx="12077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MySQL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abase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71600" y="1828800"/>
            <a:ext cx="2057400" cy="838200"/>
          </a:xfrm>
          <a:custGeom>
            <a:avLst/>
            <a:gdLst/>
            <a:ahLst/>
            <a:cxnLst/>
            <a:rect l="l" t="t" r="r" b="b"/>
            <a:pathLst>
              <a:path w="2057400" h="838200">
                <a:moveTo>
                  <a:pt x="0" y="838200"/>
                </a:moveTo>
                <a:lnTo>
                  <a:pt x="2057400" y="838200"/>
                </a:lnTo>
                <a:lnTo>
                  <a:pt x="2057400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71600" y="1828800"/>
            <a:ext cx="2057400" cy="838200"/>
          </a:xfrm>
          <a:custGeom>
            <a:avLst/>
            <a:gdLst/>
            <a:ahLst/>
            <a:cxnLst/>
            <a:rect l="l" t="t" r="r" b="b"/>
            <a:pathLst>
              <a:path w="2057400" h="838200">
                <a:moveTo>
                  <a:pt x="0" y="838200"/>
                </a:moveTo>
                <a:lnTo>
                  <a:pt x="2057400" y="838200"/>
                </a:lnTo>
                <a:lnTo>
                  <a:pt x="2057400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28586" y="1570456"/>
            <a:ext cx="3282205" cy="20123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64563" y="2647188"/>
            <a:ext cx="423672" cy="17023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90821" y="2667000"/>
            <a:ext cx="171450" cy="1448435"/>
          </a:xfrm>
          <a:custGeom>
            <a:avLst/>
            <a:gdLst/>
            <a:ahLst/>
            <a:cxnLst/>
            <a:rect l="l" t="t" r="r" b="b"/>
            <a:pathLst>
              <a:path w="171450" h="1448435">
                <a:moveTo>
                  <a:pt x="16446" y="1276877"/>
                </a:moveTo>
                <a:lnTo>
                  <a:pt x="9251" y="1279270"/>
                </a:lnTo>
                <a:lnTo>
                  <a:pt x="3643" y="1284323"/>
                </a:lnTo>
                <a:lnTo>
                  <a:pt x="488" y="1290923"/>
                </a:lnTo>
                <a:lnTo>
                  <a:pt x="0" y="1298237"/>
                </a:lnTo>
                <a:lnTo>
                  <a:pt x="2393" y="1305433"/>
                </a:lnTo>
                <a:lnTo>
                  <a:pt x="85578" y="1447927"/>
                </a:lnTo>
                <a:lnTo>
                  <a:pt x="107671" y="1410081"/>
                </a:lnTo>
                <a:lnTo>
                  <a:pt x="66528" y="1410081"/>
                </a:lnTo>
                <a:lnTo>
                  <a:pt x="66528" y="1339469"/>
                </a:lnTo>
                <a:lnTo>
                  <a:pt x="35413" y="1286129"/>
                </a:lnTo>
                <a:lnTo>
                  <a:pt x="30360" y="1280521"/>
                </a:lnTo>
                <a:lnTo>
                  <a:pt x="23760" y="1277366"/>
                </a:lnTo>
                <a:lnTo>
                  <a:pt x="16446" y="1276877"/>
                </a:lnTo>
                <a:close/>
              </a:path>
              <a:path w="171450" h="1448435">
                <a:moveTo>
                  <a:pt x="66528" y="1339469"/>
                </a:moveTo>
                <a:lnTo>
                  <a:pt x="66528" y="1410081"/>
                </a:lnTo>
                <a:lnTo>
                  <a:pt x="104628" y="1410081"/>
                </a:lnTo>
                <a:lnTo>
                  <a:pt x="104628" y="1400429"/>
                </a:lnTo>
                <a:lnTo>
                  <a:pt x="69068" y="1400429"/>
                </a:lnTo>
                <a:lnTo>
                  <a:pt x="85578" y="1372126"/>
                </a:lnTo>
                <a:lnTo>
                  <a:pt x="66528" y="1339469"/>
                </a:lnTo>
                <a:close/>
              </a:path>
              <a:path w="171450" h="1448435">
                <a:moveTo>
                  <a:pt x="154709" y="1276877"/>
                </a:moveTo>
                <a:lnTo>
                  <a:pt x="147395" y="1277366"/>
                </a:lnTo>
                <a:lnTo>
                  <a:pt x="140795" y="1280521"/>
                </a:lnTo>
                <a:lnTo>
                  <a:pt x="135743" y="1286129"/>
                </a:lnTo>
                <a:lnTo>
                  <a:pt x="104628" y="1339469"/>
                </a:lnTo>
                <a:lnTo>
                  <a:pt x="104628" y="1410081"/>
                </a:lnTo>
                <a:lnTo>
                  <a:pt x="107671" y="1410081"/>
                </a:lnTo>
                <a:lnTo>
                  <a:pt x="168763" y="1305433"/>
                </a:lnTo>
                <a:lnTo>
                  <a:pt x="171156" y="1298237"/>
                </a:lnTo>
                <a:lnTo>
                  <a:pt x="170668" y="1290923"/>
                </a:lnTo>
                <a:lnTo>
                  <a:pt x="167512" y="1284323"/>
                </a:lnTo>
                <a:lnTo>
                  <a:pt x="161905" y="1279270"/>
                </a:lnTo>
                <a:lnTo>
                  <a:pt x="154709" y="1276877"/>
                </a:lnTo>
                <a:close/>
              </a:path>
              <a:path w="171450" h="1448435">
                <a:moveTo>
                  <a:pt x="85578" y="1372126"/>
                </a:moveTo>
                <a:lnTo>
                  <a:pt x="69068" y="1400429"/>
                </a:lnTo>
                <a:lnTo>
                  <a:pt x="102088" y="1400429"/>
                </a:lnTo>
                <a:lnTo>
                  <a:pt x="85578" y="1372126"/>
                </a:lnTo>
                <a:close/>
              </a:path>
              <a:path w="171450" h="1448435">
                <a:moveTo>
                  <a:pt x="104628" y="1339469"/>
                </a:moveTo>
                <a:lnTo>
                  <a:pt x="85578" y="1372126"/>
                </a:lnTo>
                <a:lnTo>
                  <a:pt x="102088" y="1400429"/>
                </a:lnTo>
                <a:lnTo>
                  <a:pt x="104628" y="1400429"/>
                </a:lnTo>
                <a:lnTo>
                  <a:pt x="104628" y="1339469"/>
                </a:lnTo>
                <a:close/>
              </a:path>
              <a:path w="171450" h="1448435">
                <a:moveTo>
                  <a:pt x="104628" y="0"/>
                </a:moveTo>
                <a:lnTo>
                  <a:pt x="66528" y="0"/>
                </a:lnTo>
                <a:lnTo>
                  <a:pt x="66528" y="1339469"/>
                </a:lnTo>
                <a:lnTo>
                  <a:pt x="85578" y="1372126"/>
                </a:lnTo>
                <a:lnTo>
                  <a:pt x="104628" y="1339469"/>
                </a:lnTo>
                <a:lnTo>
                  <a:pt x="10462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36164" y="2478023"/>
            <a:ext cx="423672" cy="17023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62421" y="2666873"/>
            <a:ext cx="171450" cy="1448435"/>
          </a:xfrm>
          <a:custGeom>
            <a:avLst/>
            <a:gdLst/>
            <a:ahLst/>
            <a:cxnLst/>
            <a:rect l="l" t="t" r="r" b="b"/>
            <a:pathLst>
              <a:path w="171450" h="1448435">
                <a:moveTo>
                  <a:pt x="85578" y="75800"/>
                </a:moveTo>
                <a:lnTo>
                  <a:pt x="66528" y="108458"/>
                </a:lnTo>
                <a:lnTo>
                  <a:pt x="66528" y="1447927"/>
                </a:lnTo>
                <a:lnTo>
                  <a:pt x="104628" y="1447927"/>
                </a:lnTo>
                <a:lnTo>
                  <a:pt x="104628" y="108458"/>
                </a:lnTo>
                <a:lnTo>
                  <a:pt x="85578" y="75800"/>
                </a:lnTo>
                <a:close/>
              </a:path>
              <a:path w="171450" h="1448435">
                <a:moveTo>
                  <a:pt x="85578" y="0"/>
                </a:moveTo>
                <a:lnTo>
                  <a:pt x="2393" y="142493"/>
                </a:lnTo>
                <a:lnTo>
                  <a:pt x="0" y="149689"/>
                </a:lnTo>
                <a:lnTo>
                  <a:pt x="488" y="157003"/>
                </a:lnTo>
                <a:lnTo>
                  <a:pt x="3643" y="163603"/>
                </a:lnTo>
                <a:lnTo>
                  <a:pt x="9251" y="168655"/>
                </a:lnTo>
                <a:lnTo>
                  <a:pt x="16446" y="171049"/>
                </a:lnTo>
                <a:lnTo>
                  <a:pt x="23760" y="170561"/>
                </a:lnTo>
                <a:lnTo>
                  <a:pt x="30360" y="167405"/>
                </a:lnTo>
                <a:lnTo>
                  <a:pt x="35413" y="161798"/>
                </a:lnTo>
                <a:lnTo>
                  <a:pt x="66528" y="108458"/>
                </a:lnTo>
                <a:lnTo>
                  <a:pt x="66528" y="37846"/>
                </a:lnTo>
                <a:lnTo>
                  <a:pt x="107671" y="37846"/>
                </a:lnTo>
                <a:lnTo>
                  <a:pt x="85578" y="0"/>
                </a:lnTo>
                <a:close/>
              </a:path>
              <a:path w="171450" h="1448435">
                <a:moveTo>
                  <a:pt x="107671" y="37846"/>
                </a:moveTo>
                <a:lnTo>
                  <a:pt x="104628" y="37846"/>
                </a:lnTo>
                <a:lnTo>
                  <a:pt x="104628" y="108458"/>
                </a:lnTo>
                <a:lnTo>
                  <a:pt x="135743" y="161798"/>
                </a:lnTo>
                <a:lnTo>
                  <a:pt x="140795" y="167405"/>
                </a:lnTo>
                <a:lnTo>
                  <a:pt x="147395" y="170561"/>
                </a:lnTo>
                <a:lnTo>
                  <a:pt x="154709" y="171049"/>
                </a:lnTo>
                <a:lnTo>
                  <a:pt x="161905" y="168655"/>
                </a:lnTo>
                <a:lnTo>
                  <a:pt x="167512" y="163603"/>
                </a:lnTo>
                <a:lnTo>
                  <a:pt x="170668" y="157003"/>
                </a:lnTo>
                <a:lnTo>
                  <a:pt x="171156" y="149689"/>
                </a:lnTo>
                <a:lnTo>
                  <a:pt x="168763" y="142493"/>
                </a:lnTo>
                <a:lnTo>
                  <a:pt x="107671" y="37846"/>
                </a:lnTo>
                <a:close/>
              </a:path>
              <a:path w="171450" h="1448435">
                <a:moveTo>
                  <a:pt x="104628" y="37846"/>
                </a:moveTo>
                <a:lnTo>
                  <a:pt x="66528" y="37846"/>
                </a:lnTo>
                <a:lnTo>
                  <a:pt x="66528" y="108458"/>
                </a:lnTo>
                <a:lnTo>
                  <a:pt x="85578" y="75800"/>
                </a:lnTo>
                <a:lnTo>
                  <a:pt x="69068" y="47498"/>
                </a:lnTo>
                <a:lnTo>
                  <a:pt x="104628" y="47498"/>
                </a:lnTo>
                <a:lnTo>
                  <a:pt x="104628" y="37846"/>
                </a:lnTo>
                <a:close/>
              </a:path>
              <a:path w="171450" h="1448435">
                <a:moveTo>
                  <a:pt x="104628" y="47498"/>
                </a:moveTo>
                <a:lnTo>
                  <a:pt x="102088" y="47498"/>
                </a:lnTo>
                <a:lnTo>
                  <a:pt x="85578" y="75800"/>
                </a:lnTo>
                <a:lnTo>
                  <a:pt x="104628" y="108458"/>
                </a:lnTo>
                <a:lnTo>
                  <a:pt x="104628" y="47498"/>
                </a:lnTo>
                <a:close/>
              </a:path>
              <a:path w="171450" h="1448435">
                <a:moveTo>
                  <a:pt x="102088" y="47498"/>
                </a:moveTo>
                <a:lnTo>
                  <a:pt x="69068" y="47498"/>
                </a:lnTo>
                <a:lnTo>
                  <a:pt x="85578" y="75800"/>
                </a:lnTo>
                <a:lnTo>
                  <a:pt x="102088" y="47498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86328" y="2249423"/>
            <a:ext cx="2540507" cy="423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9000" y="2352821"/>
            <a:ext cx="2286635" cy="171450"/>
          </a:xfrm>
          <a:custGeom>
            <a:avLst/>
            <a:gdLst/>
            <a:ahLst/>
            <a:cxnLst/>
            <a:rect l="l" t="t" r="r" b="b"/>
            <a:pathLst>
              <a:path w="2286635" h="171450">
                <a:moveTo>
                  <a:pt x="2210326" y="85578"/>
                </a:moveTo>
                <a:lnTo>
                  <a:pt x="2124329" y="135743"/>
                </a:lnTo>
                <a:lnTo>
                  <a:pt x="2118721" y="140795"/>
                </a:lnTo>
                <a:lnTo>
                  <a:pt x="2115566" y="147395"/>
                </a:lnTo>
                <a:lnTo>
                  <a:pt x="2115077" y="154709"/>
                </a:lnTo>
                <a:lnTo>
                  <a:pt x="2117471" y="161905"/>
                </a:lnTo>
                <a:lnTo>
                  <a:pt x="2122523" y="167512"/>
                </a:lnTo>
                <a:lnTo>
                  <a:pt x="2129123" y="170668"/>
                </a:lnTo>
                <a:lnTo>
                  <a:pt x="2136437" y="171156"/>
                </a:lnTo>
                <a:lnTo>
                  <a:pt x="2143633" y="168763"/>
                </a:lnTo>
                <a:lnTo>
                  <a:pt x="2253494" y="104628"/>
                </a:lnTo>
                <a:lnTo>
                  <a:pt x="2248280" y="104628"/>
                </a:lnTo>
                <a:lnTo>
                  <a:pt x="2248280" y="102088"/>
                </a:lnTo>
                <a:lnTo>
                  <a:pt x="2238629" y="102088"/>
                </a:lnTo>
                <a:lnTo>
                  <a:pt x="2210326" y="85578"/>
                </a:lnTo>
                <a:close/>
              </a:path>
              <a:path w="2286635" h="171450">
                <a:moveTo>
                  <a:pt x="2177668" y="66528"/>
                </a:moveTo>
                <a:lnTo>
                  <a:pt x="0" y="66528"/>
                </a:lnTo>
                <a:lnTo>
                  <a:pt x="0" y="104628"/>
                </a:lnTo>
                <a:lnTo>
                  <a:pt x="2177668" y="104628"/>
                </a:lnTo>
                <a:lnTo>
                  <a:pt x="2210326" y="85578"/>
                </a:lnTo>
                <a:lnTo>
                  <a:pt x="2177668" y="66528"/>
                </a:lnTo>
                <a:close/>
              </a:path>
              <a:path w="2286635" h="171450">
                <a:moveTo>
                  <a:pt x="2253494" y="66528"/>
                </a:moveTo>
                <a:lnTo>
                  <a:pt x="2248280" y="66528"/>
                </a:lnTo>
                <a:lnTo>
                  <a:pt x="2248280" y="104628"/>
                </a:lnTo>
                <a:lnTo>
                  <a:pt x="2253494" y="104628"/>
                </a:lnTo>
                <a:lnTo>
                  <a:pt x="2286127" y="85578"/>
                </a:lnTo>
                <a:lnTo>
                  <a:pt x="2253494" y="66528"/>
                </a:lnTo>
                <a:close/>
              </a:path>
              <a:path w="2286635" h="171450">
                <a:moveTo>
                  <a:pt x="2238629" y="69068"/>
                </a:moveTo>
                <a:lnTo>
                  <a:pt x="2210326" y="85578"/>
                </a:lnTo>
                <a:lnTo>
                  <a:pt x="2238629" y="102088"/>
                </a:lnTo>
                <a:lnTo>
                  <a:pt x="2238629" y="69068"/>
                </a:lnTo>
                <a:close/>
              </a:path>
              <a:path w="2286635" h="171450">
                <a:moveTo>
                  <a:pt x="2248280" y="69068"/>
                </a:moveTo>
                <a:lnTo>
                  <a:pt x="2238629" y="69068"/>
                </a:lnTo>
                <a:lnTo>
                  <a:pt x="2238629" y="102088"/>
                </a:lnTo>
                <a:lnTo>
                  <a:pt x="2248280" y="102088"/>
                </a:lnTo>
                <a:lnTo>
                  <a:pt x="2248280" y="69068"/>
                </a:lnTo>
                <a:close/>
              </a:path>
              <a:path w="2286635" h="171450">
                <a:moveTo>
                  <a:pt x="2136437" y="0"/>
                </a:moveTo>
                <a:lnTo>
                  <a:pt x="2129123" y="488"/>
                </a:lnTo>
                <a:lnTo>
                  <a:pt x="2122523" y="3643"/>
                </a:lnTo>
                <a:lnTo>
                  <a:pt x="2117471" y="9251"/>
                </a:lnTo>
                <a:lnTo>
                  <a:pt x="2115077" y="16446"/>
                </a:lnTo>
                <a:lnTo>
                  <a:pt x="2115566" y="23760"/>
                </a:lnTo>
                <a:lnTo>
                  <a:pt x="2118721" y="30360"/>
                </a:lnTo>
                <a:lnTo>
                  <a:pt x="2124329" y="35413"/>
                </a:lnTo>
                <a:lnTo>
                  <a:pt x="2210326" y="85578"/>
                </a:lnTo>
                <a:lnTo>
                  <a:pt x="2238629" y="69068"/>
                </a:lnTo>
                <a:lnTo>
                  <a:pt x="2248280" y="69068"/>
                </a:lnTo>
                <a:lnTo>
                  <a:pt x="2248280" y="66528"/>
                </a:lnTo>
                <a:lnTo>
                  <a:pt x="2253494" y="66528"/>
                </a:lnTo>
                <a:lnTo>
                  <a:pt x="2143633" y="2393"/>
                </a:lnTo>
                <a:lnTo>
                  <a:pt x="2136437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17164" y="1792223"/>
            <a:ext cx="2540508" cy="4236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28872" y="1895621"/>
            <a:ext cx="2286635" cy="171450"/>
          </a:xfrm>
          <a:custGeom>
            <a:avLst/>
            <a:gdLst/>
            <a:ahLst/>
            <a:cxnLst/>
            <a:rect l="l" t="t" r="r" b="b"/>
            <a:pathLst>
              <a:path w="2286635" h="171450">
                <a:moveTo>
                  <a:pt x="149689" y="0"/>
                </a:moveTo>
                <a:lnTo>
                  <a:pt x="142493" y="2393"/>
                </a:lnTo>
                <a:lnTo>
                  <a:pt x="0" y="85578"/>
                </a:lnTo>
                <a:lnTo>
                  <a:pt x="142493" y="168763"/>
                </a:lnTo>
                <a:lnTo>
                  <a:pt x="149689" y="171156"/>
                </a:lnTo>
                <a:lnTo>
                  <a:pt x="157003" y="170668"/>
                </a:lnTo>
                <a:lnTo>
                  <a:pt x="163603" y="167512"/>
                </a:lnTo>
                <a:lnTo>
                  <a:pt x="168655" y="161905"/>
                </a:lnTo>
                <a:lnTo>
                  <a:pt x="171049" y="154709"/>
                </a:lnTo>
                <a:lnTo>
                  <a:pt x="170561" y="147395"/>
                </a:lnTo>
                <a:lnTo>
                  <a:pt x="167405" y="140795"/>
                </a:lnTo>
                <a:lnTo>
                  <a:pt x="161798" y="135743"/>
                </a:lnTo>
                <a:lnTo>
                  <a:pt x="108458" y="104628"/>
                </a:lnTo>
                <a:lnTo>
                  <a:pt x="37846" y="104628"/>
                </a:lnTo>
                <a:lnTo>
                  <a:pt x="37846" y="66528"/>
                </a:lnTo>
                <a:lnTo>
                  <a:pt x="108458" y="66528"/>
                </a:lnTo>
                <a:lnTo>
                  <a:pt x="161798" y="35413"/>
                </a:lnTo>
                <a:lnTo>
                  <a:pt x="167405" y="30360"/>
                </a:lnTo>
                <a:lnTo>
                  <a:pt x="170560" y="23760"/>
                </a:lnTo>
                <a:lnTo>
                  <a:pt x="171049" y="16446"/>
                </a:lnTo>
                <a:lnTo>
                  <a:pt x="168655" y="9251"/>
                </a:lnTo>
                <a:lnTo>
                  <a:pt x="163603" y="3643"/>
                </a:lnTo>
                <a:lnTo>
                  <a:pt x="157003" y="488"/>
                </a:lnTo>
                <a:lnTo>
                  <a:pt x="149689" y="0"/>
                </a:lnTo>
                <a:close/>
              </a:path>
              <a:path w="2286635" h="171450">
                <a:moveTo>
                  <a:pt x="108458" y="66528"/>
                </a:moveTo>
                <a:lnTo>
                  <a:pt x="37846" y="66528"/>
                </a:lnTo>
                <a:lnTo>
                  <a:pt x="37846" y="104628"/>
                </a:lnTo>
                <a:lnTo>
                  <a:pt x="108458" y="104628"/>
                </a:lnTo>
                <a:lnTo>
                  <a:pt x="104103" y="102088"/>
                </a:lnTo>
                <a:lnTo>
                  <a:pt x="47498" y="102088"/>
                </a:lnTo>
                <a:lnTo>
                  <a:pt x="47498" y="69068"/>
                </a:lnTo>
                <a:lnTo>
                  <a:pt x="104103" y="69068"/>
                </a:lnTo>
                <a:lnTo>
                  <a:pt x="108458" y="66528"/>
                </a:lnTo>
                <a:close/>
              </a:path>
              <a:path w="2286635" h="171450">
                <a:moveTo>
                  <a:pt x="2286127" y="66528"/>
                </a:moveTo>
                <a:lnTo>
                  <a:pt x="108458" y="66528"/>
                </a:lnTo>
                <a:lnTo>
                  <a:pt x="75800" y="85578"/>
                </a:lnTo>
                <a:lnTo>
                  <a:pt x="108458" y="104628"/>
                </a:lnTo>
                <a:lnTo>
                  <a:pt x="2286127" y="104628"/>
                </a:lnTo>
                <a:lnTo>
                  <a:pt x="2286127" y="66528"/>
                </a:lnTo>
                <a:close/>
              </a:path>
              <a:path w="2286635" h="171450">
                <a:moveTo>
                  <a:pt x="47498" y="69068"/>
                </a:moveTo>
                <a:lnTo>
                  <a:pt x="47498" y="102088"/>
                </a:lnTo>
                <a:lnTo>
                  <a:pt x="75800" y="85578"/>
                </a:lnTo>
                <a:lnTo>
                  <a:pt x="47498" y="69068"/>
                </a:lnTo>
                <a:close/>
              </a:path>
              <a:path w="2286635" h="171450">
                <a:moveTo>
                  <a:pt x="75800" y="85578"/>
                </a:moveTo>
                <a:lnTo>
                  <a:pt x="47498" y="102088"/>
                </a:lnTo>
                <a:lnTo>
                  <a:pt x="104103" y="102088"/>
                </a:lnTo>
                <a:lnTo>
                  <a:pt x="75800" y="85578"/>
                </a:lnTo>
                <a:close/>
              </a:path>
              <a:path w="2286635" h="171450">
                <a:moveTo>
                  <a:pt x="104103" y="69068"/>
                </a:moveTo>
                <a:lnTo>
                  <a:pt x="47498" y="69068"/>
                </a:lnTo>
                <a:lnTo>
                  <a:pt x="75800" y="85578"/>
                </a:lnTo>
                <a:lnTo>
                  <a:pt x="104103" y="69068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24000" y="2971800"/>
            <a:ext cx="1905000" cy="914400"/>
          </a:xfrm>
          <a:custGeom>
            <a:avLst/>
            <a:gdLst/>
            <a:ahLst/>
            <a:cxnLst/>
            <a:rect l="l" t="t" r="r" b="b"/>
            <a:pathLst>
              <a:path w="1905000" h="914400">
                <a:moveTo>
                  <a:pt x="952500" y="0"/>
                </a:moveTo>
                <a:lnTo>
                  <a:pt x="889874" y="972"/>
                </a:lnTo>
                <a:lnTo>
                  <a:pt x="828330" y="3850"/>
                </a:lnTo>
                <a:lnTo>
                  <a:pt x="767993" y="8572"/>
                </a:lnTo>
                <a:lnTo>
                  <a:pt x="708989" y="15079"/>
                </a:lnTo>
                <a:lnTo>
                  <a:pt x="651442" y="23311"/>
                </a:lnTo>
                <a:lnTo>
                  <a:pt x="595479" y="33206"/>
                </a:lnTo>
                <a:lnTo>
                  <a:pt x="541225" y="44705"/>
                </a:lnTo>
                <a:lnTo>
                  <a:pt x="488806" y="57747"/>
                </a:lnTo>
                <a:lnTo>
                  <a:pt x="438347" y="72273"/>
                </a:lnTo>
                <a:lnTo>
                  <a:pt x="389973" y="88221"/>
                </a:lnTo>
                <a:lnTo>
                  <a:pt x="343810" y="105532"/>
                </a:lnTo>
                <a:lnTo>
                  <a:pt x="299984" y="124145"/>
                </a:lnTo>
                <a:lnTo>
                  <a:pt x="258620" y="144000"/>
                </a:lnTo>
                <a:lnTo>
                  <a:pt x="219844" y="165037"/>
                </a:lnTo>
                <a:lnTo>
                  <a:pt x="183782" y="187195"/>
                </a:lnTo>
                <a:lnTo>
                  <a:pt x="150558" y="210415"/>
                </a:lnTo>
                <a:lnTo>
                  <a:pt x="120298" y="234636"/>
                </a:lnTo>
                <a:lnTo>
                  <a:pt x="69174" y="285838"/>
                </a:lnTo>
                <a:lnTo>
                  <a:pt x="31413" y="340321"/>
                </a:lnTo>
                <a:lnTo>
                  <a:pt x="8020" y="397602"/>
                </a:lnTo>
                <a:lnTo>
                  <a:pt x="0" y="457200"/>
                </a:lnTo>
                <a:lnTo>
                  <a:pt x="2026" y="487257"/>
                </a:lnTo>
                <a:lnTo>
                  <a:pt x="17858" y="545757"/>
                </a:lnTo>
                <a:lnTo>
                  <a:pt x="48560" y="601699"/>
                </a:lnTo>
                <a:lnTo>
                  <a:pt x="93128" y="654602"/>
                </a:lnTo>
                <a:lnTo>
                  <a:pt x="150558" y="703984"/>
                </a:lnTo>
                <a:lnTo>
                  <a:pt x="183782" y="727204"/>
                </a:lnTo>
                <a:lnTo>
                  <a:pt x="219844" y="749362"/>
                </a:lnTo>
                <a:lnTo>
                  <a:pt x="258620" y="770399"/>
                </a:lnTo>
                <a:lnTo>
                  <a:pt x="299984" y="790254"/>
                </a:lnTo>
                <a:lnTo>
                  <a:pt x="343810" y="808867"/>
                </a:lnTo>
                <a:lnTo>
                  <a:pt x="389973" y="826178"/>
                </a:lnTo>
                <a:lnTo>
                  <a:pt x="438347" y="842126"/>
                </a:lnTo>
                <a:lnTo>
                  <a:pt x="488806" y="856652"/>
                </a:lnTo>
                <a:lnTo>
                  <a:pt x="541225" y="869694"/>
                </a:lnTo>
                <a:lnTo>
                  <a:pt x="595479" y="881193"/>
                </a:lnTo>
                <a:lnTo>
                  <a:pt x="651442" y="891088"/>
                </a:lnTo>
                <a:lnTo>
                  <a:pt x="708989" y="899320"/>
                </a:lnTo>
                <a:lnTo>
                  <a:pt x="767993" y="905827"/>
                </a:lnTo>
                <a:lnTo>
                  <a:pt x="828330" y="910549"/>
                </a:lnTo>
                <a:lnTo>
                  <a:pt x="889874" y="913427"/>
                </a:lnTo>
                <a:lnTo>
                  <a:pt x="952500" y="914400"/>
                </a:lnTo>
                <a:lnTo>
                  <a:pt x="1015125" y="913427"/>
                </a:lnTo>
                <a:lnTo>
                  <a:pt x="1076669" y="910549"/>
                </a:lnTo>
                <a:lnTo>
                  <a:pt x="1137006" y="905827"/>
                </a:lnTo>
                <a:lnTo>
                  <a:pt x="1196010" y="899320"/>
                </a:lnTo>
                <a:lnTo>
                  <a:pt x="1253557" y="891088"/>
                </a:lnTo>
                <a:lnTo>
                  <a:pt x="1309520" y="881193"/>
                </a:lnTo>
                <a:lnTo>
                  <a:pt x="1363774" y="869694"/>
                </a:lnTo>
                <a:lnTo>
                  <a:pt x="1416193" y="856652"/>
                </a:lnTo>
                <a:lnTo>
                  <a:pt x="1466652" y="842126"/>
                </a:lnTo>
                <a:lnTo>
                  <a:pt x="1515026" y="826178"/>
                </a:lnTo>
                <a:lnTo>
                  <a:pt x="1561189" y="808867"/>
                </a:lnTo>
                <a:lnTo>
                  <a:pt x="1605015" y="790254"/>
                </a:lnTo>
                <a:lnTo>
                  <a:pt x="1646379" y="770399"/>
                </a:lnTo>
                <a:lnTo>
                  <a:pt x="1685155" y="749362"/>
                </a:lnTo>
                <a:lnTo>
                  <a:pt x="1721217" y="727204"/>
                </a:lnTo>
                <a:lnTo>
                  <a:pt x="1754441" y="703984"/>
                </a:lnTo>
                <a:lnTo>
                  <a:pt x="1784701" y="679763"/>
                </a:lnTo>
                <a:lnTo>
                  <a:pt x="1835825" y="628561"/>
                </a:lnTo>
                <a:lnTo>
                  <a:pt x="1873586" y="574078"/>
                </a:lnTo>
                <a:lnTo>
                  <a:pt x="1896979" y="516797"/>
                </a:lnTo>
                <a:lnTo>
                  <a:pt x="1905000" y="457200"/>
                </a:lnTo>
                <a:lnTo>
                  <a:pt x="1902973" y="427142"/>
                </a:lnTo>
                <a:lnTo>
                  <a:pt x="1887141" y="368642"/>
                </a:lnTo>
                <a:lnTo>
                  <a:pt x="1856439" y="312700"/>
                </a:lnTo>
                <a:lnTo>
                  <a:pt x="1811871" y="259797"/>
                </a:lnTo>
                <a:lnTo>
                  <a:pt x="1754441" y="210415"/>
                </a:lnTo>
                <a:lnTo>
                  <a:pt x="1721217" y="187195"/>
                </a:lnTo>
                <a:lnTo>
                  <a:pt x="1685155" y="165037"/>
                </a:lnTo>
                <a:lnTo>
                  <a:pt x="1646379" y="144000"/>
                </a:lnTo>
                <a:lnTo>
                  <a:pt x="1605015" y="124145"/>
                </a:lnTo>
                <a:lnTo>
                  <a:pt x="1561189" y="105532"/>
                </a:lnTo>
                <a:lnTo>
                  <a:pt x="1515026" y="88221"/>
                </a:lnTo>
                <a:lnTo>
                  <a:pt x="1466652" y="72273"/>
                </a:lnTo>
                <a:lnTo>
                  <a:pt x="1416193" y="57747"/>
                </a:lnTo>
                <a:lnTo>
                  <a:pt x="1363774" y="44705"/>
                </a:lnTo>
                <a:lnTo>
                  <a:pt x="1309520" y="33206"/>
                </a:lnTo>
                <a:lnTo>
                  <a:pt x="1253557" y="23311"/>
                </a:lnTo>
                <a:lnTo>
                  <a:pt x="1196010" y="15079"/>
                </a:lnTo>
                <a:lnTo>
                  <a:pt x="1137006" y="8572"/>
                </a:lnTo>
                <a:lnTo>
                  <a:pt x="1076669" y="3850"/>
                </a:lnTo>
                <a:lnTo>
                  <a:pt x="1015125" y="972"/>
                </a:lnTo>
                <a:lnTo>
                  <a:pt x="9525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24000" y="2971800"/>
            <a:ext cx="1905000" cy="914400"/>
          </a:xfrm>
          <a:custGeom>
            <a:avLst/>
            <a:gdLst/>
            <a:ahLst/>
            <a:cxnLst/>
            <a:rect l="l" t="t" r="r" b="b"/>
            <a:pathLst>
              <a:path w="1905000" h="914400">
                <a:moveTo>
                  <a:pt x="0" y="457200"/>
                </a:moveTo>
                <a:lnTo>
                  <a:pt x="8020" y="397602"/>
                </a:lnTo>
                <a:lnTo>
                  <a:pt x="31413" y="340321"/>
                </a:lnTo>
                <a:lnTo>
                  <a:pt x="69174" y="285838"/>
                </a:lnTo>
                <a:lnTo>
                  <a:pt x="120298" y="234636"/>
                </a:lnTo>
                <a:lnTo>
                  <a:pt x="150558" y="210415"/>
                </a:lnTo>
                <a:lnTo>
                  <a:pt x="183782" y="187195"/>
                </a:lnTo>
                <a:lnTo>
                  <a:pt x="219844" y="165037"/>
                </a:lnTo>
                <a:lnTo>
                  <a:pt x="258620" y="144000"/>
                </a:lnTo>
                <a:lnTo>
                  <a:pt x="299984" y="124145"/>
                </a:lnTo>
                <a:lnTo>
                  <a:pt x="343810" y="105532"/>
                </a:lnTo>
                <a:lnTo>
                  <a:pt x="389973" y="88221"/>
                </a:lnTo>
                <a:lnTo>
                  <a:pt x="438347" y="72273"/>
                </a:lnTo>
                <a:lnTo>
                  <a:pt x="488806" y="57747"/>
                </a:lnTo>
                <a:lnTo>
                  <a:pt x="541225" y="44705"/>
                </a:lnTo>
                <a:lnTo>
                  <a:pt x="595479" y="33206"/>
                </a:lnTo>
                <a:lnTo>
                  <a:pt x="651442" y="23311"/>
                </a:lnTo>
                <a:lnTo>
                  <a:pt x="708989" y="15079"/>
                </a:lnTo>
                <a:lnTo>
                  <a:pt x="767993" y="8572"/>
                </a:lnTo>
                <a:lnTo>
                  <a:pt x="828330" y="3850"/>
                </a:lnTo>
                <a:lnTo>
                  <a:pt x="889874" y="972"/>
                </a:lnTo>
                <a:lnTo>
                  <a:pt x="952500" y="0"/>
                </a:lnTo>
                <a:lnTo>
                  <a:pt x="1015125" y="972"/>
                </a:lnTo>
                <a:lnTo>
                  <a:pt x="1076669" y="3850"/>
                </a:lnTo>
                <a:lnTo>
                  <a:pt x="1137006" y="8572"/>
                </a:lnTo>
                <a:lnTo>
                  <a:pt x="1196010" y="15079"/>
                </a:lnTo>
                <a:lnTo>
                  <a:pt x="1253557" y="23311"/>
                </a:lnTo>
                <a:lnTo>
                  <a:pt x="1309520" y="33206"/>
                </a:lnTo>
                <a:lnTo>
                  <a:pt x="1363774" y="44705"/>
                </a:lnTo>
                <a:lnTo>
                  <a:pt x="1416193" y="57747"/>
                </a:lnTo>
                <a:lnTo>
                  <a:pt x="1466652" y="72273"/>
                </a:lnTo>
                <a:lnTo>
                  <a:pt x="1515026" y="88221"/>
                </a:lnTo>
                <a:lnTo>
                  <a:pt x="1561189" y="105532"/>
                </a:lnTo>
                <a:lnTo>
                  <a:pt x="1605015" y="124145"/>
                </a:lnTo>
                <a:lnTo>
                  <a:pt x="1646379" y="144000"/>
                </a:lnTo>
                <a:lnTo>
                  <a:pt x="1685155" y="165037"/>
                </a:lnTo>
                <a:lnTo>
                  <a:pt x="1721217" y="187195"/>
                </a:lnTo>
                <a:lnTo>
                  <a:pt x="1754441" y="210415"/>
                </a:lnTo>
                <a:lnTo>
                  <a:pt x="1784701" y="234636"/>
                </a:lnTo>
                <a:lnTo>
                  <a:pt x="1835825" y="285838"/>
                </a:lnTo>
                <a:lnTo>
                  <a:pt x="1873586" y="340321"/>
                </a:lnTo>
                <a:lnTo>
                  <a:pt x="1896979" y="397602"/>
                </a:lnTo>
                <a:lnTo>
                  <a:pt x="1905000" y="457200"/>
                </a:lnTo>
                <a:lnTo>
                  <a:pt x="1902973" y="487257"/>
                </a:lnTo>
                <a:lnTo>
                  <a:pt x="1887141" y="545757"/>
                </a:lnTo>
                <a:lnTo>
                  <a:pt x="1856439" y="601699"/>
                </a:lnTo>
                <a:lnTo>
                  <a:pt x="1811871" y="654602"/>
                </a:lnTo>
                <a:lnTo>
                  <a:pt x="1754441" y="703984"/>
                </a:lnTo>
                <a:lnTo>
                  <a:pt x="1721217" y="727204"/>
                </a:lnTo>
                <a:lnTo>
                  <a:pt x="1685155" y="749362"/>
                </a:lnTo>
                <a:lnTo>
                  <a:pt x="1646379" y="770399"/>
                </a:lnTo>
                <a:lnTo>
                  <a:pt x="1605015" y="790254"/>
                </a:lnTo>
                <a:lnTo>
                  <a:pt x="1561189" y="808867"/>
                </a:lnTo>
                <a:lnTo>
                  <a:pt x="1515026" y="826178"/>
                </a:lnTo>
                <a:lnTo>
                  <a:pt x="1466652" y="842126"/>
                </a:lnTo>
                <a:lnTo>
                  <a:pt x="1416193" y="856652"/>
                </a:lnTo>
                <a:lnTo>
                  <a:pt x="1363774" y="869694"/>
                </a:lnTo>
                <a:lnTo>
                  <a:pt x="1309520" y="881193"/>
                </a:lnTo>
                <a:lnTo>
                  <a:pt x="1253557" y="891088"/>
                </a:lnTo>
                <a:lnTo>
                  <a:pt x="1196010" y="899320"/>
                </a:lnTo>
                <a:lnTo>
                  <a:pt x="1137006" y="905827"/>
                </a:lnTo>
                <a:lnTo>
                  <a:pt x="1076669" y="910549"/>
                </a:lnTo>
                <a:lnTo>
                  <a:pt x="1015125" y="913427"/>
                </a:lnTo>
                <a:lnTo>
                  <a:pt x="952500" y="914400"/>
                </a:lnTo>
                <a:lnTo>
                  <a:pt x="889874" y="913427"/>
                </a:lnTo>
                <a:lnTo>
                  <a:pt x="828330" y="910549"/>
                </a:lnTo>
                <a:lnTo>
                  <a:pt x="767993" y="905827"/>
                </a:lnTo>
                <a:lnTo>
                  <a:pt x="708989" y="899320"/>
                </a:lnTo>
                <a:lnTo>
                  <a:pt x="651442" y="891088"/>
                </a:lnTo>
                <a:lnTo>
                  <a:pt x="595479" y="881193"/>
                </a:lnTo>
                <a:lnTo>
                  <a:pt x="541225" y="869694"/>
                </a:lnTo>
                <a:lnTo>
                  <a:pt x="488806" y="856652"/>
                </a:lnTo>
                <a:lnTo>
                  <a:pt x="438347" y="842126"/>
                </a:lnTo>
                <a:lnTo>
                  <a:pt x="389973" y="826178"/>
                </a:lnTo>
                <a:lnTo>
                  <a:pt x="343810" y="808867"/>
                </a:lnTo>
                <a:lnTo>
                  <a:pt x="299984" y="790254"/>
                </a:lnTo>
                <a:lnTo>
                  <a:pt x="258620" y="770399"/>
                </a:lnTo>
                <a:lnTo>
                  <a:pt x="219844" y="749362"/>
                </a:lnTo>
                <a:lnTo>
                  <a:pt x="183782" y="727204"/>
                </a:lnTo>
                <a:lnTo>
                  <a:pt x="150558" y="703984"/>
                </a:lnTo>
                <a:lnTo>
                  <a:pt x="120298" y="679763"/>
                </a:lnTo>
                <a:lnTo>
                  <a:pt x="69174" y="628561"/>
                </a:lnTo>
                <a:lnTo>
                  <a:pt x="31413" y="574078"/>
                </a:lnTo>
                <a:lnTo>
                  <a:pt x="8020" y="516797"/>
                </a:lnTo>
                <a:lnTo>
                  <a:pt x="0" y="4572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206879" y="3214496"/>
            <a:ext cx="542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PHP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74663" y="3830573"/>
            <a:ext cx="1188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latin typeface="Calibri"/>
                <a:cs typeface="Calibri"/>
              </a:rPr>
              <a:t>CLIENT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84985" y="5900724"/>
            <a:ext cx="13081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SE</a:t>
            </a:r>
            <a:r>
              <a:rPr sz="3200" b="1" spc="-55" dirty="0">
                <a:latin typeface="Calibri"/>
                <a:cs typeface="Calibri"/>
              </a:rPr>
              <a:t>R</a:t>
            </a:r>
            <a:r>
              <a:rPr sz="3200" b="1" spc="-5" dirty="0">
                <a:latin typeface="Calibri"/>
                <a:cs typeface="Calibri"/>
              </a:rPr>
              <a:t>VER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343400" y="1447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8" y="5034"/>
                </a:lnTo>
                <a:lnTo>
                  <a:pt x="128073" y="19372"/>
                </a:lnTo>
                <a:lnTo>
                  <a:pt x="85628" y="41867"/>
                </a:lnTo>
                <a:lnTo>
                  <a:pt x="50225" y="71374"/>
                </a:lnTo>
                <a:lnTo>
                  <a:pt x="23237" y="106746"/>
                </a:lnTo>
                <a:lnTo>
                  <a:pt x="6038" y="146837"/>
                </a:lnTo>
                <a:lnTo>
                  <a:pt x="0" y="190500"/>
                </a:lnTo>
                <a:lnTo>
                  <a:pt x="6038" y="234162"/>
                </a:lnTo>
                <a:lnTo>
                  <a:pt x="23237" y="274253"/>
                </a:lnTo>
                <a:lnTo>
                  <a:pt x="50225" y="309625"/>
                </a:lnTo>
                <a:lnTo>
                  <a:pt x="85628" y="339132"/>
                </a:lnTo>
                <a:lnTo>
                  <a:pt x="128073" y="361627"/>
                </a:lnTo>
                <a:lnTo>
                  <a:pt x="176188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43400" y="1447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8" y="146837"/>
                </a:lnTo>
                <a:lnTo>
                  <a:pt x="23237" y="106746"/>
                </a:lnTo>
                <a:lnTo>
                  <a:pt x="50225" y="71374"/>
                </a:lnTo>
                <a:lnTo>
                  <a:pt x="85628" y="41867"/>
                </a:lnTo>
                <a:lnTo>
                  <a:pt x="128073" y="19372"/>
                </a:lnTo>
                <a:lnTo>
                  <a:pt x="176188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8" y="375965"/>
                </a:lnTo>
                <a:lnTo>
                  <a:pt x="128073" y="361627"/>
                </a:lnTo>
                <a:lnTo>
                  <a:pt x="85628" y="339132"/>
                </a:lnTo>
                <a:lnTo>
                  <a:pt x="50225" y="309625"/>
                </a:lnTo>
                <a:lnTo>
                  <a:pt x="23237" y="274253"/>
                </a:lnTo>
                <a:lnTo>
                  <a:pt x="6038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655445" y="1361820"/>
            <a:ext cx="3007995" cy="12458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840355">
              <a:lnSpc>
                <a:spcPct val="100000"/>
              </a:lnSpc>
              <a:spcBef>
                <a:spcPts val="58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1920" marR="1524000" indent="-109855">
              <a:lnSpc>
                <a:spcPct val="100000"/>
              </a:lnSpc>
              <a:spcBef>
                <a:spcPts val="484"/>
              </a:spcBef>
            </a:pPr>
            <a:r>
              <a:rPr sz="2400" b="1" spc="-35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24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Server 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softwares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43000" y="27432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4" y="5034"/>
                </a:lnTo>
                <a:lnTo>
                  <a:pt x="128068" y="19372"/>
                </a:lnTo>
                <a:lnTo>
                  <a:pt x="85623" y="41867"/>
                </a:lnTo>
                <a:lnTo>
                  <a:pt x="50221" y="71374"/>
                </a:lnTo>
                <a:lnTo>
                  <a:pt x="23235" y="106746"/>
                </a:lnTo>
                <a:lnTo>
                  <a:pt x="6037" y="146837"/>
                </a:lnTo>
                <a:lnTo>
                  <a:pt x="0" y="190500"/>
                </a:lnTo>
                <a:lnTo>
                  <a:pt x="6037" y="234162"/>
                </a:lnTo>
                <a:lnTo>
                  <a:pt x="23235" y="274253"/>
                </a:lnTo>
                <a:lnTo>
                  <a:pt x="50221" y="309625"/>
                </a:lnTo>
                <a:lnTo>
                  <a:pt x="85623" y="339132"/>
                </a:lnTo>
                <a:lnTo>
                  <a:pt x="128068" y="361627"/>
                </a:lnTo>
                <a:lnTo>
                  <a:pt x="176184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43000" y="27432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7" y="146837"/>
                </a:lnTo>
                <a:lnTo>
                  <a:pt x="23235" y="106746"/>
                </a:lnTo>
                <a:lnTo>
                  <a:pt x="50221" y="71374"/>
                </a:lnTo>
                <a:lnTo>
                  <a:pt x="85623" y="41867"/>
                </a:lnTo>
                <a:lnTo>
                  <a:pt x="128068" y="19372"/>
                </a:lnTo>
                <a:lnTo>
                  <a:pt x="176184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4" y="375965"/>
                </a:lnTo>
                <a:lnTo>
                  <a:pt x="128068" y="361627"/>
                </a:lnTo>
                <a:lnTo>
                  <a:pt x="85623" y="339132"/>
                </a:lnTo>
                <a:lnTo>
                  <a:pt x="50221" y="309625"/>
                </a:lnTo>
                <a:lnTo>
                  <a:pt x="23235" y="274253"/>
                </a:lnTo>
                <a:lnTo>
                  <a:pt x="6037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282064" y="27189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76600" y="28194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8" y="5034"/>
                </a:lnTo>
                <a:lnTo>
                  <a:pt x="128073" y="19372"/>
                </a:lnTo>
                <a:lnTo>
                  <a:pt x="85628" y="41867"/>
                </a:lnTo>
                <a:lnTo>
                  <a:pt x="50225" y="71374"/>
                </a:lnTo>
                <a:lnTo>
                  <a:pt x="23237" y="106746"/>
                </a:lnTo>
                <a:lnTo>
                  <a:pt x="6038" y="146837"/>
                </a:lnTo>
                <a:lnTo>
                  <a:pt x="0" y="190500"/>
                </a:lnTo>
                <a:lnTo>
                  <a:pt x="6038" y="234162"/>
                </a:lnTo>
                <a:lnTo>
                  <a:pt x="23237" y="274253"/>
                </a:lnTo>
                <a:lnTo>
                  <a:pt x="50225" y="309625"/>
                </a:lnTo>
                <a:lnTo>
                  <a:pt x="85628" y="339132"/>
                </a:lnTo>
                <a:lnTo>
                  <a:pt x="128073" y="361627"/>
                </a:lnTo>
                <a:lnTo>
                  <a:pt x="176188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76600" y="28194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8" y="146837"/>
                </a:lnTo>
                <a:lnTo>
                  <a:pt x="23237" y="106746"/>
                </a:lnTo>
                <a:lnTo>
                  <a:pt x="50225" y="71374"/>
                </a:lnTo>
                <a:lnTo>
                  <a:pt x="85628" y="41867"/>
                </a:lnTo>
                <a:lnTo>
                  <a:pt x="128073" y="19372"/>
                </a:lnTo>
                <a:lnTo>
                  <a:pt x="176188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8" y="375965"/>
                </a:lnTo>
                <a:lnTo>
                  <a:pt x="128073" y="361627"/>
                </a:lnTo>
                <a:lnTo>
                  <a:pt x="85628" y="339132"/>
                </a:lnTo>
                <a:lnTo>
                  <a:pt x="50225" y="309625"/>
                </a:lnTo>
                <a:lnTo>
                  <a:pt x="23237" y="274253"/>
                </a:lnTo>
                <a:lnTo>
                  <a:pt x="6038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416046" y="27951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267200" y="2590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8" y="5034"/>
                </a:lnTo>
                <a:lnTo>
                  <a:pt x="128073" y="19372"/>
                </a:lnTo>
                <a:lnTo>
                  <a:pt x="85628" y="41867"/>
                </a:lnTo>
                <a:lnTo>
                  <a:pt x="50225" y="71374"/>
                </a:lnTo>
                <a:lnTo>
                  <a:pt x="23237" y="106746"/>
                </a:lnTo>
                <a:lnTo>
                  <a:pt x="6038" y="146837"/>
                </a:lnTo>
                <a:lnTo>
                  <a:pt x="0" y="190500"/>
                </a:lnTo>
                <a:lnTo>
                  <a:pt x="6038" y="234162"/>
                </a:lnTo>
                <a:lnTo>
                  <a:pt x="23237" y="274253"/>
                </a:lnTo>
                <a:lnTo>
                  <a:pt x="50225" y="309625"/>
                </a:lnTo>
                <a:lnTo>
                  <a:pt x="85628" y="339132"/>
                </a:lnTo>
                <a:lnTo>
                  <a:pt x="128073" y="361627"/>
                </a:lnTo>
                <a:lnTo>
                  <a:pt x="176188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67200" y="2590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8" y="146837"/>
                </a:lnTo>
                <a:lnTo>
                  <a:pt x="23237" y="106746"/>
                </a:lnTo>
                <a:lnTo>
                  <a:pt x="50225" y="71374"/>
                </a:lnTo>
                <a:lnTo>
                  <a:pt x="85628" y="41867"/>
                </a:lnTo>
                <a:lnTo>
                  <a:pt x="128073" y="19372"/>
                </a:lnTo>
                <a:lnTo>
                  <a:pt x="176188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8" y="375965"/>
                </a:lnTo>
                <a:lnTo>
                  <a:pt x="128073" y="361627"/>
                </a:lnTo>
                <a:lnTo>
                  <a:pt x="85628" y="339132"/>
                </a:lnTo>
                <a:lnTo>
                  <a:pt x="50225" y="309625"/>
                </a:lnTo>
                <a:lnTo>
                  <a:pt x="23237" y="274253"/>
                </a:lnTo>
                <a:lnTo>
                  <a:pt x="6038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406900" y="25665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406" y="461594"/>
            <a:ext cx="6862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" dirty="0">
                <a:solidFill>
                  <a:srgbClr val="FF0000"/>
                </a:solidFill>
              </a:rPr>
              <a:t>Working </a:t>
            </a:r>
            <a:r>
              <a:rPr sz="4400" dirty="0">
                <a:solidFill>
                  <a:srgbClr val="FF0000"/>
                </a:solidFill>
              </a:rPr>
              <a:t>of </a:t>
            </a:r>
            <a:r>
              <a:rPr sz="4400" spc="-5" dirty="0">
                <a:solidFill>
                  <a:srgbClr val="FF0000"/>
                </a:solidFill>
              </a:rPr>
              <a:t>server side</a:t>
            </a:r>
            <a:r>
              <a:rPr sz="4400" spc="-20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scripts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06906" y="1670304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574" y="0"/>
                </a:moveTo>
                <a:lnTo>
                  <a:pt x="176164" y="5027"/>
                </a:lnTo>
                <a:lnTo>
                  <a:pt x="128053" y="19349"/>
                </a:lnTo>
                <a:lnTo>
                  <a:pt x="85612" y="41827"/>
                </a:lnTo>
                <a:lnTo>
                  <a:pt x="50215" y="71321"/>
                </a:lnTo>
                <a:lnTo>
                  <a:pt x="23232" y="106691"/>
                </a:lnTo>
                <a:lnTo>
                  <a:pt x="6036" y="146797"/>
                </a:lnTo>
                <a:lnTo>
                  <a:pt x="0" y="190500"/>
                </a:lnTo>
                <a:lnTo>
                  <a:pt x="6036" y="234162"/>
                </a:lnTo>
                <a:lnTo>
                  <a:pt x="23232" y="274253"/>
                </a:lnTo>
                <a:lnTo>
                  <a:pt x="50215" y="309625"/>
                </a:lnTo>
                <a:lnTo>
                  <a:pt x="85612" y="339132"/>
                </a:lnTo>
                <a:lnTo>
                  <a:pt x="128053" y="361627"/>
                </a:lnTo>
                <a:lnTo>
                  <a:pt x="176164" y="375965"/>
                </a:lnTo>
                <a:lnTo>
                  <a:pt x="228574" y="381000"/>
                </a:lnTo>
                <a:lnTo>
                  <a:pt x="280985" y="375965"/>
                </a:lnTo>
                <a:lnTo>
                  <a:pt x="329100" y="361627"/>
                </a:lnTo>
                <a:lnTo>
                  <a:pt x="371546" y="339132"/>
                </a:lnTo>
                <a:lnTo>
                  <a:pt x="406949" y="309625"/>
                </a:lnTo>
                <a:lnTo>
                  <a:pt x="433936" y="274253"/>
                </a:lnTo>
                <a:lnTo>
                  <a:pt x="451136" y="234162"/>
                </a:lnTo>
                <a:lnTo>
                  <a:pt x="457174" y="190500"/>
                </a:lnTo>
                <a:lnTo>
                  <a:pt x="451136" y="146797"/>
                </a:lnTo>
                <a:lnTo>
                  <a:pt x="433936" y="106691"/>
                </a:lnTo>
                <a:lnTo>
                  <a:pt x="406949" y="71321"/>
                </a:lnTo>
                <a:lnTo>
                  <a:pt x="371546" y="41827"/>
                </a:lnTo>
                <a:lnTo>
                  <a:pt x="329100" y="19349"/>
                </a:lnTo>
                <a:lnTo>
                  <a:pt x="280985" y="5027"/>
                </a:lnTo>
                <a:lnTo>
                  <a:pt x="22857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6906" y="1670304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6" y="146797"/>
                </a:lnTo>
                <a:lnTo>
                  <a:pt x="23232" y="106691"/>
                </a:lnTo>
                <a:lnTo>
                  <a:pt x="50215" y="71321"/>
                </a:lnTo>
                <a:lnTo>
                  <a:pt x="85612" y="41827"/>
                </a:lnTo>
                <a:lnTo>
                  <a:pt x="128053" y="19349"/>
                </a:lnTo>
                <a:lnTo>
                  <a:pt x="176164" y="5027"/>
                </a:lnTo>
                <a:lnTo>
                  <a:pt x="228574" y="0"/>
                </a:lnTo>
                <a:lnTo>
                  <a:pt x="280985" y="5027"/>
                </a:lnTo>
                <a:lnTo>
                  <a:pt x="329100" y="19349"/>
                </a:lnTo>
                <a:lnTo>
                  <a:pt x="371546" y="41827"/>
                </a:lnTo>
                <a:lnTo>
                  <a:pt x="406949" y="71321"/>
                </a:lnTo>
                <a:lnTo>
                  <a:pt x="433936" y="106691"/>
                </a:lnTo>
                <a:lnTo>
                  <a:pt x="451136" y="146797"/>
                </a:lnTo>
                <a:lnTo>
                  <a:pt x="457174" y="190500"/>
                </a:lnTo>
                <a:lnTo>
                  <a:pt x="451136" y="234162"/>
                </a:lnTo>
                <a:lnTo>
                  <a:pt x="433936" y="274253"/>
                </a:lnTo>
                <a:lnTo>
                  <a:pt x="406949" y="309625"/>
                </a:lnTo>
                <a:lnTo>
                  <a:pt x="371546" y="339132"/>
                </a:lnTo>
                <a:lnTo>
                  <a:pt x="329100" y="361627"/>
                </a:lnTo>
                <a:lnTo>
                  <a:pt x="280985" y="375965"/>
                </a:lnTo>
                <a:lnTo>
                  <a:pt x="228574" y="381000"/>
                </a:lnTo>
                <a:lnTo>
                  <a:pt x="176164" y="375965"/>
                </a:lnTo>
                <a:lnTo>
                  <a:pt x="128053" y="361627"/>
                </a:lnTo>
                <a:lnTo>
                  <a:pt x="85612" y="339132"/>
                </a:lnTo>
                <a:lnTo>
                  <a:pt x="50215" y="309625"/>
                </a:lnTo>
                <a:lnTo>
                  <a:pt x="23232" y="274253"/>
                </a:lnTo>
                <a:lnTo>
                  <a:pt x="6036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46072" y="1645665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27432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4" y="5034"/>
                </a:lnTo>
                <a:lnTo>
                  <a:pt x="128068" y="19372"/>
                </a:lnTo>
                <a:lnTo>
                  <a:pt x="85623" y="41867"/>
                </a:lnTo>
                <a:lnTo>
                  <a:pt x="50221" y="71374"/>
                </a:lnTo>
                <a:lnTo>
                  <a:pt x="23235" y="106746"/>
                </a:lnTo>
                <a:lnTo>
                  <a:pt x="6037" y="146837"/>
                </a:lnTo>
                <a:lnTo>
                  <a:pt x="0" y="190500"/>
                </a:lnTo>
                <a:lnTo>
                  <a:pt x="6037" y="234162"/>
                </a:lnTo>
                <a:lnTo>
                  <a:pt x="23235" y="274253"/>
                </a:lnTo>
                <a:lnTo>
                  <a:pt x="50221" y="309625"/>
                </a:lnTo>
                <a:lnTo>
                  <a:pt x="85623" y="339132"/>
                </a:lnTo>
                <a:lnTo>
                  <a:pt x="128068" y="361627"/>
                </a:lnTo>
                <a:lnTo>
                  <a:pt x="176184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3000" y="27432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7" y="146837"/>
                </a:lnTo>
                <a:lnTo>
                  <a:pt x="23235" y="106746"/>
                </a:lnTo>
                <a:lnTo>
                  <a:pt x="50221" y="71374"/>
                </a:lnTo>
                <a:lnTo>
                  <a:pt x="85623" y="41867"/>
                </a:lnTo>
                <a:lnTo>
                  <a:pt x="128068" y="19372"/>
                </a:lnTo>
                <a:lnTo>
                  <a:pt x="176184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4" y="375965"/>
                </a:lnTo>
                <a:lnTo>
                  <a:pt x="128068" y="361627"/>
                </a:lnTo>
                <a:lnTo>
                  <a:pt x="85623" y="339132"/>
                </a:lnTo>
                <a:lnTo>
                  <a:pt x="50221" y="309625"/>
                </a:lnTo>
                <a:lnTo>
                  <a:pt x="23235" y="274253"/>
                </a:lnTo>
                <a:lnTo>
                  <a:pt x="6037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82064" y="27189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3000" y="39624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4" y="5034"/>
                </a:lnTo>
                <a:lnTo>
                  <a:pt x="128068" y="19372"/>
                </a:lnTo>
                <a:lnTo>
                  <a:pt x="85623" y="41867"/>
                </a:lnTo>
                <a:lnTo>
                  <a:pt x="50221" y="71374"/>
                </a:lnTo>
                <a:lnTo>
                  <a:pt x="23235" y="106746"/>
                </a:lnTo>
                <a:lnTo>
                  <a:pt x="6037" y="146837"/>
                </a:lnTo>
                <a:lnTo>
                  <a:pt x="0" y="190500"/>
                </a:lnTo>
                <a:lnTo>
                  <a:pt x="6037" y="234162"/>
                </a:lnTo>
                <a:lnTo>
                  <a:pt x="23235" y="274253"/>
                </a:lnTo>
                <a:lnTo>
                  <a:pt x="50221" y="309625"/>
                </a:lnTo>
                <a:lnTo>
                  <a:pt x="85623" y="339132"/>
                </a:lnTo>
                <a:lnTo>
                  <a:pt x="128068" y="361627"/>
                </a:lnTo>
                <a:lnTo>
                  <a:pt x="176184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43000" y="39624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7" y="146837"/>
                </a:lnTo>
                <a:lnTo>
                  <a:pt x="23235" y="106746"/>
                </a:lnTo>
                <a:lnTo>
                  <a:pt x="50221" y="71374"/>
                </a:lnTo>
                <a:lnTo>
                  <a:pt x="85623" y="41867"/>
                </a:lnTo>
                <a:lnTo>
                  <a:pt x="128068" y="19372"/>
                </a:lnTo>
                <a:lnTo>
                  <a:pt x="176184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4" y="375965"/>
                </a:lnTo>
                <a:lnTo>
                  <a:pt x="128068" y="361627"/>
                </a:lnTo>
                <a:lnTo>
                  <a:pt x="85623" y="339132"/>
                </a:lnTo>
                <a:lnTo>
                  <a:pt x="50221" y="309625"/>
                </a:lnTo>
                <a:lnTo>
                  <a:pt x="23235" y="274253"/>
                </a:lnTo>
                <a:lnTo>
                  <a:pt x="6037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82064" y="393839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3000" y="50292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4" y="5034"/>
                </a:lnTo>
                <a:lnTo>
                  <a:pt x="128068" y="19372"/>
                </a:lnTo>
                <a:lnTo>
                  <a:pt x="85623" y="41867"/>
                </a:lnTo>
                <a:lnTo>
                  <a:pt x="50221" y="71374"/>
                </a:lnTo>
                <a:lnTo>
                  <a:pt x="23235" y="106746"/>
                </a:lnTo>
                <a:lnTo>
                  <a:pt x="6037" y="146837"/>
                </a:lnTo>
                <a:lnTo>
                  <a:pt x="0" y="190500"/>
                </a:lnTo>
                <a:lnTo>
                  <a:pt x="6037" y="234162"/>
                </a:lnTo>
                <a:lnTo>
                  <a:pt x="23235" y="274253"/>
                </a:lnTo>
                <a:lnTo>
                  <a:pt x="50221" y="309625"/>
                </a:lnTo>
                <a:lnTo>
                  <a:pt x="85623" y="339132"/>
                </a:lnTo>
                <a:lnTo>
                  <a:pt x="128068" y="361627"/>
                </a:lnTo>
                <a:lnTo>
                  <a:pt x="176184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43000" y="50292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7" y="146837"/>
                </a:lnTo>
                <a:lnTo>
                  <a:pt x="23235" y="106746"/>
                </a:lnTo>
                <a:lnTo>
                  <a:pt x="50221" y="71374"/>
                </a:lnTo>
                <a:lnTo>
                  <a:pt x="85623" y="41867"/>
                </a:lnTo>
                <a:lnTo>
                  <a:pt x="128068" y="19372"/>
                </a:lnTo>
                <a:lnTo>
                  <a:pt x="176184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4" y="375965"/>
                </a:lnTo>
                <a:lnTo>
                  <a:pt x="128068" y="361627"/>
                </a:lnTo>
                <a:lnTo>
                  <a:pt x="85623" y="339132"/>
                </a:lnTo>
                <a:lnTo>
                  <a:pt x="50221" y="309625"/>
                </a:lnTo>
                <a:lnTo>
                  <a:pt x="23235" y="274253"/>
                </a:lnTo>
                <a:lnTo>
                  <a:pt x="6037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82064" y="5005578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7794" y="1570990"/>
            <a:ext cx="538226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The web page containing </a:t>
            </a:r>
            <a:r>
              <a:rPr sz="2800" b="1" spc="-5" dirty="0">
                <a:latin typeface="Calibri"/>
                <a:cs typeface="Calibri"/>
              </a:rPr>
              <a:t>server side  scripts </a:t>
            </a:r>
            <a:r>
              <a:rPr sz="2800" b="1" spc="-20" dirty="0">
                <a:latin typeface="Calibri"/>
                <a:cs typeface="Calibri"/>
              </a:rPr>
              <a:t>requested </a:t>
            </a:r>
            <a:r>
              <a:rPr sz="2800" b="1" spc="-10" dirty="0">
                <a:latin typeface="Calibri"/>
                <a:cs typeface="Calibri"/>
              </a:rPr>
              <a:t>by </a:t>
            </a: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6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user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07794" y="2714370"/>
            <a:ext cx="566420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Calibri"/>
                <a:cs typeface="Calibri"/>
              </a:rPr>
              <a:t>Server side scripts which </a:t>
            </a:r>
            <a:r>
              <a:rPr sz="2800" b="1" spc="-25" dirty="0">
                <a:latin typeface="Calibri"/>
                <a:cs typeface="Calibri"/>
              </a:rPr>
              <a:t>executes </a:t>
            </a:r>
            <a:r>
              <a:rPr sz="2800" b="1" spc="-5" dirty="0">
                <a:latin typeface="Calibri"/>
                <a:cs typeface="Calibri"/>
              </a:rPr>
              <a:t>and  access the </a:t>
            </a:r>
            <a:r>
              <a:rPr sz="2800" b="1" spc="-15" dirty="0">
                <a:latin typeface="Calibri"/>
                <a:cs typeface="Calibri"/>
              </a:rPr>
              <a:t>result from </a:t>
            </a: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database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7794" y="3907663"/>
            <a:ext cx="5674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latin typeface="Calibri"/>
                <a:cs typeface="Calibri"/>
              </a:rPr>
              <a:t>Creates </a:t>
            </a:r>
            <a:r>
              <a:rPr sz="2800" b="1" spc="-5" dirty="0">
                <a:latin typeface="Calibri"/>
                <a:cs typeface="Calibri"/>
              </a:rPr>
              <a:t>simple </a:t>
            </a:r>
            <a:r>
              <a:rPr sz="2800" b="1" spc="-15" dirty="0">
                <a:latin typeface="Calibri"/>
                <a:cs typeface="Calibri"/>
              </a:rPr>
              <a:t>web </a:t>
            </a:r>
            <a:r>
              <a:rPr sz="2800" b="1" spc="-10" dirty="0">
                <a:latin typeface="Calibri"/>
                <a:cs typeface="Calibri"/>
              </a:rPr>
              <a:t>pages</a:t>
            </a:r>
            <a:r>
              <a:rPr sz="2800" b="1" spc="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dynamically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07794" y="4974412"/>
            <a:ext cx="57708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This web </a:t>
            </a:r>
            <a:r>
              <a:rPr sz="2800" b="1" spc="-15" dirty="0">
                <a:latin typeface="Calibri"/>
                <a:cs typeface="Calibri"/>
              </a:rPr>
              <a:t>page </a:t>
            </a:r>
            <a:r>
              <a:rPr sz="2800" b="1" spc="-5" dirty="0">
                <a:latin typeface="Calibri"/>
                <a:cs typeface="Calibri"/>
              </a:rPr>
              <a:t>is then </a:t>
            </a:r>
            <a:r>
              <a:rPr sz="2800" b="1" spc="-10" dirty="0">
                <a:latin typeface="Calibri"/>
                <a:cs typeface="Calibri"/>
              </a:rPr>
              <a:t>sent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spc="-10" dirty="0">
                <a:latin typeface="Calibri"/>
                <a:cs typeface="Calibri"/>
              </a:rPr>
              <a:t>client  browser </a:t>
            </a:r>
            <a:r>
              <a:rPr sz="2800" b="1" spc="-5" dirty="0">
                <a:latin typeface="Calibri"/>
                <a:cs typeface="Calibri"/>
              </a:rPr>
              <a:t>and the </a:t>
            </a:r>
            <a:r>
              <a:rPr sz="2800" b="1" spc="-10" dirty="0">
                <a:latin typeface="Calibri"/>
                <a:cs typeface="Calibri"/>
              </a:rPr>
              <a:t>browser </a:t>
            </a:r>
            <a:r>
              <a:rPr sz="2800" b="1" spc="-15" dirty="0">
                <a:latin typeface="Calibri"/>
                <a:cs typeface="Calibri"/>
              </a:rPr>
              <a:t>displays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it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1842" y="54610"/>
            <a:ext cx="7496809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8305" marR="5080" indent="-1666239">
              <a:lnSpc>
                <a:spcPct val="100000"/>
              </a:lnSpc>
              <a:spcBef>
                <a:spcPts val="95"/>
              </a:spcBef>
              <a:tabLst>
                <a:tab pos="3717290" algn="l"/>
              </a:tabLst>
            </a:pPr>
            <a:r>
              <a:rPr spc="-10" dirty="0">
                <a:solidFill>
                  <a:srgbClr val="FF0000"/>
                </a:solidFill>
              </a:rPr>
              <a:t>Comparison </a:t>
            </a:r>
            <a:r>
              <a:rPr spc="-5" dirty="0">
                <a:solidFill>
                  <a:srgbClr val="FF0000"/>
                </a:solidFill>
              </a:rPr>
              <a:t>of </a:t>
            </a:r>
            <a:r>
              <a:rPr spc="-10" dirty="0">
                <a:solidFill>
                  <a:srgbClr val="FF0000"/>
                </a:solidFill>
              </a:rPr>
              <a:t>the classifications </a:t>
            </a:r>
            <a:r>
              <a:rPr spc="-5" dirty="0">
                <a:solidFill>
                  <a:srgbClr val="FF0000"/>
                </a:solidFill>
              </a:rPr>
              <a:t>of  scripting	</a:t>
            </a:r>
            <a:r>
              <a:rPr spc="-10" dirty="0">
                <a:solidFill>
                  <a:srgbClr val="FF0000"/>
                </a:solidFill>
              </a:rPr>
              <a:t>languages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73774"/>
            <a:ext cx="3670300" cy="556831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294640">
              <a:lnSpc>
                <a:spcPct val="100000"/>
              </a:lnSpc>
              <a:spcBef>
                <a:spcPts val="1785"/>
              </a:spcBef>
            </a:pPr>
            <a:r>
              <a:rPr sz="3200" b="1" spc="-10" dirty="0">
                <a:latin typeface="Calibri"/>
                <a:cs typeface="Calibri"/>
              </a:rPr>
              <a:t>Client </a:t>
            </a:r>
            <a:r>
              <a:rPr sz="3200" b="1" dirty="0">
                <a:latin typeface="Calibri"/>
                <a:cs typeface="Calibri"/>
              </a:rPr>
              <a:t>side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scripting</a:t>
            </a:r>
            <a:endParaRPr sz="3200">
              <a:latin typeface="Calibri"/>
              <a:cs typeface="Calibri"/>
            </a:endParaRPr>
          </a:p>
          <a:p>
            <a:pPr marL="355600" marR="83185" indent="-343535">
              <a:lnSpc>
                <a:spcPct val="100000"/>
              </a:lnSpc>
              <a:spcBef>
                <a:spcPts val="115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0" dirty="0">
                <a:latin typeface="Calibri"/>
                <a:cs typeface="Calibri"/>
              </a:rPr>
              <a:t>Script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5" dirty="0">
                <a:latin typeface="Calibri"/>
                <a:cs typeface="Calibri"/>
              </a:rPr>
              <a:t>copied to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client  </a:t>
            </a:r>
            <a:r>
              <a:rPr sz="2200" spc="-15" dirty="0">
                <a:latin typeface="Calibri"/>
                <a:cs typeface="Calibri"/>
              </a:rPr>
              <a:t>browser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20" dirty="0">
                <a:latin typeface="Calibri"/>
                <a:cs typeface="Calibri"/>
              </a:rPr>
              <a:t>executed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5" dirty="0">
                <a:latin typeface="Calibri"/>
                <a:cs typeface="Calibri"/>
              </a:rPr>
              <a:t>the  </a:t>
            </a:r>
            <a:r>
              <a:rPr sz="2200" spc="-10" dirty="0">
                <a:latin typeface="Calibri"/>
                <a:cs typeface="Calibri"/>
              </a:rPr>
              <a:t>client </a:t>
            </a:r>
            <a:r>
              <a:rPr sz="2200" spc="-15" dirty="0">
                <a:latin typeface="Calibri"/>
                <a:cs typeface="Calibri"/>
              </a:rPr>
              <a:t>browser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355600" marR="57150" indent="-343535" algn="just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sz="2200" spc="-10" dirty="0">
                <a:latin typeface="Calibri"/>
                <a:cs typeface="Calibri"/>
              </a:rPr>
              <a:t>Client </a:t>
            </a:r>
            <a:r>
              <a:rPr sz="2200" spc="-5" dirty="0">
                <a:latin typeface="Calibri"/>
                <a:cs typeface="Calibri"/>
              </a:rPr>
              <a:t>side scripts </a:t>
            </a:r>
            <a:r>
              <a:rPr sz="2200" spc="-15" dirty="0">
                <a:latin typeface="Calibri"/>
                <a:cs typeface="Calibri"/>
              </a:rPr>
              <a:t>are </a:t>
            </a:r>
            <a:r>
              <a:rPr sz="2200" spc="-5" dirty="0">
                <a:latin typeface="Calibri"/>
                <a:cs typeface="Calibri"/>
              </a:rPr>
              <a:t>mainly  </a:t>
            </a:r>
            <a:r>
              <a:rPr sz="2200" spc="-10" dirty="0">
                <a:latin typeface="Calibri"/>
                <a:cs typeface="Calibri"/>
              </a:rPr>
              <a:t>used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alibri"/>
                <a:cs typeface="Calibri"/>
              </a:rPr>
              <a:t>validation </a:t>
            </a:r>
            <a:r>
              <a:rPr sz="2200" spc="-5" dirty="0">
                <a:latin typeface="Calibri"/>
                <a:cs typeface="Calibri"/>
              </a:rPr>
              <a:t>of </a:t>
            </a:r>
            <a:r>
              <a:rPr sz="2200" spc="-20" dirty="0">
                <a:latin typeface="Calibri"/>
                <a:cs typeface="Calibri"/>
              </a:rPr>
              <a:t>data </a:t>
            </a:r>
            <a:r>
              <a:rPr sz="2200" spc="-15" dirty="0">
                <a:latin typeface="Calibri"/>
                <a:cs typeface="Calibri"/>
              </a:rPr>
              <a:t>at 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client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355600" marR="347345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0" dirty="0">
                <a:latin typeface="Calibri"/>
                <a:cs typeface="Calibri"/>
              </a:rPr>
              <a:t>Users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10" dirty="0">
                <a:latin typeface="Calibri"/>
                <a:cs typeface="Calibri"/>
              </a:rPr>
              <a:t>block client side  scripting</a:t>
            </a:r>
            <a:endParaRPr sz="2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type and </a:t>
            </a:r>
            <a:r>
              <a:rPr sz="2200" spc="-15" dirty="0">
                <a:latin typeface="Calibri"/>
                <a:cs typeface="Calibri"/>
              </a:rPr>
              <a:t>version </a:t>
            </a:r>
            <a:r>
              <a:rPr sz="2200" spc="-5" dirty="0">
                <a:latin typeface="Calibri"/>
                <a:cs typeface="Calibri"/>
              </a:rPr>
              <a:t>of the  </a:t>
            </a:r>
            <a:r>
              <a:rPr sz="2200" spc="-15" dirty="0">
                <a:latin typeface="Calibri"/>
                <a:cs typeface="Calibri"/>
              </a:rPr>
              <a:t>web browser </a:t>
            </a:r>
            <a:r>
              <a:rPr sz="2200" spc="-20" dirty="0">
                <a:latin typeface="Calibri"/>
                <a:cs typeface="Calibri"/>
              </a:rPr>
              <a:t>affects </a:t>
            </a:r>
            <a:r>
              <a:rPr sz="2200" spc="-5" dirty="0">
                <a:latin typeface="Calibri"/>
                <a:cs typeface="Calibri"/>
              </a:rPr>
              <a:t>the  </a:t>
            </a:r>
            <a:r>
              <a:rPr sz="2200" spc="-10" dirty="0">
                <a:latin typeface="Calibri"/>
                <a:cs typeface="Calibri"/>
              </a:rPr>
              <a:t>working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client </a:t>
            </a:r>
            <a:r>
              <a:rPr sz="2200" spc="-5" dirty="0">
                <a:latin typeface="Calibri"/>
                <a:cs typeface="Calibri"/>
              </a:rPr>
              <a:t>side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script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4527" y="1122692"/>
            <a:ext cx="3839845" cy="5250815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1400"/>
              </a:spcBef>
            </a:pPr>
            <a:r>
              <a:rPr sz="3200" b="1" spc="-5" dirty="0">
                <a:latin typeface="Calibri"/>
                <a:cs typeface="Calibri"/>
              </a:rPr>
              <a:t>Server </a:t>
            </a:r>
            <a:r>
              <a:rPr sz="3200" b="1" dirty="0">
                <a:latin typeface="Calibri"/>
                <a:cs typeface="Calibri"/>
              </a:rPr>
              <a:t>side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scripting</a:t>
            </a:r>
            <a:endParaRPr sz="3200">
              <a:latin typeface="Calibri"/>
              <a:cs typeface="Calibri"/>
            </a:endParaRPr>
          </a:p>
          <a:p>
            <a:pPr marL="355600" marR="133350" indent="-342900">
              <a:lnSpc>
                <a:spcPct val="90000"/>
              </a:lnSpc>
              <a:spcBef>
                <a:spcPts val="11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Calibri"/>
                <a:cs typeface="Calibri"/>
              </a:rPr>
              <a:t>Script </a:t>
            </a:r>
            <a:r>
              <a:rPr sz="2200" spc="-5" dirty="0">
                <a:latin typeface="Calibri"/>
                <a:cs typeface="Calibri"/>
              </a:rPr>
              <a:t>remains in the </a:t>
            </a:r>
            <a:r>
              <a:rPr sz="2200" spc="-15" dirty="0">
                <a:latin typeface="Calibri"/>
                <a:cs typeface="Calibri"/>
              </a:rPr>
              <a:t>web  </a:t>
            </a:r>
            <a:r>
              <a:rPr sz="2200" spc="-5" dirty="0">
                <a:latin typeface="Calibri"/>
                <a:cs typeface="Calibri"/>
              </a:rPr>
              <a:t>server and </a:t>
            </a:r>
            <a:r>
              <a:rPr sz="2200" spc="-10" dirty="0">
                <a:latin typeface="Calibri"/>
                <a:cs typeface="Calibri"/>
              </a:rPr>
              <a:t>is </a:t>
            </a:r>
            <a:r>
              <a:rPr sz="2200" spc="-20" dirty="0">
                <a:latin typeface="Calibri"/>
                <a:cs typeface="Calibri"/>
              </a:rPr>
              <a:t>executed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5" dirty="0">
                <a:latin typeface="Calibri"/>
                <a:cs typeface="Calibri"/>
              </a:rPr>
              <a:t>the  web </a:t>
            </a:r>
            <a:r>
              <a:rPr sz="2200" spc="-5" dirty="0">
                <a:latin typeface="Calibri"/>
                <a:cs typeface="Calibri"/>
              </a:rPr>
              <a:t>server and </a:t>
            </a:r>
            <a:r>
              <a:rPr sz="2200" spc="-10" dirty="0">
                <a:latin typeface="Calibri"/>
                <a:cs typeface="Calibri"/>
              </a:rPr>
              <a:t>the web </a:t>
            </a:r>
            <a:r>
              <a:rPr sz="2200" spc="-15" dirty="0">
                <a:latin typeface="Calibri"/>
                <a:cs typeface="Calibri"/>
              </a:rPr>
              <a:t>page  produced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returned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 </a:t>
            </a:r>
            <a:r>
              <a:rPr sz="2200" spc="-10" dirty="0">
                <a:latin typeface="Calibri"/>
                <a:cs typeface="Calibri"/>
              </a:rPr>
              <a:t>client </a:t>
            </a:r>
            <a:r>
              <a:rPr sz="2200" spc="-15" dirty="0">
                <a:latin typeface="Calibri"/>
                <a:cs typeface="Calibri"/>
              </a:rPr>
              <a:t>browser</a:t>
            </a:r>
            <a:endParaRPr sz="2200">
              <a:latin typeface="Calibri"/>
              <a:cs typeface="Calibri"/>
            </a:endParaRPr>
          </a:p>
          <a:p>
            <a:pPr marL="355600" marR="107314" indent="-342900">
              <a:lnSpc>
                <a:spcPct val="9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Server </a:t>
            </a:r>
            <a:r>
              <a:rPr sz="2200" spc="-10" dirty="0">
                <a:latin typeface="Calibri"/>
                <a:cs typeface="Calibri"/>
              </a:rPr>
              <a:t>side scripts are </a:t>
            </a:r>
            <a:r>
              <a:rPr sz="2200" spc="-5" dirty="0">
                <a:latin typeface="Calibri"/>
                <a:cs typeface="Calibri"/>
              </a:rPr>
              <a:t>usually  </a:t>
            </a:r>
            <a:r>
              <a:rPr sz="2200" spc="-10" dirty="0">
                <a:latin typeface="Calibri"/>
                <a:cs typeface="Calibri"/>
              </a:rPr>
              <a:t>used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connect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5" dirty="0">
                <a:latin typeface="Calibri"/>
                <a:cs typeface="Calibri"/>
              </a:rPr>
              <a:t>database 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return </a:t>
            </a:r>
            <a:r>
              <a:rPr sz="2200" spc="-20" dirty="0">
                <a:latin typeface="Calibri"/>
                <a:cs typeface="Calibri"/>
              </a:rPr>
              <a:t>data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web  </a:t>
            </a:r>
            <a:r>
              <a:rPr sz="2200" spc="-5" dirty="0">
                <a:latin typeface="Calibri"/>
                <a:cs typeface="Calibri"/>
              </a:rPr>
              <a:t>server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ts val="2380"/>
              </a:lnSpc>
              <a:spcBef>
                <a:spcPts val="5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Server </a:t>
            </a:r>
            <a:r>
              <a:rPr sz="2200" spc="-10" dirty="0">
                <a:latin typeface="Calibri"/>
                <a:cs typeface="Calibri"/>
              </a:rPr>
              <a:t>side scripting cannot be  </a:t>
            </a:r>
            <a:r>
              <a:rPr sz="2200" spc="-20" dirty="0">
                <a:latin typeface="Calibri"/>
                <a:cs typeface="Calibri"/>
              </a:rPr>
              <a:t>blocked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user</a:t>
            </a:r>
            <a:endParaRPr sz="2200">
              <a:latin typeface="Calibri"/>
              <a:cs typeface="Calibri"/>
            </a:endParaRPr>
          </a:p>
          <a:p>
            <a:pPr marL="355600" marR="285115" indent="-342900">
              <a:lnSpc>
                <a:spcPts val="2380"/>
              </a:lnSpc>
              <a:spcBef>
                <a:spcPts val="5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20" dirty="0">
                <a:latin typeface="Calibri"/>
                <a:cs typeface="Calibri"/>
              </a:rPr>
              <a:t>features </a:t>
            </a:r>
            <a:r>
              <a:rPr sz="2200" spc="-5" dirty="0">
                <a:latin typeface="Calibri"/>
                <a:cs typeface="Calibri"/>
              </a:rPr>
              <a:t>of the </a:t>
            </a:r>
            <a:r>
              <a:rPr sz="2200" spc="-10" dirty="0">
                <a:latin typeface="Calibri"/>
                <a:cs typeface="Calibri"/>
              </a:rPr>
              <a:t>web  </a:t>
            </a:r>
            <a:r>
              <a:rPr sz="2200" spc="-15" dirty="0">
                <a:latin typeface="Calibri"/>
                <a:cs typeface="Calibri"/>
              </a:rPr>
              <a:t>browser </a:t>
            </a:r>
            <a:r>
              <a:rPr sz="2200" spc="-10" dirty="0">
                <a:latin typeface="Calibri"/>
                <a:cs typeface="Calibri"/>
              </a:rPr>
              <a:t>does not </a:t>
            </a:r>
            <a:r>
              <a:rPr sz="2200" spc="-20" dirty="0">
                <a:latin typeface="Calibri"/>
                <a:cs typeface="Calibri"/>
              </a:rPr>
              <a:t>affect </a:t>
            </a:r>
            <a:r>
              <a:rPr sz="2200" spc="-5" dirty="0">
                <a:latin typeface="Calibri"/>
                <a:cs typeface="Calibri"/>
              </a:rPr>
              <a:t>the  </a:t>
            </a:r>
            <a:r>
              <a:rPr sz="2200" spc="-10" dirty="0">
                <a:latin typeface="Calibri"/>
                <a:cs typeface="Calibri"/>
              </a:rPr>
              <a:t>working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server </a:t>
            </a:r>
            <a:r>
              <a:rPr sz="2200" spc="-10" dirty="0">
                <a:latin typeface="Calibri"/>
                <a:cs typeface="Calibri"/>
              </a:rPr>
              <a:t>side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script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7636" y="428066"/>
            <a:ext cx="691895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>
                <a:solidFill>
                  <a:srgbClr val="006FC0"/>
                </a:solidFill>
              </a:rPr>
              <a:t>Cascading Style </a:t>
            </a:r>
            <a:r>
              <a:rPr sz="4800" spc="-10" dirty="0">
                <a:solidFill>
                  <a:srgbClr val="006FC0"/>
                </a:solidFill>
              </a:rPr>
              <a:t>Sheet</a:t>
            </a:r>
            <a:r>
              <a:rPr sz="4800" spc="-30" dirty="0">
                <a:solidFill>
                  <a:srgbClr val="006FC0"/>
                </a:solidFill>
              </a:rPr>
              <a:t> </a:t>
            </a:r>
            <a:r>
              <a:rPr sz="4800" dirty="0">
                <a:solidFill>
                  <a:srgbClr val="006FC0"/>
                </a:solidFill>
              </a:rPr>
              <a:t>(CSS)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35940" y="1531442"/>
            <a:ext cx="8199120" cy="46275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8105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is a </a:t>
            </a:r>
            <a:r>
              <a:rPr sz="3200" spc="-10" dirty="0">
                <a:latin typeface="Calibri"/>
                <a:cs typeface="Calibri"/>
              </a:rPr>
              <a:t>style </a:t>
            </a:r>
            <a:r>
              <a:rPr sz="3200" spc="-5" dirty="0">
                <a:latin typeface="Calibri"/>
                <a:cs typeface="Calibri"/>
              </a:rPr>
              <a:t>sheet language used </a:t>
            </a:r>
            <a:r>
              <a:rPr sz="3200" spc="-25" dirty="0">
                <a:latin typeface="Calibri"/>
                <a:cs typeface="Calibri"/>
              </a:rPr>
              <a:t>for </a:t>
            </a:r>
            <a:r>
              <a:rPr sz="3200" spc="-5" dirty="0">
                <a:latin typeface="Calibri"/>
                <a:cs typeface="Calibri"/>
              </a:rPr>
              <a:t>describing 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formatting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document </a:t>
            </a:r>
            <a:r>
              <a:rPr sz="3200" spc="-15" dirty="0">
                <a:latin typeface="Calibri"/>
                <a:cs typeface="Calibri"/>
              </a:rPr>
              <a:t>written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HTML.</a:t>
            </a:r>
            <a:endParaRPr sz="32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Using CSS, </a:t>
            </a:r>
            <a:r>
              <a:rPr sz="3200" spc="-15" dirty="0">
                <a:latin typeface="Calibri"/>
                <a:cs typeface="Calibri"/>
              </a:rPr>
              <a:t>we </a:t>
            </a:r>
            <a:r>
              <a:rPr sz="3200" spc="-10" dirty="0">
                <a:latin typeface="Calibri"/>
                <a:cs typeface="Calibri"/>
              </a:rPr>
              <a:t>can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control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The colour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text,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style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fonts,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spacing between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paragraphs,</a:t>
            </a:r>
            <a:endParaRPr sz="28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How columns </a:t>
            </a:r>
            <a:r>
              <a:rPr sz="2800" spc="-20" dirty="0">
                <a:latin typeface="Calibri"/>
                <a:cs typeface="Calibri"/>
              </a:rPr>
              <a:t>are </a:t>
            </a:r>
            <a:r>
              <a:rPr sz="2800" spc="-20" dirty="0" smtClean="0">
                <a:latin typeface="Calibri"/>
                <a:cs typeface="Calibri"/>
              </a:rPr>
              <a:t>sized</a:t>
            </a:r>
            <a:r>
              <a:rPr sz="2800" spc="-10" dirty="0" smtClean="0">
                <a:latin typeface="Calibri"/>
                <a:cs typeface="Calibri"/>
              </a:rPr>
              <a:t>, </a:t>
            </a:r>
            <a:r>
              <a:rPr sz="2800" spc="-20" dirty="0">
                <a:latin typeface="Calibri"/>
                <a:cs typeface="Calibri"/>
              </a:rPr>
              <a:t>borders </a:t>
            </a:r>
            <a:r>
              <a:rPr sz="2800" spc="-5" dirty="0">
                <a:latin typeface="Calibri"/>
                <a:cs typeface="Calibri"/>
              </a:rPr>
              <a:t>and its  </a:t>
            </a:r>
            <a:r>
              <a:rPr sz="2800" spc="-20" dirty="0">
                <a:latin typeface="Calibri"/>
                <a:cs typeface="Calibri"/>
              </a:rPr>
              <a:t>colours,</a:t>
            </a:r>
            <a:endParaRPr sz="2800" dirty="0">
              <a:latin typeface="Calibri"/>
              <a:cs typeface="Calibri"/>
            </a:endParaRPr>
          </a:p>
          <a:p>
            <a:pPr marL="756285" marR="45085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spc="-15" dirty="0">
                <a:latin typeface="Calibri"/>
                <a:cs typeface="Calibri"/>
              </a:rPr>
              <a:t>background </a:t>
            </a:r>
            <a:r>
              <a:rPr sz="2800" spc="-10" dirty="0">
                <a:latin typeface="Calibri"/>
                <a:cs typeface="Calibri"/>
              </a:rPr>
              <a:t>images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20" dirty="0">
                <a:latin typeface="Calibri"/>
                <a:cs typeface="Calibri"/>
              </a:rPr>
              <a:t>colours are </a:t>
            </a:r>
            <a:r>
              <a:rPr sz="2800" spc="-10" dirty="0">
                <a:latin typeface="Calibri"/>
                <a:cs typeface="Calibri"/>
              </a:rPr>
              <a:t>used, </a:t>
            </a:r>
            <a:r>
              <a:rPr sz="2800" spc="-5" dirty="0">
                <a:latin typeface="Calibri"/>
                <a:cs typeface="Calibri"/>
              </a:rPr>
              <a:t>as  </a:t>
            </a:r>
            <a:r>
              <a:rPr sz="2800" spc="-10" dirty="0">
                <a:latin typeface="Calibri"/>
                <a:cs typeface="Calibri"/>
              </a:rPr>
              <a:t>well </a:t>
            </a:r>
            <a:r>
              <a:rPr sz="2800" dirty="0">
                <a:latin typeface="Calibri"/>
                <a:cs typeface="Calibri"/>
              </a:rPr>
              <a:t>as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variety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other </a:t>
            </a:r>
            <a:r>
              <a:rPr sz="2800" spc="-25" dirty="0">
                <a:latin typeface="Calibri"/>
                <a:cs typeface="Calibri"/>
              </a:rPr>
              <a:t>effects </a:t>
            </a:r>
            <a:r>
              <a:rPr sz="2800" spc="-10" dirty="0">
                <a:latin typeface="Calibri"/>
                <a:cs typeface="Calibri"/>
              </a:rPr>
              <a:t>in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web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page.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75250" y="2746252"/>
            <a:ext cx="2689854" cy="16885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664" y="228600"/>
            <a:ext cx="1524000" cy="137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961" y="428066"/>
            <a:ext cx="44157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0" dirty="0">
                <a:solidFill>
                  <a:srgbClr val="006FC0"/>
                </a:solidFill>
              </a:rPr>
              <a:t>Advantage </a:t>
            </a:r>
            <a:r>
              <a:rPr sz="4800" dirty="0">
                <a:solidFill>
                  <a:srgbClr val="006FC0"/>
                </a:solidFill>
              </a:rPr>
              <a:t>of</a:t>
            </a:r>
            <a:r>
              <a:rPr sz="4800" spc="-25" dirty="0">
                <a:solidFill>
                  <a:srgbClr val="006FC0"/>
                </a:solidFill>
              </a:rPr>
              <a:t> </a:t>
            </a:r>
            <a:r>
              <a:rPr sz="4800" spc="-5" dirty="0">
                <a:solidFill>
                  <a:srgbClr val="006FC0"/>
                </a:solidFill>
              </a:rPr>
              <a:t>CSS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35940" y="1434503"/>
            <a:ext cx="8170545" cy="431863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5" dirty="0">
                <a:latin typeface="Calibri"/>
                <a:cs typeface="Calibri"/>
              </a:rPr>
              <a:t>We </a:t>
            </a:r>
            <a:r>
              <a:rPr sz="3200" spc="-10" dirty="0">
                <a:latin typeface="Calibri"/>
                <a:cs typeface="Calibri"/>
              </a:rPr>
              <a:t>can </a:t>
            </a:r>
            <a:r>
              <a:rPr sz="3200" b="1" spc="-10" dirty="0">
                <a:latin typeface="Calibri"/>
                <a:cs typeface="Calibri"/>
              </a:rPr>
              <a:t>reuse </a:t>
            </a:r>
            <a:r>
              <a:rPr sz="3200" b="1" dirty="0">
                <a:latin typeface="Calibri"/>
                <a:cs typeface="Calibri"/>
              </a:rPr>
              <a:t>the same </a:t>
            </a:r>
            <a:r>
              <a:rPr sz="3200" b="1" spc="-5" dirty="0">
                <a:latin typeface="Calibri"/>
                <a:cs typeface="Calibri"/>
              </a:rPr>
              <a:t>code </a:t>
            </a:r>
            <a:r>
              <a:rPr sz="3200" b="1" spc="-20" dirty="0">
                <a:latin typeface="Calibri"/>
                <a:cs typeface="Calibri"/>
              </a:rPr>
              <a:t>for </a:t>
            </a:r>
            <a:r>
              <a:rPr sz="3200" b="1" dirty="0">
                <a:latin typeface="Calibri"/>
                <a:cs typeface="Calibri"/>
              </a:rPr>
              <a:t>all the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pages</a:t>
            </a:r>
            <a:r>
              <a:rPr sz="3200" spc="-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Since CSS </a:t>
            </a:r>
            <a:r>
              <a:rPr sz="3200" spc="-10" dirty="0">
                <a:latin typeface="Calibri"/>
                <a:cs typeface="Calibri"/>
              </a:rPr>
              <a:t>styles are </a:t>
            </a:r>
            <a:r>
              <a:rPr sz="3200" spc="-15" dirty="0">
                <a:latin typeface="Calibri"/>
                <a:cs typeface="Calibri"/>
              </a:rPr>
              <a:t>written </a:t>
            </a:r>
            <a:r>
              <a:rPr sz="3200" dirty="0">
                <a:latin typeface="Calibri"/>
                <a:cs typeface="Calibri"/>
              </a:rPr>
              <a:t>in a </a:t>
            </a:r>
            <a:r>
              <a:rPr sz="3200" spc="-10" dirty="0">
                <a:latin typeface="Calibri"/>
                <a:cs typeface="Calibri"/>
              </a:rPr>
              <a:t>common </a:t>
            </a:r>
            <a:r>
              <a:rPr sz="3200" spc="-5" dirty="0">
                <a:latin typeface="Calibri"/>
                <a:cs typeface="Calibri"/>
              </a:rPr>
              <a:t>place,  </a:t>
            </a:r>
            <a:r>
              <a:rPr sz="3200" dirty="0">
                <a:latin typeface="Calibri"/>
                <a:cs typeface="Calibri"/>
              </a:rPr>
              <a:t>it </a:t>
            </a:r>
            <a:r>
              <a:rPr sz="3200" spc="-20" dirty="0">
                <a:latin typeface="Calibri"/>
                <a:cs typeface="Calibri"/>
              </a:rPr>
              <a:t>separates </a:t>
            </a:r>
            <a:r>
              <a:rPr sz="3200" spc="-5" dirty="0">
                <a:latin typeface="Calibri"/>
                <a:cs typeface="Calibri"/>
              </a:rPr>
              <a:t>CSS </a:t>
            </a:r>
            <a:r>
              <a:rPr sz="3200" dirty="0">
                <a:latin typeface="Calibri"/>
                <a:cs typeface="Calibri"/>
              </a:rPr>
              <a:t>and HTML, which </a:t>
            </a:r>
            <a:r>
              <a:rPr sz="3200" spc="-25" dirty="0">
                <a:latin typeface="Calibri"/>
                <a:cs typeface="Calibri"/>
              </a:rPr>
              <a:t>makes </a:t>
            </a:r>
            <a:r>
              <a:rPr sz="3200" dirty="0">
                <a:latin typeface="Calibri"/>
                <a:cs typeface="Calibri"/>
              </a:rPr>
              <a:t>it  </a:t>
            </a:r>
            <a:r>
              <a:rPr sz="3200" b="1" spc="-15" dirty="0">
                <a:latin typeface="Calibri"/>
                <a:cs typeface="Calibri"/>
              </a:rPr>
              <a:t>easy </a:t>
            </a:r>
            <a:r>
              <a:rPr sz="3200" b="1" spc="-20" dirty="0">
                <a:latin typeface="Calibri"/>
                <a:cs typeface="Calibri"/>
              </a:rPr>
              <a:t>for</a:t>
            </a:r>
            <a:r>
              <a:rPr sz="3200" b="1" spc="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maintenance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is </a:t>
            </a:r>
            <a:r>
              <a:rPr sz="3200" b="1" spc="-15" dirty="0">
                <a:latin typeface="Calibri"/>
                <a:cs typeface="Calibri"/>
              </a:rPr>
              <a:t>easy </a:t>
            </a:r>
            <a:r>
              <a:rPr sz="3200" b="1" spc="-20" dirty="0">
                <a:latin typeface="Calibri"/>
                <a:cs typeface="Calibri"/>
              </a:rPr>
              <a:t>to</a:t>
            </a:r>
            <a:r>
              <a:rPr sz="3200" b="1" spc="-10" dirty="0">
                <a:latin typeface="Calibri"/>
                <a:cs typeface="Calibri"/>
              </a:rPr>
              <a:t> understand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55600" marR="43624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This </a:t>
            </a:r>
            <a:r>
              <a:rPr sz="3200" dirty="0">
                <a:latin typeface="Calibri"/>
                <a:cs typeface="Calibri"/>
              </a:rPr>
              <a:t>also </a:t>
            </a:r>
            <a:r>
              <a:rPr sz="3200" b="1" spc="-10" dirty="0">
                <a:latin typeface="Calibri"/>
                <a:cs typeface="Calibri"/>
              </a:rPr>
              <a:t>reduces </a:t>
            </a:r>
            <a:r>
              <a:rPr sz="3200" b="1" dirty="0">
                <a:latin typeface="Calibri"/>
                <a:cs typeface="Calibri"/>
              </a:rPr>
              <a:t>the </a:t>
            </a:r>
            <a:r>
              <a:rPr sz="3200" b="1" spc="-15" dirty="0">
                <a:latin typeface="Calibri"/>
                <a:cs typeface="Calibri"/>
              </a:rPr>
              <a:t>size </a:t>
            </a:r>
            <a:r>
              <a:rPr sz="3200" b="1" dirty="0">
                <a:latin typeface="Calibri"/>
                <a:cs typeface="Calibri"/>
              </a:rPr>
              <a:t>of the </a:t>
            </a:r>
            <a:r>
              <a:rPr sz="3200" b="1" spc="-5" dirty="0">
                <a:latin typeface="Calibri"/>
                <a:cs typeface="Calibri"/>
              </a:rPr>
              <a:t>web </a:t>
            </a:r>
            <a:r>
              <a:rPr sz="3200" b="1" spc="-10" dirty="0">
                <a:latin typeface="Calibri"/>
                <a:cs typeface="Calibri"/>
              </a:rPr>
              <a:t>page  </a:t>
            </a:r>
            <a:r>
              <a:rPr sz="3200" spc="-10" dirty="0">
                <a:latin typeface="Calibri"/>
                <a:cs typeface="Calibri"/>
              </a:rPr>
              <a:t>thereby </a:t>
            </a:r>
            <a:r>
              <a:rPr sz="3200" b="1" spc="-5" dirty="0">
                <a:latin typeface="Calibri"/>
                <a:cs typeface="Calibri"/>
              </a:rPr>
              <a:t>providing </a:t>
            </a:r>
            <a:r>
              <a:rPr sz="3200" b="1" spc="-20" dirty="0">
                <a:latin typeface="Calibri"/>
                <a:cs typeface="Calibri"/>
              </a:rPr>
              <a:t>faster </a:t>
            </a:r>
            <a:r>
              <a:rPr sz="3200" b="1" spc="-5" dirty="0">
                <a:latin typeface="Calibri"/>
                <a:cs typeface="Calibri"/>
              </a:rPr>
              <a:t>downloads </a:t>
            </a:r>
            <a:r>
              <a:rPr sz="3200" b="1" spc="-20" dirty="0">
                <a:latin typeface="Calibri"/>
                <a:cs typeface="Calibri"/>
              </a:rPr>
              <a:t>for </a:t>
            </a:r>
            <a:r>
              <a:rPr sz="3200" b="1" spc="-10" dirty="0">
                <a:latin typeface="Calibri"/>
                <a:cs typeface="Calibri"/>
              </a:rPr>
              <a:t>web  pages.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2272" y="496950"/>
            <a:ext cx="74536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Basic concepts of HTML</a:t>
            </a:r>
            <a:r>
              <a:rPr spc="2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documents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17509" cy="4221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94005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most </a:t>
            </a:r>
            <a:r>
              <a:rPr sz="3200" spc="-5" dirty="0">
                <a:latin typeface="Calibri"/>
                <a:cs typeface="Calibri"/>
              </a:rPr>
              <a:t>widely used language </a:t>
            </a:r>
            <a:r>
              <a:rPr sz="3200" b="1" spc="-15" dirty="0">
                <a:latin typeface="Calibri"/>
                <a:cs typeface="Calibri"/>
              </a:rPr>
              <a:t>to </a:t>
            </a:r>
            <a:r>
              <a:rPr sz="3200" b="1" spc="-10" dirty="0">
                <a:latin typeface="Calibri"/>
                <a:cs typeface="Calibri"/>
              </a:rPr>
              <a:t>write </a:t>
            </a:r>
            <a:r>
              <a:rPr sz="3200" b="1" spc="-15" dirty="0">
                <a:latin typeface="Calibri"/>
                <a:cs typeface="Calibri"/>
              </a:rPr>
              <a:t>web  </a:t>
            </a:r>
            <a:r>
              <a:rPr sz="3200" b="1" spc="-10" dirty="0">
                <a:latin typeface="Calibri"/>
                <a:cs typeface="Calibri"/>
              </a:rPr>
              <a:t>pages.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is </a:t>
            </a:r>
            <a:r>
              <a:rPr sz="3200" spc="-5" dirty="0">
                <a:latin typeface="Calibri"/>
                <a:cs typeface="Calibri"/>
              </a:rPr>
              <a:t>not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5" dirty="0">
                <a:latin typeface="Calibri"/>
                <a:cs typeface="Calibri"/>
              </a:rPr>
              <a:t>Programming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Language.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is </a:t>
            </a:r>
            <a:r>
              <a:rPr sz="3200" spc="-5" dirty="0">
                <a:latin typeface="Calibri"/>
                <a:cs typeface="Calibri"/>
              </a:rPr>
              <a:t>not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b="1" spc="-5" dirty="0">
                <a:latin typeface="Calibri"/>
                <a:cs typeface="Calibri"/>
              </a:rPr>
              <a:t>Case Sensitive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Language.</a:t>
            </a:r>
            <a:endParaRPr sz="3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  <a:tab pos="4773930" algn="l"/>
              </a:tabLst>
            </a:pPr>
            <a:r>
              <a:rPr sz="3200" spc="-15" dirty="0">
                <a:latin typeface="Calibri"/>
                <a:cs typeface="Calibri"/>
              </a:rPr>
              <a:t>Each </a:t>
            </a:r>
            <a:r>
              <a:rPr sz="3200" spc="-5" dirty="0">
                <a:latin typeface="Calibri"/>
                <a:cs typeface="Calibri"/>
              </a:rPr>
              <a:t>HTML file </a:t>
            </a:r>
            <a:r>
              <a:rPr sz="3200" dirty="0">
                <a:latin typeface="Calibri"/>
                <a:cs typeface="Calibri"/>
              </a:rPr>
              <a:t>is a </a:t>
            </a:r>
            <a:r>
              <a:rPr sz="3200" spc="-5" dirty="0">
                <a:latin typeface="Calibri"/>
                <a:cs typeface="Calibri"/>
              </a:rPr>
              <a:t>plain </a:t>
            </a:r>
            <a:r>
              <a:rPr sz="3200" spc="-20" dirty="0">
                <a:latin typeface="Calibri"/>
                <a:cs typeface="Calibri"/>
              </a:rPr>
              <a:t>text </a:t>
            </a:r>
            <a:r>
              <a:rPr sz="3200" spc="-15" dirty="0">
                <a:latin typeface="Calibri"/>
                <a:cs typeface="Calibri"/>
              </a:rPr>
              <a:t>that </a:t>
            </a:r>
            <a:r>
              <a:rPr sz="3200" spc="-10" dirty="0">
                <a:latin typeface="Calibri"/>
                <a:cs typeface="Calibri"/>
              </a:rPr>
              <a:t>defines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set 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commands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creating	</a:t>
            </a:r>
            <a:r>
              <a:rPr sz="3200" spc="-15" dirty="0">
                <a:latin typeface="Calibri"/>
                <a:cs typeface="Calibri"/>
              </a:rPr>
              <a:t>hypertext  </a:t>
            </a:r>
            <a:r>
              <a:rPr sz="3200" spc="-10" dirty="0">
                <a:latin typeface="Calibri"/>
                <a:cs typeface="Calibri"/>
              </a:rPr>
              <a:t>documents. </a:t>
            </a:r>
            <a:r>
              <a:rPr sz="3200" spc="-5" dirty="0">
                <a:latin typeface="Calibri"/>
                <a:cs typeface="Calibri"/>
              </a:rPr>
              <a:t>These commands </a:t>
            </a:r>
            <a:r>
              <a:rPr sz="3200" spc="-15" dirty="0">
                <a:latin typeface="Calibri"/>
                <a:cs typeface="Calibri"/>
              </a:rPr>
              <a:t>are </a:t>
            </a:r>
            <a:r>
              <a:rPr sz="3200" spc="-5" dirty="0">
                <a:latin typeface="Calibri"/>
                <a:cs typeface="Calibri"/>
              </a:rPr>
              <a:t>known </a:t>
            </a:r>
            <a:r>
              <a:rPr sz="3200" dirty="0">
                <a:latin typeface="Calibri"/>
                <a:cs typeface="Calibri"/>
              </a:rPr>
              <a:t>as  </a:t>
            </a:r>
            <a:r>
              <a:rPr sz="3200" b="1" dirty="0">
                <a:latin typeface="Calibri"/>
                <a:cs typeface="Calibri"/>
              </a:rPr>
              <a:t>HTML</a:t>
            </a:r>
            <a:r>
              <a:rPr sz="3200" b="1" spc="-5" dirty="0">
                <a:latin typeface="Calibri"/>
                <a:cs typeface="Calibri"/>
              </a:rPr>
              <a:t> tags.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039" y="0"/>
            <a:ext cx="1496949" cy="1496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822" y="496950"/>
            <a:ext cx="78187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HTML (Hyper </a:t>
            </a:r>
            <a:r>
              <a:rPr spc="-110" dirty="0">
                <a:solidFill>
                  <a:srgbClr val="FF0000"/>
                </a:solidFill>
              </a:rPr>
              <a:t>Text </a:t>
            </a:r>
            <a:r>
              <a:rPr spc="-15" dirty="0">
                <a:solidFill>
                  <a:srgbClr val="FF0000"/>
                </a:solidFill>
              </a:rPr>
              <a:t>Markup</a:t>
            </a:r>
            <a:r>
              <a:rPr spc="12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Language)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4834890" cy="4612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Developed originally </a:t>
            </a:r>
            <a:r>
              <a:rPr sz="3200" spc="-10" dirty="0">
                <a:latin typeface="Calibri"/>
                <a:cs typeface="Calibri"/>
              </a:rPr>
              <a:t>by  </a:t>
            </a:r>
            <a:r>
              <a:rPr sz="3200" b="1" spc="-5" dirty="0">
                <a:latin typeface="Calibri"/>
                <a:cs typeface="Calibri"/>
              </a:rPr>
              <a:t>Tim Berners </a:t>
            </a:r>
            <a:r>
              <a:rPr sz="3200" b="1" dirty="0">
                <a:latin typeface="Calibri"/>
                <a:cs typeface="Calibri"/>
              </a:rPr>
              <a:t>– Lee </a:t>
            </a:r>
            <a:r>
              <a:rPr sz="3200" dirty="0">
                <a:latin typeface="Calibri"/>
                <a:cs typeface="Calibri"/>
              </a:rPr>
              <a:t>in </a:t>
            </a:r>
            <a:r>
              <a:rPr sz="3200" b="1" spc="-5" dirty="0">
                <a:latin typeface="Calibri"/>
                <a:cs typeface="Calibri"/>
              </a:rPr>
              <a:t>1980  </a:t>
            </a:r>
            <a:r>
              <a:rPr sz="3200" spc="-15" dirty="0">
                <a:latin typeface="Calibri"/>
                <a:cs typeface="Calibri"/>
              </a:rPr>
              <a:t>at </a:t>
            </a:r>
            <a:r>
              <a:rPr sz="3200" b="1" spc="-5" dirty="0">
                <a:latin typeface="Calibri"/>
                <a:cs typeface="Calibri"/>
              </a:rPr>
              <a:t>CERN</a:t>
            </a:r>
            <a:r>
              <a:rPr sz="3200" spc="-5" dirty="0">
                <a:latin typeface="Calibri"/>
                <a:cs typeface="Calibri"/>
              </a:rPr>
              <a:t>,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European  Particle </a:t>
            </a:r>
            <a:r>
              <a:rPr sz="3200" spc="-15" dirty="0">
                <a:latin typeface="Calibri"/>
                <a:cs typeface="Calibri"/>
              </a:rPr>
              <a:t>Physics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Laboratory.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355600" marR="217804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  <a:tab pos="4074795" algn="l"/>
              </a:tabLst>
            </a:pPr>
            <a:r>
              <a:rPr sz="3200" dirty="0">
                <a:latin typeface="Calibri"/>
                <a:cs typeface="Calibri"/>
              </a:rPr>
              <a:t>N</a:t>
            </a:r>
            <a:r>
              <a:rPr sz="3200" spc="-1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w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HTM</a:t>
            </a:r>
            <a:r>
              <a:rPr sz="3200" dirty="0">
                <a:latin typeface="Calibri"/>
                <a:cs typeface="Calibri"/>
              </a:rPr>
              <a:t>L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anda</a:t>
            </a:r>
            <a:r>
              <a:rPr sz="3200" spc="-60" dirty="0">
                <a:latin typeface="Calibri"/>
                <a:cs typeface="Calibri"/>
              </a:rPr>
              <a:t>r</a:t>
            </a:r>
            <a:r>
              <a:rPr sz="3200" spc="-5" dirty="0">
                <a:latin typeface="Calibri"/>
                <a:cs typeface="Calibri"/>
              </a:rPr>
              <a:t>d</a:t>
            </a:r>
            <a:r>
              <a:rPr sz="3200" dirty="0">
                <a:latin typeface="Calibri"/>
                <a:cs typeface="Calibri"/>
              </a:rPr>
              <a:t>s	a</a:t>
            </a:r>
            <a:r>
              <a:rPr sz="3200" spc="-4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  </a:t>
            </a:r>
            <a:r>
              <a:rPr sz="3200" spc="-15" dirty="0">
                <a:latin typeface="Calibri"/>
                <a:cs typeface="Calibri"/>
              </a:rPr>
              <a:t>controlled </a:t>
            </a:r>
            <a:r>
              <a:rPr sz="3200" spc="-10" dirty="0">
                <a:latin typeface="Calibri"/>
                <a:cs typeface="Calibri"/>
              </a:rPr>
              <a:t>by </a:t>
            </a:r>
            <a:r>
              <a:rPr sz="3200" b="1" spc="-5" dirty="0">
                <a:latin typeface="Calibri"/>
                <a:cs typeface="Calibri"/>
              </a:rPr>
              <a:t>W3C </a:t>
            </a:r>
            <a:r>
              <a:rPr sz="3200" dirty="0">
                <a:latin typeface="Calibri"/>
                <a:cs typeface="Calibri"/>
              </a:rPr>
              <a:t>an  </a:t>
            </a:r>
            <a:r>
              <a:rPr sz="3200" spc="-15" dirty="0">
                <a:latin typeface="Calibri"/>
                <a:cs typeface="Calibri"/>
              </a:rPr>
              <a:t>organisation founded </a:t>
            </a:r>
            <a:r>
              <a:rPr sz="3200" dirty="0">
                <a:latin typeface="Calibri"/>
                <a:cs typeface="Calibri"/>
              </a:rPr>
              <a:t>in  </a:t>
            </a:r>
            <a:r>
              <a:rPr sz="3200" spc="-5" dirty="0">
                <a:latin typeface="Calibri"/>
                <a:cs typeface="Calibri"/>
              </a:rPr>
              <a:t>1994.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54396" y="1976629"/>
            <a:ext cx="2848355" cy="3887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07642"/>
            <a:ext cx="7446009" cy="471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HTML </a:t>
            </a:r>
            <a:r>
              <a:rPr sz="3200" spc="-5" dirty="0">
                <a:latin typeface="Calibri"/>
                <a:cs typeface="Calibri"/>
              </a:rPr>
              <a:t>files </a:t>
            </a:r>
            <a:r>
              <a:rPr sz="3200" spc="-15" dirty="0">
                <a:latin typeface="Calibri"/>
                <a:cs typeface="Calibri"/>
              </a:rPr>
              <a:t>must </a:t>
            </a:r>
            <a:r>
              <a:rPr sz="3200" dirty="0">
                <a:latin typeface="Calibri"/>
                <a:cs typeface="Calibri"/>
              </a:rPr>
              <a:t>be </a:t>
            </a:r>
            <a:r>
              <a:rPr sz="3200" spc="-20" dirty="0">
                <a:latin typeface="Calibri"/>
                <a:cs typeface="Calibri"/>
              </a:rPr>
              <a:t>saved </a:t>
            </a:r>
            <a:r>
              <a:rPr sz="3200" dirty="0">
                <a:latin typeface="Calibri"/>
                <a:cs typeface="Calibri"/>
              </a:rPr>
              <a:t>with </a:t>
            </a:r>
            <a:r>
              <a:rPr sz="3200" b="1" spc="-10" dirty="0">
                <a:latin typeface="Calibri"/>
                <a:cs typeface="Calibri"/>
              </a:rPr>
              <a:t>.htm</a:t>
            </a:r>
            <a:r>
              <a:rPr sz="3200" b="1" spc="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or</a:t>
            </a:r>
            <a:endParaRPr sz="3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200" b="1" spc="-10" dirty="0">
                <a:latin typeface="Calibri"/>
                <a:cs typeface="Calibri"/>
              </a:rPr>
              <a:t>.html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extensions.</a:t>
            </a:r>
            <a:endParaRPr sz="3200">
              <a:latin typeface="Calibri"/>
              <a:cs typeface="Calibri"/>
            </a:endParaRPr>
          </a:p>
          <a:p>
            <a:pPr marL="355600" marR="15938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HTML </a:t>
            </a:r>
            <a:r>
              <a:rPr sz="3200" spc="-10" dirty="0">
                <a:latin typeface="Calibri"/>
                <a:cs typeface="Calibri"/>
              </a:rPr>
              <a:t>pages </a:t>
            </a:r>
            <a:r>
              <a:rPr sz="3200" spc="-15" dirty="0">
                <a:latin typeface="Calibri"/>
                <a:cs typeface="Calibri"/>
              </a:rPr>
              <a:t>are </a:t>
            </a:r>
            <a:r>
              <a:rPr sz="3200" spc="-5" dirty="0">
                <a:latin typeface="Calibri"/>
                <a:cs typeface="Calibri"/>
              </a:rPr>
              <a:t>viewed </a:t>
            </a:r>
            <a:r>
              <a:rPr sz="3200" dirty="0">
                <a:latin typeface="Calibri"/>
                <a:cs typeface="Calibri"/>
              </a:rPr>
              <a:t>with the </a:t>
            </a:r>
            <a:r>
              <a:rPr sz="3200" spc="-5" dirty="0">
                <a:latin typeface="Calibri"/>
                <a:cs typeface="Calibri"/>
              </a:rPr>
              <a:t>help of </a:t>
            </a:r>
            <a:r>
              <a:rPr sz="3200" dirty="0">
                <a:latin typeface="Calibri"/>
                <a:cs typeface="Calibri"/>
              </a:rPr>
              <a:t>a  </a:t>
            </a:r>
            <a:r>
              <a:rPr sz="3200" spc="-15" dirty="0">
                <a:latin typeface="Calibri"/>
                <a:cs typeface="Calibri"/>
              </a:rPr>
              <a:t>software </a:t>
            </a:r>
            <a:r>
              <a:rPr sz="3200" spc="-5" dirty="0">
                <a:latin typeface="Calibri"/>
                <a:cs typeface="Calibri"/>
              </a:rPr>
              <a:t>called </a:t>
            </a:r>
            <a:r>
              <a:rPr sz="3200" b="1" spc="-40" dirty="0">
                <a:latin typeface="Calibri"/>
                <a:cs typeface="Calibri"/>
              </a:rPr>
              <a:t>Web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Browsers.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spc="-10" dirty="0">
                <a:latin typeface="Calibri"/>
                <a:cs typeface="Calibri"/>
              </a:rPr>
              <a:t>Popular </a:t>
            </a:r>
            <a:r>
              <a:rPr sz="3200" b="1" spc="-40" dirty="0">
                <a:latin typeface="Calibri"/>
                <a:cs typeface="Calibri"/>
              </a:rPr>
              <a:t>Web </a:t>
            </a:r>
            <a:r>
              <a:rPr sz="3200" b="1" spc="-15" dirty="0">
                <a:latin typeface="Calibri"/>
                <a:cs typeface="Calibri"/>
              </a:rPr>
              <a:t>Browsers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Microsoft Internet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Explorer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Mozilla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Firefox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Google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Chrome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Opera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etc.,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47813" y="77597"/>
            <a:ext cx="1496186" cy="1576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819400"/>
            <a:ext cx="5410200" cy="1046440"/>
          </a:xfrm>
        </p:spPr>
        <p:txBody>
          <a:bodyPr/>
          <a:lstStyle/>
          <a:p>
            <a:pPr algn="ctr"/>
            <a:r>
              <a:rPr lang="en-US" sz="4000" dirty="0" smtClean="0">
                <a:solidFill>
                  <a:srgbClr val="FFC000"/>
                </a:solidFill>
                <a:latin typeface="Times" pitchFamily="18" charset="0"/>
              </a:rPr>
              <a:t>The End </a:t>
            </a:r>
            <a:r>
              <a:rPr lang="en-US" sz="4000" dirty="0">
                <a:solidFill>
                  <a:srgbClr val="FFC000"/>
                </a:solidFill>
                <a:latin typeface="Times" pitchFamily="18" charset="0"/>
              </a:rPr>
              <a:t>of The Course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134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870" y="428066"/>
            <a:ext cx="13188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75" dirty="0">
                <a:solidFill>
                  <a:srgbClr val="FF0000"/>
                </a:solidFill>
              </a:rPr>
              <a:t>T</a:t>
            </a:r>
            <a:r>
              <a:rPr sz="4800" spc="-65" dirty="0">
                <a:solidFill>
                  <a:srgbClr val="FF0000"/>
                </a:solidFill>
              </a:rPr>
              <a:t>A</a:t>
            </a:r>
            <a:r>
              <a:rPr sz="4800" spc="-5" dirty="0">
                <a:solidFill>
                  <a:srgbClr val="FF0000"/>
                </a:solidFill>
              </a:rPr>
              <a:t>GS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526794" y="1753946"/>
            <a:ext cx="6605270" cy="368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spc="-85" dirty="0">
                <a:latin typeface="Calibri"/>
                <a:cs typeface="Calibri"/>
              </a:rPr>
              <a:t>Tags </a:t>
            </a:r>
            <a:r>
              <a:rPr sz="4000" spc="-20" dirty="0">
                <a:latin typeface="Calibri"/>
                <a:cs typeface="Calibri"/>
              </a:rPr>
              <a:t>are </a:t>
            </a:r>
            <a:r>
              <a:rPr sz="4000" spc="-15" dirty="0">
                <a:latin typeface="Calibri"/>
                <a:cs typeface="Calibri"/>
              </a:rPr>
              <a:t>generally </a:t>
            </a:r>
            <a:r>
              <a:rPr sz="4000" spc="-5" dirty="0">
                <a:latin typeface="Calibri"/>
                <a:cs typeface="Calibri"/>
              </a:rPr>
              <a:t>classified </a:t>
            </a:r>
            <a:r>
              <a:rPr sz="4000" spc="-25" dirty="0">
                <a:latin typeface="Calibri"/>
                <a:cs typeface="Calibri"/>
              </a:rPr>
              <a:t>into  </a:t>
            </a:r>
            <a:r>
              <a:rPr sz="4000" spc="-15" dirty="0">
                <a:latin typeface="Calibri"/>
                <a:cs typeface="Calibri"/>
              </a:rPr>
              <a:t>two </a:t>
            </a:r>
            <a:r>
              <a:rPr sz="4000" spc="-5" dirty="0">
                <a:latin typeface="Calibri"/>
                <a:cs typeface="Calibri"/>
              </a:rPr>
              <a:t>types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: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150">
              <a:latin typeface="Times New Roman"/>
              <a:cs typeface="Times New Roman"/>
            </a:endParaRPr>
          </a:p>
          <a:p>
            <a:pPr marL="756285" indent="-744220">
              <a:lnSpc>
                <a:spcPct val="100000"/>
              </a:lnSpc>
              <a:buAutoNum type="arabicPeriod"/>
              <a:tabLst>
                <a:tab pos="756285" algn="l"/>
                <a:tab pos="756920" algn="l"/>
              </a:tabLst>
            </a:pPr>
            <a:r>
              <a:rPr sz="4000" b="1" spc="-15" dirty="0">
                <a:solidFill>
                  <a:srgbClr val="00AF50"/>
                </a:solidFill>
                <a:latin typeface="Calibri"/>
                <a:cs typeface="Calibri"/>
              </a:rPr>
              <a:t>Container</a:t>
            </a:r>
            <a:r>
              <a:rPr sz="4000" b="1" spc="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00AF50"/>
                </a:solidFill>
                <a:latin typeface="Calibri"/>
                <a:cs typeface="Calibri"/>
              </a:rPr>
              <a:t>tag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AutoNum type="arabicPeriod"/>
            </a:pPr>
            <a:endParaRPr sz="4150">
              <a:latin typeface="Times New Roman"/>
              <a:cs typeface="Times New Roman"/>
            </a:endParaRPr>
          </a:p>
          <a:p>
            <a:pPr marL="756285" indent="-7442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756285" algn="l"/>
                <a:tab pos="756920" algn="l"/>
              </a:tabLst>
            </a:pPr>
            <a:r>
              <a:rPr sz="4000" b="1" spc="-10" dirty="0">
                <a:solidFill>
                  <a:srgbClr val="C00000"/>
                </a:solidFill>
                <a:latin typeface="Calibri"/>
                <a:cs typeface="Calibri"/>
              </a:rPr>
              <a:t>Empty</a:t>
            </a:r>
            <a:r>
              <a:rPr sz="40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C00000"/>
                </a:solidFill>
                <a:latin typeface="Calibri"/>
                <a:cs typeface="Calibri"/>
              </a:rPr>
              <a:t>tag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445" y="461594"/>
            <a:ext cx="58375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0000"/>
                </a:solidFill>
              </a:rPr>
              <a:t>Container </a:t>
            </a:r>
            <a:r>
              <a:rPr sz="4400" spc="-20" dirty="0">
                <a:solidFill>
                  <a:srgbClr val="FF0000"/>
                </a:solidFill>
              </a:rPr>
              <a:t>tag </a:t>
            </a:r>
            <a:r>
              <a:rPr sz="4400" dirty="0">
                <a:solidFill>
                  <a:srgbClr val="FF0000"/>
                </a:solidFill>
              </a:rPr>
              <a:t>or</a:t>
            </a:r>
            <a:r>
              <a:rPr sz="4400" spc="-45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element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84820" cy="421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This </a:t>
            </a:r>
            <a:r>
              <a:rPr sz="3200" dirty="0">
                <a:latin typeface="Calibri"/>
                <a:cs typeface="Calibri"/>
              </a:rPr>
              <a:t>type of </a:t>
            </a:r>
            <a:r>
              <a:rPr sz="3200" spc="-10" dirty="0">
                <a:latin typeface="Calibri"/>
                <a:cs typeface="Calibri"/>
              </a:rPr>
              <a:t>html </a:t>
            </a:r>
            <a:r>
              <a:rPr sz="3200" spc="-15" dirty="0">
                <a:latin typeface="Calibri"/>
                <a:cs typeface="Calibri"/>
              </a:rPr>
              <a:t>tag </a:t>
            </a:r>
            <a:r>
              <a:rPr sz="3200" spc="5" dirty="0">
                <a:latin typeface="Calibri"/>
                <a:cs typeface="Calibri"/>
              </a:rPr>
              <a:t>or </a:t>
            </a:r>
            <a:r>
              <a:rPr sz="3200" spc="-5" dirty="0">
                <a:latin typeface="Calibri"/>
                <a:cs typeface="Calibri"/>
              </a:rPr>
              <a:t>elements </a:t>
            </a:r>
            <a:r>
              <a:rPr sz="3200" spc="-15" dirty="0">
                <a:latin typeface="Calibri"/>
                <a:cs typeface="Calibri"/>
              </a:rPr>
              <a:t>require </a:t>
            </a:r>
            <a:r>
              <a:rPr sz="3200" spc="-5" dirty="0">
                <a:latin typeface="Calibri"/>
                <a:cs typeface="Calibri"/>
              </a:rPr>
              <a:t>pair  </a:t>
            </a:r>
            <a:r>
              <a:rPr sz="3200" spc="-10" dirty="0">
                <a:latin typeface="Calibri"/>
                <a:cs typeface="Calibri"/>
              </a:rPr>
              <a:t>tags, </a:t>
            </a:r>
            <a:r>
              <a:rPr sz="3200" spc="-5" dirty="0">
                <a:latin typeface="Calibri"/>
                <a:cs typeface="Calibri"/>
              </a:rPr>
              <a:t>ie.,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5" dirty="0">
                <a:latin typeface="Calibri"/>
                <a:cs typeface="Calibri"/>
              </a:rPr>
              <a:t>starting tag </a:t>
            </a:r>
            <a:r>
              <a:rPr sz="3200" dirty="0">
                <a:latin typeface="Calibri"/>
                <a:cs typeface="Calibri"/>
              </a:rPr>
              <a:t>as </a:t>
            </a:r>
            <a:r>
              <a:rPr sz="3200" spc="-5" dirty="0">
                <a:latin typeface="Calibri"/>
                <a:cs typeface="Calibri"/>
              </a:rPr>
              <a:t>well </a:t>
            </a:r>
            <a:r>
              <a:rPr sz="3200" dirty="0">
                <a:latin typeface="Calibri"/>
                <a:cs typeface="Calibri"/>
              </a:rPr>
              <a:t>as an ending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Examples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835"/>
              </a:spcBef>
            </a:pPr>
            <a:r>
              <a:rPr sz="3600" b="1" spc="-10" dirty="0">
                <a:solidFill>
                  <a:srgbClr val="006FC0"/>
                </a:solidFill>
                <a:latin typeface="Calibri"/>
                <a:cs typeface="Calibri"/>
              </a:rPr>
              <a:t>&lt;html&gt;……..</a:t>
            </a:r>
            <a:r>
              <a:rPr sz="3600" b="1" spc="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06FC0"/>
                </a:solidFill>
                <a:latin typeface="Calibri"/>
                <a:cs typeface="Calibri"/>
              </a:rPr>
              <a:t>&lt;/html&gt;</a:t>
            </a:r>
            <a:endParaRPr sz="36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870"/>
              </a:spcBef>
            </a:pPr>
            <a:r>
              <a:rPr sz="3600" b="1" spc="-5" dirty="0">
                <a:solidFill>
                  <a:srgbClr val="C00000"/>
                </a:solidFill>
                <a:latin typeface="Calibri"/>
                <a:cs typeface="Calibri"/>
              </a:rPr>
              <a:t>&lt;head&gt;……&lt;/head&gt;</a:t>
            </a:r>
            <a:endParaRPr sz="36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860"/>
              </a:spcBef>
            </a:pPr>
            <a:r>
              <a:rPr sz="3600" b="1" spc="-5" dirty="0">
                <a:latin typeface="Calibri"/>
                <a:cs typeface="Calibri"/>
              </a:rPr>
              <a:t>&lt;title&gt;</a:t>
            </a:r>
            <a:r>
              <a:rPr sz="3600" b="1" spc="-15" dirty="0"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00AF50"/>
                </a:solidFill>
                <a:latin typeface="Calibri"/>
                <a:cs typeface="Calibri"/>
              </a:rPr>
              <a:t>…………….</a:t>
            </a:r>
            <a:r>
              <a:rPr sz="3600" b="1" spc="-5" dirty="0">
                <a:latin typeface="Calibri"/>
                <a:cs typeface="Calibri"/>
              </a:rPr>
              <a:t>&lt;/title&gt;</a:t>
            </a:r>
            <a:endParaRPr sz="36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870"/>
              </a:spcBef>
            </a:pPr>
            <a:r>
              <a:rPr sz="3600" b="1" spc="-5" dirty="0">
                <a:solidFill>
                  <a:srgbClr val="FF0000"/>
                </a:solidFill>
                <a:latin typeface="Calibri"/>
                <a:cs typeface="Calibri"/>
              </a:rPr>
              <a:t>&lt;body&gt;……….&lt;/body&gt;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0160" y="461594"/>
            <a:ext cx="5045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Empty </a:t>
            </a:r>
            <a:r>
              <a:rPr sz="4400" spc="-20" dirty="0">
                <a:solidFill>
                  <a:srgbClr val="FF0000"/>
                </a:solidFill>
              </a:rPr>
              <a:t>tag </a:t>
            </a:r>
            <a:r>
              <a:rPr sz="4400" dirty="0">
                <a:solidFill>
                  <a:srgbClr val="FF0000"/>
                </a:solidFill>
              </a:rPr>
              <a:t>or</a:t>
            </a:r>
            <a:r>
              <a:rPr sz="4400" spc="-25" dirty="0">
                <a:solidFill>
                  <a:srgbClr val="FF0000"/>
                </a:solidFill>
              </a:rPr>
              <a:t> </a:t>
            </a:r>
            <a:r>
              <a:rPr sz="4400" spc="-10" dirty="0">
                <a:solidFill>
                  <a:srgbClr val="FF0000"/>
                </a:solidFill>
              </a:rPr>
              <a:t>element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101330" cy="421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This </a:t>
            </a:r>
            <a:r>
              <a:rPr sz="3200" dirty="0">
                <a:latin typeface="Calibri"/>
                <a:cs typeface="Calibri"/>
              </a:rPr>
              <a:t>type of </a:t>
            </a:r>
            <a:r>
              <a:rPr sz="3200" spc="-10" dirty="0">
                <a:latin typeface="Calibri"/>
                <a:cs typeface="Calibri"/>
              </a:rPr>
              <a:t>html </a:t>
            </a:r>
            <a:r>
              <a:rPr sz="3200" spc="-15" dirty="0">
                <a:latin typeface="Calibri"/>
                <a:cs typeface="Calibri"/>
              </a:rPr>
              <a:t>tag </a:t>
            </a:r>
            <a:r>
              <a:rPr sz="3200" spc="5" dirty="0">
                <a:latin typeface="Calibri"/>
                <a:cs typeface="Calibri"/>
              </a:rPr>
              <a:t>or </a:t>
            </a:r>
            <a:r>
              <a:rPr sz="3200" spc="-5" dirty="0">
                <a:latin typeface="Calibri"/>
                <a:cs typeface="Calibri"/>
              </a:rPr>
              <a:t>elements </a:t>
            </a:r>
            <a:r>
              <a:rPr sz="3200" spc="-15" dirty="0">
                <a:latin typeface="Calibri"/>
                <a:cs typeface="Calibri"/>
              </a:rPr>
              <a:t>require just </a:t>
            </a:r>
            <a:r>
              <a:rPr sz="3200" dirty="0">
                <a:latin typeface="Calibri"/>
                <a:cs typeface="Calibri"/>
              </a:rPr>
              <a:t>a  </a:t>
            </a:r>
            <a:r>
              <a:rPr sz="3200" spc="-15" dirty="0">
                <a:latin typeface="Calibri"/>
                <a:cs typeface="Calibri"/>
              </a:rPr>
              <a:t>starting tag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5" dirty="0">
                <a:latin typeface="Calibri"/>
                <a:cs typeface="Calibri"/>
              </a:rPr>
              <a:t>not </a:t>
            </a:r>
            <a:r>
              <a:rPr sz="3200" dirty="0">
                <a:latin typeface="Calibri"/>
                <a:cs typeface="Calibri"/>
              </a:rPr>
              <a:t>an ending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Examples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835"/>
              </a:spcBef>
            </a:pPr>
            <a:r>
              <a:rPr sz="3600" b="1" spc="-5" dirty="0">
                <a:solidFill>
                  <a:srgbClr val="006FC0"/>
                </a:solidFill>
                <a:latin typeface="Calibri"/>
                <a:cs typeface="Calibri"/>
              </a:rPr>
              <a:t>&lt;br&gt;</a:t>
            </a:r>
            <a:endParaRPr sz="36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870"/>
              </a:spcBef>
            </a:pPr>
            <a:r>
              <a:rPr sz="3600" b="1" spc="-15" dirty="0">
                <a:solidFill>
                  <a:srgbClr val="C00000"/>
                </a:solidFill>
                <a:latin typeface="Calibri"/>
                <a:cs typeface="Calibri"/>
              </a:rPr>
              <a:t>&lt;frame&gt;</a:t>
            </a:r>
            <a:endParaRPr sz="36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860"/>
              </a:spcBef>
            </a:pPr>
            <a:r>
              <a:rPr sz="3600" b="1" spc="-5" dirty="0">
                <a:solidFill>
                  <a:srgbClr val="FF0000"/>
                </a:solidFill>
                <a:latin typeface="Calibri"/>
                <a:cs typeface="Calibri"/>
              </a:rPr>
              <a:t>&lt;hr&gt;</a:t>
            </a:r>
            <a:endParaRPr sz="36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870"/>
              </a:spcBef>
            </a:pPr>
            <a:r>
              <a:rPr sz="3600" b="1" spc="-5" dirty="0">
                <a:latin typeface="Calibri"/>
                <a:cs typeface="Calibri"/>
              </a:rPr>
              <a:t>&lt;img&gt; </a:t>
            </a:r>
            <a:r>
              <a:rPr sz="3600" b="1" spc="-20" dirty="0">
                <a:latin typeface="Calibri"/>
                <a:cs typeface="Calibri"/>
              </a:rPr>
              <a:t>etc.,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4709" y="461594"/>
            <a:ext cx="2357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40" dirty="0">
                <a:solidFill>
                  <a:srgbClr val="FF0000"/>
                </a:solidFill>
              </a:rPr>
              <a:t>A</a:t>
            </a:r>
            <a:r>
              <a:rPr sz="4400" spc="-55" dirty="0">
                <a:solidFill>
                  <a:srgbClr val="FF0000"/>
                </a:solidFill>
              </a:rPr>
              <a:t>t</a:t>
            </a:r>
            <a:r>
              <a:rPr sz="4400" dirty="0">
                <a:solidFill>
                  <a:srgbClr val="FF0000"/>
                </a:solidFill>
              </a:rPr>
              <a:t>tr</a:t>
            </a:r>
            <a:r>
              <a:rPr sz="4400" spc="-15" dirty="0">
                <a:solidFill>
                  <a:srgbClr val="FF0000"/>
                </a:solidFill>
              </a:rPr>
              <a:t>i</a:t>
            </a:r>
            <a:r>
              <a:rPr sz="4400" dirty="0">
                <a:solidFill>
                  <a:srgbClr val="FF0000"/>
                </a:solidFill>
              </a:rPr>
              <a:t>bu</a:t>
            </a:r>
            <a:r>
              <a:rPr sz="4400" spc="-55" dirty="0">
                <a:solidFill>
                  <a:srgbClr val="FF0000"/>
                </a:solidFill>
              </a:rPr>
              <a:t>t</a:t>
            </a:r>
            <a:r>
              <a:rPr sz="4400" spc="-5" dirty="0">
                <a:solidFill>
                  <a:srgbClr val="FF0000"/>
                </a:solidFill>
              </a:rPr>
              <a:t>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0" y="1601546"/>
            <a:ext cx="8667723" cy="392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4455" marR="73025" indent="-3810" algn="ctr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alibri"/>
                <a:cs typeface="Calibri"/>
              </a:rPr>
              <a:t>An </a:t>
            </a:r>
            <a:r>
              <a:rPr sz="4000" spc="-20" dirty="0">
                <a:latin typeface="Calibri"/>
                <a:cs typeface="Calibri"/>
              </a:rPr>
              <a:t>attribute </a:t>
            </a:r>
            <a:r>
              <a:rPr sz="4000" spc="-5" dirty="0">
                <a:latin typeface="Calibri"/>
                <a:cs typeface="Calibri"/>
              </a:rPr>
              <a:t>is a </a:t>
            </a:r>
            <a:r>
              <a:rPr sz="4000" spc="-10" dirty="0">
                <a:latin typeface="Calibri"/>
                <a:cs typeface="Calibri"/>
              </a:rPr>
              <a:t>special </a:t>
            </a:r>
            <a:r>
              <a:rPr sz="4000" spc="-30" dirty="0">
                <a:latin typeface="Calibri"/>
                <a:cs typeface="Calibri"/>
              </a:rPr>
              <a:t>word </a:t>
            </a:r>
            <a:r>
              <a:rPr sz="4000" spc="-10" dirty="0">
                <a:latin typeface="Calibri"/>
                <a:cs typeface="Calibri"/>
              </a:rPr>
              <a:t>used  </a:t>
            </a:r>
            <a:r>
              <a:rPr sz="4000" spc="-5" dirty="0">
                <a:latin typeface="Calibri"/>
                <a:cs typeface="Calibri"/>
              </a:rPr>
              <a:t>inside </a:t>
            </a:r>
            <a:r>
              <a:rPr sz="4000" dirty="0">
                <a:latin typeface="Calibri"/>
                <a:cs typeface="Calibri"/>
              </a:rPr>
              <a:t>the </a:t>
            </a:r>
            <a:r>
              <a:rPr sz="4000" spc="-20" dirty="0">
                <a:latin typeface="Calibri"/>
                <a:cs typeface="Calibri"/>
              </a:rPr>
              <a:t>tag to </a:t>
            </a:r>
            <a:r>
              <a:rPr sz="4000" spc="-5" dirty="0">
                <a:latin typeface="Calibri"/>
                <a:cs typeface="Calibri"/>
              </a:rPr>
              <a:t>specify additional  </a:t>
            </a:r>
            <a:r>
              <a:rPr sz="4000" spc="-20" dirty="0">
                <a:latin typeface="Calibri"/>
                <a:cs typeface="Calibri"/>
              </a:rPr>
              <a:t>information </a:t>
            </a:r>
            <a:r>
              <a:rPr sz="4000" spc="-5" dirty="0">
                <a:latin typeface="Calibri"/>
                <a:cs typeface="Calibri"/>
              </a:rPr>
              <a:t>such as </a:t>
            </a:r>
            <a:r>
              <a:rPr sz="4000" spc="-60" dirty="0">
                <a:latin typeface="Calibri"/>
                <a:cs typeface="Calibri"/>
              </a:rPr>
              <a:t>colour, </a:t>
            </a:r>
            <a:r>
              <a:rPr sz="4000" spc="-5" dirty="0">
                <a:latin typeface="Calibri"/>
                <a:cs typeface="Calibri"/>
              </a:rPr>
              <a:t>alignment,  </a:t>
            </a:r>
            <a:r>
              <a:rPr sz="4000" spc="-10" dirty="0">
                <a:latin typeface="Calibri"/>
                <a:cs typeface="Calibri"/>
              </a:rPr>
              <a:t>background </a:t>
            </a:r>
            <a:r>
              <a:rPr sz="4000" spc="-15" dirty="0">
                <a:latin typeface="Calibri"/>
                <a:cs typeface="Calibri"/>
              </a:rPr>
              <a:t>etc.,</a:t>
            </a:r>
            <a:endParaRPr sz="4000" dirty="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965"/>
              </a:spcBef>
            </a:pPr>
            <a:r>
              <a:rPr sz="4000" spc="-15" dirty="0">
                <a:latin typeface="Calibri"/>
                <a:cs typeface="Calibri"/>
              </a:rPr>
              <a:t>Examples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:</a:t>
            </a:r>
            <a:endParaRPr sz="4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4000" b="1" spc="-45" dirty="0">
                <a:solidFill>
                  <a:srgbClr val="006FC0"/>
                </a:solidFill>
                <a:latin typeface="Calibri"/>
                <a:cs typeface="Calibri"/>
              </a:rPr>
              <a:t>bgcolour, </a:t>
            </a:r>
            <a:r>
              <a:rPr sz="4000" b="1" spc="-10" dirty="0">
                <a:solidFill>
                  <a:srgbClr val="C00000"/>
                </a:solidFill>
                <a:latin typeface="Calibri"/>
                <a:cs typeface="Calibri"/>
              </a:rPr>
              <a:t>background</a:t>
            </a:r>
            <a:r>
              <a:rPr sz="4000" b="1" spc="-10" dirty="0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sz="4000" b="1" spc="-5" dirty="0">
                <a:solidFill>
                  <a:srgbClr val="FF0000"/>
                </a:solidFill>
                <a:latin typeface="Calibri"/>
                <a:cs typeface="Calibri"/>
              </a:rPr>
              <a:t>type</a:t>
            </a:r>
            <a:r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sz="4000" b="1" spc="-5" dirty="0">
                <a:solidFill>
                  <a:srgbClr val="6F2F9F"/>
                </a:solidFill>
                <a:latin typeface="Calibri"/>
                <a:cs typeface="Calibri"/>
              </a:rPr>
              <a:t>align</a:t>
            </a:r>
            <a:r>
              <a:rPr sz="4000" b="1" spc="1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006FC0"/>
                </a:solidFill>
                <a:latin typeface="Calibri"/>
                <a:cs typeface="Calibri"/>
              </a:rPr>
              <a:t>etc.,</a:t>
            </a:r>
            <a:endParaRPr sz="4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9997" y="450545"/>
            <a:ext cx="72917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Basic </a:t>
            </a:r>
            <a:r>
              <a:rPr spc="-15" dirty="0">
                <a:solidFill>
                  <a:srgbClr val="FF0000"/>
                </a:solidFill>
              </a:rPr>
              <a:t>structure </a:t>
            </a:r>
            <a:r>
              <a:rPr spc="-5" dirty="0">
                <a:solidFill>
                  <a:srgbClr val="FF0000"/>
                </a:solidFill>
              </a:rPr>
              <a:t>of HTML</a:t>
            </a:r>
            <a:r>
              <a:rPr spc="4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document</a:t>
            </a:r>
          </a:p>
        </p:txBody>
      </p:sp>
      <p:sp>
        <p:nvSpPr>
          <p:cNvPr id="3" name="object 3"/>
          <p:cNvSpPr/>
          <p:nvPr/>
        </p:nvSpPr>
        <p:spPr>
          <a:xfrm>
            <a:off x="27039" y="0"/>
            <a:ext cx="1496949" cy="1496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36319" y="1219200"/>
            <a:ext cx="6159881" cy="56387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7760" y="415493"/>
            <a:ext cx="6570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0000"/>
                </a:solidFill>
              </a:rPr>
              <a:t>Example </a:t>
            </a:r>
            <a:r>
              <a:rPr sz="4400" dirty="0">
                <a:solidFill>
                  <a:srgbClr val="FF0000"/>
                </a:solidFill>
              </a:rPr>
              <a:t>of HTML</a:t>
            </a:r>
            <a:r>
              <a:rPr sz="4400" spc="-35" dirty="0">
                <a:solidFill>
                  <a:srgbClr val="FF0000"/>
                </a:solidFill>
              </a:rPr>
              <a:t> </a:t>
            </a:r>
            <a:r>
              <a:rPr sz="4400" spc="-10" dirty="0">
                <a:solidFill>
                  <a:srgbClr val="FF0000"/>
                </a:solidFill>
              </a:rPr>
              <a:t>document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4341" y="22454"/>
            <a:ext cx="1399647" cy="14744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540" y="1505521"/>
            <a:ext cx="8395970" cy="4855210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sz="3300" b="1" spc="-10" dirty="0">
                <a:solidFill>
                  <a:srgbClr val="006FC0"/>
                </a:solidFill>
                <a:latin typeface="Calibri"/>
                <a:cs typeface="Calibri"/>
              </a:rPr>
              <a:t>&lt;html&gt;</a:t>
            </a:r>
            <a:endParaRPr sz="3300">
              <a:latin typeface="Calibri"/>
              <a:cs typeface="Calibri"/>
            </a:endParaRPr>
          </a:p>
          <a:p>
            <a:pPr marL="297180">
              <a:lnSpc>
                <a:spcPct val="100000"/>
              </a:lnSpc>
              <a:spcBef>
                <a:spcPts val="790"/>
              </a:spcBef>
            </a:pPr>
            <a:r>
              <a:rPr sz="3300" b="1" spc="-5" dirty="0">
                <a:solidFill>
                  <a:srgbClr val="C00000"/>
                </a:solidFill>
                <a:latin typeface="Calibri"/>
                <a:cs typeface="Calibri"/>
              </a:rPr>
              <a:t>&lt;head&gt;</a:t>
            </a:r>
            <a:endParaRPr sz="33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95"/>
              </a:spcBef>
            </a:pPr>
            <a:r>
              <a:rPr sz="3300" b="1" spc="-5" dirty="0">
                <a:latin typeface="Calibri"/>
                <a:cs typeface="Calibri"/>
              </a:rPr>
              <a:t>&lt;title&gt; </a:t>
            </a:r>
            <a:r>
              <a:rPr sz="3300" b="1" spc="-5" dirty="0">
                <a:solidFill>
                  <a:srgbClr val="00AF50"/>
                </a:solidFill>
                <a:latin typeface="Calibri"/>
                <a:cs typeface="Calibri"/>
              </a:rPr>
              <a:t>This </a:t>
            </a:r>
            <a:r>
              <a:rPr sz="3300" b="1" dirty="0">
                <a:solidFill>
                  <a:srgbClr val="00AF50"/>
                </a:solidFill>
                <a:latin typeface="Calibri"/>
                <a:cs typeface="Calibri"/>
              </a:rPr>
              <a:t>is the title of </a:t>
            </a:r>
            <a:r>
              <a:rPr sz="3300" b="1" spc="-15" dirty="0">
                <a:solidFill>
                  <a:srgbClr val="00AF50"/>
                </a:solidFill>
                <a:latin typeface="Calibri"/>
                <a:cs typeface="Calibri"/>
              </a:rPr>
              <a:t>web </a:t>
            </a:r>
            <a:r>
              <a:rPr sz="3300" b="1" spc="-10" dirty="0">
                <a:solidFill>
                  <a:srgbClr val="00AF50"/>
                </a:solidFill>
                <a:latin typeface="Calibri"/>
                <a:cs typeface="Calibri"/>
              </a:rPr>
              <a:t>page</a:t>
            </a:r>
            <a:r>
              <a:rPr sz="3300" b="1" spc="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3300" b="1" spc="-5" dirty="0">
                <a:latin typeface="Calibri"/>
                <a:cs typeface="Calibri"/>
              </a:rPr>
              <a:t>&lt;/title&gt;</a:t>
            </a:r>
            <a:endParaRPr sz="3300">
              <a:latin typeface="Calibri"/>
              <a:cs typeface="Calibri"/>
            </a:endParaRPr>
          </a:p>
          <a:p>
            <a:pPr marL="297180">
              <a:lnSpc>
                <a:spcPct val="100000"/>
              </a:lnSpc>
              <a:spcBef>
                <a:spcPts val="790"/>
              </a:spcBef>
            </a:pPr>
            <a:r>
              <a:rPr sz="3300" b="1" spc="-5" dirty="0">
                <a:solidFill>
                  <a:srgbClr val="C00000"/>
                </a:solidFill>
                <a:latin typeface="Calibri"/>
                <a:cs typeface="Calibri"/>
              </a:rPr>
              <a:t>&lt;/head&gt;</a:t>
            </a:r>
            <a:endParaRPr sz="3300">
              <a:latin typeface="Calibri"/>
              <a:cs typeface="Calibri"/>
            </a:endParaRPr>
          </a:p>
          <a:p>
            <a:pPr marL="203200">
              <a:lnSpc>
                <a:spcPct val="100000"/>
              </a:lnSpc>
              <a:spcBef>
                <a:spcPts val="795"/>
              </a:spcBef>
            </a:pPr>
            <a:r>
              <a:rPr sz="3300" b="1" spc="-5" dirty="0">
                <a:solidFill>
                  <a:srgbClr val="FF0000"/>
                </a:solidFill>
                <a:latin typeface="Calibri"/>
                <a:cs typeface="Calibri"/>
              </a:rPr>
              <a:t>&lt;body&gt;</a:t>
            </a:r>
            <a:endParaRPr sz="3300">
              <a:latin typeface="Calibri"/>
              <a:cs typeface="Calibri"/>
            </a:endParaRPr>
          </a:p>
          <a:p>
            <a:pPr marL="774700">
              <a:lnSpc>
                <a:spcPct val="100000"/>
              </a:lnSpc>
              <a:spcBef>
                <a:spcPts val="795"/>
              </a:spcBef>
            </a:pPr>
            <a:r>
              <a:rPr sz="3300" b="1" spc="-10" dirty="0">
                <a:latin typeface="Calibri"/>
                <a:cs typeface="Calibri"/>
              </a:rPr>
              <a:t>Hello, </a:t>
            </a:r>
            <a:r>
              <a:rPr sz="3300" b="1" spc="-25" dirty="0">
                <a:latin typeface="Calibri"/>
                <a:cs typeface="Calibri"/>
              </a:rPr>
              <a:t>Welcome </a:t>
            </a:r>
            <a:r>
              <a:rPr sz="3300" b="1" spc="-20" dirty="0">
                <a:latin typeface="Calibri"/>
                <a:cs typeface="Calibri"/>
              </a:rPr>
              <a:t>to </a:t>
            </a:r>
            <a:r>
              <a:rPr sz="3300" b="1" dirty="0">
                <a:latin typeface="Calibri"/>
                <a:cs typeface="Calibri"/>
              </a:rPr>
              <a:t>the </a:t>
            </a:r>
            <a:r>
              <a:rPr sz="3300" b="1" spc="-5" dirty="0">
                <a:latin typeface="Calibri"/>
                <a:cs typeface="Calibri"/>
              </a:rPr>
              <a:t>world </a:t>
            </a:r>
            <a:r>
              <a:rPr sz="3300" b="1" dirty="0">
                <a:latin typeface="Calibri"/>
                <a:cs typeface="Calibri"/>
              </a:rPr>
              <a:t>of </a:t>
            </a:r>
            <a:r>
              <a:rPr sz="3300" b="1" spc="-10" dirty="0">
                <a:latin typeface="Calibri"/>
                <a:cs typeface="Calibri"/>
              </a:rPr>
              <a:t>web pages</a:t>
            </a:r>
            <a:r>
              <a:rPr sz="3300" b="1" spc="60" dirty="0">
                <a:latin typeface="Calibri"/>
                <a:cs typeface="Calibri"/>
              </a:rPr>
              <a:t> </a:t>
            </a:r>
            <a:r>
              <a:rPr sz="3300" b="1" dirty="0">
                <a:latin typeface="Calibri"/>
                <a:cs typeface="Calibri"/>
              </a:rPr>
              <a:t>!</a:t>
            </a:r>
            <a:endParaRPr sz="3300">
              <a:latin typeface="Calibri"/>
              <a:cs typeface="Calibri"/>
            </a:endParaRPr>
          </a:p>
          <a:p>
            <a:pPr marL="203200">
              <a:lnSpc>
                <a:spcPct val="100000"/>
              </a:lnSpc>
              <a:spcBef>
                <a:spcPts val="790"/>
              </a:spcBef>
            </a:pPr>
            <a:r>
              <a:rPr sz="3300" b="1" spc="-5" dirty="0">
                <a:solidFill>
                  <a:srgbClr val="FF0000"/>
                </a:solidFill>
                <a:latin typeface="Calibri"/>
                <a:cs typeface="Calibri"/>
              </a:rPr>
              <a:t>&lt;/body&gt;</a:t>
            </a:r>
            <a:endParaRPr sz="3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3300" b="1" spc="-10" dirty="0">
                <a:solidFill>
                  <a:srgbClr val="006FC0"/>
                </a:solidFill>
                <a:latin typeface="Calibri"/>
                <a:cs typeface="Calibri"/>
              </a:rPr>
              <a:t>&lt;/html&gt;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3938" y="461594"/>
            <a:ext cx="2517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6FC0"/>
                </a:solidFill>
              </a:rPr>
              <a:t>&lt;html&gt;</a:t>
            </a:r>
            <a:r>
              <a:rPr sz="4400" spc="-90" dirty="0">
                <a:solidFill>
                  <a:srgbClr val="006FC0"/>
                </a:solidFill>
              </a:rPr>
              <a:t> </a:t>
            </a:r>
            <a:r>
              <a:rPr sz="4400" spc="-20" dirty="0">
                <a:solidFill>
                  <a:srgbClr val="006FC0"/>
                </a:solidFill>
              </a:rPr>
              <a:t>tag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770495" cy="4486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</a:t>
            </a:r>
            <a:r>
              <a:rPr sz="3200" spc="-15" dirty="0">
                <a:latin typeface="Calibri"/>
                <a:cs typeface="Calibri"/>
              </a:rPr>
              <a:t>indicates </a:t>
            </a:r>
            <a:r>
              <a:rPr sz="3200" spc="-10" dirty="0">
                <a:latin typeface="Calibri"/>
                <a:cs typeface="Calibri"/>
              </a:rPr>
              <a:t>that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document begins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endParaRPr sz="3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&lt;html&gt; </a:t>
            </a:r>
            <a:r>
              <a:rPr sz="3200" spc="-15" dirty="0">
                <a:latin typeface="Calibri"/>
                <a:cs typeface="Calibri"/>
              </a:rPr>
              <a:t>tag </a:t>
            </a:r>
            <a:r>
              <a:rPr sz="3200" dirty="0">
                <a:latin typeface="Calibri"/>
                <a:cs typeface="Calibri"/>
              </a:rPr>
              <a:t>and ends </a:t>
            </a:r>
            <a:r>
              <a:rPr sz="3200" spc="-5" dirty="0">
                <a:latin typeface="Calibri"/>
                <a:cs typeface="Calibri"/>
              </a:rPr>
              <a:t>with </a:t>
            </a:r>
            <a:r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&lt;/html&gt;</a:t>
            </a:r>
            <a:r>
              <a:rPr sz="3200" b="1" spc="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DIR </a:t>
            </a:r>
            <a:r>
              <a:rPr sz="3200" b="1" spc="-15" dirty="0">
                <a:solidFill>
                  <a:srgbClr val="C00000"/>
                </a:solidFill>
                <a:latin typeface="Calibri"/>
                <a:cs typeface="Calibri"/>
              </a:rPr>
              <a:t>attribute</a:t>
            </a:r>
            <a:r>
              <a:rPr sz="32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is </a:t>
            </a:r>
            <a:r>
              <a:rPr sz="3200" spc="-5" dirty="0">
                <a:latin typeface="Calibri"/>
                <a:cs typeface="Calibri"/>
              </a:rPr>
              <a:t>used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15" dirty="0">
                <a:latin typeface="Calibri"/>
                <a:cs typeface="Calibri"/>
              </a:rPr>
              <a:t>indicate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document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direction.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</a:t>
            </a:r>
            <a:r>
              <a:rPr sz="3200" spc="-10" dirty="0">
                <a:latin typeface="Calibri"/>
                <a:cs typeface="Calibri"/>
              </a:rPr>
              <a:t>can </a:t>
            </a:r>
            <a:r>
              <a:rPr sz="3200" spc="-40" dirty="0">
                <a:latin typeface="Calibri"/>
                <a:cs typeface="Calibri"/>
              </a:rPr>
              <a:t>take </a:t>
            </a:r>
            <a:r>
              <a:rPr sz="3200" spc="-5" dirty="0">
                <a:latin typeface="Calibri"/>
                <a:cs typeface="Calibri"/>
              </a:rPr>
              <a:t>two </a:t>
            </a:r>
            <a:r>
              <a:rPr sz="3200" spc="-10" dirty="0">
                <a:latin typeface="Calibri"/>
                <a:cs typeface="Calibri"/>
              </a:rPr>
              <a:t>values </a:t>
            </a:r>
            <a:r>
              <a:rPr sz="3200" spc="30" dirty="0">
                <a:latin typeface="Calibri"/>
                <a:cs typeface="Calibri"/>
              </a:rPr>
              <a:t>“</a:t>
            </a:r>
            <a:r>
              <a:rPr sz="3200" spc="30" dirty="0">
                <a:solidFill>
                  <a:srgbClr val="FF0000"/>
                </a:solidFill>
                <a:latin typeface="Calibri"/>
                <a:cs typeface="Calibri"/>
              </a:rPr>
              <a:t>ltr</a:t>
            </a:r>
            <a:r>
              <a:rPr sz="3200" spc="30" dirty="0">
                <a:latin typeface="Calibri"/>
                <a:cs typeface="Calibri"/>
              </a:rPr>
              <a:t>”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0" dirty="0">
                <a:latin typeface="Calibri"/>
                <a:cs typeface="Calibri"/>
              </a:rPr>
              <a:t>“</a:t>
            </a:r>
            <a:r>
              <a:rPr sz="3200" spc="-100" dirty="0">
                <a:solidFill>
                  <a:srgbClr val="FF0000"/>
                </a:solidFill>
                <a:latin typeface="Calibri"/>
                <a:cs typeface="Calibri"/>
              </a:rPr>
              <a:t>rtl</a:t>
            </a:r>
            <a:r>
              <a:rPr sz="3200" spc="-100" dirty="0">
                <a:latin typeface="Calibri"/>
                <a:cs typeface="Calibri"/>
              </a:rPr>
              <a:t>”.</a:t>
            </a:r>
            <a:endParaRPr sz="3200">
              <a:latin typeface="Calibri"/>
              <a:cs typeface="Calibri"/>
            </a:endParaRPr>
          </a:p>
          <a:p>
            <a:pPr marL="355600" marR="2032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</a:t>
            </a:r>
            <a:r>
              <a:rPr sz="3200" spc="-5" dirty="0">
                <a:latin typeface="Calibri"/>
                <a:cs typeface="Calibri"/>
              </a:rPr>
              <a:t>specifies whether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language direction </a:t>
            </a:r>
            <a:r>
              <a:rPr sz="3200" dirty="0">
                <a:latin typeface="Calibri"/>
                <a:cs typeface="Calibri"/>
              </a:rPr>
              <a:t>is  </a:t>
            </a:r>
            <a:r>
              <a:rPr sz="3200" spc="-15" dirty="0">
                <a:latin typeface="Calibri"/>
                <a:cs typeface="Calibri"/>
              </a:rPr>
              <a:t>from </a:t>
            </a:r>
            <a:r>
              <a:rPr sz="3200" spc="-10" dirty="0">
                <a:latin typeface="Calibri"/>
                <a:cs typeface="Calibri"/>
              </a:rPr>
              <a:t>left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5" dirty="0">
                <a:latin typeface="Calibri"/>
                <a:cs typeface="Calibri"/>
              </a:rPr>
              <a:t>right or </a:t>
            </a:r>
            <a:r>
              <a:rPr sz="3200" spc="-10" dirty="0">
                <a:latin typeface="Calibri"/>
                <a:cs typeface="Calibri"/>
              </a:rPr>
              <a:t>right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left.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spc="-5" dirty="0">
                <a:latin typeface="Calibri"/>
                <a:cs typeface="Calibri"/>
              </a:rPr>
              <a:t>Example </a:t>
            </a:r>
            <a:r>
              <a:rPr sz="3200" b="1" dirty="0">
                <a:latin typeface="Calibri"/>
                <a:cs typeface="Calibri"/>
              </a:rPr>
              <a:t>: </a:t>
            </a:r>
            <a:r>
              <a:rPr sz="3600" b="1" spc="-10" dirty="0">
                <a:solidFill>
                  <a:srgbClr val="006FC0"/>
                </a:solidFill>
                <a:latin typeface="Calibri"/>
                <a:cs typeface="Calibri"/>
              </a:rPr>
              <a:t>&lt;html 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dir </a:t>
            </a:r>
            <a:r>
              <a:rPr sz="36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36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3600" b="1" spc="20" dirty="0">
                <a:solidFill>
                  <a:srgbClr val="006FC0"/>
                </a:solidFill>
                <a:latin typeface="Calibri"/>
                <a:cs typeface="Calibri"/>
              </a:rPr>
              <a:t>“</a:t>
            </a:r>
            <a:r>
              <a:rPr sz="3600" b="1" spc="20" dirty="0">
                <a:solidFill>
                  <a:srgbClr val="FF0000"/>
                </a:solidFill>
                <a:latin typeface="Calibri"/>
                <a:cs typeface="Calibri"/>
              </a:rPr>
              <a:t>ltr</a:t>
            </a:r>
            <a:r>
              <a:rPr sz="3600" b="1" spc="20" dirty="0">
                <a:solidFill>
                  <a:srgbClr val="006FC0"/>
                </a:solidFill>
                <a:latin typeface="Calibri"/>
                <a:cs typeface="Calibri"/>
              </a:rPr>
              <a:t>”&gt;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8557" y="316483"/>
            <a:ext cx="2517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006FC0"/>
                </a:solidFill>
              </a:rPr>
              <a:t>&lt;html&gt;</a:t>
            </a:r>
            <a:r>
              <a:rPr sz="4400" spc="-95" dirty="0">
                <a:solidFill>
                  <a:srgbClr val="006FC0"/>
                </a:solidFill>
              </a:rPr>
              <a:t> </a:t>
            </a:r>
            <a:r>
              <a:rPr sz="4400" spc="-20" dirty="0">
                <a:solidFill>
                  <a:srgbClr val="006FC0"/>
                </a:solidFill>
              </a:rPr>
              <a:t>tag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205458"/>
            <a:ext cx="3561715" cy="3973829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LANG </a:t>
            </a:r>
            <a:r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attribute</a:t>
            </a:r>
            <a:r>
              <a:rPr sz="32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355600" marR="56578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</a:t>
            </a:r>
            <a:r>
              <a:rPr sz="3200" spc="-5" dirty="0">
                <a:latin typeface="Calibri"/>
                <a:cs typeface="Calibri"/>
              </a:rPr>
              <a:t>specifies </a:t>
            </a:r>
            <a:r>
              <a:rPr sz="3200" spc="-10" dirty="0">
                <a:latin typeface="Calibri"/>
                <a:cs typeface="Calibri"/>
              </a:rPr>
              <a:t>the  </a:t>
            </a:r>
            <a:r>
              <a:rPr sz="3200" spc="-5" dirty="0">
                <a:latin typeface="Calibri"/>
                <a:cs typeface="Calibri"/>
              </a:rPr>
              <a:t>language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5" dirty="0">
                <a:latin typeface="Calibri"/>
                <a:cs typeface="Calibri"/>
              </a:rPr>
              <a:t>be  used </a:t>
            </a:r>
            <a:r>
              <a:rPr sz="3200" dirty="0">
                <a:latin typeface="Calibri"/>
                <a:cs typeface="Calibri"/>
              </a:rPr>
              <a:t>in 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web  </a:t>
            </a:r>
            <a:r>
              <a:rPr sz="3200" spc="-10" dirty="0">
                <a:latin typeface="Calibri"/>
                <a:cs typeface="Calibri"/>
              </a:rPr>
              <a:t>page.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356235" algn="l"/>
              </a:tabLst>
            </a:pPr>
            <a:r>
              <a:rPr sz="3600" b="1" spc="-10" dirty="0">
                <a:latin typeface="Calibri"/>
                <a:cs typeface="Calibri"/>
              </a:rPr>
              <a:t>Example </a:t>
            </a:r>
            <a:r>
              <a:rPr sz="3600" b="1" dirty="0">
                <a:latin typeface="Calibri"/>
                <a:cs typeface="Calibri"/>
              </a:rPr>
              <a:t>: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600" b="1" spc="-10" dirty="0">
                <a:solidFill>
                  <a:srgbClr val="006FC0"/>
                </a:solidFill>
                <a:latin typeface="Calibri"/>
                <a:cs typeface="Calibri"/>
              </a:rPr>
              <a:t>&lt;html 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lang </a:t>
            </a:r>
            <a:r>
              <a:rPr sz="36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36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3600" b="1" spc="-30" dirty="0">
                <a:solidFill>
                  <a:srgbClr val="006FC0"/>
                </a:solidFill>
                <a:latin typeface="Calibri"/>
                <a:cs typeface="Calibri"/>
              </a:rPr>
              <a:t>“</a:t>
            </a:r>
            <a:r>
              <a:rPr sz="3600" b="1" spc="-30" dirty="0">
                <a:solidFill>
                  <a:srgbClr val="FF0000"/>
                </a:solidFill>
                <a:latin typeface="Calibri"/>
                <a:cs typeface="Calibri"/>
              </a:rPr>
              <a:t>en</a:t>
            </a:r>
            <a:r>
              <a:rPr sz="3600" b="1" spc="-30" dirty="0">
                <a:solidFill>
                  <a:srgbClr val="006FC0"/>
                </a:solidFill>
                <a:latin typeface="Calibri"/>
                <a:cs typeface="Calibri"/>
              </a:rPr>
              <a:t>”&gt;</a:t>
            </a:r>
            <a:endParaRPr sz="36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27650" y="984250"/>
          <a:ext cx="3352800" cy="5699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Language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en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English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5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fr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15" dirty="0">
                          <a:latin typeface="Calibri"/>
                          <a:cs typeface="Calibri"/>
                        </a:rPr>
                        <a:t>French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German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Italian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Greak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Spanish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ar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5" dirty="0">
                          <a:latin typeface="Calibri"/>
                          <a:cs typeface="Calibri"/>
                        </a:rPr>
                        <a:t>Arabic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ja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Japanese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hi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Hindi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spc="-5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ru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russian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5838" y="461594"/>
            <a:ext cx="2597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6FC0"/>
                </a:solidFill>
              </a:rPr>
              <a:t>&lt;head&gt;</a:t>
            </a:r>
            <a:r>
              <a:rPr sz="4400" spc="-75" dirty="0">
                <a:solidFill>
                  <a:srgbClr val="006FC0"/>
                </a:solidFill>
              </a:rPr>
              <a:t> </a:t>
            </a:r>
            <a:r>
              <a:rPr sz="4400" spc="-20" dirty="0">
                <a:solidFill>
                  <a:srgbClr val="006FC0"/>
                </a:solidFill>
              </a:rPr>
              <a:t>tag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88340" y="1607642"/>
            <a:ext cx="7926705" cy="2632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</a:t>
            </a:r>
            <a:r>
              <a:rPr sz="3200" spc="-15" dirty="0">
                <a:latin typeface="Calibri"/>
                <a:cs typeface="Calibri"/>
              </a:rPr>
              <a:t>contains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head </a:t>
            </a:r>
            <a:r>
              <a:rPr sz="3200" dirty="0">
                <a:latin typeface="Calibri"/>
                <a:cs typeface="Calibri"/>
              </a:rPr>
              <a:t>of an HTML </a:t>
            </a:r>
            <a:r>
              <a:rPr sz="3200" spc="-5" dirty="0">
                <a:latin typeface="Calibri"/>
                <a:cs typeface="Calibri"/>
              </a:rPr>
              <a:t>document,  </a:t>
            </a:r>
            <a:r>
              <a:rPr sz="3200" dirty="0">
                <a:latin typeface="Calibri"/>
                <a:cs typeface="Calibri"/>
              </a:rPr>
              <a:t>which </a:t>
            </a:r>
            <a:r>
              <a:rPr sz="3200" spc="-5" dirty="0">
                <a:latin typeface="Calibri"/>
                <a:cs typeface="Calibri"/>
              </a:rPr>
              <a:t>holds </a:t>
            </a:r>
            <a:r>
              <a:rPr sz="3200" spc="-15" dirty="0">
                <a:latin typeface="Calibri"/>
                <a:cs typeface="Calibri"/>
              </a:rPr>
              <a:t>information </a:t>
            </a:r>
            <a:r>
              <a:rPr sz="3200" dirty="0">
                <a:latin typeface="Calibri"/>
                <a:cs typeface="Calibri"/>
              </a:rPr>
              <a:t>about the </a:t>
            </a:r>
            <a:r>
              <a:rPr sz="3200" spc="-10" dirty="0">
                <a:latin typeface="Calibri"/>
                <a:cs typeface="Calibri"/>
              </a:rPr>
              <a:t>document  </a:t>
            </a:r>
            <a:r>
              <a:rPr sz="3200" spc="-5" dirty="0">
                <a:latin typeface="Calibri"/>
                <a:cs typeface="Calibri"/>
              </a:rPr>
              <a:t>such </a:t>
            </a:r>
            <a:r>
              <a:rPr sz="3200" dirty="0">
                <a:latin typeface="Calibri"/>
                <a:cs typeface="Calibri"/>
              </a:rPr>
              <a:t>as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its title,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scripts </a:t>
            </a: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used,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style definitions  </a:t>
            </a:r>
            <a:r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etc.,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356235" algn="l"/>
              </a:tabLst>
            </a:pPr>
            <a:r>
              <a:rPr sz="3600" dirty="0">
                <a:latin typeface="Calibri"/>
                <a:cs typeface="Calibri"/>
              </a:rPr>
              <a:t>It is also a </a:t>
            </a:r>
            <a:r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container tag.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2517" y="461594"/>
            <a:ext cx="23793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006FC0"/>
                </a:solidFill>
              </a:rPr>
              <a:t>&lt;title&gt;</a:t>
            </a:r>
            <a:r>
              <a:rPr sz="4400" spc="-90" dirty="0">
                <a:solidFill>
                  <a:srgbClr val="006FC0"/>
                </a:solidFill>
              </a:rPr>
              <a:t> </a:t>
            </a:r>
            <a:r>
              <a:rPr sz="4400" spc="-20" dirty="0">
                <a:solidFill>
                  <a:srgbClr val="006FC0"/>
                </a:solidFill>
              </a:rPr>
              <a:t>tag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83540" y="1604594"/>
            <a:ext cx="8297545" cy="408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1896745" algn="l"/>
              </a:tabLst>
            </a:pPr>
            <a:r>
              <a:rPr sz="3600" dirty="0">
                <a:latin typeface="Calibri"/>
                <a:cs typeface="Calibri"/>
              </a:rPr>
              <a:t>It is also a </a:t>
            </a:r>
            <a:r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container </a:t>
            </a:r>
            <a:r>
              <a:rPr sz="3600" b="1" spc="-15" dirty="0">
                <a:solidFill>
                  <a:srgbClr val="C00000"/>
                </a:solidFill>
                <a:latin typeface="Calibri"/>
                <a:cs typeface="Calibri"/>
              </a:rPr>
              <a:t>tag </a:t>
            </a:r>
            <a:r>
              <a:rPr sz="3600" spc="-5" dirty="0">
                <a:latin typeface="Calibri"/>
                <a:cs typeface="Calibri"/>
              </a:rPr>
              <a:t>pair </a:t>
            </a:r>
            <a:r>
              <a:rPr sz="3600" spc="-10" dirty="0">
                <a:latin typeface="Calibri"/>
                <a:cs typeface="Calibri"/>
              </a:rPr>
              <a:t>that </a:t>
            </a:r>
            <a:r>
              <a:rPr sz="3600" spc="-15" dirty="0">
                <a:latin typeface="Calibri"/>
                <a:cs typeface="Calibri"/>
              </a:rPr>
              <a:t>contains  </a:t>
            </a:r>
            <a:r>
              <a:rPr sz="3600" dirty="0">
                <a:latin typeface="Calibri"/>
                <a:cs typeface="Calibri"/>
              </a:rPr>
              <a:t>the </a:t>
            </a:r>
            <a:r>
              <a:rPr sz="3600" spc="-5" dirty="0">
                <a:latin typeface="Calibri"/>
                <a:cs typeface="Calibri"/>
              </a:rPr>
              <a:t>title of </a:t>
            </a:r>
            <a:r>
              <a:rPr sz="3600" dirty="0">
                <a:latin typeface="Calibri"/>
                <a:cs typeface="Calibri"/>
              </a:rPr>
              <a:t>the </a:t>
            </a:r>
            <a:r>
              <a:rPr sz="3600" spc="-5" dirty="0">
                <a:latin typeface="Calibri"/>
                <a:cs typeface="Calibri"/>
              </a:rPr>
              <a:t>HTML document, </a:t>
            </a:r>
            <a:r>
              <a:rPr sz="3600" dirty="0">
                <a:latin typeface="Calibri"/>
                <a:cs typeface="Calibri"/>
              </a:rPr>
              <a:t>which</a:t>
            </a:r>
            <a:r>
              <a:rPr sz="3600" spc="-1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will  </a:t>
            </a:r>
            <a:r>
              <a:rPr sz="3600" b="1" spc="-5" dirty="0">
                <a:latin typeface="Calibri"/>
                <a:cs typeface="Calibri"/>
              </a:rPr>
              <a:t>appear	</a:t>
            </a:r>
            <a:r>
              <a:rPr sz="3600" b="1" dirty="0">
                <a:latin typeface="Calibri"/>
                <a:cs typeface="Calibri"/>
              </a:rPr>
              <a:t>in the </a:t>
            </a:r>
            <a:r>
              <a:rPr sz="3600" b="1" spc="-10" dirty="0">
                <a:latin typeface="Calibri"/>
                <a:cs typeface="Calibri"/>
              </a:rPr>
              <a:t>web </a:t>
            </a:r>
            <a:r>
              <a:rPr sz="3600" b="1" spc="-20" dirty="0">
                <a:latin typeface="Calibri"/>
                <a:cs typeface="Calibri"/>
              </a:rPr>
              <a:t>browser’s </a:t>
            </a:r>
            <a:r>
              <a:rPr sz="3600" b="1" dirty="0">
                <a:latin typeface="Calibri"/>
                <a:cs typeface="Calibri"/>
              </a:rPr>
              <a:t>title</a:t>
            </a:r>
            <a:r>
              <a:rPr sz="3600" b="1" spc="10" dirty="0">
                <a:latin typeface="Calibri"/>
                <a:cs typeface="Calibri"/>
              </a:rPr>
              <a:t> </a:t>
            </a:r>
            <a:r>
              <a:rPr sz="3600" b="1" spc="-80" dirty="0">
                <a:latin typeface="Calibri"/>
                <a:cs typeface="Calibri"/>
              </a:rPr>
              <a:t>bar.</a:t>
            </a:r>
            <a:endParaRPr sz="3600">
              <a:latin typeface="Calibri"/>
              <a:cs typeface="Calibri"/>
            </a:endParaRPr>
          </a:p>
          <a:p>
            <a:pPr marL="355600" marR="119888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</a:pPr>
            <a:r>
              <a:rPr sz="3600" b="1" spc="-5" dirty="0">
                <a:latin typeface="Calibri"/>
                <a:cs typeface="Calibri"/>
              </a:rPr>
              <a:t>The </a:t>
            </a:r>
            <a:r>
              <a:rPr sz="3600" b="1" spc="-10" dirty="0">
                <a:latin typeface="Calibri"/>
                <a:cs typeface="Calibri"/>
              </a:rPr>
              <a:t>search </a:t>
            </a:r>
            <a:r>
              <a:rPr sz="3600" b="1" spc="-5" dirty="0">
                <a:latin typeface="Calibri"/>
                <a:cs typeface="Calibri"/>
              </a:rPr>
              <a:t>engines </a:t>
            </a:r>
            <a:r>
              <a:rPr sz="3600" b="1" dirty="0">
                <a:latin typeface="Calibri"/>
                <a:cs typeface="Calibri"/>
              </a:rPr>
              <a:t>uses the Title </a:t>
            </a:r>
            <a:r>
              <a:rPr sz="3600" b="1" spc="-15" dirty="0">
                <a:latin typeface="Calibri"/>
                <a:cs typeface="Calibri"/>
              </a:rPr>
              <a:t>to  </a:t>
            </a:r>
            <a:r>
              <a:rPr sz="3600" b="1" spc="-5" dirty="0">
                <a:latin typeface="Calibri"/>
                <a:cs typeface="Calibri"/>
              </a:rPr>
              <a:t>identify </a:t>
            </a:r>
            <a:r>
              <a:rPr sz="3600" b="1" dirty="0">
                <a:latin typeface="Calibri"/>
                <a:cs typeface="Calibri"/>
              </a:rPr>
              <a:t>the </a:t>
            </a:r>
            <a:r>
              <a:rPr sz="3600" b="1" spc="-10" dirty="0">
                <a:latin typeface="Calibri"/>
                <a:cs typeface="Calibri"/>
              </a:rPr>
              <a:t>page.</a:t>
            </a:r>
            <a:endParaRPr sz="3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5600" algn="l"/>
              </a:tabLst>
            </a:pPr>
            <a:r>
              <a:rPr sz="3600" b="1" dirty="0">
                <a:latin typeface="Calibri"/>
                <a:cs typeface="Calibri"/>
              </a:rPr>
              <a:t>It is used inside the </a:t>
            </a:r>
            <a:r>
              <a:rPr sz="3600" b="1" spc="-15" dirty="0">
                <a:latin typeface="Calibri"/>
                <a:cs typeface="Calibri"/>
              </a:rPr>
              <a:t>tag</a:t>
            </a:r>
            <a:r>
              <a:rPr sz="3600" b="1" spc="-1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pair</a:t>
            </a:r>
            <a:endParaRPr sz="36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600" b="1" spc="-10" dirty="0">
                <a:solidFill>
                  <a:srgbClr val="006FC0"/>
                </a:solidFill>
                <a:latin typeface="Calibri"/>
                <a:cs typeface="Calibri"/>
              </a:rPr>
              <a:t>&lt;head&gt;..&lt;/head&gt;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1265" y="461594"/>
            <a:ext cx="2602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006FC0"/>
                </a:solidFill>
              </a:rPr>
              <a:t>&lt;body&gt;</a:t>
            </a:r>
            <a:r>
              <a:rPr sz="4400" spc="-80" dirty="0">
                <a:solidFill>
                  <a:srgbClr val="006FC0"/>
                </a:solidFill>
              </a:rPr>
              <a:t> </a:t>
            </a:r>
            <a:r>
              <a:rPr sz="4400" spc="-20" dirty="0">
                <a:solidFill>
                  <a:srgbClr val="006FC0"/>
                </a:solidFill>
              </a:rPr>
              <a:t>tag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83540" y="1604594"/>
            <a:ext cx="8192770" cy="419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3600" dirty="0">
                <a:latin typeface="Calibri"/>
                <a:cs typeface="Calibri"/>
              </a:rPr>
              <a:t>It is also a </a:t>
            </a:r>
            <a:r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container </a:t>
            </a:r>
            <a:r>
              <a:rPr sz="3600" b="1" spc="-15" dirty="0">
                <a:solidFill>
                  <a:srgbClr val="C00000"/>
                </a:solidFill>
                <a:latin typeface="Calibri"/>
                <a:cs typeface="Calibri"/>
              </a:rPr>
              <a:t>tag </a:t>
            </a:r>
            <a:r>
              <a:rPr sz="3600" spc="-5" dirty="0">
                <a:latin typeface="Calibri"/>
                <a:cs typeface="Calibri"/>
              </a:rPr>
              <a:t>pair </a:t>
            </a:r>
            <a:r>
              <a:rPr sz="3600" spc="-10" dirty="0">
                <a:latin typeface="Calibri"/>
                <a:cs typeface="Calibri"/>
              </a:rPr>
              <a:t>that </a:t>
            </a:r>
            <a:r>
              <a:rPr sz="3600" spc="-5" dirty="0">
                <a:latin typeface="Calibri"/>
                <a:cs typeface="Calibri"/>
              </a:rPr>
              <a:t>specifies  </a:t>
            </a:r>
            <a:r>
              <a:rPr sz="3600" dirty="0">
                <a:latin typeface="Calibri"/>
                <a:cs typeface="Calibri"/>
              </a:rPr>
              <a:t>the </a:t>
            </a:r>
            <a:r>
              <a:rPr sz="3600" spc="-10" dirty="0">
                <a:latin typeface="Calibri"/>
                <a:cs typeface="Calibri"/>
              </a:rPr>
              <a:t>document </a:t>
            </a:r>
            <a:r>
              <a:rPr sz="3600" spc="-5" dirty="0">
                <a:latin typeface="Calibri"/>
                <a:cs typeface="Calibri"/>
              </a:rPr>
              <a:t>body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section</a:t>
            </a:r>
            <a:r>
              <a:rPr sz="3600" b="1" spc="-5" dirty="0">
                <a:latin typeface="Calibri"/>
                <a:cs typeface="Calibri"/>
              </a:rPr>
              <a:t>.</a:t>
            </a:r>
            <a:endParaRPr sz="3600">
              <a:latin typeface="Calibri"/>
              <a:cs typeface="Calibri"/>
            </a:endParaRPr>
          </a:p>
          <a:p>
            <a:pPr marL="355600" marR="1078865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</a:pPr>
            <a:r>
              <a:rPr sz="3600" b="1" spc="-5" dirty="0">
                <a:latin typeface="Calibri"/>
                <a:cs typeface="Calibri"/>
              </a:rPr>
              <a:t>This </a:t>
            </a:r>
            <a:r>
              <a:rPr sz="3600" b="1" dirty="0">
                <a:latin typeface="Calibri"/>
                <a:cs typeface="Calibri"/>
              </a:rPr>
              <a:t>part </a:t>
            </a:r>
            <a:r>
              <a:rPr sz="3600" b="1" spc="-15" dirty="0">
                <a:latin typeface="Calibri"/>
                <a:cs typeface="Calibri"/>
              </a:rPr>
              <a:t>contains </a:t>
            </a:r>
            <a:r>
              <a:rPr sz="3600" b="1" dirty="0">
                <a:latin typeface="Calibri"/>
                <a:cs typeface="Calibri"/>
              </a:rPr>
              <a:t>the </a:t>
            </a:r>
            <a:r>
              <a:rPr sz="3600" b="1" spc="-25" dirty="0">
                <a:latin typeface="Calibri"/>
                <a:cs typeface="Calibri"/>
              </a:rPr>
              <a:t>content </a:t>
            </a:r>
            <a:r>
              <a:rPr sz="3600" b="1" spc="-20" dirty="0">
                <a:latin typeface="Calibri"/>
                <a:cs typeface="Calibri"/>
              </a:rPr>
              <a:t>to </a:t>
            </a:r>
            <a:r>
              <a:rPr sz="3600" b="1" dirty="0">
                <a:latin typeface="Calibri"/>
                <a:cs typeface="Calibri"/>
              </a:rPr>
              <a:t>be  </a:t>
            </a:r>
            <a:r>
              <a:rPr sz="3600" b="1" spc="-15" dirty="0">
                <a:latin typeface="Calibri"/>
                <a:cs typeface="Calibri"/>
              </a:rPr>
              <a:t>displayed </a:t>
            </a:r>
            <a:r>
              <a:rPr sz="3600" b="1" dirty="0">
                <a:latin typeface="Calibri"/>
                <a:cs typeface="Calibri"/>
              </a:rPr>
              <a:t>in the </a:t>
            </a:r>
            <a:r>
              <a:rPr sz="3600" b="1" spc="-15" dirty="0">
                <a:latin typeface="Calibri"/>
                <a:cs typeface="Calibri"/>
              </a:rPr>
              <a:t>browser</a:t>
            </a:r>
            <a:r>
              <a:rPr sz="3600" b="1" spc="5" dirty="0">
                <a:latin typeface="Calibri"/>
                <a:cs typeface="Calibri"/>
              </a:rPr>
              <a:t> </a:t>
            </a:r>
            <a:r>
              <a:rPr sz="3600" b="1" spc="-35" dirty="0">
                <a:latin typeface="Calibri"/>
                <a:cs typeface="Calibri"/>
              </a:rPr>
              <a:t>window.</a:t>
            </a:r>
            <a:endParaRPr sz="3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5600" algn="l"/>
                <a:tab pos="4088129" algn="l"/>
              </a:tabLst>
            </a:pPr>
            <a:r>
              <a:rPr sz="3600" b="1" dirty="0">
                <a:latin typeface="Calibri"/>
                <a:cs typeface="Calibri"/>
              </a:rPr>
              <a:t>Some</a:t>
            </a:r>
            <a:r>
              <a:rPr sz="3600" b="1" spc="5" dirty="0">
                <a:latin typeface="Calibri"/>
                <a:cs typeface="Calibri"/>
              </a:rPr>
              <a:t> </a:t>
            </a:r>
            <a:r>
              <a:rPr sz="3600" b="1" spc="-15" dirty="0">
                <a:latin typeface="Calibri"/>
                <a:cs typeface="Calibri"/>
              </a:rPr>
              <a:t>attributes</a:t>
            </a:r>
            <a:r>
              <a:rPr sz="3600" b="1" dirty="0">
                <a:latin typeface="Calibri"/>
                <a:cs typeface="Calibri"/>
              </a:rPr>
              <a:t> of	</a:t>
            </a:r>
            <a:r>
              <a:rPr sz="3600" b="1" spc="-5" dirty="0">
                <a:solidFill>
                  <a:srgbClr val="006FC0"/>
                </a:solidFill>
                <a:latin typeface="Calibri"/>
                <a:cs typeface="Calibri"/>
              </a:rPr>
              <a:t>&lt;body&gt;..&lt;/body&gt; </a:t>
            </a:r>
            <a:r>
              <a:rPr sz="3600" b="1" spc="-15" dirty="0">
                <a:solidFill>
                  <a:srgbClr val="006FC0"/>
                </a:solidFill>
                <a:latin typeface="Calibri"/>
                <a:cs typeface="Calibri"/>
              </a:rPr>
              <a:t>tag</a:t>
            </a:r>
            <a:endParaRPr sz="3600">
              <a:latin typeface="Calibri"/>
              <a:cs typeface="Calibri"/>
            </a:endParaRPr>
          </a:p>
          <a:p>
            <a:pPr marL="355600" marR="59563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</a:pPr>
            <a:r>
              <a:rPr sz="3600" b="1" spc="-5" dirty="0">
                <a:solidFill>
                  <a:srgbClr val="006FC0"/>
                </a:solidFill>
                <a:latin typeface="Calibri"/>
                <a:cs typeface="Calibri"/>
              </a:rPr>
              <a:t>Background, </a:t>
            </a:r>
            <a:r>
              <a:rPr sz="3600" b="1" spc="-35" dirty="0">
                <a:solidFill>
                  <a:srgbClr val="FF0000"/>
                </a:solidFill>
                <a:latin typeface="Calibri"/>
                <a:cs typeface="Calibri"/>
              </a:rPr>
              <a:t>bgcolour</a:t>
            </a:r>
            <a:r>
              <a:rPr sz="3600" b="1" spc="-35" dirty="0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sz="3600" b="1" spc="-25" dirty="0">
                <a:solidFill>
                  <a:srgbClr val="C00000"/>
                </a:solidFill>
                <a:latin typeface="Calibri"/>
                <a:cs typeface="Calibri"/>
              </a:rPr>
              <a:t>text</a:t>
            </a:r>
            <a:r>
              <a:rPr sz="3600" b="1" spc="-25" dirty="0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sz="3600" b="1" dirty="0">
                <a:solidFill>
                  <a:srgbClr val="00AF50"/>
                </a:solidFill>
                <a:latin typeface="Calibri"/>
                <a:cs typeface="Calibri"/>
              </a:rPr>
              <a:t>link</a:t>
            </a:r>
            <a:r>
              <a:rPr sz="3600" b="1" dirty="0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sz="3600" b="1" dirty="0">
                <a:solidFill>
                  <a:srgbClr val="001F5F"/>
                </a:solidFill>
                <a:latin typeface="Calibri"/>
                <a:cs typeface="Calibri"/>
              </a:rPr>
              <a:t>alink</a:t>
            </a:r>
            <a:r>
              <a:rPr sz="3600" b="1" dirty="0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sz="3600" b="1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6F2F9F"/>
                </a:solidFill>
                <a:latin typeface="Calibri"/>
                <a:cs typeface="Calibri"/>
              </a:rPr>
              <a:t>vlink</a:t>
            </a:r>
            <a:r>
              <a:rPr sz="3600" b="1" spc="-5" dirty="0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sz="3600" b="1" spc="-10" dirty="0">
                <a:latin typeface="Calibri"/>
                <a:cs typeface="Calibri"/>
              </a:rPr>
              <a:t>leftmargin</a:t>
            </a:r>
            <a:r>
              <a:rPr sz="3600" b="1" spc="-10" dirty="0">
                <a:solidFill>
                  <a:srgbClr val="006FC0"/>
                </a:solidFill>
                <a:latin typeface="Calibri"/>
                <a:cs typeface="Calibri"/>
              </a:rPr>
              <a:t>, </a:t>
            </a:r>
            <a:r>
              <a:rPr sz="3600" b="1" spc="-10" dirty="0">
                <a:solidFill>
                  <a:srgbClr val="E36C09"/>
                </a:solidFill>
                <a:latin typeface="Calibri"/>
                <a:cs typeface="Calibri"/>
              </a:rPr>
              <a:t>topmargin</a:t>
            </a:r>
            <a:r>
              <a:rPr sz="3600" b="1" spc="-15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006FC0"/>
                </a:solidFill>
                <a:latin typeface="Calibri"/>
                <a:cs typeface="Calibri"/>
              </a:rPr>
              <a:t>etc.,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9450" y="461594"/>
            <a:ext cx="2703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5" dirty="0">
                <a:latin typeface="Calibri"/>
                <a:cs typeface="Calibri"/>
              </a:rPr>
              <a:t>backg</a:t>
            </a:r>
            <a:r>
              <a:rPr sz="4400" b="0" spc="-80" dirty="0">
                <a:latin typeface="Calibri"/>
                <a:cs typeface="Calibri"/>
              </a:rPr>
              <a:t>r</a:t>
            </a:r>
            <a:r>
              <a:rPr sz="4400" b="0" spc="-5" dirty="0">
                <a:latin typeface="Calibri"/>
                <a:cs typeface="Calibri"/>
              </a:rPr>
              <a:t>ound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10740"/>
            <a:ext cx="7355205" cy="42208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is an </a:t>
            </a:r>
            <a:r>
              <a:rPr sz="3200" spc="-20" dirty="0">
                <a:latin typeface="Calibri"/>
                <a:cs typeface="Calibri"/>
              </a:rPr>
              <a:t>attribute </a:t>
            </a:r>
            <a:r>
              <a:rPr sz="3200" dirty="0">
                <a:latin typeface="Calibri"/>
                <a:cs typeface="Calibri"/>
              </a:rPr>
              <a:t>of </a:t>
            </a:r>
            <a:r>
              <a:rPr sz="3200" spc="-5" dirty="0">
                <a:latin typeface="Calibri"/>
                <a:cs typeface="Calibri"/>
              </a:rPr>
              <a:t>&lt;body&gt;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tag.</a:t>
            </a:r>
            <a:endParaRPr sz="3200">
              <a:latin typeface="Calibri"/>
              <a:cs typeface="Calibri"/>
            </a:endParaRPr>
          </a:p>
          <a:p>
            <a:pPr marL="355600" marR="716280" indent="-343535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</a:t>
            </a:r>
            <a:r>
              <a:rPr sz="3200" spc="-5" dirty="0">
                <a:latin typeface="Calibri"/>
                <a:cs typeface="Calibri"/>
              </a:rPr>
              <a:t>sets </a:t>
            </a:r>
            <a:r>
              <a:rPr sz="3200" dirty="0">
                <a:latin typeface="Calibri"/>
                <a:cs typeface="Calibri"/>
              </a:rPr>
              <a:t>an </a:t>
            </a:r>
            <a:r>
              <a:rPr sz="3200" spc="-5" dirty="0">
                <a:latin typeface="Calibri"/>
                <a:cs typeface="Calibri"/>
              </a:rPr>
              <a:t>image </a:t>
            </a:r>
            <a:r>
              <a:rPr sz="3200" dirty="0">
                <a:latin typeface="Calibri"/>
                <a:cs typeface="Calibri"/>
              </a:rPr>
              <a:t>as </a:t>
            </a:r>
            <a:r>
              <a:rPr sz="3200" spc="-10" dirty="0">
                <a:latin typeface="Calibri"/>
                <a:cs typeface="Calibri"/>
              </a:rPr>
              <a:t>background </a:t>
            </a:r>
            <a:r>
              <a:rPr sz="3200" spc="-30" dirty="0">
                <a:latin typeface="Calibri"/>
                <a:cs typeface="Calibri"/>
              </a:rPr>
              <a:t>for </a:t>
            </a:r>
            <a:r>
              <a:rPr sz="3200" spc="-5" dirty="0">
                <a:latin typeface="Calibri"/>
                <a:cs typeface="Calibri"/>
              </a:rPr>
              <a:t>the  </a:t>
            </a:r>
            <a:r>
              <a:rPr sz="3200" spc="-10" dirty="0">
                <a:latin typeface="Calibri"/>
                <a:cs typeface="Calibri"/>
              </a:rPr>
              <a:t>documents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body.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</a:t>
            </a:r>
            <a:r>
              <a:rPr sz="3200" spc="-25" dirty="0">
                <a:latin typeface="Calibri"/>
                <a:cs typeface="Calibri"/>
              </a:rPr>
              <a:t>makes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page more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attractive.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General </a:t>
            </a:r>
            <a:r>
              <a:rPr sz="3200" spc="-25" dirty="0">
                <a:latin typeface="Calibri"/>
                <a:cs typeface="Calibri"/>
              </a:rPr>
              <a:t>format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&lt;body </a:t>
            </a:r>
            <a:r>
              <a:rPr sz="3200" spc="-10" dirty="0">
                <a:latin typeface="Calibri"/>
                <a:cs typeface="Calibri"/>
              </a:rPr>
              <a:t>background </a:t>
            </a:r>
            <a:r>
              <a:rPr sz="3200" dirty="0">
                <a:latin typeface="Calibri"/>
                <a:cs typeface="Calibri"/>
              </a:rPr>
              <a:t>= “URL of the </a:t>
            </a:r>
            <a:r>
              <a:rPr sz="3200" spc="-10" dirty="0">
                <a:latin typeface="Calibri"/>
                <a:cs typeface="Calibri"/>
              </a:rPr>
              <a:t>picture”&gt;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&lt;body </a:t>
            </a:r>
            <a:r>
              <a:rPr sz="3200" spc="-10" dirty="0">
                <a:latin typeface="Calibri"/>
                <a:cs typeface="Calibri"/>
              </a:rPr>
              <a:t>background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“school.jpg”&gt;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42895" marR="5080" indent="-2676525">
              <a:lnSpc>
                <a:spcPct val="100000"/>
              </a:lnSpc>
              <a:spcBef>
                <a:spcPts val="95"/>
              </a:spcBef>
            </a:pPr>
            <a:r>
              <a:rPr spc="-180" dirty="0"/>
              <a:t>To </a:t>
            </a:r>
            <a:r>
              <a:rPr spc="-10" dirty="0"/>
              <a:t>set an </a:t>
            </a:r>
            <a:r>
              <a:rPr spc="-15" dirty="0"/>
              <a:t>image </a:t>
            </a:r>
            <a:r>
              <a:rPr spc="-5" dirty="0"/>
              <a:t>as </a:t>
            </a:r>
            <a:r>
              <a:rPr spc="-10" dirty="0"/>
              <a:t>background </a:t>
            </a:r>
            <a:r>
              <a:rPr spc="-25" dirty="0"/>
              <a:t>for </a:t>
            </a:r>
            <a:r>
              <a:rPr spc="-5" dirty="0"/>
              <a:t>a  </a:t>
            </a:r>
            <a:r>
              <a:rPr spc="-20" dirty="0"/>
              <a:t>web</a:t>
            </a:r>
            <a:r>
              <a:rPr dirty="0"/>
              <a:t> </a:t>
            </a:r>
            <a:r>
              <a:rPr spc="-15" dirty="0"/>
              <a:t>page.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510703"/>
            <a:ext cx="8611870" cy="470852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&lt;html&gt;</a:t>
            </a:r>
            <a:endParaRPr sz="3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765"/>
              </a:spcBef>
            </a:pP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&lt;head&gt;</a:t>
            </a:r>
            <a:endParaRPr sz="3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70"/>
              </a:spcBef>
            </a:pPr>
            <a:r>
              <a:rPr sz="3200" b="1" spc="-5" dirty="0">
                <a:latin typeface="Calibri"/>
                <a:cs typeface="Calibri"/>
              </a:rPr>
              <a:t>&lt;title&gt; </a:t>
            </a:r>
            <a:r>
              <a:rPr sz="3200" b="1" dirty="0">
                <a:solidFill>
                  <a:srgbClr val="00AF50"/>
                </a:solidFill>
                <a:latin typeface="Calibri"/>
                <a:cs typeface="Calibri"/>
              </a:rPr>
              <a:t>Background </a:t>
            </a:r>
            <a:r>
              <a:rPr sz="3200" b="1" spc="-10" dirty="0">
                <a:solidFill>
                  <a:srgbClr val="00AF50"/>
                </a:solidFill>
                <a:latin typeface="Calibri"/>
                <a:cs typeface="Calibri"/>
              </a:rPr>
              <a:t>Image</a:t>
            </a:r>
            <a:r>
              <a:rPr sz="32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&lt;/title&gt;</a:t>
            </a:r>
            <a:endParaRPr sz="3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770"/>
              </a:spcBef>
            </a:pP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&lt;/head&gt;</a:t>
            </a:r>
            <a:endParaRPr sz="32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&lt;body </a:t>
            </a:r>
            <a:r>
              <a:rPr sz="3200" b="1" spc="-5" dirty="0">
                <a:solidFill>
                  <a:srgbClr val="00AFEF"/>
                </a:solidFill>
                <a:latin typeface="Calibri"/>
                <a:cs typeface="Calibri"/>
              </a:rPr>
              <a:t>background </a:t>
            </a:r>
            <a:r>
              <a:rPr sz="32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>
              <a:rPr sz="3200" b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C000"/>
                </a:solidFill>
                <a:latin typeface="Calibri"/>
                <a:cs typeface="Calibri"/>
              </a:rPr>
              <a:t>“school.jpg”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endParaRPr sz="32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  <a:spcBef>
                <a:spcPts val="770"/>
              </a:spcBef>
              <a:tabLst>
                <a:tab pos="7555865" algn="l"/>
              </a:tabLst>
            </a:pPr>
            <a:r>
              <a:rPr sz="3200" b="1" spc="-5" dirty="0">
                <a:latin typeface="Calibri"/>
                <a:cs typeface="Calibri"/>
              </a:rPr>
              <a:t>&lt;H</a:t>
            </a:r>
            <a:r>
              <a:rPr sz="3200" b="1" spc="-10" dirty="0">
                <a:latin typeface="Calibri"/>
                <a:cs typeface="Calibri"/>
              </a:rPr>
              <a:t>1</a:t>
            </a:r>
            <a:r>
              <a:rPr sz="3200" b="1" dirty="0">
                <a:latin typeface="Calibri"/>
                <a:cs typeface="Calibri"/>
              </a:rPr>
              <a:t>&gt;</a:t>
            </a:r>
            <a:r>
              <a:rPr sz="3200" b="1" spc="2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BEM</a:t>
            </a:r>
            <a:r>
              <a:rPr sz="2600" b="1" spc="-1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HIGHER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</a:t>
            </a:r>
            <a:r>
              <a:rPr sz="2600" b="1" spc="-35" dirty="0">
                <a:latin typeface="Calibri"/>
                <a:cs typeface="Calibri"/>
              </a:rPr>
              <a:t>E</a:t>
            </a:r>
            <a:r>
              <a:rPr sz="2600" b="1" spc="-25" dirty="0">
                <a:latin typeface="Calibri"/>
                <a:cs typeface="Calibri"/>
              </a:rPr>
              <a:t>C</a:t>
            </a:r>
            <a:r>
              <a:rPr sz="2600" b="1" spc="-5" dirty="0">
                <a:latin typeface="Calibri"/>
                <a:cs typeface="Calibri"/>
              </a:rPr>
              <a:t>ON</a:t>
            </a:r>
            <a:r>
              <a:rPr sz="2600" b="1" spc="-55" dirty="0">
                <a:latin typeface="Calibri"/>
                <a:cs typeface="Calibri"/>
              </a:rPr>
              <a:t>D</a:t>
            </a:r>
            <a:r>
              <a:rPr sz="2600" b="1" dirty="0">
                <a:latin typeface="Calibri"/>
                <a:cs typeface="Calibri"/>
              </a:rPr>
              <a:t>A</a:t>
            </a:r>
            <a:r>
              <a:rPr sz="2600" b="1" spc="-60" dirty="0">
                <a:latin typeface="Calibri"/>
                <a:cs typeface="Calibri"/>
              </a:rPr>
              <a:t>R</a:t>
            </a:r>
            <a:r>
              <a:rPr sz="2600" b="1" dirty="0">
                <a:latin typeface="Calibri"/>
                <a:cs typeface="Calibri"/>
              </a:rPr>
              <a:t>Y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SCH</a:t>
            </a:r>
            <a:r>
              <a:rPr sz="2600" b="1" spc="5" dirty="0">
                <a:latin typeface="Calibri"/>
                <a:cs typeface="Calibri"/>
              </a:rPr>
              <a:t>O</a:t>
            </a:r>
            <a:r>
              <a:rPr sz="2600" b="1" spc="-5" dirty="0">
                <a:latin typeface="Calibri"/>
                <a:cs typeface="Calibri"/>
              </a:rPr>
              <a:t>O</a:t>
            </a:r>
            <a:r>
              <a:rPr sz="2600" b="1" dirty="0">
                <a:latin typeface="Calibri"/>
                <a:cs typeface="Calibri"/>
              </a:rPr>
              <a:t>L</a:t>
            </a:r>
            <a:r>
              <a:rPr sz="2600" b="1" spc="-20" dirty="0">
                <a:latin typeface="Calibri"/>
                <a:cs typeface="Calibri"/>
              </a:rPr>
              <a:t> </a:t>
            </a:r>
            <a:r>
              <a:rPr sz="2600" b="1" spc="-180" dirty="0">
                <a:latin typeface="Calibri"/>
                <a:cs typeface="Calibri"/>
              </a:rPr>
              <a:t>P</a:t>
            </a:r>
            <a:r>
              <a:rPr sz="2600" b="1" dirty="0">
                <a:latin typeface="Calibri"/>
                <a:cs typeface="Calibri"/>
              </a:rPr>
              <a:t>A</a:t>
            </a:r>
            <a:r>
              <a:rPr sz="2600" b="1" spc="5" dirty="0">
                <a:latin typeface="Calibri"/>
                <a:cs typeface="Calibri"/>
              </a:rPr>
              <a:t>L</a:t>
            </a:r>
            <a:r>
              <a:rPr sz="2600" b="1" dirty="0">
                <a:latin typeface="Calibri"/>
                <a:cs typeface="Calibri"/>
              </a:rPr>
              <a:t>A</a:t>
            </a:r>
            <a:r>
              <a:rPr sz="2600" b="1" spc="5" dirty="0">
                <a:latin typeface="Calibri"/>
                <a:cs typeface="Calibri"/>
              </a:rPr>
              <a:t>K</a:t>
            </a:r>
            <a:r>
              <a:rPr sz="2600" b="1" dirty="0">
                <a:latin typeface="Calibri"/>
                <a:cs typeface="Calibri"/>
              </a:rPr>
              <a:t>K</a:t>
            </a:r>
            <a:r>
              <a:rPr sz="2600" b="1" spc="5" dirty="0">
                <a:latin typeface="Calibri"/>
                <a:cs typeface="Calibri"/>
              </a:rPr>
              <a:t>A</a:t>
            </a:r>
            <a:r>
              <a:rPr sz="2600" b="1" dirty="0">
                <a:latin typeface="Calibri"/>
                <a:cs typeface="Calibri"/>
              </a:rPr>
              <a:t>D	</a:t>
            </a:r>
            <a:r>
              <a:rPr sz="3200" b="1" spc="-5" dirty="0">
                <a:latin typeface="Calibri"/>
                <a:cs typeface="Calibri"/>
              </a:rPr>
              <a:t>&lt;/H1</a:t>
            </a:r>
            <a:r>
              <a:rPr sz="3200" b="1" dirty="0">
                <a:latin typeface="Calibri"/>
                <a:cs typeface="Calibri"/>
              </a:rPr>
              <a:t>&gt;</a:t>
            </a:r>
            <a:endParaRPr sz="32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  <a:spcBef>
                <a:spcPts val="765"/>
              </a:spcBef>
            </a:pPr>
            <a:r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&lt;/body&gt;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&lt;/html&gt;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4938" y="461594"/>
            <a:ext cx="175513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C00000"/>
                </a:solidFill>
              </a:rPr>
              <a:t>b</a:t>
            </a:r>
            <a:r>
              <a:rPr sz="4400" spc="-40" dirty="0">
                <a:solidFill>
                  <a:srgbClr val="C00000"/>
                </a:solidFill>
              </a:rPr>
              <a:t>g</a:t>
            </a:r>
            <a:r>
              <a:rPr sz="4400" spc="-20" dirty="0">
                <a:solidFill>
                  <a:srgbClr val="C00000"/>
                </a:solidFill>
              </a:rPr>
              <a:t>c</a:t>
            </a:r>
            <a:r>
              <a:rPr sz="4400" dirty="0">
                <a:solidFill>
                  <a:srgbClr val="C00000"/>
                </a:solidFill>
              </a:rPr>
              <a:t>ol</a:t>
            </a:r>
            <a:r>
              <a:rPr sz="4400" spc="-20" dirty="0">
                <a:solidFill>
                  <a:srgbClr val="C00000"/>
                </a:solidFill>
              </a:rPr>
              <a:t>o</a:t>
            </a:r>
            <a:r>
              <a:rPr sz="4400" dirty="0">
                <a:solidFill>
                  <a:srgbClr val="C00000"/>
                </a:solidFill>
              </a:rPr>
              <a:t>r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7863840" cy="392811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is an </a:t>
            </a:r>
            <a:r>
              <a:rPr sz="3200" spc="-20" dirty="0">
                <a:latin typeface="Calibri"/>
                <a:cs typeface="Calibri"/>
              </a:rPr>
              <a:t>attribute </a:t>
            </a:r>
            <a:r>
              <a:rPr sz="3200" dirty="0">
                <a:latin typeface="Calibri"/>
                <a:cs typeface="Calibri"/>
              </a:rPr>
              <a:t>of </a:t>
            </a:r>
            <a:r>
              <a:rPr sz="3200" spc="-5" dirty="0">
                <a:latin typeface="Calibri"/>
                <a:cs typeface="Calibri"/>
              </a:rPr>
              <a:t>body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tag.</a:t>
            </a:r>
            <a:endParaRPr sz="3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</a:t>
            </a:r>
            <a:r>
              <a:rPr sz="3200" spc="-5" dirty="0">
                <a:latin typeface="Calibri"/>
                <a:cs typeface="Calibri"/>
              </a:rPr>
              <a:t>specifies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colour </a:t>
            </a:r>
            <a:r>
              <a:rPr sz="3200" spc="-30" dirty="0">
                <a:latin typeface="Calibri"/>
                <a:cs typeface="Calibri"/>
              </a:rPr>
              <a:t>for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background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the  </a:t>
            </a:r>
            <a:r>
              <a:rPr sz="3200" spc="-5" dirty="0">
                <a:latin typeface="Calibri"/>
                <a:cs typeface="Calibri"/>
              </a:rPr>
              <a:t>document </a:t>
            </a:r>
            <a:r>
              <a:rPr sz="3200" spc="-50" dirty="0">
                <a:latin typeface="Calibri"/>
                <a:cs typeface="Calibri"/>
              </a:rPr>
              <a:t>body.</a:t>
            </a:r>
            <a:endParaRPr sz="3200">
              <a:latin typeface="Calibri"/>
              <a:cs typeface="Calibri"/>
            </a:endParaRPr>
          </a:p>
          <a:p>
            <a:pPr marL="355600" marR="3111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value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bgcolor </a:t>
            </a:r>
            <a:r>
              <a:rPr sz="3200" spc="-20" dirty="0">
                <a:latin typeface="Calibri"/>
                <a:cs typeface="Calibri"/>
              </a:rPr>
              <a:t>attribute </a:t>
            </a:r>
            <a:r>
              <a:rPr sz="3200" spc="-10" dirty="0">
                <a:latin typeface="Calibri"/>
                <a:cs typeface="Calibri"/>
              </a:rPr>
              <a:t>can </a:t>
            </a:r>
            <a:r>
              <a:rPr sz="3200" spc="-5" dirty="0">
                <a:latin typeface="Calibri"/>
                <a:cs typeface="Calibri"/>
              </a:rPr>
              <a:t>be </a:t>
            </a:r>
            <a:r>
              <a:rPr sz="3200" spc="-10" dirty="0">
                <a:latin typeface="Calibri"/>
                <a:cs typeface="Calibri"/>
              </a:rPr>
              <a:t>given </a:t>
            </a:r>
            <a:r>
              <a:rPr sz="3200" dirty="0">
                <a:latin typeface="Calibri"/>
                <a:cs typeface="Calibri"/>
              </a:rPr>
              <a:t>in  </a:t>
            </a:r>
            <a:r>
              <a:rPr sz="3200" spc="-10" dirty="0">
                <a:latin typeface="Calibri"/>
                <a:cs typeface="Calibri"/>
              </a:rPr>
              <a:t>two </a:t>
            </a:r>
            <a:r>
              <a:rPr sz="3200" spc="-25" dirty="0">
                <a:latin typeface="Calibri"/>
                <a:cs typeface="Calibri"/>
              </a:rPr>
              <a:t>ways: </a:t>
            </a:r>
            <a:r>
              <a:rPr sz="3200" b="1" spc="-5" dirty="0">
                <a:latin typeface="Calibri"/>
                <a:cs typeface="Calibri"/>
              </a:rPr>
              <a:t>Color_name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Hex_number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Example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spc="-5" dirty="0">
                <a:latin typeface="Calibri"/>
                <a:cs typeface="Calibri"/>
              </a:rPr>
              <a:t>&lt;body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bgcolor </a:t>
            </a:r>
            <a:r>
              <a:rPr sz="3200" b="1" dirty="0">
                <a:latin typeface="Calibri"/>
                <a:cs typeface="Calibri"/>
              </a:rPr>
              <a:t>=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“</a:t>
            </a:r>
            <a:r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blue</a:t>
            </a:r>
            <a:r>
              <a:rPr sz="3200" b="1" spc="-5" dirty="0">
                <a:latin typeface="Calibri"/>
                <a:cs typeface="Calibri"/>
              </a:rPr>
              <a:t>”&gt;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370" y="461594"/>
            <a:ext cx="9366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5" dirty="0">
                <a:solidFill>
                  <a:srgbClr val="C00000"/>
                </a:solidFill>
              </a:rPr>
              <a:t>t</a:t>
            </a:r>
            <a:r>
              <a:rPr sz="4400" spc="-70" dirty="0">
                <a:solidFill>
                  <a:srgbClr val="C00000"/>
                </a:solidFill>
              </a:rPr>
              <a:t>e</a:t>
            </a:r>
            <a:r>
              <a:rPr sz="4400" spc="-5" dirty="0">
                <a:solidFill>
                  <a:srgbClr val="C00000"/>
                </a:solidFill>
              </a:rPr>
              <a:t>xt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17750"/>
            <a:ext cx="7763509" cy="42786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dirty="0">
                <a:latin typeface="Calibri"/>
                <a:cs typeface="Calibri"/>
              </a:rPr>
              <a:t>It is an </a:t>
            </a:r>
            <a:r>
              <a:rPr sz="3000" spc="-15" dirty="0">
                <a:latin typeface="Calibri"/>
                <a:cs typeface="Calibri"/>
              </a:rPr>
              <a:t>attribute </a:t>
            </a:r>
            <a:r>
              <a:rPr sz="3000" spc="-5" dirty="0">
                <a:latin typeface="Calibri"/>
                <a:cs typeface="Calibri"/>
              </a:rPr>
              <a:t>of body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tag.</a:t>
            </a:r>
            <a:endParaRPr sz="3000">
              <a:latin typeface="Calibri"/>
              <a:cs typeface="Calibri"/>
            </a:endParaRPr>
          </a:p>
          <a:p>
            <a:pPr marL="355600" marR="154305" indent="-343535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dirty="0">
                <a:latin typeface="Calibri"/>
                <a:cs typeface="Calibri"/>
              </a:rPr>
              <a:t>It </a:t>
            </a:r>
            <a:r>
              <a:rPr sz="3000" spc="-10" dirty="0">
                <a:latin typeface="Calibri"/>
                <a:cs typeface="Calibri"/>
              </a:rPr>
              <a:t>specifies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colour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25" dirty="0">
                <a:latin typeface="Calibri"/>
                <a:cs typeface="Calibri"/>
              </a:rPr>
              <a:t>text </a:t>
            </a:r>
            <a:r>
              <a:rPr sz="3000" spc="-20" dirty="0">
                <a:latin typeface="Calibri"/>
                <a:cs typeface="Calibri"/>
              </a:rPr>
              <a:t>content </a:t>
            </a:r>
            <a:r>
              <a:rPr sz="3000" dirty="0">
                <a:latin typeface="Calibri"/>
                <a:cs typeface="Calibri"/>
              </a:rPr>
              <a:t>in the  </a:t>
            </a:r>
            <a:r>
              <a:rPr sz="3000" spc="-10" dirty="0">
                <a:latin typeface="Calibri"/>
                <a:cs typeface="Calibri"/>
              </a:rPr>
              <a:t>page.</a:t>
            </a:r>
            <a:endParaRPr sz="3000">
              <a:latin typeface="Calibri"/>
              <a:cs typeface="Calibri"/>
            </a:endParaRPr>
          </a:p>
          <a:p>
            <a:pPr marL="355600" marR="38100" indent="-343535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15" dirty="0">
                <a:latin typeface="Calibri"/>
                <a:cs typeface="Calibri"/>
              </a:rPr>
              <a:t>By default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5" dirty="0">
                <a:latin typeface="Calibri"/>
                <a:cs typeface="Calibri"/>
              </a:rPr>
              <a:t>browser </a:t>
            </a:r>
            <a:r>
              <a:rPr sz="3000" spc="-20" dirty="0">
                <a:latin typeface="Calibri"/>
                <a:cs typeface="Calibri"/>
              </a:rPr>
              <a:t>displays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25" dirty="0">
                <a:latin typeface="Calibri"/>
                <a:cs typeface="Calibri"/>
              </a:rPr>
              <a:t>text </a:t>
            </a:r>
            <a:r>
              <a:rPr sz="3000" dirty="0">
                <a:latin typeface="Calibri"/>
                <a:cs typeface="Calibri"/>
              </a:rPr>
              <a:t>in </a:t>
            </a:r>
            <a:r>
              <a:rPr sz="3000" spc="-5" dirty="0">
                <a:latin typeface="Calibri"/>
                <a:cs typeface="Calibri"/>
              </a:rPr>
              <a:t>black  </a:t>
            </a:r>
            <a:r>
              <a:rPr sz="3000" spc="-10" dirty="0">
                <a:latin typeface="Calibri"/>
                <a:cs typeface="Calibri"/>
              </a:rPr>
              <a:t>colour </a:t>
            </a:r>
            <a:r>
              <a:rPr sz="3000" spc="-5" dirty="0">
                <a:latin typeface="Calibri"/>
                <a:cs typeface="Calibri"/>
              </a:rPr>
              <a:t>on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10" dirty="0">
                <a:latin typeface="Calibri"/>
                <a:cs typeface="Calibri"/>
              </a:rPr>
              <a:t>white </a:t>
            </a:r>
            <a:r>
              <a:rPr sz="3000" spc="-5" dirty="0">
                <a:latin typeface="Calibri"/>
                <a:cs typeface="Calibri"/>
              </a:rPr>
              <a:t>or </a:t>
            </a:r>
            <a:r>
              <a:rPr sz="3000" spc="-20" dirty="0">
                <a:latin typeface="Calibri"/>
                <a:cs typeface="Calibri"/>
              </a:rPr>
              <a:t>grey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background.</a:t>
            </a:r>
            <a:endParaRPr sz="3000">
              <a:latin typeface="Calibri"/>
              <a:cs typeface="Calibri"/>
            </a:endParaRPr>
          </a:p>
          <a:p>
            <a:pPr marL="355600" marR="292100" indent="-343535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value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b="1" spc="-25" dirty="0">
                <a:latin typeface="Calibri"/>
                <a:cs typeface="Calibri"/>
              </a:rPr>
              <a:t>text </a:t>
            </a:r>
            <a:r>
              <a:rPr sz="3000" spc="-15" dirty="0">
                <a:latin typeface="Calibri"/>
                <a:cs typeface="Calibri"/>
              </a:rPr>
              <a:t>attribute </a:t>
            </a:r>
            <a:r>
              <a:rPr sz="3000" spc="-10" dirty="0">
                <a:latin typeface="Calibri"/>
                <a:cs typeface="Calibri"/>
              </a:rPr>
              <a:t>can </a:t>
            </a:r>
            <a:r>
              <a:rPr sz="3000" spc="-5" dirty="0">
                <a:latin typeface="Calibri"/>
                <a:cs typeface="Calibri"/>
              </a:rPr>
              <a:t>be given </a:t>
            </a:r>
            <a:r>
              <a:rPr sz="3000" dirty="0">
                <a:latin typeface="Calibri"/>
                <a:cs typeface="Calibri"/>
              </a:rPr>
              <a:t>in </a:t>
            </a:r>
            <a:r>
              <a:rPr sz="3000" spc="-10" dirty="0">
                <a:latin typeface="Calibri"/>
                <a:cs typeface="Calibri"/>
              </a:rPr>
              <a:t>two  </a:t>
            </a:r>
            <a:r>
              <a:rPr sz="3000" spc="-30" dirty="0">
                <a:latin typeface="Calibri"/>
                <a:cs typeface="Calibri"/>
              </a:rPr>
              <a:t>ways: </a:t>
            </a:r>
            <a:r>
              <a:rPr sz="3000" b="1" spc="-5" dirty="0">
                <a:latin typeface="Calibri"/>
                <a:cs typeface="Calibri"/>
              </a:rPr>
              <a:t>Color_name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3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Hex_number</a:t>
            </a:r>
            <a:endParaRPr sz="3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10" dirty="0">
                <a:latin typeface="Calibri"/>
                <a:cs typeface="Calibri"/>
              </a:rPr>
              <a:t>Example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b="1" spc="-5" dirty="0">
                <a:latin typeface="Calibri"/>
                <a:cs typeface="Calibri"/>
              </a:rPr>
              <a:t>&lt;body </a:t>
            </a:r>
            <a:r>
              <a:rPr sz="3000" b="1" spc="-25" dirty="0">
                <a:solidFill>
                  <a:srgbClr val="C00000"/>
                </a:solidFill>
                <a:latin typeface="Calibri"/>
                <a:cs typeface="Calibri"/>
              </a:rPr>
              <a:t>text </a:t>
            </a:r>
            <a:r>
              <a:rPr sz="3000" b="1" dirty="0">
                <a:latin typeface="Calibri"/>
                <a:cs typeface="Calibri"/>
              </a:rPr>
              <a:t>= </a:t>
            </a:r>
            <a:r>
              <a:rPr sz="3000" b="1" spc="-10" dirty="0">
                <a:latin typeface="Calibri"/>
                <a:cs typeface="Calibri"/>
              </a:rPr>
              <a:t>“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red</a:t>
            </a:r>
            <a:r>
              <a:rPr sz="3000" b="1" spc="-10" dirty="0">
                <a:latin typeface="Calibri"/>
                <a:cs typeface="Calibri"/>
              </a:rPr>
              <a:t>”&gt; </a:t>
            </a:r>
            <a:r>
              <a:rPr sz="3000" b="1" dirty="0">
                <a:latin typeface="Calibri"/>
                <a:cs typeface="Calibri"/>
              </a:rPr>
              <a:t>or </a:t>
            </a:r>
            <a:r>
              <a:rPr sz="3000" b="1" spc="-5" dirty="0">
                <a:latin typeface="Calibri"/>
                <a:cs typeface="Calibri"/>
              </a:rPr>
              <a:t>&lt;body </a:t>
            </a:r>
            <a:r>
              <a:rPr sz="3000" b="1" spc="-25" dirty="0">
                <a:solidFill>
                  <a:srgbClr val="C00000"/>
                </a:solidFill>
                <a:latin typeface="Calibri"/>
                <a:cs typeface="Calibri"/>
              </a:rPr>
              <a:t>text </a:t>
            </a:r>
            <a:r>
              <a:rPr sz="3000" b="1" dirty="0">
                <a:latin typeface="Calibri"/>
                <a:cs typeface="Calibri"/>
              </a:rPr>
              <a:t>=</a:t>
            </a:r>
            <a:r>
              <a:rPr sz="3000" b="1" spc="3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“</a:t>
            </a: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#ff0000</a:t>
            </a:r>
            <a:r>
              <a:rPr sz="3000" b="1" spc="-5" dirty="0">
                <a:latin typeface="Calibri"/>
                <a:cs typeface="Calibri"/>
              </a:rPr>
              <a:t>”&gt;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4189" y="461594"/>
            <a:ext cx="4595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C00000"/>
                </a:solidFill>
              </a:rPr>
              <a:t>Link, </a:t>
            </a:r>
            <a:r>
              <a:rPr sz="4400" spc="-5" dirty="0">
                <a:solidFill>
                  <a:srgbClr val="C00000"/>
                </a:solidFill>
              </a:rPr>
              <a:t>alink </a:t>
            </a:r>
            <a:r>
              <a:rPr sz="4400" dirty="0">
                <a:solidFill>
                  <a:srgbClr val="C00000"/>
                </a:solidFill>
              </a:rPr>
              <a:t>and</a:t>
            </a:r>
            <a:r>
              <a:rPr sz="4400" spc="-65" dirty="0">
                <a:solidFill>
                  <a:srgbClr val="C00000"/>
                </a:solidFill>
              </a:rPr>
              <a:t> </a:t>
            </a:r>
            <a:r>
              <a:rPr sz="4400" spc="-5" dirty="0">
                <a:solidFill>
                  <a:srgbClr val="C00000"/>
                </a:solidFill>
              </a:rPr>
              <a:t>vlink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893050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905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hyperlink </a:t>
            </a:r>
            <a:r>
              <a:rPr sz="3200" dirty="0">
                <a:latin typeface="Calibri"/>
                <a:cs typeface="Calibri"/>
              </a:rPr>
              <a:t>is an </a:t>
            </a:r>
            <a:r>
              <a:rPr sz="3200" spc="-5" dirty="0">
                <a:latin typeface="Calibri"/>
                <a:cs typeface="Calibri"/>
              </a:rPr>
              <a:t>element,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20" dirty="0">
                <a:latin typeface="Calibri"/>
                <a:cs typeface="Calibri"/>
              </a:rPr>
              <a:t>text </a:t>
            </a:r>
            <a:r>
              <a:rPr sz="3200" dirty="0">
                <a:latin typeface="Calibri"/>
                <a:cs typeface="Calibri"/>
              </a:rPr>
              <a:t>or an </a:t>
            </a:r>
            <a:r>
              <a:rPr sz="3200" spc="-5" dirty="0">
                <a:latin typeface="Calibri"/>
                <a:cs typeface="Calibri"/>
              </a:rPr>
              <a:t>image  </a:t>
            </a:r>
            <a:r>
              <a:rPr sz="3200" spc="-10" dirty="0">
                <a:latin typeface="Calibri"/>
                <a:cs typeface="Calibri"/>
              </a:rPr>
              <a:t>that </a:t>
            </a:r>
            <a:r>
              <a:rPr sz="3200" spc="-15" dirty="0">
                <a:latin typeface="Calibri"/>
                <a:cs typeface="Calibri"/>
              </a:rPr>
              <a:t>we </a:t>
            </a:r>
            <a:r>
              <a:rPr sz="3200" spc="-10" dirty="0">
                <a:latin typeface="Calibri"/>
                <a:cs typeface="Calibri"/>
              </a:rPr>
              <a:t>can </a:t>
            </a:r>
            <a:r>
              <a:rPr sz="3200" spc="-5" dirty="0">
                <a:latin typeface="Calibri"/>
                <a:cs typeface="Calibri"/>
              </a:rPr>
              <a:t>click on,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5" dirty="0">
                <a:latin typeface="Calibri"/>
                <a:cs typeface="Calibri"/>
              </a:rPr>
              <a:t>jump </a:t>
            </a:r>
            <a:r>
              <a:rPr sz="3200" spc="-20" dirty="0">
                <a:latin typeface="Calibri"/>
                <a:cs typeface="Calibri"/>
              </a:rPr>
              <a:t>into </a:t>
            </a:r>
            <a:r>
              <a:rPr sz="3200" dirty="0">
                <a:latin typeface="Calibri"/>
                <a:cs typeface="Calibri"/>
              </a:rPr>
              <a:t>another  </a:t>
            </a:r>
            <a:r>
              <a:rPr sz="3200" spc="-10" dirty="0">
                <a:latin typeface="Calibri"/>
                <a:cs typeface="Calibri"/>
              </a:rPr>
              <a:t>document </a:t>
            </a:r>
            <a:r>
              <a:rPr sz="3200" spc="-5" dirty="0">
                <a:latin typeface="Calibri"/>
                <a:cs typeface="Calibri"/>
              </a:rPr>
              <a:t>or </a:t>
            </a:r>
            <a:r>
              <a:rPr sz="3200" dirty="0">
                <a:latin typeface="Calibri"/>
                <a:cs typeface="Calibri"/>
              </a:rPr>
              <a:t>another </a:t>
            </a:r>
            <a:r>
              <a:rPr sz="3200" spc="-5" dirty="0">
                <a:latin typeface="Calibri"/>
                <a:cs typeface="Calibri"/>
              </a:rPr>
              <a:t>section </a:t>
            </a:r>
            <a:r>
              <a:rPr sz="3200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same  </a:t>
            </a:r>
            <a:r>
              <a:rPr sz="3200" spc="-10" dirty="0">
                <a:latin typeface="Calibri"/>
                <a:cs typeface="Calibri"/>
              </a:rPr>
              <a:t>document.</a:t>
            </a:r>
            <a:endParaRPr sz="3200">
              <a:latin typeface="Calibri"/>
              <a:cs typeface="Calibri"/>
            </a:endParaRPr>
          </a:p>
          <a:p>
            <a:pPr marL="355600" marR="5270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hyperlink points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a whole </a:t>
            </a:r>
            <a:r>
              <a:rPr sz="3200" spc="-10" dirty="0">
                <a:latin typeface="Calibri"/>
                <a:cs typeface="Calibri"/>
              </a:rPr>
              <a:t>document </a:t>
            </a:r>
            <a:r>
              <a:rPr sz="3200" spc="-5" dirty="0">
                <a:latin typeface="Calibri"/>
                <a:cs typeface="Calibri"/>
              </a:rPr>
              <a:t>or </a:t>
            </a:r>
            <a:r>
              <a:rPr sz="3200" spc="-25" dirty="0">
                <a:latin typeface="Calibri"/>
                <a:cs typeface="Calibri"/>
              </a:rPr>
              <a:t>to 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specific element within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document.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link, alink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vlink </a:t>
            </a:r>
            <a:r>
              <a:rPr sz="3200" spc="-15" dirty="0">
                <a:latin typeface="Calibri"/>
                <a:cs typeface="Calibri"/>
              </a:rPr>
              <a:t>are attributes </a:t>
            </a:r>
            <a:r>
              <a:rPr sz="3200" spc="-5" dirty="0">
                <a:latin typeface="Calibri"/>
                <a:cs typeface="Calibri"/>
              </a:rPr>
              <a:t>of body </a:t>
            </a:r>
            <a:r>
              <a:rPr sz="3200" spc="-15" dirty="0">
                <a:latin typeface="Calibri"/>
                <a:cs typeface="Calibri"/>
              </a:rPr>
              <a:t>tag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97965"/>
            <a:ext cx="8101330" cy="5099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701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Link </a:t>
            </a:r>
            <a:r>
              <a:rPr sz="3200" b="1" dirty="0">
                <a:latin typeface="Calibri"/>
                <a:cs typeface="Calibri"/>
              </a:rPr>
              <a:t>: </a:t>
            </a:r>
            <a:r>
              <a:rPr sz="3200" dirty="0">
                <a:latin typeface="Calibri"/>
                <a:cs typeface="Calibri"/>
              </a:rPr>
              <a:t>it </a:t>
            </a:r>
            <a:r>
              <a:rPr sz="3200" spc="-5" dirty="0">
                <a:latin typeface="Calibri"/>
                <a:cs typeface="Calibri"/>
              </a:rPr>
              <a:t>specifies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b="1" spc="-5" dirty="0">
                <a:latin typeface="Calibri"/>
                <a:cs typeface="Calibri"/>
              </a:rPr>
              <a:t>colour </a:t>
            </a:r>
            <a:r>
              <a:rPr sz="3200" b="1" dirty="0">
                <a:latin typeface="Calibri"/>
                <a:cs typeface="Calibri"/>
              </a:rPr>
              <a:t>of </a:t>
            </a:r>
            <a:r>
              <a:rPr sz="3200" b="1" spc="5" dirty="0">
                <a:latin typeface="Calibri"/>
                <a:cs typeface="Calibri"/>
              </a:rPr>
              <a:t>the </a:t>
            </a:r>
            <a:r>
              <a:rPr sz="3200" b="1" spc="-15" dirty="0">
                <a:latin typeface="Calibri"/>
                <a:cs typeface="Calibri"/>
              </a:rPr>
              <a:t>hyperlinks  </a:t>
            </a:r>
            <a:r>
              <a:rPr sz="3200" b="1" spc="-5" dirty="0">
                <a:latin typeface="Calibri"/>
                <a:cs typeface="Calibri"/>
              </a:rPr>
              <a:t>that </a:t>
            </a:r>
            <a:r>
              <a:rPr sz="3200" b="1" spc="-10" dirty="0">
                <a:latin typeface="Calibri"/>
                <a:cs typeface="Calibri"/>
              </a:rPr>
              <a:t>are </a:t>
            </a:r>
            <a:r>
              <a:rPr sz="3200" b="1" spc="-5" dirty="0">
                <a:latin typeface="Calibri"/>
                <a:cs typeface="Calibri"/>
              </a:rPr>
              <a:t>not </a:t>
            </a:r>
            <a:r>
              <a:rPr sz="3200" b="1" spc="-10" dirty="0">
                <a:latin typeface="Calibri"/>
                <a:cs typeface="Calibri"/>
              </a:rPr>
              <a:t>visited </a:t>
            </a:r>
            <a:r>
              <a:rPr sz="3200" spc="-10" dirty="0">
                <a:latin typeface="Calibri"/>
                <a:cs typeface="Calibri"/>
              </a:rPr>
              <a:t>by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5" dirty="0">
                <a:latin typeface="Calibri"/>
                <a:cs typeface="Calibri"/>
              </a:rPr>
              <a:t>viewer.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default  </a:t>
            </a:r>
            <a:r>
              <a:rPr sz="3200" spc="-10" dirty="0">
                <a:latin typeface="Calibri"/>
                <a:cs typeface="Calibri"/>
              </a:rPr>
              <a:t>colour is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blue</a:t>
            </a:r>
            <a:r>
              <a:rPr sz="3200" spc="-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Alink </a:t>
            </a:r>
            <a:r>
              <a:rPr sz="3200" b="1" dirty="0">
                <a:latin typeface="Calibri"/>
                <a:cs typeface="Calibri"/>
              </a:rPr>
              <a:t>: </a:t>
            </a:r>
            <a:r>
              <a:rPr sz="3200" dirty="0">
                <a:latin typeface="Calibri"/>
                <a:cs typeface="Calibri"/>
              </a:rPr>
              <a:t>it </a:t>
            </a:r>
            <a:r>
              <a:rPr sz="3200" spc="-5" dirty="0">
                <a:latin typeface="Calibri"/>
                <a:cs typeface="Calibri"/>
              </a:rPr>
              <a:t>specifies the </a:t>
            </a:r>
            <a:r>
              <a:rPr sz="3200" b="1" spc="-5" dirty="0">
                <a:latin typeface="Calibri"/>
                <a:cs typeface="Calibri"/>
              </a:rPr>
              <a:t>colour </a:t>
            </a:r>
            <a:r>
              <a:rPr sz="3200" b="1" dirty="0">
                <a:latin typeface="Calibri"/>
                <a:cs typeface="Calibri"/>
              </a:rPr>
              <a:t>of the </a:t>
            </a:r>
            <a:r>
              <a:rPr sz="3200" b="1" spc="-5" dirty="0">
                <a:latin typeface="Calibri"/>
                <a:cs typeface="Calibri"/>
              </a:rPr>
              <a:t>active  </a:t>
            </a:r>
            <a:r>
              <a:rPr sz="3200" b="1" spc="-10" dirty="0">
                <a:latin typeface="Calibri"/>
                <a:cs typeface="Calibri"/>
              </a:rPr>
              <a:t>hyperlink</a:t>
            </a:r>
            <a:r>
              <a:rPr sz="3200" spc="-10" dirty="0">
                <a:latin typeface="Calibri"/>
                <a:cs typeface="Calibri"/>
              </a:rPr>
              <a:t>.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link </a:t>
            </a:r>
            <a:r>
              <a:rPr sz="3200" spc="-5" dirty="0">
                <a:latin typeface="Calibri"/>
                <a:cs typeface="Calibri"/>
              </a:rPr>
              <a:t>remains </a:t>
            </a:r>
            <a:r>
              <a:rPr sz="3200" spc="-10" dirty="0">
                <a:latin typeface="Calibri"/>
                <a:cs typeface="Calibri"/>
              </a:rPr>
              <a:t>active </a:t>
            </a:r>
            <a:r>
              <a:rPr sz="3200" dirty="0">
                <a:latin typeface="Calibri"/>
                <a:cs typeface="Calibri"/>
              </a:rPr>
              <a:t>only </a:t>
            </a:r>
            <a:r>
              <a:rPr sz="3200" spc="-30" dirty="0">
                <a:latin typeface="Calibri"/>
                <a:cs typeface="Calibri"/>
              </a:rPr>
              <a:t>for </a:t>
            </a:r>
            <a:r>
              <a:rPr sz="3200" spc="-5" dirty="0">
                <a:latin typeface="Calibri"/>
                <a:cs typeface="Calibri"/>
              </a:rPr>
              <a:t>the  moment </a:t>
            </a:r>
            <a:r>
              <a:rPr sz="3200" dirty="0">
                <a:latin typeface="Calibri"/>
                <a:cs typeface="Calibri"/>
              </a:rPr>
              <a:t>the mouse is </a:t>
            </a:r>
            <a:r>
              <a:rPr sz="3200" spc="-20" dirty="0">
                <a:latin typeface="Calibri"/>
                <a:cs typeface="Calibri"/>
              </a:rPr>
              <a:t>clicked </a:t>
            </a:r>
            <a:r>
              <a:rPr sz="3200" spc="-5" dirty="0">
                <a:latin typeface="Calibri"/>
                <a:cs typeface="Calibri"/>
              </a:rPr>
              <a:t>on </a:t>
            </a:r>
            <a:r>
              <a:rPr sz="3200" dirty="0">
                <a:latin typeface="Calibri"/>
                <a:cs typeface="Calibri"/>
              </a:rPr>
              <a:t>it.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default  </a:t>
            </a:r>
            <a:r>
              <a:rPr sz="3200" spc="-10" dirty="0">
                <a:latin typeface="Calibri"/>
                <a:cs typeface="Calibri"/>
              </a:rPr>
              <a:t>colour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AF50"/>
                </a:solidFill>
                <a:latin typeface="Calibri"/>
                <a:cs typeface="Calibri"/>
              </a:rPr>
              <a:t>green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55600" marR="27622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Vlink </a:t>
            </a:r>
            <a:r>
              <a:rPr sz="3200" b="1" dirty="0">
                <a:latin typeface="Calibri"/>
                <a:cs typeface="Calibri"/>
              </a:rPr>
              <a:t>: </a:t>
            </a:r>
            <a:r>
              <a:rPr sz="3200" dirty="0">
                <a:latin typeface="Calibri"/>
                <a:cs typeface="Calibri"/>
              </a:rPr>
              <a:t>it </a:t>
            </a:r>
            <a:r>
              <a:rPr sz="3200" spc="-5" dirty="0">
                <a:latin typeface="Calibri"/>
                <a:cs typeface="Calibri"/>
              </a:rPr>
              <a:t>specifies the </a:t>
            </a:r>
            <a:r>
              <a:rPr sz="3200" b="1" spc="-5" dirty="0">
                <a:latin typeface="Calibri"/>
                <a:cs typeface="Calibri"/>
              </a:rPr>
              <a:t>colour </a:t>
            </a:r>
            <a:r>
              <a:rPr sz="3200" b="1" dirty="0">
                <a:latin typeface="Calibri"/>
                <a:cs typeface="Calibri"/>
              </a:rPr>
              <a:t>of </a:t>
            </a:r>
            <a:r>
              <a:rPr sz="3200" b="1" spc="5" dirty="0">
                <a:latin typeface="Calibri"/>
                <a:cs typeface="Calibri"/>
              </a:rPr>
              <a:t>the </a:t>
            </a:r>
            <a:r>
              <a:rPr sz="3200" b="1" spc="-15" dirty="0">
                <a:latin typeface="Calibri"/>
                <a:cs typeface="Calibri"/>
              </a:rPr>
              <a:t>hyperlink  </a:t>
            </a:r>
            <a:r>
              <a:rPr sz="3200" b="1" spc="-5" dirty="0">
                <a:latin typeface="Calibri"/>
                <a:cs typeface="Calibri"/>
              </a:rPr>
              <a:t>which </a:t>
            </a:r>
            <a:r>
              <a:rPr sz="3200" b="1" dirty="0">
                <a:latin typeface="Calibri"/>
                <a:cs typeface="Calibri"/>
              </a:rPr>
              <a:t>is </a:t>
            </a:r>
            <a:r>
              <a:rPr sz="3200" b="1" spc="-10" dirty="0">
                <a:latin typeface="Calibri"/>
                <a:cs typeface="Calibri"/>
              </a:rPr>
              <a:t>already visited </a:t>
            </a:r>
            <a:r>
              <a:rPr sz="3200" spc="-10" dirty="0">
                <a:latin typeface="Calibri"/>
                <a:cs typeface="Calibri"/>
              </a:rPr>
              <a:t>by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0" dirty="0">
                <a:latin typeface="Calibri"/>
                <a:cs typeface="Calibri"/>
              </a:rPr>
              <a:t>viewer. </a:t>
            </a:r>
            <a:r>
              <a:rPr sz="3200" spc="-5" dirty="0">
                <a:latin typeface="Calibri"/>
                <a:cs typeface="Calibri"/>
              </a:rPr>
              <a:t>The  </a:t>
            </a:r>
            <a:r>
              <a:rPr sz="3200" spc="-15" dirty="0">
                <a:latin typeface="Calibri"/>
                <a:cs typeface="Calibri"/>
              </a:rPr>
              <a:t>default </a:t>
            </a:r>
            <a:r>
              <a:rPr sz="3200" spc="-10" dirty="0">
                <a:latin typeface="Calibri"/>
                <a:cs typeface="Calibri"/>
              </a:rPr>
              <a:t>colour is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6F2F9F"/>
                </a:solidFill>
                <a:latin typeface="Calibri"/>
                <a:cs typeface="Calibri"/>
              </a:rPr>
              <a:t>purple</a:t>
            </a:r>
            <a:r>
              <a:rPr sz="3200" spc="-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2188" y="461594"/>
            <a:ext cx="6122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0000"/>
                </a:solidFill>
              </a:rPr>
              <a:t>Leftmargin </a:t>
            </a:r>
            <a:r>
              <a:rPr sz="4400" dirty="0">
                <a:solidFill>
                  <a:srgbClr val="FF0000"/>
                </a:solidFill>
              </a:rPr>
              <a:t>and</a:t>
            </a:r>
            <a:r>
              <a:rPr sz="4400" spc="-70" dirty="0">
                <a:solidFill>
                  <a:srgbClr val="FF0000"/>
                </a:solidFill>
              </a:rPr>
              <a:t> </a:t>
            </a:r>
            <a:r>
              <a:rPr sz="4400" spc="-50" dirty="0">
                <a:solidFill>
                  <a:srgbClr val="FF0000"/>
                </a:solidFill>
              </a:rPr>
              <a:t>Topmargin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187055" cy="4221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812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Leftmargin </a:t>
            </a:r>
            <a:r>
              <a:rPr sz="3200" dirty="0">
                <a:latin typeface="Calibri"/>
                <a:cs typeface="Calibri"/>
              </a:rPr>
              <a:t>: it is </a:t>
            </a:r>
            <a:r>
              <a:rPr sz="3200" spc="-5" dirty="0">
                <a:latin typeface="Calibri"/>
                <a:cs typeface="Calibri"/>
              </a:rPr>
              <a:t>used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15" dirty="0">
                <a:latin typeface="Calibri"/>
                <a:cs typeface="Calibri"/>
              </a:rPr>
              <a:t>leave </a:t>
            </a:r>
            <a:r>
              <a:rPr sz="3200" spc="-5" dirty="0">
                <a:latin typeface="Calibri"/>
                <a:cs typeface="Calibri"/>
              </a:rPr>
              <a:t>some blank </a:t>
            </a:r>
            <a:r>
              <a:rPr sz="3200" spc="-10" dirty="0">
                <a:latin typeface="Calibri"/>
                <a:cs typeface="Calibri"/>
              </a:rPr>
              <a:t>area  </a:t>
            </a:r>
            <a:r>
              <a:rPr sz="3200" spc="-5" dirty="0">
                <a:latin typeface="Calibri"/>
                <a:cs typeface="Calibri"/>
              </a:rPr>
              <a:t>on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left </a:t>
            </a:r>
            <a:r>
              <a:rPr sz="3200" spc="-5" dirty="0">
                <a:latin typeface="Calibri"/>
                <a:cs typeface="Calibri"/>
              </a:rPr>
              <a:t>side </a:t>
            </a:r>
            <a:r>
              <a:rPr sz="3200" dirty="0">
                <a:latin typeface="Calibri"/>
                <a:cs typeface="Calibri"/>
              </a:rPr>
              <a:t>of the </a:t>
            </a:r>
            <a:r>
              <a:rPr sz="3200" spc="-10" dirty="0">
                <a:latin typeface="Calibri"/>
                <a:cs typeface="Calibri"/>
              </a:rPr>
              <a:t>document.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value </a:t>
            </a:r>
            <a:r>
              <a:rPr sz="3200" dirty="0">
                <a:latin typeface="Calibri"/>
                <a:cs typeface="Calibri"/>
              </a:rPr>
              <a:t>is  </a:t>
            </a:r>
            <a:r>
              <a:rPr sz="3200" spc="-5" dirty="0">
                <a:latin typeface="Calibri"/>
                <a:cs typeface="Calibri"/>
              </a:rPr>
              <a:t>specified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pixels.</a:t>
            </a:r>
            <a:endParaRPr sz="3200">
              <a:latin typeface="Calibri"/>
              <a:cs typeface="Calibri"/>
            </a:endParaRPr>
          </a:p>
          <a:p>
            <a:pPr marL="355600" marR="12255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40" dirty="0">
                <a:solidFill>
                  <a:srgbClr val="FF0000"/>
                </a:solidFill>
                <a:latin typeface="Calibri"/>
                <a:cs typeface="Calibri"/>
              </a:rPr>
              <a:t>Topmargin </a:t>
            </a:r>
            <a:r>
              <a:rPr sz="3200" dirty="0">
                <a:latin typeface="Calibri"/>
                <a:cs typeface="Calibri"/>
              </a:rPr>
              <a:t>: it is </a:t>
            </a:r>
            <a:r>
              <a:rPr sz="3200" spc="-5" dirty="0">
                <a:latin typeface="Calibri"/>
                <a:cs typeface="Calibri"/>
              </a:rPr>
              <a:t>used </a:t>
            </a:r>
            <a:r>
              <a:rPr sz="3200" spc="-20" dirty="0">
                <a:latin typeface="Calibri"/>
                <a:cs typeface="Calibri"/>
              </a:rPr>
              <a:t>to leave </a:t>
            </a:r>
            <a:r>
              <a:rPr sz="3200" spc="-5" dirty="0">
                <a:latin typeface="Calibri"/>
                <a:cs typeface="Calibri"/>
              </a:rPr>
              <a:t>some blank </a:t>
            </a:r>
            <a:r>
              <a:rPr sz="3200" spc="-10" dirty="0">
                <a:latin typeface="Calibri"/>
                <a:cs typeface="Calibri"/>
              </a:rPr>
              <a:t>area  </a:t>
            </a:r>
            <a:r>
              <a:rPr sz="3200" spc="-15" dirty="0">
                <a:latin typeface="Calibri"/>
                <a:cs typeface="Calibri"/>
              </a:rPr>
              <a:t>at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top </a:t>
            </a:r>
            <a:r>
              <a:rPr sz="3200" spc="-5" dirty="0">
                <a:latin typeface="Calibri"/>
                <a:cs typeface="Calibri"/>
              </a:rPr>
              <a:t>edge of the </a:t>
            </a:r>
            <a:r>
              <a:rPr sz="3200" spc="-10" dirty="0">
                <a:latin typeface="Calibri"/>
                <a:cs typeface="Calibri"/>
              </a:rPr>
              <a:t>document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window.</a:t>
            </a:r>
            <a:endParaRPr sz="3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value </a:t>
            </a:r>
            <a:r>
              <a:rPr sz="3200" dirty="0">
                <a:latin typeface="Calibri"/>
                <a:cs typeface="Calibri"/>
              </a:rPr>
              <a:t>is </a:t>
            </a:r>
            <a:r>
              <a:rPr sz="3200" spc="-5" dirty="0">
                <a:latin typeface="Calibri"/>
                <a:cs typeface="Calibri"/>
              </a:rPr>
              <a:t>specified </a:t>
            </a:r>
            <a:r>
              <a:rPr sz="3200" dirty="0">
                <a:latin typeface="Calibri"/>
                <a:cs typeface="Calibri"/>
              </a:rPr>
              <a:t>in </a:t>
            </a:r>
            <a:r>
              <a:rPr sz="3200" spc="-15" dirty="0">
                <a:latin typeface="Calibri"/>
                <a:cs typeface="Calibri"/>
              </a:rPr>
              <a:t>pixels.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5" dirty="0">
                <a:latin typeface="Calibri"/>
                <a:cs typeface="Calibri"/>
              </a:rPr>
              <a:t>For example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70"/>
              </a:spcBef>
            </a:pPr>
            <a:r>
              <a:rPr sz="3200" b="1" spc="-5" dirty="0">
                <a:latin typeface="Calibri"/>
                <a:cs typeface="Calibri"/>
              </a:rPr>
              <a:t>&lt;body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leftmargin </a:t>
            </a:r>
            <a:r>
              <a:rPr sz="3200" b="1" dirty="0">
                <a:latin typeface="Calibri"/>
                <a:cs typeface="Calibri"/>
              </a:rPr>
              <a:t>= </a:t>
            </a:r>
            <a:r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“60”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topmargin </a:t>
            </a:r>
            <a:r>
              <a:rPr sz="3200" b="1" dirty="0">
                <a:latin typeface="Calibri"/>
                <a:cs typeface="Calibri"/>
              </a:rPr>
              <a:t>=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“70”</a:t>
            </a:r>
            <a:r>
              <a:rPr sz="3200" b="1" spc="-5" dirty="0">
                <a:latin typeface="Calibri"/>
                <a:cs typeface="Calibri"/>
              </a:rPr>
              <a:t>&gt;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7904" y="461594"/>
            <a:ext cx="4576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</a:rPr>
              <a:t>Some common</a:t>
            </a:r>
            <a:r>
              <a:rPr sz="4400" spc="-100" dirty="0">
                <a:solidFill>
                  <a:srgbClr val="FF0000"/>
                </a:solidFill>
              </a:rPr>
              <a:t> </a:t>
            </a:r>
            <a:r>
              <a:rPr sz="4400" spc="-15" dirty="0">
                <a:solidFill>
                  <a:srgbClr val="FF0000"/>
                </a:solidFill>
              </a:rPr>
              <a:t>tags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560309" cy="3613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Used </a:t>
            </a:r>
            <a:r>
              <a:rPr sz="3200" spc="-30" dirty="0">
                <a:latin typeface="Calibri"/>
                <a:cs typeface="Calibri"/>
              </a:rPr>
              <a:t>for </a:t>
            </a:r>
            <a:r>
              <a:rPr sz="3200" spc="-20" dirty="0">
                <a:latin typeface="Calibri"/>
                <a:cs typeface="Calibri"/>
              </a:rPr>
              <a:t>formatting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text </a:t>
            </a:r>
            <a:r>
              <a:rPr sz="3200" spc="-15" dirty="0">
                <a:latin typeface="Calibri"/>
                <a:cs typeface="Calibri"/>
              </a:rPr>
              <a:t>contents </a:t>
            </a:r>
            <a:r>
              <a:rPr sz="3200" dirty="0">
                <a:latin typeface="Calibri"/>
                <a:cs typeface="Calibri"/>
              </a:rPr>
              <a:t>in the  </a:t>
            </a:r>
            <a:r>
              <a:rPr sz="3200" spc="-5" dirty="0">
                <a:latin typeface="Calibri"/>
                <a:cs typeface="Calibri"/>
              </a:rPr>
              <a:t>body section of the HTML </a:t>
            </a:r>
            <a:r>
              <a:rPr sz="3200" spc="-10" dirty="0">
                <a:latin typeface="Calibri"/>
                <a:cs typeface="Calibri"/>
              </a:rPr>
              <a:t>document </a:t>
            </a:r>
            <a:r>
              <a:rPr sz="3200" dirty="0">
                <a:latin typeface="Calibri"/>
                <a:cs typeface="Calibri"/>
              </a:rPr>
              <a:t>and  </a:t>
            </a:r>
            <a:r>
              <a:rPr sz="3200" spc="-20" dirty="0">
                <a:latin typeface="Calibri"/>
                <a:cs typeface="Calibri"/>
              </a:rPr>
              <a:t>therefore </a:t>
            </a:r>
            <a:r>
              <a:rPr sz="3200" spc="-10" dirty="0">
                <a:latin typeface="Calibri"/>
                <a:cs typeface="Calibri"/>
              </a:rPr>
              <a:t>they are </a:t>
            </a:r>
            <a:r>
              <a:rPr sz="3200" spc="-5" dirty="0">
                <a:latin typeface="Calibri"/>
                <a:cs typeface="Calibri"/>
              </a:rPr>
              <a:t>called </a:t>
            </a:r>
            <a:r>
              <a:rPr sz="3200" b="1" spc="-10" dirty="0">
                <a:latin typeface="Calibri"/>
                <a:cs typeface="Calibri"/>
              </a:rPr>
              <a:t>formatting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tags.</a:t>
            </a:r>
            <a:endParaRPr sz="32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3200" b="1" spc="-5" dirty="0">
                <a:latin typeface="Calibri"/>
                <a:cs typeface="Calibri"/>
              </a:rPr>
              <a:t>HEADING </a:t>
            </a:r>
            <a:r>
              <a:rPr sz="3200" b="1" spc="-75" dirty="0">
                <a:latin typeface="Calibri"/>
                <a:cs typeface="Calibri"/>
              </a:rPr>
              <a:t>TAGS </a:t>
            </a:r>
            <a:r>
              <a:rPr sz="3200" b="1" spc="-5" dirty="0">
                <a:latin typeface="Calibri"/>
                <a:cs typeface="Calibri"/>
              </a:rPr>
              <a:t>&lt;H1&gt; </a:t>
            </a:r>
            <a:r>
              <a:rPr sz="3200" b="1" spc="-20" dirty="0">
                <a:latin typeface="Calibri"/>
                <a:cs typeface="Calibri"/>
              </a:rPr>
              <a:t>to</a:t>
            </a:r>
            <a:r>
              <a:rPr sz="3200" b="1" spc="8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&lt;H6&gt;</a:t>
            </a:r>
            <a:endParaRPr sz="3200">
              <a:latin typeface="Calibri"/>
              <a:cs typeface="Calibri"/>
            </a:endParaRPr>
          </a:p>
          <a:p>
            <a:pPr marL="927100" lvl="1" indent="-51435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927100" algn="l"/>
                <a:tab pos="927735" algn="l"/>
              </a:tabLst>
            </a:pPr>
            <a:r>
              <a:rPr sz="2800" b="1" spc="-10" dirty="0">
                <a:latin typeface="Calibri"/>
                <a:cs typeface="Calibri"/>
              </a:rPr>
              <a:t>Main </a:t>
            </a:r>
            <a:r>
              <a:rPr sz="2800" b="1" spc="-15" dirty="0">
                <a:latin typeface="Calibri"/>
                <a:cs typeface="Calibri"/>
              </a:rPr>
              <a:t>attribute </a:t>
            </a:r>
            <a:r>
              <a:rPr sz="2800" b="1" spc="-5" dirty="0">
                <a:latin typeface="Calibri"/>
                <a:cs typeface="Calibri"/>
              </a:rPr>
              <a:t>of this </a:t>
            </a:r>
            <a:r>
              <a:rPr sz="2800" b="1" spc="-15" dirty="0">
                <a:latin typeface="Calibri"/>
                <a:cs typeface="Calibri"/>
              </a:rPr>
              <a:t>tag </a:t>
            </a:r>
            <a:r>
              <a:rPr sz="2800" b="1" spc="-5" dirty="0">
                <a:latin typeface="Calibri"/>
                <a:cs typeface="Calibri"/>
              </a:rPr>
              <a:t>is</a:t>
            </a:r>
            <a:r>
              <a:rPr sz="2800" b="1" spc="105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align.</a:t>
            </a:r>
            <a:endParaRPr sz="2800">
              <a:latin typeface="Calibri"/>
              <a:cs typeface="Calibri"/>
            </a:endParaRPr>
          </a:p>
          <a:p>
            <a:pPr marL="927100" lvl="1" indent="-51435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927100" algn="l"/>
                <a:tab pos="927735" algn="l"/>
              </a:tabLst>
            </a:pPr>
            <a:r>
              <a:rPr sz="2800" b="1" spc="-5" dirty="0">
                <a:latin typeface="Calibri"/>
                <a:cs typeface="Calibri"/>
              </a:rPr>
              <a:t>The possible </a:t>
            </a:r>
            <a:r>
              <a:rPr sz="2800" b="1" spc="-10" dirty="0">
                <a:latin typeface="Calibri"/>
                <a:cs typeface="Calibri"/>
              </a:rPr>
              <a:t>values </a:t>
            </a:r>
            <a:r>
              <a:rPr sz="2800" b="1" spc="-15" dirty="0">
                <a:latin typeface="Calibri"/>
                <a:cs typeface="Calibri"/>
              </a:rPr>
              <a:t>are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left, right,</a:t>
            </a:r>
            <a:r>
              <a:rPr sz="2800" b="1" spc="1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001F5F"/>
                </a:solidFill>
                <a:latin typeface="Calibri"/>
                <a:cs typeface="Calibri"/>
              </a:rPr>
              <a:t>center.</a:t>
            </a:r>
            <a:endParaRPr sz="2800">
              <a:latin typeface="Calibri"/>
              <a:cs typeface="Calibri"/>
            </a:endParaRPr>
          </a:p>
          <a:p>
            <a:pPr marL="927100" lvl="1" indent="-51435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927100" algn="l"/>
                <a:tab pos="927735" algn="l"/>
              </a:tabLst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Eg.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&lt;H1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ALIGN = 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“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LEFT</a:t>
            </a:r>
            <a:r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”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&gt;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HEADER-1</a:t>
            </a:r>
            <a:r>
              <a:rPr sz="2800" b="1" spc="9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&lt;/H1&gt;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4397"/>
            <a:ext cx="54730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3200" spc="-5" dirty="0"/>
              <a:t>2.	</a:t>
            </a:r>
            <a:r>
              <a:rPr sz="3200" spc="-10" dirty="0"/>
              <a:t>Creating </a:t>
            </a:r>
            <a:r>
              <a:rPr sz="3200" spc="-15" dirty="0"/>
              <a:t>paragraphs </a:t>
            </a:r>
            <a:r>
              <a:rPr sz="3200" dirty="0"/>
              <a:t>- </a:t>
            </a:r>
            <a:r>
              <a:rPr sz="3200" spc="-5" dirty="0"/>
              <a:t>&lt;P&gt;</a:t>
            </a:r>
            <a:r>
              <a:rPr sz="3200" spc="-110" dirty="0"/>
              <a:t> </a:t>
            </a:r>
            <a:r>
              <a:rPr sz="3200" spc="-10" dirty="0"/>
              <a:t>tag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177798"/>
            <a:ext cx="8267700" cy="504317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927100" marR="5080" indent="-513715">
              <a:lnSpc>
                <a:spcPts val="3030"/>
              </a:lnSpc>
              <a:spcBef>
                <a:spcPts val="470"/>
              </a:spcBef>
              <a:buFont typeface="Arial"/>
              <a:buChar char="–"/>
              <a:tabLst>
                <a:tab pos="927100" algn="l"/>
                <a:tab pos="927735" algn="l"/>
              </a:tabLst>
            </a:pPr>
            <a:r>
              <a:rPr sz="2800" b="1" spc="-5" dirty="0">
                <a:latin typeface="Calibri"/>
                <a:cs typeface="Calibri"/>
              </a:rPr>
              <a:t>It </a:t>
            </a:r>
            <a:r>
              <a:rPr sz="2800" b="1" spc="-15" dirty="0">
                <a:latin typeface="Calibri"/>
                <a:cs typeface="Calibri"/>
              </a:rPr>
              <a:t>indicates </a:t>
            </a:r>
            <a:r>
              <a:rPr sz="2800" b="1" spc="-5" dirty="0">
                <a:latin typeface="Calibri"/>
                <a:cs typeface="Calibri"/>
              </a:rPr>
              <a:t>a </a:t>
            </a:r>
            <a:r>
              <a:rPr sz="2800" b="1" spc="-10" dirty="0">
                <a:latin typeface="Calibri"/>
                <a:cs typeface="Calibri"/>
              </a:rPr>
              <a:t>new </a:t>
            </a:r>
            <a:r>
              <a:rPr sz="2800" b="1" spc="-20" dirty="0">
                <a:latin typeface="Calibri"/>
                <a:cs typeface="Calibri"/>
              </a:rPr>
              <a:t>paragraph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10" dirty="0">
                <a:latin typeface="Calibri"/>
                <a:cs typeface="Calibri"/>
              </a:rPr>
              <a:t>instructs </a:t>
            </a:r>
            <a:r>
              <a:rPr sz="2800" b="1" spc="-5" dirty="0">
                <a:latin typeface="Calibri"/>
                <a:cs typeface="Calibri"/>
              </a:rPr>
              <a:t>the  </a:t>
            </a:r>
            <a:r>
              <a:rPr sz="2800" b="1" spc="-10" dirty="0">
                <a:latin typeface="Calibri"/>
                <a:cs typeface="Calibri"/>
              </a:rPr>
              <a:t>browser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add a blank line </a:t>
            </a:r>
            <a:r>
              <a:rPr sz="2800" b="1" spc="-25" dirty="0">
                <a:latin typeface="Calibri"/>
                <a:cs typeface="Calibri"/>
              </a:rPr>
              <a:t>before </a:t>
            </a: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12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paragraph.</a:t>
            </a:r>
            <a:endParaRPr sz="2800">
              <a:latin typeface="Calibri"/>
              <a:cs typeface="Calibri"/>
            </a:endParaRPr>
          </a:p>
          <a:p>
            <a:pPr marL="927100" indent="-51435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927100" algn="l"/>
                <a:tab pos="927735" algn="l"/>
                <a:tab pos="3907154" algn="l"/>
              </a:tabLst>
            </a:pPr>
            <a:r>
              <a:rPr sz="2800" b="1" spc="-5" dirty="0">
                <a:latin typeface="Calibri"/>
                <a:cs typeface="Calibri"/>
              </a:rPr>
              <a:t>It is a</a:t>
            </a:r>
            <a:r>
              <a:rPr sz="2800" b="1" spc="8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container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tag	</a:t>
            </a:r>
            <a:r>
              <a:rPr sz="2800" b="1" spc="-10" dirty="0">
                <a:latin typeface="Calibri"/>
                <a:cs typeface="Calibri"/>
              </a:rPr>
              <a:t>&lt;P&gt;……..&lt;/P&gt;</a:t>
            </a:r>
            <a:endParaRPr sz="2800">
              <a:latin typeface="Calibri"/>
              <a:cs typeface="Calibri"/>
            </a:endParaRPr>
          </a:p>
          <a:p>
            <a:pPr marL="927100" indent="-51435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927100" algn="l"/>
                <a:tab pos="927735" algn="l"/>
              </a:tabLst>
            </a:pPr>
            <a:r>
              <a:rPr sz="2800" b="1" spc="-10" dirty="0">
                <a:latin typeface="Calibri"/>
                <a:cs typeface="Calibri"/>
              </a:rPr>
              <a:t>Main </a:t>
            </a:r>
            <a:r>
              <a:rPr sz="2800" b="1" spc="-15" dirty="0">
                <a:latin typeface="Calibri"/>
                <a:cs typeface="Calibri"/>
              </a:rPr>
              <a:t>attribute </a:t>
            </a:r>
            <a:r>
              <a:rPr sz="2800" b="1" spc="-5" dirty="0">
                <a:latin typeface="Calibri"/>
                <a:cs typeface="Calibri"/>
              </a:rPr>
              <a:t>of this </a:t>
            </a:r>
            <a:r>
              <a:rPr sz="2800" b="1" spc="-15" dirty="0">
                <a:latin typeface="Calibri"/>
                <a:cs typeface="Calibri"/>
              </a:rPr>
              <a:t>tag </a:t>
            </a:r>
            <a:r>
              <a:rPr sz="2800" b="1" spc="-5" dirty="0">
                <a:latin typeface="Calibri"/>
                <a:cs typeface="Calibri"/>
              </a:rPr>
              <a:t>is</a:t>
            </a:r>
            <a:r>
              <a:rPr sz="2800" b="1" spc="105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align.</a:t>
            </a:r>
            <a:endParaRPr sz="2800">
              <a:latin typeface="Calibri"/>
              <a:cs typeface="Calibri"/>
            </a:endParaRPr>
          </a:p>
          <a:p>
            <a:pPr marL="927100" indent="-514350">
              <a:lnSpc>
                <a:spcPct val="100000"/>
              </a:lnSpc>
              <a:spcBef>
                <a:spcPts val="335"/>
              </a:spcBef>
              <a:buFont typeface="Arial"/>
              <a:buChar char="–"/>
              <a:tabLst>
                <a:tab pos="927100" algn="l"/>
                <a:tab pos="927735" algn="l"/>
              </a:tabLst>
            </a:pPr>
            <a:r>
              <a:rPr sz="2800" b="1" spc="-5" dirty="0">
                <a:latin typeface="Calibri"/>
                <a:cs typeface="Calibri"/>
              </a:rPr>
              <a:t>The possible </a:t>
            </a:r>
            <a:r>
              <a:rPr sz="2800" b="1" spc="-10" dirty="0">
                <a:latin typeface="Calibri"/>
                <a:cs typeface="Calibri"/>
              </a:rPr>
              <a:t>values </a:t>
            </a:r>
            <a:r>
              <a:rPr sz="2800" b="1" spc="-15" dirty="0">
                <a:latin typeface="Calibri"/>
                <a:cs typeface="Calibri"/>
              </a:rPr>
              <a:t>are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left, right, </a:t>
            </a:r>
            <a:r>
              <a:rPr sz="2800" b="1" spc="-45" dirty="0">
                <a:solidFill>
                  <a:srgbClr val="001F5F"/>
                </a:solidFill>
                <a:latin typeface="Calibri"/>
                <a:cs typeface="Calibri"/>
              </a:rPr>
              <a:t>center,</a:t>
            </a:r>
            <a:r>
              <a:rPr sz="2800" b="1" spc="1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001F5F"/>
                </a:solidFill>
                <a:latin typeface="Calibri"/>
                <a:cs typeface="Calibri"/>
              </a:rPr>
              <a:t>justify.</a:t>
            </a:r>
            <a:endParaRPr sz="2800">
              <a:latin typeface="Calibri"/>
              <a:cs typeface="Calibri"/>
            </a:endParaRPr>
          </a:p>
          <a:p>
            <a:pPr marL="927100" indent="-514350">
              <a:lnSpc>
                <a:spcPct val="100000"/>
              </a:lnSpc>
              <a:spcBef>
                <a:spcPts val="335"/>
              </a:spcBef>
              <a:buFont typeface="Arial"/>
              <a:buChar char="–"/>
              <a:tabLst>
                <a:tab pos="927100" algn="l"/>
                <a:tab pos="927735" algn="l"/>
              </a:tabLst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Eg.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&lt;P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ALIGN = 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“</a:t>
            </a:r>
            <a:r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LEFT</a:t>
            </a:r>
            <a:r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”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&gt; 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paragraph content</a:t>
            </a:r>
            <a:r>
              <a:rPr sz="2800" b="1" spc="1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&lt;/P&gt;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buAutoNum type="arabicPeriod" startAt="3"/>
              <a:tabLst>
                <a:tab pos="527685" algn="l"/>
                <a:tab pos="528320" algn="l"/>
              </a:tabLst>
            </a:pPr>
            <a:r>
              <a:rPr sz="3200" b="1" dirty="0">
                <a:latin typeface="Calibri"/>
                <a:cs typeface="Calibri"/>
              </a:rPr>
              <a:t>Inserting line </a:t>
            </a:r>
            <a:r>
              <a:rPr sz="3200" b="1" spc="-10" dirty="0">
                <a:latin typeface="Calibri"/>
                <a:cs typeface="Calibri"/>
              </a:rPr>
              <a:t>break </a:t>
            </a:r>
            <a:r>
              <a:rPr sz="3200" b="1" dirty="0">
                <a:latin typeface="Calibri"/>
                <a:cs typeface="Calibri"/>
              </a:rPr>
              <a:t>- </a:t>
            </a:r>
            <a:r>
              <a:rPr sz="3200" b="1" spc="-5" dirty="0">
                <a:latin typeface="Calibri"/>
                <a:cs typeface="Calibri"/>
              </a:rPr>
              <a:t>&lt;BR&gt;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tag</a:t>
            </a:r>
            <a:endParaRPr sz="3200">
              <a:latin typeface="Calibri"/>
              <a:cs typeface="Calibri"/>
            </a:endParaRPr>
          </a:p>
          <a:p>
            <a:pPr marL="927100" marR="664845" lvl="1" indent="-513715">
              <a:lnSpc>
                <a:spcPts val="3030"/>
              </a:lnSpc>
              <a:spcBef>
                <a:spcPts val="730"/>
              </a:spcBef>
              <a:buFont typeface="Arial"/>
              <a:buChar char="–"/>
              <a:tabLst>
                <a:tab pos="927100" algn="l"/>
                <a:tab pos="927735" algn="l"/>
              </a:tabLst>
            </a:pPr>
            <a:r>
              <a:rPr sz="2800" b="1" spc="-5" dirty="0">
                <a:latin typeface="Calibri"/>
                <a:cs typeface="Calibri"/>
              </a:rPr>
              <a:t>It is used </a:t>
            </a:r>
            <a:r>
              <a:rPr sz="2800" b="1" spc="-15" dirty="0">
                <a:latin typeface="Calibri"/>
                <a:cs typeface="Calibri"/>
              </a:rPr>
              <a:t>to break </a:t>
            </a: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spc="-15" dirty="0">
                <a:latin typeface="Calibri"/>
                <a:cs typeface="Calibri"/>
              </a:rPr>
              <a:t>current </a:t>
            </a:r>
            <a:r>
              <a:rPr sz="2800" b="1" spc="-5" dirty="0">
                <a:latin typeface="Calibri"/>
                <a:cs typeface="Calibri"/>
              </a:rPr>
              <a:t>line of </a:t>
            </a:r>
            <a:r>
              <a:rPr sz="2800" b="1" spc="-25" dirty="0">
                <a:latin typeface="Calibri"/>
                <a:cs typeface="Calibri"/>
              </a:rPr>
              <a:t>text </a:t>
            </a:r>
            <a:r>
              <a:rPr sz="2800" b="1" spc="-5" dirty="0">
                <a:latin typeface="Calibri"/>
                <a:cs typeface="Calibri"/>
              </a:rPr>
              <a:t>and  </a:t>
            </a:r>
            <a:r>
              <a:rPr sz="2800" b="1" spc="-10" dirty="0">
                <a:latin typeface="Calibri"/>
                <a:cs typeface="Calibri"/>
              </a:rPr>
              <a:t>continue </a:t>
            </a:r>
            <a:r>
              <a:rPr sz="2800" b="1" spc="-15" dirty="0">
                <a:latin typeface="Calibri"/>
                <a:cs typeface="Calibri"/>
              </a:rPr>
              <a:t>from </a:t>
            </a:r>
            <a:r>
              <a:rPr sz="2800" b="1" spc="-5" dirty="0">
                <a:latin typeface="Calibri"/>
                <a:cs typeface="Calibri"/>
              </a:rPr>
              <a:t>the beginning of the </a:t>
            </a:r>
            <a:r>
              <a:rPr sz="2800" b="1" spc="-20" dirty="0">
                <a:latin typeface="Calibri"/>
                <a:cs typeface="Calibri"/>
              </a:rPr>
              <a:t>next</a:t>
            </a:r>
            <a:r>
              <a:rPr sz="2800" b="1" spc="9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line.</a:t>
            </a:r>
            <a:endParaRPr sz="2800">
              <a:latin typeface="Calibri"/>
              <a:cs typeface="Calibri"/>
            </a:endParaRPr>
          </a:p>
          <a:p>
            <a:pPr marL="927100" lvl="1" indent="-51435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927100" algn="l"/>
                <a:tab pos="927735" algn="l"/>
                <a:tab pos="3451225" algn="l"/>
              </a:tabLst>
            </a:pPr>
            <a:r>
              <a:rPr sz="2800" b="1" spc="-5" dirty="0">
                <a:latin typeface="Calibri"/>
                <a:cs typeface="Calibri"/>
              </a:rPr>
              <a:t>It is a</a:t>
            </a:r>
            <a:r>
              <a:rPr sz="2800" b="1" spc="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empty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tag	</a:t>
            </a:r>
            <a:r>
              <a:rPr sz="2800" b="1" spc="-10" dirty="0">
                <a:latin typeface="Calibri"/>
                <a:cs typeface="Calibri"/>
              </a:rPr>
              <a:t>&lt;BR&gt; </a:t>
            </a:r>
            <a:r>
              <a:rPr sz="2800" b="1" spc="-5" dirty="0">
                <a:latin typeface="Calibri"/>
                <a:cs typeface="Calibri"/>
              </a:rPr>
              <a:t>i.e., no </a:t>
            </a:r>
            <a:r>
              <a:rPr sz="2800" b="1" spc="-10" dirty="0">
                <a:latin typeface="Calibri"/>
                <a:cs typeface="Calibri"/>
              </a:rPr>
              <a:t>ending</a:t>
            </a:r>
            <a:r>
              <a:rPr sz="2800" b="1" spc="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tag.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3165"/>
            <a:ext cx="62852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3200" spc="-5" dirty="0"/>
              <a:t>4.	</a:t>
            </a:r>
            <a:r>
              <a:rPr sz="3200" spc="-10" dirty="0"/>
              <a:t>Creating horizontal </a:t>
            </a:r>
            <a:r>
              <a:rPr sz="3200" dirty="0"/>
              <a:t>line - </a:t>
            </a:r>
            <a:r>
              <a:rPr sz="3200" spc="-5" dirty="0"/>
              <a:t>&lt;HR&gt;</a:t>
            </a:r>
            <a:r>
              <a:rPr sz="3200" spc="-105" dirty="0"/>
              <a:t> </a:t>
            </a:r>
            <a:r>
              <a:rPr sz="3200" spc="-10" dirty="0"/>
              <a:t>tag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37056" y="1269237"/>
            <a:ext cx="7311390" cy="4208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5780" marR="8255" indent="-513715">
              <a:lnSpc>
                <a:spcPct val="100000"/>
              </a:lnSpc>
              <a:spcBef>
                <a:spcPts val="9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5" dirty="0">
                <a:latin typeface="Calibri"/>
                <a:cs typeface="Calibri"/>
              </a:rPr>
              <a:t>It </a:t>
            </a:r>
            <a:r>
              <a:rPr sz="2800" b="1" spc="-10" dirty="0">
                <a:latin typeface="Calibri"/>
                <a:cs typeface="Calibri"/>
              </a:rPr>
              <a:t>produces </a:t>
            </a:r>
            <a:r>
              <a:rPr sz="2800" b="1" spc="-5" dirty="0">
                <a:latin typeface="Calibri"/>
                <a:cs typeface="Calibri"/>
              </a:rPr>
              <a:t>a </a:t>
            </a:r>
            <a:r>
              <a:rPr sz="2800" b="1" spc="-15" dirty="0">
                <a:latin typeface="Calibri"/>
                <a:cs typeface="Calibri"/>
              </a:rPr>
              <a:t>horizontal </a:t>
            </a:r>
            <a:r>
              <a:rPr sz="2800" b="1" spc="-5" dirty="0">
                <a:latin typeface="Calibri"/>
                <a:cs typeface="Calibri"/>
              </a:rPr>
              <a:t>line </a:t>
            </a:r>
            <a:r>
              <a:rPr sz="2800" b="1" spc="-10" dirty="0">
                <a:latin typeface="Calibri"/>
                <a:cs typeface="Calibri"/>
              </a:rPr>
              <a:t>spread across </a:t>
            </a:r>
            <a:r>
              <a:rPr sz="2800" b="1" spc="-5" dirty="0">
                <a:latin typeface="Calibri"/>
                <a:cs typeface="Calibri"/>
              </a:rPr>
              <a:t>the  width of the </a:t>
            </a:r>
            <a:r>
              <a:rPr sz="2800" b="1" spc="-10" dirty="0">
                <a:latin typeface="Calibri"/>
                <a:cs typeface="Calibri"/>
              </a:rPr>
              <a:t>browser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35" dirty="0">
                <a:latin typeface="Calibri"/>
                <a:cs typeface="Calibri"/>
              </a:rPr>
              <a:t>window.</a:t>
            </a:r>
            <a:endParaRPr sz="2800">
              <a:latin typeface="Calibri"/>
              <a:cs typeface="Calibri"/>
            </a:endParaRPr>
          </a:p>
          <a:p>
            <a:pPr marL="5257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  <a:tab pos="3048635" algn="l"/>
              </a:tabLst>
            </a:pPr>
            <a:r>
              <a:rPr sz="2800" b="1" spc="-5" dirty="0">
                <a:latin typeface="Calibri"/>
                <a:cs typeface="Calibri"/>
              </a:rPr>
              <a:t>It is a</a:t>
            </a:r>
            <a:r>
              <a:rPr sz="2800" b="1" spc="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empty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tag	</a:t>
            </a:r>
            <a:r>
              <a:rPr sz="2800" b="1" spc="-10" dirty="0">
                <a:latin typeface="Calibri"/>
                <a:cs typeface="Calibri"/>
              </a:rPr>
              <a:t>&lt;HR&gt;</a:t>
            </a:r>
            <a:endParaRPr sz="2800">
              <a:latin typeface="Calibri"/>
              <a:cs typeface="Calibri"/>
            </a:endParaRPr>
          </a:p>
          <a:p>
            <a:pPr marL="525780" marR="131445" indent="-51371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10" dirty="0">
                <a:latin typeface="Calibri"/>
                <a:cs typeface="Calibri"/>
              </a:rPr>
              <a:t>Main </a:t>
            </a:r>
            <a:r>
              <a:rPr sz="2800" b="1" spc="-15" dirty="0">
                <a:latin typeface="Calibri"/>
                <a:cs typeface="Calibri"/>
              </a:rPr>
              <a:t>attribute </a:t>
            </a:r>
            <a:r>
              <a:rPr sz="2800" b="1" spc="-5" dirty="0">
                <a:latin typeface="Calibri"/>
                <a:cs typeface="Calibri"/>
              </a:rPr>
              <a:t>of this </a:t>
            </a:r>
            <a:r>
              <a:rPr sz="2800" b="1" spc="-15" dirty="0">
                <a:latin typeface="Calibri"/>
                <a:cs typeface="Calibri"/>
              </a:rPr>
              <a:t>tag </a:t>
            </a:r>
            <a:r>
              <a:rPr sz="2800" b="1" spc="-5" dirty="0">
                <a:latin typeface="Calibri"/>
                <a:cs typeface="Calibri"/>
              </a:rPr>
              <a:t>is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align, </a:t>
            </a:r>
            <a:r>
              <a:rPr sz="2800" b="1" spc="-15" dirty="0">
                <a:solidFill>
                  <a:srgbClr val="C00000"/>
                </a:solidFill>
                <a:latin typeface="Calibri"/>
                <a:cs typeface="Calibri"/>
              </a:rPr>
              <a:t>size, 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width,  </a:t>
            </a:r>
            <a:r>
              <a:rPr sz="2800" b="1" spc="-45" dirty="0">
                <a:solidFill>
                  <a:srgbClr val="C00000"/>
                </a:solidFill>
                <a:latin typeface="Calibri"/>
                <a:cs typeface="Calibri"/>
              </a:rPr>
              <a:t>color,</a:t>
            </a:r>
            <a:r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noshade.</a:t>
            </a:r>
            <a:endParaRPr sz="2800">
              <a:latin typeface="Calibri"/>
              <a:cs typeface="Calibri"/>
            </a:endParaRPr>
          </a:p>
          <a:p>
            <a:pPr marL="525780" marR="50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10" dirty="0">
                <a:latin typeface="Calibri"/>
                <a:cs typeface="Calibri"/>
              </a:rPr>
              <a:t>The </a:t>
            </a:r>
            <a:r>
              <a:rPr sz="2800" b="1" spc="-5" dirty="0">
                <a:latin typeface="Calibri"/>
                <a:cs typeface="Calibri"/>
              </a:rPr>
              <a:t>possible </a:t>
            </a:r>
            <a:r>
              <a:rPr sz="2800" b="1" spc="-10" dirty="0">
                <a:latin typeface="Calibri"/>
                <a:cs typeface="Calibri"/>
              </a:rPr>
              <a:t>values </a:t>
            </a:r>
            <a:r>
              <a:rPr sz="2800" b="1" spc="-20" dirty="0">
                <a:latin typeface="Calibri"/>
                <a:cs typeface="Calibri"/>
              </a:rPr>
              <a:t>for </a:t>
            </a:r>
            <a:r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align </a:t>
            </a:r>
            <a:r>
              <a:rPr sz="2800" b="1" spc="-15" dirty="0">
                <a:solidFill>
                  <a:srgbClr val="C00000"/>
                </a:solidFill>
                <a:latin typeface="Calibri"/>
                <a:cs typeface="Calibri"/>
              </a:rPr>
              <a:t>attribute </a:t>
            </a:r>
            <a:r>
              <a:rPr sz="2800" b="1" spc="-15" dirty="0">
                <a:latin typeface="Calibri"/>
                <a:cs typeface="Calibri"/>
              </a:rPr>
              <a:t>are </a:t>
            </a:r>
            <a:r>
              <a:rPr sz="2800" b="1" spc="-15" dirty="0">
                <a:solidFill>
                  <a:srgbClr val="006FC0"/>
                </a:solidFill>
                <a:latin typeface="Calibri"/>
                <a:cs typeface="Calibri"/>
              </a:rPr>
              <a:t>left,  </a:t>
            </a: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right,</a:t>
            </a:r>
            <a:r>
              <a:rPr sz="2800" b="1" spc="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006FC0"/>
                </a:solidFill>
                <a:latin typeface="Calibri"/>
                <a:cs typeface="Calibri"/>
              </a:rPr>
              <a:t>center</a:t>
            </a:r>
            <a:r>
              <a:rPr sz="2800" b="1" spc="-50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525780" marR="311785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  <a:tab pos="6280150" algn="l"/>
              </a:tabLst>
            </a:pP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Eg.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&lt;HR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SIZE =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“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10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” </a:t>
            </a:r>
            <a:r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WIDTH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“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50%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”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ALIGN = 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“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CENTER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” </a:t>
            </a:r>
            <a:r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COLOR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>
              <a:rPr sz="2800" b="1" spc="10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“</a:t>
            </a: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GOLD</a:t>
            </a:r>
            <a:r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”</a:t>
            </a:r>
            <a:r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NOSHADE	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607642"/>
            <a:ext cx="666495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3200" spc="-5" dirty="0"/>
              <a:t>5.	Centring </a:t>
            </a:r>
            <a:r>
              <a:rPr sz="3200" dirty="0"/>
              <a:t>the </a:t>
            </a:r>
            <a:r>
              <a:rPr sz="3200" spc="-20" dirty="0"/>
              <a:t>content </a:t>
            </a:r>
            <a:r>
              <a:rPr sz="3200" dirty="0"/>
              <a:t>- </a:t>
            </a:r>
            <a:r>
              <a:rPr sz="3200" spc="-5" dirty="0"/>
              <a:t>&lt;CENTER&gt;</a:t>
            </a:r>
            <a:r>
              <a:rPr sz="3200" spc="-30" dirty="0"/>
              <a:t> </a:t>
            </a:r>
            <a:r>
              <a:rPr sz="3200" spc="-10" dirty="0"/>
              <a:t>tag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37056" y="2184018"/>
            <a:ext cx="7256145" cy="2415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5780" marR="383540" indent="-513715">
              <a:lnSpc>
                <a:spcPct val="100000"/>
              </a:lnSpc>
              <a:spcBef>
                <a:spcPts val="9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5" dirty="0">
                <a:latin typeface="Calibri"/>
                <a:cs typeface="Calibri"/>
              </a:rPr>
              <a:t>It brings the </a:t>
            </a:r>
            <a:r>
              <a:rPr sz="2800" b="1" spc="-20" dirty="0">
                <a:latin typeface="Calibri"/>
                <a:cs typeface="Calibri"/>
              </a:rPr>
              <a:t>content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spc="-15" dirty="0">
                <a:latin typeface="Calibri"/>
                <a:cs typeface="Calibri"/>
              </a:rPr>
              <a:t>centre </a:t>
            </a:r>
            <a:r>
              <a:rPr sz="2800" b="1" spc="-5" dirty="0">
                <a:latin typeface="Calibri"/>
                <a:cs typeface="Calibri"/>
              </a:rPr>
              <a:t>of a </a:t>
            </a:r>
            <a:r>
              <a:rPr sz="2800" b="1" spc="-15" dirty="0">
                <a:latin typeface="Calibri"/>
                <a:cs typeface="Calibri"/>
              </a:rPr>
              <a:t>web  </a:t>
            </a:r>
            <a:r>
              <a:rPr sz="2800" b="1" spc="-10" dirty="0">
                <a:latin typeface="Calibri"/>
                <a:cs typeface="Calibri"/>
              </a:rPr>
              <a:t>page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horizontally.</a:t>
            </a:r>
            <a:endParaRPr sz="2800">
              <a:latin typeface="Calibri"/>
              <a:cs typeface="Calibri"/>
            </a:endParaRPr>
          </a:p>
          <a:p>
            <a:pPr marL="5257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10" dirty="0">
                <a:latin typeface="Calibri"/>
                <a:cs typeface="Calibri"/>
              </a:rPr>
              <a:t>The </a:t>
            </a:r>
            <a:r>
              <a:rPr sz="2800" b="1" spc="-20" dirty="0">
                <a:latin typeface="Calibri"/>
                <a:cs typeface="Calibri"/>
              </a:rPr>
              <a:t>content may </a:t>
            </a:r>
            <a:r>
              <a:rPr sz="2800" b="1" spc="-5" dirty="0">
                <a:latin typeface="Calibri"/>
                <a:cs typeface="Calibri"/>
              </a:rPr>
              <a:t>be </a:t>
            </a:r>
            <a:r>
              <a:rPr sz="2800" b="1" spc="-25" dirty="0">
                <a:latin typeface="Calibri"/>
                <a:cs typeface="Calibri"/>
              </a:rPr>
              <a:t>text, </a:t>
            </a:r>
            <a:r>
              <a:rPr sz="2800" b="1" spc="-10" dirty="0">
                <a:latin typeface="Calibri"/>
                <a:cs typeface="Calibri"/>
              </a:rPr>
              <a:t>image, table</a:t>
            </a:r>
            <a:r>
              <a:rPr sz="2800" b="1" spc="15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etc.,</a:t>
            </a:r>
            <a:endParaRPr sz="2800">
              <a:latin typeface="Calibri"/>
              <a:cs typeface="Calibri"/>
            </a:endParaRPr>
          </a:p>
          <a:p>
            <a:pPr marL="525780" indent="-51371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525780" algn="l"/>
                <a:tab pos="526415" algn="l"/>
                <a:tab pos="3507104" algn="l"/>
              </a:tabLst>
            </a:pPr>
            <a:r>
              <a:rPr sz="2800" b="1" spc="-5" dirty="0">
                <a:latin typeface="Calibri"/>
                <a:cs typeface="Calibri"/>
              </a:rPr>
              <a:t>It is a</a:t>
            </a:r>
            <a:r>
              <a:rPr sz="2800" b="1" spc="8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container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tag	</a:t>
            </a:r>
            <a:r>
              <a:rPr sz="2800" b="1" spc="-10" dirty="0">
                <a:latin typeface="Calibri"/>
                <a:cs typeface="Calibri"/>
              </a:rPr>
              <a:t>&lt;CENTER&gt;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……&lt;/CENTER&gt;</a:t>
            </a:r>
            <a:endParaRPr sz="2800">
              <a:latin typeface="Calibri"/>
              <a:cs typeface="Calibri"/>
            </a:endParaRPr>
          </a:p>
          <a:p>
            <a:pPr marL="5257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15" dirty="0">
                <a:latin typeface="Calibri"/>
                <a:cs typeface="Calibri"/>
              </a:rPr>
              <a:t>There </a:t>
            </a:r>
            <a:r>
              <a:rPr sz="2800" b="1" spc="-5" dirty="0">
                <a:latin typeface="Calibri"/>
                <a:cs typeface="Calibri"/>
              </a:rPr>
              <a:t>is no </a:t>
            </a:r>
            <a:r>
              <a:rPr sz="2800" b="1" spc="-15" dirty="0">
                <a:latin typeface="Calibri"/>
                <a:cs typeface="Calibri"/>
              </a:rPr>
              <a:t>attribute </a:t>
            </a:r>
            <a:r>
              <a:rPr sz="2800" b="1" spc="-20" dirty="0">
                <a:latin typeface="Calibri"/>
                <a:cs typeface="Calibri"/>
              </a:rPr>
              <a:t>for </a:t>
            </a:r>
            <a:r>
              <a:rPr sz="2800" b="1" spc="-5" dirty="0">
                <a:latin typeface="Calibri"/>
                <a:cs typeface="Calibri"/>
              </a:rPr>
              <a:t>this</a:t>
            </a:r>
            <a:r>
              <a:rPr sz="2800" b="1" spc="114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tag.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11861"/>
            <a:ext cx="39141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z="3200" spc="-5" dirty="0"/>
              <a:t>6.	</a:t>
            </a:r>
            <a:r>
              <a:rPr sz="3200" spc="-85" dirty="0"/>
              <a:t>Text </a:t>
            </a:r>
            <a:r>
              <a:rPr sz="3200" spc="-10" dirty="0"/>
              <a:t>formatting tags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37056" y="802284"/>
            <a:ext cx="7421880" cy="52330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25780" indent="-513715">
              <a:lnSpc>
                <a:spcPct val="100000"/>
              </a:lnSpc>
              <a:spcBef>
                <a:spcPts val="770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&lt;B&gt; </a:t>
            </a:r>
            <a:r>
              <a:rPr sz="2800" b="1" spc="-5" dirty="0">
                <a:latin typeface="Calibri"/>
                <a:cs typeface="Calibri"/>
              </a:rPr>
              <a:t>- it </a:t>
            </a:r>
            <a:r>
              <a:rPr sz="2800" b="1" spc="-10" dirty="0">
                <a:latin typeface="Calibri"/>
                <a:cs typeface="Calibri"/>
              </a:rPr>
              <a:t>sets </a:t>
            </a: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spc="-30" dirty="0">
                <a:latin typeface="Calibri"/>
                <a:cs typeface="Calibri"/>
              </a:rPr>
              <a:t>text </a:t>
            </a:r>
            <a:r>
              <a:rPr sz="2800" b="1" spc="-10" dirty="0">
                <a:latin typeface="Calibri"/>
                <a:cs typeface="Calibri"/>
              </a:rPr>
              <a:t>style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bold.</a:t>
            </a:r>
            <a:r>
              <a:rPr sz="2800" b="1" spc="204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&lt;B&gt;….&lt;/B&gt;</a:t>
            </a:r>
            <a:endParaRPr sz="2800">
              <a:latin typeface="Calibri"/>
              <a:cs typeface="Calibri"/>
            </a:endParaRPr>
          </a:p>
          <a:p>
            <a:pPr marL="5257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&lt;I&gt; </a:t>
            </a:r>
            <a:r>
              <a:rPr sz="2800" b="1" spc="-5" dirty="0">
                <a:latin typeface="Calibri"/>
                <a:cs typeface="Calibri"/>
              </a:rPr>
              <a:t>- it </a:t>
            </a:r>
            <a:r>
              <a:rPr sz="2800" b="1" spc="-10" dirty="0">
                <a:latin typeface="Calibri"/>
                <a:cs typeface="Calibri"/>
              </a:rPr>
              <a:t>sets </a:t>
            </a: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spc="-30" dirty="0">
                <a:latin typeface="Calibri"/>
                <a:cs typeface="Calibri"/>
              </a:rPr>
              <a:t>text </a:t>
            </a:r>
            <a:r>
              <a:rPr sz="2800" b="1" spc="-10" dirty="0">
                <a:latin typeface="Calibri"/>
                <a:cs typeface="Calibri"/>
              </a:rPr>
              <a:t>style </a:t>
            </a:r>
            <a:r>
              <a:rPr sz="2800" b="1" spc="-5" dirty="0">
                <a:latin typeface="Calibri"/>
                <a:cs typeface="Calibri"/>
              </a:rPr>
              <a:t>bold </a:t>
            </a:r>
            <a:r>
              <a:rPr sz="2800" b="1" spc="-10" dirty="0">
                <a:latin typeface="Calibri"/>
                <a:cs typeface="Calibri"/>
              </a:rPr>
              <a:t>italics.</a:t>
            </a:r>
            <a:r>
              <a:rPr sz="2800" b="1" spc="22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&lt;I&gt;….&lt;/I&gt;</a:t>
            </a:r>
            <a:endParaRPr sz="2800">
              <a:latin typeface="Calibri"/>
              <a:cs typeface="Calibri"/>
            </a:endParaRPr>
          </a:p>
          <a:p>
            <a:pPr marL="5257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&lt;U&gt; </a:t>
            </a:r>
            <a:r>
              <a:rPr sz="2800" b="1" spc="-5" dirty="0">
                <a:latin typeface="Calibri"/>
                <a:cs typeface="Calibri"/>
              </a:rPr>
              <a:t>- it is used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5" dirty="0">
                <a:latin typeface="Calibri"/>
                <a:cs typeface="Calibri"/>
              </a:rPr>
              <a:t>underline a </a:t>
            </a:r>
            <a:r>
              <a:rPr sz="2800" b="1" spc="-30" dirty="0">
                <a:latin typeface="Calibri"/>
                <a:cs typeface="Calibri"/>
              </a:rPr>
              <a:t>text </a:t>
            </a:r>
            <a:r>
              <a:rPr sz="2800" b="1" spc="-5" dirty="0">
                <a:latin typeface="Calibri"/>
                <a:cs typeface="Calibri"/>
              </a:rPr>
              <a:t>in</a:t>
            </a:r>
            <a:r>
              <a:rPr sz="2800" b="1" spc="18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HTML.</a:t>
            </a:r>
            <a:endParaRPr sz="2800">
              <a:latin typeface="Calibri"/>
              <a:cs typeface="Calibri"/>
            </a:endParaRPr>
          </a:p>
          <a:p>
            <a:pPr marL="525780">
              <a:lnSpc>
                <a:spcPct val="100000"/>
              </a:lnSpc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&lt;U&gt;….&lt;/U&gt;</a:t>
            </a:r>
            <a:endParaRPr sz="2800">
              <a:latin typeface="Calibri"/>
              <a:cs typeface="Calibri"/>
            </a:endParaRPr>
          </a:p>
          <a:p>
            <a:pPr marL="525780" marR="647065" indent="-51371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&lt;S&gt;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&lt;STRIKE&gt; </a:t>
            </a:r>
            <a:r>
              <a:rPr sz="2800" b="1" spc="-5" dirty="0">
                <a:latin typeface="Calibri"/>
                <a:cs typeface="Calibri"/>
              </a:rPr>
              <a:t>- it </a:t>
            </a:r>
            <a:r>
              <a:rPr sz="2800" b="1" spc="-10" dirty="0">
                <a:latin typeface="Calibri"/>
                <a:cs typeface="Calibri"/>
              </a:rPr>
              <a:t>sets </a:t>
            </a: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spc="-30" dirty="0">
                <a:latin typeface="Calibri"/>
                <a:cs typeface="Calibri"/>
              </a:rPr>
              <a:t>text </a:t>
            </a:r>
            <a:r>
              <a:rPr sz="2800" b="1" spc="-5" dirty="0">
                <a:latin typeface="Calibri"/>
                <a:cs typeface="Calibri"/>
              </a:rPr>
              <a:t>in </a:t>
            </a:r>
            <a:r>
              <a:rPr sz="2800" b="1" spc="-20" dirty="0">
                <a:latin typeface="Calibri"/>
                <a:cs typeface="Calibri"/>
              </a:rPr>
              <a:t>strike  </a:t>
            </a:r>
            <a:r>
              <a:rPr sz="2800" b="1" spc="-10" dirty="0">
                <a:latin typeface="Calibri"/>
                <a:cs typeface="Calibri"/>
              </a:rPr>
              <a:t>through style.</a:t>
            </a:r>
            <a:r>
              <a:rPr sz="2800" b="1" spc="45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&lt;STRIKE&gt;….&lt;/STRIKE&gt;</a:t>
            </a:r>
            <a:endParaRPr sz="2800">
              <a:latin typeface="Calibri"/>
              <a:cs typeface="Calibri"/>
            </a:endParaRPr>
          </a:p>
          <a:p>
            <a:pPr marL="525780" marR="50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&lt;BIG&gt; </a:t>
            </a:r>
            <a:r>
              <a:rPr sz="2800" b="1" spc="-5" dirty="0">
                <a:latin typeface="Calibri"/>
                <a:cs typeface="Calibri"/>
              </a:rPr>
              <a:t>- it is used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25" dirty="0">
                <a:latin typeface="Calibri"/>
                <a:cs typeface="Calibri"/>
              </a:rPr>
              <a:t>make </a:t>
            </a: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spc="-20" dirty="0">
                <a:latin typeface="Calibri"/>
                <a:cs typeface="Calibri"/>
              </a:rPr>
              <a:t>content </a:t>
            </a:r>
            <a:r>
              <a:rPr sz="2800" b="1" spc="-10" dirty="0">
                <a:latin typeface="Calibri"/>
                <a:cs typeface="Calibri"/>
              </a:rPr>
              <a:t>bigger </a:t>
            </a:r>
            <a:r>
              <a:rPr sz="2800" b="1" spc="-5" dirty="0">
                <a:latin typeface="Calibri"/>
                <a:cs typeface="Calibri"/>
              </a:rPr>
              <a:t>in  </a:t>
            </a:r>
            <a:r>
              <a:rPr sz="2800" b="1" spc="-15" dirty="0">
                <a:latin typeface="Calibri"/>
                <a:cs typeface="Calibri"/>
              </a:rPr>
              <a:t>size </a:t>
            </a:r>
            <a:r>
              <a:rPr sz="2800" b="1" spc="-5" dirty="0">
                <a:latin typeface="Calibri"/>
                <a:cs typeface="Calibri"/>
              </a:rPr>
              <a:t>than the normal </a:t>
            </a:r>
            <a:r>
              <a:rPr sz="2800" b="1" spc="-25" dirty="0">
                <a:latin typeface="Calibri"/>
                <a:cs typeface="Calibri"/>
              </a:rPr>
              <a:t>text </a:t>
            </a:r>
            <a:r>
              <a:rPr sz="2800" b="1" spc="-15" dirty="0">
                <a:latin typeface="Calibri"/>
                <a:cs typeface="Calibri"/>
              </a:rPr>
              <a:t>size.</a:t>
            </a:r>
            <a:r>
              <a:rPr sz="2800" b="1" spc="11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&lt;BIG&gt;….&lt;/BIG&gt;</a:t>
            </a:r>
            <a:endParaRPr sz="2800">
              <a:latin typeface="Calibri"/>
              <a:cs typeface="Calibri"/>
            </a:endParaRPr>
          </a:p>
          <a:p>
            <a:pPr marL="525780" marR="89154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&lt;SMALL&gt; </a:t>
            </a:r>
            <a:r>
              <a:rPr sz="2800" b="1" spc="-5" dirty="0">
                <a:latin typeface="Calibri"/>
                <a:cs typeface="Calibri"/>
              </a:rPr>
              <a:t>- it is used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25" dirty="0">
                <a:latin typeface="Calibri"/>
                <a:cs typeface="Calibri"/>
              </a:rPr>
              <a:t>make </a:t>
            </a: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spc="-20" dirty="0">
                <a:latin typeface="Calibri"/>
                <a:cs typeface="Calibri"/>
              </a:rPr>
              <a:t>content  </a:t>
            </a:r>
            <a:r>
              <a:rPr sz="2800" b="1" spc="-5" dirty="0">
                <a:latin typeface="Calibri"/>
                <a:cs typeface="Calibri"/>
              </a:rPr>
              <a:t>smaller in </a:t>
            </a:r>
            <a:r>
              <a:rPr sz="2800" b="1" spc="-15" dirty="0">
                <a:latin typeface="Calibri"/>
                <a:cs typeface="Calibri"/>
              </a:rPr>
              <a:t>size </a:t>
            </a:r>
            <a:r>
              <a:rPr sz="2800" b="1" spc="-5" dirty="0">
                <a:latin typeface="Calibri"/>
                <a:cs typeface="Calibri"/>
              </a:rPr>
              <a:t>than the normal </a:t>
            </a:r>
            <a:r>
              <a:rPr sz="2800" b="1" spc="-30" dirty="0">
                <a:latin typeface="Calibri"/>
                <a:cs typeface="Calibri"/>
              </a:rPr>
              <a:t>text</a:t>
            </a:r>
            <a:r>
              <a:rPr sz="2800" b="1" spc="114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size.</a:t>
            </a:r>
            <a:endParaRPr sz="2800">
              <a:latin typeface="Calibri"/>
              <a:cs typeface="Calibri"/>
            </a:endParaRPr>
          </a:p>
          <a:p>
            <a:pPr marL="525780">
              <a:lnSpc>
                <a:spcPct val="100000"/>
              </a:lnSpc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&lt;SMALL&gt;….&lt;/SMALL&gt;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7056" y="848613"/>
            <a:ext cx="7614284" cy="5061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5780" indent="-513715">
              <a:lnSpc>
                <a:spcPct val="100000"/>
              </a:lnSpc>
              <a:spcBef>
                <a:spcPts val="9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&lt;STRONG&gt; </a:t>
            </a:r>
            <a:r>
              <a:rPr sz="2800" b="1" spc="-5" dirty="0">
                <a:latin typeface="Calibri"/>
                <a:cs typeface="Calibri"/>
              </a:rPr>
              <a:t>- it is </a:t>
            </a:r>
            <a:r>
              <a:rPr sz="2800" b="1" spc="-15" dirty="0">
                <a:latin typeface="Calibri"/>
                <a:cs typeface="Calibri"/>
              </a:rPr>
              <a:t>just </a:t>
            </a:r>
            <a:r>
              <a:rPr sz="2800" b="1" spc="-5" dirty="0">
                <a:latin typeface="Calibri"/>
                <a:cs typeface="Calibri"/>
              </a:rPr>
              <a:t>the same as</a:t>
            </a:r>
            <a:r>
              <a:rPr sz="2800" b="1" spc="1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&lt;B&gt;</a:t>
            </a:r>
            <a:endParaRPr sz="2800">
              <a:latin typeface="Calibri"/>
              <a:cs typeface="Calibri"/>
            </a:endParaRPr>
          </a:p>
          <a:p>
            <a:pPr marL="525780">
              <a:lnSpc>
                <a:spcPct val="100000"/>
              </a:lnSpc>
            </a:pPr>
            <a:r>
              <a:rPr sz="2800" b="1" spc="-15" dirty="0">
                <a:solidFill>
                  <a:srgbClr val="00AF50"/>
                </a:solidFill>
                <a:latin typeface="Calibri"/>
                <a:cs typeface="Calibri"/>
              </a:rPr>
              <a:t>&lt;STRONG&gt;….&lt;/STRONG&gt;</a:t>
            </a:r>
            <a:endParaRPr sz="2800">
              <a:latin typeface="Calibri"/>
              <a:cs typeface="Calibri"/>
            </a:endParaRPr>
          </a:p>
          <a:p>
            <a:pPr marL="525780" marR="50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&lt;EM&gt; </a:t>
            </a:r>
            <a:r>
              <a:rPr sz="2800" b="1" spc="-5" dirty="0">
                <a:latin typeface="Calibri"/>
                <a:cs typeface="Calibri"/>
              </a:rPr>
              <a:t>- it </a:t>
            </a:r>
            <a:r>
              <a:rPr sz="2800" b="1" spc="-10" dirty="0">
                <a:latin typeface="Calibri"/>
                <a:cs typeface="Calibri"/>
              </a:rPr>
              <a:t>sets </a:t>
            </a: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spc="-30" dirty="0">
                <a:latin typeface="Calibri"/>
                <a:cs typeface="Calibri"/>
              </a:rPr>
              <a:t>text </a:t>
            </a:r>
            <a:r>
              <a:rPr sz="2800" b="1" spc="-15" dirty="0">
                <a:latin typeface="Calibri"/>
                <a:cs typeface="Calibri"/>
              </a:rPr>
              <a:t>style </a:t>
            </a:r>
            <a:r>
              <a:rPr sz="2800" b="1" spc="-10" dirty="0">
                <a:latin typeface="Calibri"/>
                <a:cs typeface="Calibri"/>
              </a:rPr>
              <a:t>italics. </a:t>
            </a:r>
            <a:r>
              <a:rPr sz="2800" b="1" spc="-5" dirty="0">
                <a:latin typeface="Calibri"/>
                <a:cs typeface="Calibri"/>
              </a:rPr>
              <a:t>It is the same  as </a:t>
            </a:r>
            <a:r>
              <a:rPr sz="2800" b="1" spc="-10" dirty="0">
                <a:latin typeface="Calibri"/>
                <a:cs typeface="Calibri"/>
              </a:rPr>
              <a:t>that </a:t>
            </a:r>
            <a:r>
              <a:rPr sz="2800" b="1" spc="-5" dirty="0">
                <a:latin typeface="Calibri"/>
                <a:cs typeface="Calibri"/>
              </a:rPr>
              <a:t>of &lt;I&gt;</a:t>
            </a:r>
            <a:r>
              <a:rPr sz="2800" b="1" spc="65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&lt;EM&gt;….&lt;/EM&gt;</a:t>
            </a:r>
            <a:endParaRPr sz="2800">
              <a:latin typeface="Calibri"/>
              <a:cs typeface="Calibri"/>
            </a:endParaRPr>
          </a:p>
          <a:p>
            <a:pPr marL="525780" marR="274320" indent="-51371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&lt;SUP&gt; </a:t>
            </a:r>
            <a:r>
              <a:rPr sz="2800" b="1" spc="-5" dirty="0">
                <a:latin typeface="Calibri"/>
                <a:cs typeface="Calibri"/>
              </a:rPr>
              <a:t>- it is used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20" dirty="0">
                <a:latin typeface="Calibri"/>
                <a:cs typeface="Calibri"/>
              </a:rPr>
              <a:t>create </a:t>
            </a:r>
            <a:r>
              <a:rPr sz="2800" b="1" spc="-5" dirty="0">
                <a:latin typeface="Calibri"/>
                <a:cs typeface="Calibri"/>
              </a:rPr>
              <a:t>supscripts in a </a:t>
            </a:r>
            <a:r>
              <a:rPr sz="2800" b="1" spc="-15" dirty="0">
                <a:latin typeface="Calibri"/>
                <a:cs typeface="Calibri"/>
              </a:rPr>
              <a:t>web  </a:t>
            </a:r>
            <a:r>
              <a:rPr sz="2800" b="1" spc="-10" dirty="0">
                <a:latin typeface="Calibri"/>
                <a:cs typeface="Calibri"/>
              </a:rPr>
              <a:t>page.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&lt;SUP&gt;….&lt;/SUP&gt;</a:t>
            </a:r>
            <a:endParaRPr sz="2800">
              <a:latin typeface="Calibri"/>
              <a:cs typeface="Calibri"/>
            </a:endParaRPr>
          </a:p>
          <a:p>
            <a:pPr marL="525780" marR="263525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&lt;SUB&gt; </a:t>
            </a:r>
            <a:r>
              <a:rPr sz="2800" b="1" spc="-5" dirty="0">
                <a:latin typeface="Calibri"/>
                <a:cs typeface="Calibri"/>
              </a:rPr>
              <a:t>- it is used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20" dirty="0">
                <a:latin typeface="Calibri"/>
                <a:cs typeface="Calibri"/>
              </a:rPr>
              <a:t>create </a:t>
            </a:r>
            <a:r>
              <a:rPr sz="2800" b="1" spc="-5" dirty="0">
                <a:latin typeface="Calibri"/>
                <a:cs typeface="Calibri"/>
              </a:rPr>
              <a:t>subscripts in a </a:t>
            </a:r>
            <a:r>
              <a:rPr sz="2800" b="1" spc="-15" dirty="0">
                <a:latin typeface="Calibri"/>
                <a:cs typeface="Calibri"/>
              </a:rPr>
              <a:t>web  </a:t>
            </a:r>
            <a:r>
              <a:rPr sz="2800" b="1" spc="-10" dirty="0">
                <a:latin typeface="Calibri"/>
                <a:cs typeface="Calibri"/>
              </a:rPr>
              <a:t>page.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Calibri"/>
                <a:cs typeface="Calibri"/>
              </a:rPr>
              <a:t>&lt;SUB&gt;….&lt;/SUB&gt;</a:t>
            </a:r>
            <a:endParaRPr sz="2800">
              <a:latin typeface="Calibri"/>
              <a:cs typeface="Calibri"/>
            </a:endParaRPr>
          </a:p>
          <a:p>
            <a:pPr marL="525780" marR="222885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</a:pP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&lt;BLOCKQUOTES&gt;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&lt;Q&gt; </a:t>
            </a:r>
            <a:r>
              <a:rPr sz="2800" b="1" spc="-5" dirty="0">
                <a:latin typeface="Calibri"/>
                <a:cs typeface="Calibri"/>
              </a:rPr>
              <a:t>- it is used </a:t>
            </a:r>
            <a:r>
              <a:rPr sz="2800" b="1" spc="-15" dirty="0">
                <a:latin typeface="Calibri"/>
                <a:cs typeface="Calibri"/>
              </a:rPr>
              <a:t>to </a:t>
            </a:r>
            <a:r>
              <a:rPr sz="2800" b="1" spc="-10" dirty="0">
                <a:latin typeface="Calibri"/>
                <a:cs typeface="Calibri"/>
              </a:rPr>
              <a:t>indent  </a:t>
            </a: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spc="-20" dirty="0">
                <a:latin typeface="Calibri"/>
                <a:cs typeface="Calibri"/>
              </a:rPr>
              <a:t>content </a:t>
            </a:r>
            <a:r>
              <a:rPr sz="2800" b="1" spc="-10" dirty="0">
                <a:latin typeface="Calibri"/>
                <a:cs typeface="Calibri"/>
              </a:rPr>
              <a:t>enclosed </a:t>
            </a:r>
            <a:r>
              <a:rPr sz="2800" b="1" spc="-5" dirty="0">
                <a:latin typeface="Calibri"/>
                <a:cs typeface="Calibri"/>
              </a:rPr>
              <a:t>in these</a:t>
            </a:r>
            <a:r>
              <a:rPr sz="2800" b="1" spc="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tags.</a:t>
            </a:r>
            <a:endParaRPr sz="2800">
              <a:latin typeface="Calibri"/>
              <a:cs typeface="Calibri"/>
            </a:endParaRPr>
          </a:p>
          <a:p>
            <a:pPr marL="525780">
              <a:lnSpc>
                <a:spcPct val="100000"/>
              </a:lnSpc>
              <a:spcBef>
                <a:spcPts val="5"/>
              </a:spcBef>
            </a:pPr>
            <a:r>
              <a:rPr sz="2800" b="1" spc="-25" dirty="0">
                <a:solidFill>
                  <a:srgbClr val="00AF50"/>
                </a:solidFill>
                <a:latin typeface="Calibri"/>
                <a:cs typeface="Calibri"/>
              </a:rPr>
              <a:t>&lt;BLOCKQUOTES&gt;….&lt;/BLOCKQUOTES&gt;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853" y="496950"/>
            <a:ext cx="777938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C00000"/>
                </a:solidFill>
              </a:rPr>
              <a:t>&lt;PRE&gt; </a:t>
            </a:r>
            <a:r>
              <a:rPr spc="-5" dirty="0"/>
              <a:t>- </a:t>
            </a:r>
            <a:r>
              <a:rPr spc="-15" dirty="0"/>
              <a:t>Displaying </a:t>
            </a:r>
            <a:r>
              <a:rPr spc="-30" dirty="0"/>
              <a:t>preformatted</a:t>
            </a:r>
            <a:r>
              <a:rPr spc="120" dirty="0"/>
              <a:t> </a:t>
            </a:r>
            <a:r>
              <a:rPr spc="-35" dirty="0"/>
              <a:t>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20050" cy="3246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8255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is </a:t>
            </a:r>
            <a:r>
              <a:rPr sz="3200" spc="-5" dirty="0">
                <a:latin typeface="Calibri"/>
                <a:cs typeface="Calibri"/>
              </a:rPr>
              <a:t>used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15" dirty="0">
                <a:latin typeface="Calibri"/>
                <a:cs typeface="Calibri"/>
              </a:rPr>
              <a:t>display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content </a:t>
            </a:r>
            <a:r>
              <a:rPr sz="3200" dirty="0">
                <a:latin typeface="Calibri"/>
                <a:cs typeface="Calibri"/>
              </a:rPr>
              <a:t>as </a:t>
            </a:r>
            <a:r>
              <a:rPr sz="3200" spc="-10" dirty="0">
                <a:latin typeface="Calibri"/>
                <a:cs typeface="Calibri"/>
              </a:rPr>
              <a:t>we </a:t>
            </a:r>
            <a:r>
              <a:rPr sz="3200" spc="-15" dirty="0">
                <a:latin typeface="Calibri"/>
                <a:cs typeface="Calibri"/>
              </a:rPr>
              <a:t>entered  </a:t>
            </a:r>
            <a:r>
              <a:rPr sz="3200" dirty="0">
                <a:latin typeface="Calibri"/>
                <a:cs typeface="Calibri"/>
              </a:rPr>
              <a:t>in the </a:t>
            </a:r>
            <a:r>
              <a:rPr sz="3200" spc="-20" dirty="0">
                <a:latin typeface="Calibri"/>
                <a:cs typeface="Calibri"/>
              </a:rPr>
              <a:t>text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55" dirty="0">
                <a:latin typeface="Calibri"/>
                <a:cs typeface="Calibri"/>
              </a:rPr>
              <a:t>editor.</a:t>
            </a:r>
            <a:endParaRPr sz="3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</a:t>
            </a:r>
            <a:r>
              <a:rPr sz="3200" spc="-5" dirty="0">
                <a:latin typeface="Calibri"/>
                <a:cs typeface="Calibri"/>
              </a:rPr>
              <a:t>turn </a:t>
            </a:r>
            <a:r>
              <a:rPr sz="3200" spc="-15" dirty="0">
                <a:latin typeface="Calibri"/>
                <a:cs typeface="Calibri"/>
              </a:rPr>
              <a:t>off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automatic </a:t>
            </a:r>
            <a:r>
              <a:rPr sz="3200" spc="-20" dirty="0">
                <a:latin typeface="Calibri"/>
                <a:cs typeface="Calibri"/>
              </a:rPr>
              <a:t>formatting </a:t>
            </a:r>
            <a:r>
              <a:rPr sz="3200" spc="-5" dirty="0">
                <a:latin typeface="Calibri"/>
                <a:cs typeface="Calibri"/>
              </a:rPr>
              <a:t>applied </a:t>
            </a:r>
            <a:r>
              <a:rPr sz="3200" spc="-10" dirty="0">
                <a:latin typeface="Calibri"/>
                <a:cs typeface="Calibri"/>
              </a:rPr>
              <a:t>by 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55" dirty="0">
                <a:latin typeface="Calibri"/>
                <a:cs typeface="Calibri"/>
              </a:rPr>
              <a:t>browser.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is a </a:t>
            </a:r>
            <a:r>
              <a:rPr sz="3200" spc="-10" dirty="0">
                <a:latin typeface="Calibri"/>
                <a:cs typeface="Calibri"/>
              </a:rPr>
              <a:t>container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spc="-5" dirty="0">
                <a:latin typeface="Calibri"/>
                <a:cs typeface="Calibri"/>
              </a:rPr>
              <a:t>&lt;PRE&gt;………..&lt;/PRE&gt;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8502" y="496950"/>
            <a:ext cx="7605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>
                <a:solidFill>
                  <a:srgbClr val="C00000"/>
                </a:solidFill>
              </a:rPr>
              <a:t>&lt;ADDRESS&gt; </a:t>
            </a:r>
            <a:r>
              <a:rPr spc="-5" dirty="0"/>
              <a:t>- </a:t>
            </a:r>
            <a:r>
              <a:rPr spc="-15" dirty="0"/>
              <a:t>Displaying </a:t>
            </a:r>
            <a:r>
              <a:rPr spc="-5" dirty="0"/>
              <a:t>the</a:t>
            </a:r>
            <a:r>
              <a:rPr spc="85" dirty="0"/>
              <a:t> </a:t>
            </a:r>
            <a:r>
              <a:rPr spc="-15" dirty="0"/>
              <a:t>address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273925" cy="3246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</a:t>
            </a:r>
            <a:r>
              <a:rPr sz="3200" spc="-10" dirty="0">
                <a:latin typeface="Calibri"/>
                <a:cs typeface="Calibri"/>
              </a:rPr>
              <a:t>defines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contact information </a:t>
            </a:r>
            <a:r>
              <a:rPr sz="3200" spc="-30" dirty="0">
                <a:latin typeface="Calibri"/>
                <a:cs typeface="Calibri"/>
              </a:rPr>
              <a:t>for </a:t>
            </a:r>
            <a:r>
              <a:rPr sz="3200" spc="-10" dirty="0">
                <a:latin typeface="Calibri"/>
                <a:cs typeface="Calibri"/>
              </a:rPr>
              <a:t>the  </a:t>
            </a:r>
            <a:r>
              <a:rPr sz="3200" dirty="0">
                <a:latin typeface="Calibri"/>
                <a:cs typeface="Calibri"/>
              </a:rPr>
              <a:t>author / </a:t>
            </a:r>
            <a:r>
              <a:rPr sz="3200" spc="-5" dirty="0">
                <a:latin typeface="Calibri"/>
                <a:cs typeface="Calibri"/>
              </a:rPr>
              <a:t>owner of </a:t>
            </a:r>
            <a:r>
              <a:rPr sz="3200" spc="-10" dirty="0">
                <a:latin typeface="Calibri"/>
                <a:cs typeface="Calibri"/>
              </a:rPr>
              <a:t>document </a:t>
            </a:r>
            <a:r>
              <a:rPr sz="3200" spc="-5" dirty="0">
                <a:latin typeface="Calibri"/>
                <a:cs typeface="Calibri"/>
              </a:rPr>
              <a:t>or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article.</a:t>
            </a:r>
            <a:endParaRPr sz="3200">
              <a:latin typeface="Calibri"/>
              <a:cs typeface="Calibri"/>
            </a:endParaRPr>
          </a:p>
          <a:p>
            <a:pPr marL="355600" marR="2159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Most </a:t>
            </a:r>
            <a:r>
              <a:rPr sz="3200" spc="-5" dirty="0">
                <a:latin typeface="Calibri"/>
                <a:cs typeface="Calibri"/>
              </a:rPr>
              <a:t>of the </a:t>
            </a:r>
            <a:r>
              <a:rPr sz="3200" spc="-20" dirty="0">
                <a:latin typeface="Calibri"/>
                <a:cs typeface="Calibri"/>
              </a:rPr>
              <a:t>browsers </a:t>
            </a:r>
            <a:r>
              <a:rPr sz="3200" spc="-15" dirty="0">
                <a:latin typeface="Calibri"/>
                <a:cs typeface="Calibri"/>
              </a:rPr>
              <a:t>display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texts </a:t>
            </a:r>
            <a:r>
              <a:rPr sz="3200" dirty="0">
                <a:latin typeface="Calibri"/>
                <a:cs typeface="Calibri"/>
              </a:rPr>
              <a:t>in  </a:t>
            </a:r>
            <a:r>
              <a:rPr sz="3200" spc="-10" dirty="0">
                <a:latin typeface="Calibri"/>
                <a:cs typeface="Calibri"/>
              </a:rPr>
              <a:t>italics.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It is a </a:t>
            </a:r>
            <a:r>
              <a:rPr sz="3200" spc="-10" dirty="0">
                <a:latin typeface="Calibri"/>
                <a:cs typeface="Calibri"/>
              </a:rPr>
              <a:t>container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tag.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spc="-15" dirty="0">
                <a:latin typeface="Calibri"/>
                <a:cs typeface="Calibri"/>
              </a:rPr>
              <a:t>&lt;ADDRESS&gt;………..&lt;/ADDRESS&gt;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137" y="568197"/>
            <a:ext cx="78105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C00000"/>
                </a:solidFill>
              </a:rPr>
              <a:t>&lt;DIV&gt; </a:t>
            </a:r>
            <a:r>
              <a:rPr sz="4400" dirty="0"/>
              <a:t>- </a:t>
            </a:r>
            <a:r>
              <a:rPr sz="4400" spc="-15" dirty="0"/>
              <a:t>Formatting </a:t>
            </a:r>
            <a:r>
              <a:rPr sz="4400" dirty="0"/>
              <a:t>a block </a:t>
            </a:r>
            <a:r>
              <a:rPr sz="4400" spc="-10" dirty="0"/>
              <a:t>of</a:t>
            </a:r>
            <a:r>
              <a:rPr sz="4400" spc="-30" dirty="0"/>
              <a:t> </a:t>
            </a:r>
            <a:r>
              <a:rPr sz="4400" spc="-35" dirty="0"/>
              <a:t>text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07340" y="1912747"/>
            <a:ext cx="8147050" cy="2686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 is </a:t>
            </a:r>
            <a:r>
              <a:rPr sz="3200" spc="-5" dirty="0">
                <a:latin typeface="Calibri"/>
                <a:cs typeface="Calibri"/>
              </a:rPr>
              <a:t>used </a:t>
            </a:r>
            <a:r>
              <a:rPr sz="3200" spc="-30" dirty="0">
                <a:latin typeface="Calibri"/>
                <a:cs typeface="Calibri"/>
              </a:rPr>
              <a:t>for </a:t>
            </a:r>
            <a:r>
              <a:rPr sz="3200" spc="-10" dirty="0">
                <a:latin typeface="Calibri"/>
                <a:cs typeface="Calibri"/>
              </a:rPr>
              <a:t>defining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section or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block </a:t>
            </a:r>
            <a:r>
              <a:rPr sz="3200" dirty="0">
                <a:latin typeface="Calibri"/>
                <a:cs typeface="Calibri"/>
              </a:rPr>
              <a:t>in the  </a:t>
            </a:r>
            <a:r>
              <a:rPr sz="3200" spc="-10" dirty="0">
                <a:latin typeface="Calibri"/>
                <a:cs typeface="Calibri"/>
              </a:rPr>
              <a:t>document.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 is a </a:t>
            </a:r>
            <a:r>
              <a:rPr sz="3200" spc="-10" dirty="0">
                <a:latin typeface="Calibri"/>
                <a:cs typeface="Calibri"/>
              </a:rPr>
              <a:t>container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tag.&lt;DIV&gt;...&lt;/DIV&gt;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list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important </a:t>
            </a:r>
            <a:r>
              <a:rPr sz="3200" spc="-15" dirty="0">
                <a:latin typeface="Calibri"/>
                <a:cs typeface="Calibri"/>
              </a:rPr>
              <a:t>attributes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&lt;DIV&gt;.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solidFill>
                  <a:srgbClr val="006FC0"/>
                </a:solidFill>
                <a:latin typeface="Arial"/>
                <a:cs typeface="Arial"/>
              </a:rPr>
              <a:t>– </a:t>
            </a:r>
            <a:r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ALIGN, </a:t>
            </a:r>
            <a:r>
              <a:rPr sz="2800" b="1" spc="-25" dirty="0">
                <a:solidFill>
                  <a:srgbClr val="006FC0"/>
                </a:solidFill>
                <a:latin typeface="Calibri"/>
                <a:cs typeface="Calibri"/>
              </a:rPr>
              <a:t>ID,</a:t>
            </a:r>
            <a:r>
              <a:rPr sz="28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006FC0"/>
                </a:solidFill>
                <a:latin typeface="Calibri"/>
                <a:cs typeface="Calibri"/>
              </a:rPr>
              <a:t>STYLE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9389" y="298145"/>
            <a:ext cx="521081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7915" marR="5080" indent="-108585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C00000"/>
                </a:solidFill>
              </a:rPr>
              <a:t>&lt;FONT&gt; </a:t>
            </a:r>
            <a:r>
              <a:rPr spc="-5" dirty="0"/>
              <a:t>- </a:t>
            </a:r>
            <a:r>
              <a:rPr dirty="0"/>
              <a:t>Specifying </a:t>
            </a:r>
            <a:r>
              <a:rPr spc="-30" dirty="0"/>
              <a:t>font  </a:t>
            </a:r>
            <a:r>
              <a:rPr spc="-20" dirty="0"/>
              <a:t>characteristics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912747"/>
            <a:ext cx="8083550" cy="4137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 </a:t>
            </a:r>
            <a:r>
              <a:rPr sz="3200" spc="-10" dirty="0">
                <a:latin typeface="Calibri"/>
                <a:cs typeface="Calibri"/>
              </a:rPr>
              <a:t>allows us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5" dirty="0">
                <a:latin typeface="Calibri"/>
                <a:cs typeface="Calibri"/>
              </a:rPr>
              <a:t>change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size, </a:t>
            </a:r>
            <a:r>
              <a:rPr sz="3200" spc="-10" dirty="0">
                <a:latin typeface="Calibri"/>
                <a:cs typeface="Calibri"/>
              </a:rPr>
              <a:t>style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colour  </a:t>
            </a:r>
            <a:r>
              <a:rPr sz="3200" spc="-5" dirty="0">
                <a:latin typeface="Calibri"/>
                <a:cs typeface="Calibri"/>
              </a:rPr>
              <a:t>of the </a:t>
            </a:r>
            <a:r>
              <a:rPr sz="3200" spc="-20" dirty="0">
                <a:latin typeface="Calibri"/>
                <a:cs typeface="Calibri"/>
              </a:rPr>
              <a:t>text </a:t>
            </a:r>
            <a:r>
              <a:rPr sz="3200" dirty="0">
                <a:latin typeface="Calibri"/>
                <a:cs typeface="Calibri"/>
              </a:rPr>
              <a:t>enclosed </a:t>
            </a:r>
            <a:r>
              <a:rPr sz="3200" spc="-5" dirty="0">
                <a:latin typeface="Calibri"/>
                <a:cs typeface="Calibri"/>
              </a:rPr>
              <a:t>within this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 is a </a:t>
            </a:r>
            <a:r>
              <a:rPr sz="3200" spc="-10" dirty="0">
                <a:latin typeface="Calibri"/>
                <a:cs typeface="Calibri"/>
              </a:rPr>
              <a:t>container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tag.&lt;FONT&gt;...&lt;/FONT&gt;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list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important </a:t>
            </a:r>
            <a:r>
              <a:rPr sz="3200" spc="-15" dirty="0">
                <a:latin typeface="Calibri"/>
                <a:cs typeface="Calibri"/>
              </a:rPr>
              <a:t>attributes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&lt;FONT&gt;.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b="1" spc="-20" dirty="0">
                <a:solidFill>
                  <a:srgbClr val="006FC0"/>
                </a:solidFill>
                <a:latin typeface="Calibri"/>
                <a:cs typeface="Calibri"/>
              </a:rPr>
              <a:t>COLOR </a:t>
            </a:r>
            <a:r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–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sets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text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colour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b="1" spc="-55" dirty="0">
                <a:solidFill>
                  <a:srgbClr val="006FC0"/>
                </a:solidFill>
                <a:latin typeface="Calibri"/>
                <a:cs typeface="Calibri"/>
              </a:rPr>
              <a:t>FACE </a:t>
            </a:r>
            <a:r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–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specifies </a:t>
            </a:r>
            <a:r>
              <a:rPr sz="2800" spc="-30" dirty="0">
                <a:latin typeface="Calibri"/>
                <a:cs typeface="Calibri"/>
              </a:rPr>
              <a:t>font </a:t>
            </a:r>
            <a:r>
              <a:rPr sz="2800" spc="-20" dirty="0">
                <a:latin typeface="Calibri"/>
                <a:cs typeface="Calibri"/>
              </a:rPr>
              <a:t>face </a:t>
            </a:r>
            <a:r>
              <a:rPr sz="2800" spc="-5" dirty="0">
                <a:latin typeface="Calibri"/>
                <a:cs typeface="Calibri"/>
              </a:rPr>
              <a:t>i.e.,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type</a:t>
            </a:r>
            <a:endParaRPr sz="2800">
              <a:latin typeface="Calibri"/>
              <a:cs typeface="Calibri"/>
            </a:endParaRPr>
          </a:p>
          <a:p>
            <a:pPr marL="756285" marR="2857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SIZE -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specifies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30" dirty="0">
                <a:latin typeface="Calibri"/>
                <a:cs typeface="Calibri"/>
              </a:rPr>
              <a:t>font </a:t>
            </a:r>
            <a:r>
              <a:rPr sz="2800" spc="-25" dirty="0">
                <a:latin typeface="Calibri"/>
                <a:cs typeface="Calibri"/>
              </a:rPr>
              <a:t>size </a:t>
            </a:r>
            <a:r>
              <a:rPr sz="2800" spc="-5" dirty="0">
                <a:latin typeface="Calibri"/>
                <a:cs typeface="Calibri"/>
              </a:rPr>
              <a:t>whose </a:t>
            </a:r>
            <a:r>
              <a:rPr sz="2800" spc="-10" dirty="0">
                <a:latin typeface="Calibri"/>
                <a:cs typeface="Calibri"/>
              </a:rPr>
              <a:t>values </a:t>
            </a:r>
            <a:r>
              <a:rPr sz="2800" spc="-20" dirty="0">
                <a:latin typeface="Calibri"/>
                <a:cs typeface="Calibri"/>
              </a:rPr>
              <a:t>ranges  from </a:t>
            </a:r>
            <a:r>
              <a:rPr sz="2800" spc="-5" dirty="0">
                <a:latin typeface="Calibri"/>
                <a:cs typeface="Calibri"/>
              </a:rPr>
              <a:t>1 or 7, with </a:t>
            </a:r>
            <a:r>
              <a:rPr sz="2800" spc="-20" dirty="0">
                <a:latin typeface="Calibri"/>
                <a:cs typeface="Calibri"/>
              </a:rPr>
              <a:t>default </a:t>
            </a:r>
            <a:r>
              <a:rPr sz="2800" spc="-10" dirty="0">
                <a:latin typeface="Calibri"/>
                <a:cs typeface="Calibri"/>
              </a:rPr>
              <a:t>value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3.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1413" y="603249"/>
            <a:ext cx="7966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Adding </a:t>
            </a:r>
            <a:r>
              <a:rPr spc="-10" dirty="0">
                <a:solidFill>
                  <a:srgbClr val="C00000"/>
                </a:solidFill>
              </a:rPr>
              <a:t>comments </a:t>
            </a:r>
            <a:r>
              <a:rPr spc="-5" dirty="0"/>
              <a:t>in HTML</a:t>
            </a:r>
            <a:r>
              <a:rPr spc="30" dirty="0"/>
              <a:t> </a:t>
            </a:r>
            <a:r>
              <a:rPr spc="-10" dirty="0"/>
              <a:t>document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2293747"/>
            <a:ext cx="7695565" cy="2660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109347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HTML </a:t>
            </a:r>
            <a:r>
              <a:rPr sz="3200" spc="-15" dirty="0">
                <a:latin typeface="Calibri"/>
                <a:cs typeface="Calibri"/>
              </a:rPr>
              <a:t>provides </a:t>
            </a:r>
            <a:r>
              <a:rPr sz="3200" spc="-10" dirty="0">
                <a:latin typeface="Calibri"/>
                <a:cs typeface="Calibri"/>
              </a:rPr>
              <a:t>comment </a:t>
            </a:r>
            <a:r>
              <a:rPr sz="3200" spc="-15" dirty="0">
                <a:latin typeface="Calibri"/>
                <a:cs typeface="Calibri"/>
              </a:rPr>
              <a:t>tag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5" dirty="0">
                <a:latin typeface="Calibri"/>
                <a:cs typeface="Calibri"/>
              </a:rPr>
              <a:t>insert  </a:t>
            </a:r>
            <a:r>
              <a:rPr sz="3200" spc="-10" dirty="0">
                <a:latin typeface="Calibri"/>
                <a:cs typeface="Calibri"/>
              </a:rPr>
              <a:t>comments </a:t>
            </a:r>
            <a:r>
              <a:rPr sz="3200" dirty="0">
                <a:latin typeface="Calibri"/>
                <a:cs typeface="Calibri"/>
              </a:rPr>
              <a:t>in the </a:t>
            </a:r>
            <a:r>
              <a:rPr sz="3200" spc="-10" dirty="0">
                <a:latin typeface="Calibri"/>
                <a:cs typeface="Calibri"/>
              </a:rPr>
              <a:t>source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code.</a:t>
            </a:r>
            <a:endParaRPr sz="320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HTML </a:t>
            </a:r>
            <a:r>
              <a:rPr sz="3200" spc="-10" dirty="0">
                <a:latin typeface="Calibri"/>
                <a:cs typeface="Calibri"/>
              </a:rPr>
              <a:t>comments are </a:t>
            </a:r>
            <a:r>
              <a:rPr sz="3200" spc="-5" dirty="0">
                <a:latin typeface="Calibri"/>
                <a:cs typeface="Calibri"/>
              </a:rPr>
              <a:t>placed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within</a:t>
            </a:r>
            <a:endParaRPr sz="32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tabLst>
                <a:tab pos="2226945" algn="l"/>
              </a:tabLst>
            </a:pPr>
            <a:r>
              <a:rPr sz="3200" b="1" dirty="0">
                <a:solidFill>
                  <a:srgbClr val="006FC0"/>
                </a:solidFill>
                <a:latin typeface="Calibri"/>
                <a:cs typeface="Calibri"/>
              </a:rPr>
              <a:t>&lt;!--	--&gt;</a:t>
            </a:r>
            <a:r>
              <a:rPr sz="32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tag.</a:t>
            </a:r>
            <a:endParaRPr sz="320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 will </a:t>
            </a:r>
            <a:r>
              <a:rPr sz="3200" spc="-5" dirty="0">
                <a:latin typeface="Calibri"/>
                <a:cs typeface="Calibri"/>
              </a:rPr>
              <a:t>be </a:t>
            </a:r>
            <a:r>
              <a:rPr sz="3200" spc="-10" dirty="0">
                <a:latin typeface="Calibri"/>
                <a:cs typeface="Calibri"/>
              </a:rPr>
              <a:t>completely </a:t>
            </a:r>
            <a:r>
              <a:rPr sz="3200" spc="-5" dirty="0">
                <a:latin typeface="Calibri"/>
                <a:cs typeface="Calibri"/>
              </a:rPr>
              <a:t>ignored </a:t>
            </a:r>
            <a:r>
              <a:rPr sz="3200" spc="-15" dirty="0">
                <a:latin typeface="Calibri"/>
                <a:cs typeface="Calibri"/>
              </a:rPr>
              <a:t>by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5" dirty="0">
                <a:latin typeface="Calibri"/>
                <a:cs typeface="Calibri"/>
              </a:rPr>
              <a:t>browser.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7094" y="263093"/>
            <a:ext cx="3834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C00000"/>
                </a:solidFill>
              </a:rPr>
              <a:t>Inserting</a:t>
            </a:r>
            <a:r>
              <a:rPr sz="4400" spc="-55" dirty="0">
                <a:solidFill>
                  <a:srgbClr val="C00000"/>
                </a:solidFill>
              </a:rPr>
              <a:t> </a:t>
            </a:r>
            <a:r>
              <a:rPr sz="4400" spc="-15" dirty="0">
                <a:solidFill>
                  <a:srgbClr val="C00000"/>
                </a:solidFill>
              </a:rPr>
              <a:t>images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907669"/>
            <a:ext cx="8215630" cy="560514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&lt;IMG&gt; </a:t>
            </a:r>
            <a:r>
              <a:rPr sz="3000" spc="-15" dirty="0">
                <a:latin typeface="Calibri"/>
                <a:cs typeface="Calibri"/>
              </a:rPr>
              <a:t>tag </a:t>
            </a:r>
            <a:r>
              <a:rPr sz="3000" dirty="0">
                <a:latin typeface="Calibri"/>
                <a:cs typeface="Calibri"/>
              </a:rPr>
              <a:t>is </a:t>
            </a:r>
            <a:r>
              <a:rPr sz="3000" spc="-5" dirty="0">
                <a:latin typeface="Calibri"/>
                <a:cs typeface="Calibri"/>
              </a:rPr>
              <a:t>used </a:t>
            </a:r>
            <a:r>
              <a:rPr sz="3000" spc="-15" dirty="0">
                <a:latin typeface="Calibri"/>
                <a:cs typeface="Calibri"/>
              </a:rPr>
              <a:t>to </a:t>
            </a:r>
            <a:r>
              <a:rPr sz="3000" spc="-10" dirty="0">
                <a:latin typeface="Calibri"/>
                <a:cs typeface="Calibri"/>
              </a:rPr>
              <a:t>insert </a:t>
            </a:r>
            <a:r>
              <a:rPr sz="3000" spc="-5" dirty="0">
                <a:latin typeface="Calibri"/>
                <a:cs typeface="Calibri"/>
              </a:rPr>
              <a:t>images </a:t>
            </a:r>
            <a:r>
              <a:rPr sz="3000" dirty="0">
                <a:latin typeface="Calibri"/>
                <a:cs typeface="Calibri"/>
              </a:rPr>
              <a:t>in </a:t>
            </a:r>
            <a:r>
              <a:rPr sz="3000" spc="-5" dirty="0">
                <a:latin typeface="Calibri"/>
                <a:cs typeface="Calibri"/>
              </a:rPr>
              <a:t>HTML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pages.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It is an </a:t>
            </a:r>
            <a:r>
              <a:rPr sz="3000" spc="-5" dirty="0">
                <a:latin typeface="Calibri"/>
                <a:cs typeface="Calibri"/>
              </a:rPr>
              <a:t>empty </a:t>
            </a:r>
            <a:r>
              <a:rPr sz="3000" spc="-15" dirty="0">
                <a:latin typeface="Calibri"/>
                <a:cs typeface="Calibri"/>
              </a:rPr>
              <a:t>tag </a:t>
            </a:r>
            <a:r>
              <a:rPr sz="3000" dirty="0">
                <a:latin typeface="Calibri"/>
                <a:cs typeface="Calibri"/>
              </a:rPr>
              <a:t>and it </a:t>
            </a:r>
            <a:r>
              <a:rPr sz="3000" spc="-5" dirty="0">
                <a:latin typeface="Calibri"/>
                <a:cs typeface="Calibri"/>
              </a:rPr>
              <a:t>has </a:t>
            </a:r>
            <a:r>
              <a:rPr sz="3000" spc="-15" dirty="0">
                <a:latin typeface="Calibri"/>
                <a:cs typeface="Calibri"/>
              </a:rPr>
              <a:t>many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attributes.</a:t>
            </a:r>
            <a:endParaRPr sz="3000" dirty="0">
              <a:latin typeface="Calibri"/>
              <a:cs typeface="Calibri"/>
            </a:endParaRPr>
          </a:p>
          <a:p>
            <a:pPr marL="355600" marR="417195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b="1" spc="-10" dirty="0">
                <a:solidFill>
                  <a:srgbClr val="006FC0"/>
                </a:solidFill>
                <a:latin typeface="Calibri"/>
                <a:cs typeface="Calibri"/>
              </a:rPr>
              <a:t>SRC </a:t>
            </a:r>
            <a:r>
              <a:rPr sz="3000" dirty="0">
                <a:latin typeface="Calibri"/>
                <a:cs typeface="Calibri"/>
              </a:rPr>
              <a:t>is the </a:t>
            </a:r>
            <a:r>
              <a:rPr sz="3000" b="1" spc="-5" dirty="0">
                <a:latin typeface="Calibri"/>
                <a:cs typeface="Calibri"/>
              </a:rPr>
              <a:t>main </a:t>
            </a:r>
            <a:r>
              <a:rPr sz="3000" b="1" spc="-15" dirty="0">
                <a:latin typeface="Calibri"/>
                <a:cs typeface="Calibri"/>
              </a:rPr>
              <a:t>attribute </a:t>
            </a:r>
            <a:r>
              <a:rPr sz="3000" dirty="0">
                <a:latin typeface="Calibri"/>
                <a:cs typeface="Calibri"/>
              </a:rPr>
              <a:t>and it </a:t>
            </a:r>
            <a:r>
              <a:rPr sz="3000" spc="-5" dirty="0">
                <a:latin typeface="Calibri"/>
                <a:cs typeface="Calibri"/>
              </a:rPr>
              <a:t>specifies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file  name of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image </a:t>
            </a:r>
            <a:r>
              <a:rPr sz="3000" spc="-15" dirty="0">
                <a:latin typeface="Calibri"/>
                <a:cs typeface="Calibri"/>
              </a:rPr>
              <a:t>to </a:t>
            </a:r>
            <a:r>
              <a:rPr sz="3000" spc="-5" dirty="0">
                <a:latin typeface="Calibri"/>
                <a:cs typeface="Calibri"/>
              </a:rPr>
              <a:t>be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inserted.</a:t>
            </a:r>
            <a:endParaRPr sz="3000" dirty="0">
              <a:latin typeface="Calibri"/>
              <a:cs typeface="Calibri"/>
            </a:endParaRPr>
          </a:p>
          <a:p>
            <a:pPr marL="355600" marR="749935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  <a:tab pos="1833880" algn="l"/>
              </a:tabLst>
            </a:pPr>
            <a:r>
              <a:rPr sz="3000" spc="-5" dirty="0">
                <a:latin typeface="Calibri"/>
                <a:cs typeface="Calibri"/>
              </a:rPr>
              <a:t>Other </a:t>
            </a:r>
            <a:r>
              <a:rPr sz="3000" spc="-15" dirty="0">
                <a:latin typeface="Calibri"/>
                <a:cs typeface="Calibri"/>
              </a:rPr>
              <a:t>attributes are </a:t>
            </a:r>
            <a:r>
              <a:rPr sz="3000" b="1" spc="-10" dirty="0">
                <a:solidFill>
                  <a:srgbClr val="006FC0"/>
                </a:solidFill>
                <a:latin typeface="Calibri"/>
                <a:cs typeface="Calibri"/>
              </a:rPr>
              <a:t>WIDTH, </a:t>
            </a:r>
            <a:r>
              <a:rPr sz="3000" b="1" spc="-40" dirty="0">
                <a:solidFill>
                  <a:srgbClr val="006FC0"/>
                </a:solidFill>
                <a:latin typeface="Calibri"/>
                <a:cs typeface="Calibri"/>
              </a:rPr>
              <a:t>HEIGHT, </a:t>
            </a:r>
            <a:r>
              <a:rPr sz="3000" b="1" spc="-45" dirty="0">
                <a:solidFill>
                  <a:srgbClr val="006FC0"/>
                </a:solidFill>
                <a:latin typeface="Calibri"/>
                <a:cs typeface="Calibri"/>
              </a:rPr>
              <a:t>VSPACE,  </a:t>
            </a:r>
            <a:r>
              <a:rPr sz="3000" b="1" spc="-40" dirty="0">
                <a:solidFill>
                  <a:srgbClr val="006FC0"/>
                </a:solidFill>
                <a:latin typeface="Calibri"/>
                <a:cs typeface="Calibri"/>
              </a:rPr>
              <a:t>HSPACE,	</a:t>
            </a:r>
            <a:r>
              <a:rPr sz="3000" b="1" dirty="0">
                <a:solidFill>
                  <a:srgbClr val="006FC0"/>
                </a:solidFill>
                <a:latin typeface="Calibri"/>
                <a:cs typeface="Calibri"/>
              </a:rPr>
              <a:t>ALIGN, BORDER,</a:t>
            </a:r>
            <a:r>
              <a:rPr sz="30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3000" b="1" spc="-75" dirty="0">
                <a:solidFill>
                  <a:srgbClr val="006FC0"/>
                </a:solidFill>
                <a:latin typeface="Calibri"/>
                <a:cs typeface="Calibri"/>
              </a:rPr>
              <a:t>ALT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possible values </a:t>
            </a:r>
            <a:r>
              <a:rPr sz="3000" spc="-25" dirty="0">
                <a:latin typeface="Calibri"/>
                <a:cs typeface="Calibri"/>
              </a:rPr>
              <a:t>for </a:t>
            </a:r>
            <a:r>
              <a:rPr sz="3000" b="1" dirty="0">
                <a:solidFill>
                  <a:srgbClr val="006FC0"/>
                </a:solidFill>
                <a:latin typeface="Calibri"/>
                <a:cs typeface="Calibri"/>
              </a:rPr>
              <a:t>ALIGN </a:t>
            </a:r>
            <a:r>
              <a:rPr sz="3000" spc="-15" dirty="0">
                <a:latin typeface="Calibri"/>
                <a:cs typeface="Calibri"/>
              </a:rPr>
              <a:t>attribute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are</a:t>
            </a:r>
            <a:endParaRPr sz="30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000" b="1" spc="-20" dirty="0">
                <a:solidFill>
                  <a:srgbClr val="FF0000"/>
                </a:solidFill>
                <a:latin typeface="Calibri"/>
                <a:cs typeface="Calibri"/>
              </a:rPr>
              <a:t>BOTTOM, </a:t>
            </a: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MIDDLE,</a:t>
            </a:r>
            <a:r>
              <a:rPr sz="3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35" dirty="0">
                <a:solidFill>
                  <a:srgbClr val="FF0000"/>
                </a:solidFill>
                <a:latin typeface="Calibri"/>
                <a:cs typeface="Calibri"/>
              </a:rPr>
              <a:t>TOP</a:t>
            </a:r>
            <a:endParaRPr sz="30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b="1" dirty="0">
                <a:latin typeface="Calibri"/>
                <a:cs typeface="Calibri"/>
              </a:rPr>
              <a:t>&lt;</a:t>
            </a:r>
            <a:r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IMG </a:t>
            </a:r>
            <a:r>
              <a:rPr sz="3000" b="1" spc="5" dirty="0">
                <a:solidFill>
                  <a:srgbClr val="006FC0"/>
                </a:solidFill>
                <a:latin typeface="Calibri"/>
                <a:cs typeface="Calibri"/>
              </a:rPr>
              <a:t>SRC</a:t>
            </a:r>
            <a:r>
              <a:rPr sz="3000" b="1" spc="5" dirty="0">
                <a:latin typeface="Calibri"/>
                <a:cs typeface="Calibri"/>
              </a:rPr>
              <a:t>=“</a:t>
            </a:r>
            <a:r>
              <a:rPr sz="3000" b="1" spc="5" dirty="0">
                <a:solidFill>
                  <a:srgbClr val="FF0000"/>
                </a:solidFill>
                <a:latin typeface="Calibri"/>
                <a:cs typeface="Calibri"/>
              </a:rPr>
              <a:t>book.jpg</a:t>
            </a:r>
            <a:r>
              <a:rPr sz="3000" b="1" spc="5" dirty="0">
                <a:latin typeface="Calibri"/>
                <a:cs typeface="Calibri"/>
              </a:rPr>
              <a:t>” </a:t>
            </a:r>
            <a:r>
              <a:rPr sz="3000" b="1" dirty="0">
                <a:solidFill>
                  <a:srgbClr val="006FC0"/>
                </a:solidFill>
                <a:latin typeface="Calibri"/>
                <a:cs typeface="Calibri"/>
              </a:rPr>
              <a:t>HEIGHT</a:t>
            </a:r>
            <a:r>
              <a:rPr sz="3000" b="1" dirty="0">
                <a:latin typeface="Calibri"/>
                <a:cs typeface="Calibri"/>
              </a:rPr>
              <a:t>=“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40</a:t>
            </a:r>
            <a:r>
              <a:rPr sz="3000" b="1" dirty="0">
                <a:latin typeface="Calibri"/>
                <a:cs typeface="Calibri"/>
              </a:rPr>
              <a:t>” </a:t>
            </a:r>
            <a:r>
              <a:rPr sz="3000" b="1" spc="-10" dirty="0">
                <a:solidFill>
                  <a:srgbClr val="006FC0"/>
                </a:solidFill>
                <a:latin typeface="Calibri"/>
                <a:cs typeface="Calibri"/>
              </a:rPr>
              <a:t>WIDTH</a:t>
            </a:r>
            <a:r>
              <a:rPr sz="3000" b="1" spc="-1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=“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60</a:t>
            </a:r>
            <a:r>
              <a:rPr sz="3000" b="1" dirty="0">
                <a:latin typeface="Calibri"/>
                <a:cs typeface="Calibri"/>
              </a:rPr>
              <a:t>” </a:t>
            </a:r>
            <a:r>
              <a:rPr sz="3000" b="1" dirty="0">
                <a:solidFill>
                  <a:srgbClr val="006FC0"/>
                </a:solidFill>
                <a:latin typeface="Calibri"/>
                <a:cs typeface="Calibri"/>
              </a:rPr>
              <a:t> ALIGN </a:t>
            </a:r>
            <a:r>
              <a:rPr sz="3000" b="1" dirty="0">
                <a:latin typeface="Calibri"/>
                <a:cs typeface="Calibri"/>
              </a:rPr>
              <a:t>= </a:t>
            </a:r>
            <a:r>
              <a:rPr sz="3000" b="1" spc="-15" dirty="0">
                <a:latin typeface="Calibri"/>
                <a:cs typeface="Calibri"/>
              </a:rPr>
              <a:t>“</a:t>
            </a:r>
            <a:r>
              <a:rPr sz="3000" b="1" spc="-15" dirty="0">
                <a:solidFill>
                  <a:srgbClr val="FF0000"/>
                </a:solidFill>
                <a:latin typeface="Calibri"/>
                <a:cs typeface="Calibri"/>
              </a:rPr>
              <a:t>BOTTOM</a:t>
            </a:r>
            <a:r>
              <a:rPr sz="3000" b="1" spc="-15" dirty="0">
                <a:latin typeface="Calibri"/>
                <a:cs typeface="Calibri"/>
              </a:rPr>
              <a:t>” </a:t>
            </a:r>
            <a:r>
              <a:rPr sz="3000" b="1" spc="-25" dirty="0">
                <a:solidFill>
                  <a:srgbClr val="006FC0"/>
                </a:solidFill>
                <a:latin typeface="Calibri"/>
                <a:cs typeface="Calibri"/>
              </a:rPr>
              <a:t>ALT</a:t>
            </a:r>
            <a:r>
              <a:rPr sz="3000" b="1" spc="-25" dirty="0">
                <a:latin typeface="Calibri"/>
                <a:cs typeface="Calibri"/>
              </a:rPr>
              <a:t>=“</a:t>
            </a:r>
            <a:r>
              <a:rPr sz="3000" b="1" spc="-25" dirty="0">
                <a:solidFill>
                  <a:srgbClr val="FF0000"/>
                </a:solidFill>
                <a:latin typeface="Calibri"/>
                <a:cs typeface="Calibri"/>
              </a:rPr>
              <a:t>Image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of an </a:t>
            </a:r>
            <a:r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opened  book</a:t>
            </a:r>
            <a:r>
              <a:rPr sz="3000" b="1" spc="-5" dirty="0">
                <a:latin typeface="Calibri"/>
                <a:cs typeface="Calibri"/>
              </a:rPr>
              <a:t>”&gt;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Studio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tu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5156623E-C4D3-4CB0-9D27-1EE9773B569B}" vid="{0B3C5A56-0FEE-40DB-ABE1-5232A31F3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Words>2363</Words>
  <Application>Microsoft Office PowerPoint</Application>
  <PresentationFormat>On-screen Show (4:3)</PresentationFormat>
  <Paragraphs>320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Arial</vt:lpstr>
      <vt:lpstr>Arial Black</vt:lpstr>
      <vt:lpstr>Calibri</vt:lpstr>
      <vt:lpstr>Times</vt:lpstr>
      <vt:lpstr>Times New Roman</vt:lpstr>
      <vt:lpstr>Traditional Arabic</vt:lpstr>
      <vt:lpstr>Wingdings</vt:lpstr>
      <vt:lpstr>Office Theme</vt:lpstr>
      <vt:lpstr>Theme1</vt:lpstr>
      <vt:lpstr>Internet Technology (1)</vt:lpstr>
      <vt:lpstr>Web Designing</vt:lpstr>
      <vt:lpstr>The first step in setting up a  website is planning the web pages  for the websites. Any website is divided into Two stages in the development stage  A)Front end (Designing).  B)Back end(Programming).</vt:lpstr>
      <vt:lpstr>HTML</vt:lpstr>
      <vt:lpstr>Static web pages</vt:lpstr>
      <vt:lpstr>Dynamic web pages</vt:lpstr>
      <vt:lpstr>Comparison of static and dynamic web pages</vt:lpstr>
      <vt:lpstr>scripts</vt:lpstr>
      <vt:lpstr>Types of scripting languages</vt:lpstr>
      <vt:lpstr>Client Side scripting</vt:lpstr>
      <vt:lpstr>Server Side scripting</vt:lpstr>
      <vt:lpstr>Working of server side scripts</vt:lpstr>
      <vt:lpstr>Working of server side scripts</vt:lpstr>
      <vt:lpstr>Comparison of the classifications of  scripting languages</vt:lpstr>
      <vt:lpstr>Cascading Style Sheet (CSS)</vt:lpstr>
      <vt:lpstr>Advantage of CSS</vt:lpstr>
      <vt:lpstr>Basic concepts of HTML documents</vt:lpstr>
      <vt:lpstr>HTML (Hyper Text Markup Language)</vt:lpstr>
      <vt:lpstr>PowerPoint Presentation</vt:lpstr>
      <vt:lpstr>PowerPoint Presentation</vt:lpstr>
      <vt:lpstr>TAGS</vt:lpstr>
      <vt:lpstr>Container tag or element</vt:lpstr>
      <vt:lpstr>Empty tag or element</vt:lpstr>
      <vt:lpstr>Attributes</vt:lpstr>
      <vt:lpstr>Basic structure of HTML document</vt:lpstr>
      <vt:lpstr>Example of HTML document</vt:lpstr>
      <vt:lpstr>&lt;html&gt; tag</vt:lpstr>
      <vt:lpstr>&lt;html&gt; tag</vt:lpstr>
      <vt:lpstr>&lt;head&gt; tag</vt:lpstr>
      <vt:lpstr>&lt;title&gt; tag</vt:lpstr>
      <vt:lpstr>&lt;body&gt; tag</vt:lpstr>
      <vt:lpstr>background</vt:lpstr>
      <vt:lpstr>To set an image as background for a  web page.</vt:lpstr>
      <vt:lpstr>bgcolor</vt:lpstr>
      <vt:lpstr>text</vt:lpstr>
      <vt:lpstr>Link, alink and vlink</vt:lpstr>
      <vt:lpstr>PowerPoint Presentation</vt:lpstr>
      <vt:lpstr>Leftmargin and Topmargin</vt:lpstr>
      <vt:lpstr>Some common tags</vt:lpstr>
      <vt:lpstr>2. Creating paragraphs - &lt;P&gt; tag</vt:lpstr>
      <vt:lpstr>4. Creating horizontal line - &lt;HR&gt; tag</vt:lpstr>
      <vt:lpstr>5. Centring the content - &lt;CENTER&gt; tag</vt:lpstr>
      <vt:lpstr>6. Text formatting tags</vt:lpstr>
      <vt:lpstr>PowerPoint Presentation</vt:lpstr>
      <vt:lpstr>&lt;PRE&gt; - Displaying preformatted text</vt:lpstr>
      <vt:lpstr>&lt;ADDRESS&gt; - Displaying the address</vt:lpstr>
      <vt:lpstr>&lt;DIV&gt; - Formatting a block of text</vt:lpstr>
      <vt:lpstr>&lt;FONT&gt; - Specifying font  characteristics</vt:lpstr>
      <vt:lpstr>Adding comments in HTML document</vt:lpstr>
      <vt:lpstr>Inserting images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bemhss</dc:creator>
  <cp:lastModifiedBy>alsura</cp:lastModifiedBy>
  <cp:revision>25</cp:revision>
  <dcterms:created xsi:type="dcterms:W3CDTF">2020-01-05T09:28:57Z</dcterms:created>
  <dcterms:modified xsi:type="dcterms:W3CDTF">2022-12-27T17:30:50Z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2016-05-23T00:00:00Z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2020-01-05T00:00:00Z</vt:filetime>
  </property>
</Properties>
</file>