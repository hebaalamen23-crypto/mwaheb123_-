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98" r:id="rId2"/>
    <p:sldId id="308" r:id="rId3"/>
    <p:sldId id="335" r:id="rId4"/>
    <p:sldId id="334" r:id="rId5"/>
    <p:sldId id="333" r:id="rId6"/>
    <p:sldId id="332" r:id="rId7"/>
    <p:sldId id="331" r:id="rId8"/>
    <p:sldId id="330" r:id="rId9"/>
    <p:sldId id="328" r:id="rId10"/>
    <p:sldId id="327" r:id="rId11"/>
    <p:sldId id="326" r:id="rId12"/>
    <p:sldId id="325" r:id="rId13"/>
    <p:sldId id="324" r:id="rId14"/>
    <p:sldId id="323" r:id="rId15"/>
    <p:sldId id="322" r:id="rId16"/>
    <p:sldId id="321" r:id="rId17"/>
    <p:sldId id="320" r:id="rId18"/>
    <p:sldId id="319" r:id="rId19"/>
    <p:sldId id="318" r:id="rId20"/>
    <p:sldId id="317" r:id="rId21"/>
    <p:sldId id="336" r:id="rId22"/>
    <p:sldId id="337" r:id="rId23"/>
  </p:sldIdLst>
  <p:sldSz cx="12192000" cy="6858000"/>
  <p:notesSz cx="6858000" cy="9144000"/>
  <p:defaultTextStyle>
    <a:defPPr>
      <a:defRPr lang="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179" autoAdjust="0"/>
  </p:normalViewPr>
  <p:slideViewPr>
    <p:cSldViewPr snapToGrid="0">
      <p:cViewPr varScale="1">
        <p:scale>
          <a:sx n="78" d="100"/>
          <a:sy n="78" d="100"/>
        </p:scale>
        <p:origin x="31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77BE69-9A3A-4621-BF15-78B5F3B0F1ED}" type="datetimeFigureOut">
              <a:rPr lang="en-US" smtClean="0"/>
              <a:t>12/27/2022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xmlns:a="http://schemas.openxmlformats.org/drawingml/2006/main" lvl="0">
              <a:bidi/>
            </a:pPr>
            <a:r xmlns:a="http://schemas.openxmlformats.org/drawingml/2006/main">
              <a:rPr lang="ar" smtClean="0"/>
              <a:t>انقر لتحرير أنماط النص الرئيسي</a:t>
            </a:r>
          </a:p>
          <a:p>
            <a:pPr xmlns:a="http://schemas.openxmlformats.org/drawingml/2006/main" lvl="1">
              <a:bidi/>
            </a:pPr>
            <a:r xmlns:a="http://schemas.openxmlformats.org/drawingml/2006/main">
              <a:rPr lang="ar" smtClean="0"/>
              <a:t>المستوى الثاني</a:t>
            </a:r>
          </a:p>
          <a:p>
            <a:pPr xmlns:a="http://schemas.openxmlformats.org/drawingml/2006/main" lvl="2">
              <a:bidi/>
            </a:pPr>
            <a:r xmlns:a="http://schemas.openxmlformats.org/drawingml/2006/main">
              <a:rPr lang="ar" smtClean="0"/>
              <a:t>المستوى الثالث</a:t>
            </a:r>
          </a:p>
          <a:p>
            <a:pPr xmlns:a="http://schemas.openxmlformats.org/drawingml/2006/main" lvl="3">
              <a:bidi/>
            </a:pPr>
            <a:r xmlns:a="http://schemas.openxmlformats.org/drawingml/2006/main">
              <a:rPr lang="ar" smtClean="0"/>
              <a:t>المستوى الرابع</a:t>
            </a:r>
          </a:p>
          <a:p>
            <a:pPr xmlns:a="http://schemas.openxmlformats.org/drawingml/2006/main" lvl="4">
              <a:bidi/>
            </a:pPr>
            <a:r xmlns:a="http://schemas.openxmlformats.org/drawingml/2006/main">
              <a:rPr lang="ar" smtClean="0"/>
              <a:t>المستوى الخامس</a:t>
            </a:r>
            <a:endParaRPr xmlns:a="http://schemas.openxmlformats.org/drawingml/2006/main"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14573A-9071-4CDE-8CA2-C51BC3C787F0}" type="slidenum">
              <a:rPr lang="en-US" smtClean="0"/>
              <a:t>‹#›</a:t>
            </a:fld>
            <a:endParaRPr lang="en-US"/>
          </a:p>
        </p:txBody>
      </p:sp>
    </p:spTree>
    <p:extLst>
      <p:ext uri="{BB962C8B-B14F-4D97-AF65-F5344CB8AC3E}">
        <p14:creationId xmlns:p14="http://schemas.microsoft.com/office/powerpoint/2010/main" val="78322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914573A-9071-4CDE-8CA2-C51BC3C787F0}" type="slidenum">
              <a:rPr lang="en-US" smtClean="0"/>
              <a:t>1</a:t>
            </a:fld>
            <a:endParaRPr lang="en-US"/>
          </a:p>
        </p:txBody>
      </p:sp>
    </p:spTree>
    <p:extLst>
      <p:ext uri="{BB962C8B-B14F-4D97-AF65-F5344CB8AC3E}">
        <p14:creationId xmlns:p14="http://schemas.microsoft.com/office/powerpoint/2010/main" val="3416405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14573A-9071-4CDE-8CA2-C51BC3C787F0}" type="slidenum">
              <a:rPr lang="en-US" smtClean="0"/>
              <a:t>4</a:t>
            </a:fld>
            <a:endParaRPr lang="en-US"/>
          </a:p>
        </p:txBody>
      </p:sp>
    </p:spTree>
    <p:extLst>
      <p:ext uri="{BB962C8B-B14F-4D97-AF65-F5344CB8AC3E}">
        <p14:creationId xmlns:p14="http://schemas.microsoft.com/office/powerpoint/2010/main" val="17747399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marL="0" indent="0">
              <a:buNone/>
              <a:bidi/>
            </a:pPr>
            <a:r xmlns:a="http://schemas.openxmlformats.org/drawingml/2006/main">
              <a:rPr lang="ar" sz="1200" dirty="0" smtClean="0">
                <a:latin typeface="Times" pitchFamily="18" charset="0"/>
              </a:rPr>
              <a:t>يرمز بروتوكول POP إلى </a:t>
            </a:r>
            <a:r xmlns:a="http://schemas.openxmlformats.org/drawingml/2006/main">
              <a:rPr lang="ar" sz="1200" b="1" dirty="0" smtClean="0">
                <a:latin typeface="Times" pitchFamily="18" charset="0"/>
              </a:rPr>
              <a:t>بروتوكول مكتب البريد </a:t>
            </a:r>
            <a:r xmlns:a="http://schemas.openxmlformats.org/drawingml/2006/main">
              <a:rPr lang="ar" sz="1200" dirty="0" smtClean="0">
                <a:latin typeface="Times" pitchFamily="18" charset="0"/>
              </a:rPr>
              <a:t>. يستخدم بشكل عام لدعم عميل واحد.</a:t>
            </a:r>
          </a:p>
          <a:p>
            <a:pPr xmlns:a="http://schemas.openxmlformats.org/drawingml/2006/main" marL="0" indent="0">
              <a:buNone/>
              <a:bidi/>
            </a:pPr>
            <a:r xmlns:a="http://schemas.openxmlformats.org/drawingml/2006/main">
              <a:rPr lang="ar" sz="1200" dirty="0" smtClean="0">
                <a:latin typeface="Times" pitchFamily="18" charset="0"/>
              </a:rPr>
              <a:t>هناك العديد من إصدارات بروتوكول POP ولكن POP 3 هو المعيار الحالي.</a:t>
            </a:r>
          </a:p>
          <a:p>
            <a:pPr xmlns:a="http://schemas.openxmlformats.org/drawingml/2006/main" marL="0" indent="0">
              <a:buNone/>
              <a:bidi/>
            </a:pPr>
            <a:r xmlns:a="http://schemas.openxmlformats.org/drawingml/2006/main">
              <a:rPr lang="ar" sz="1200" b="1" dirty="0" smtClean="0">
                <a:latin typeface="Times" pitchFamily="18" charset="0"/>
              </a:rPr>
              <a:t>النقاط الرئيسية:</a:t>
            </a:r>
            <a:endParaRPr xmlns:a="http://schemas.openxmlformats.org/drawingml/2006/main" lang="en-US" sz="1200" dirty="0" smtClean="0">
              <a:latin typeface="Times" pitchFamily="18" charset="0"/>
            </a:endParaRPr>
          </a:p>
          <a:p>
            <a:r xmlns:a="http://schemas.openxmlformats.org/drawingml/2006/main">
              <a:rPr lang="ar" sz="1200" dirty="0" smtClean="0">
                <a:latin typeface="Times" pitchFamily="18" charset="0"/>
              </a:rPr>
              <a:t>بروتوكول POP هو بروتوكول معياري لطبقة التطبيق على الإنترنت.</a:t>
            </a:r>
          </a:p>
          <a:p>
            <a:r xmlns:a="http://schemas.openxmlformats.org/drawingml/2006/main">
              <a:rPr lang="ar" sz="1200" dirty="0" smtClean="0">
                <a:latin typeface="Times" pitchFamily="18" charset="0"/>
              </a:rPr>
              <a:t>نظرًا لأن بروتوكول POP يدعم الوصول إلى الرسائل دون اتصال بالإنترنت ، فإن ذلك يتطلب وقتًا أقل لاستخدام الإنترنت.</a:t>
            </a:r>
          </a:p>
          <a:p>
            <a:r xmlns:a="http://schemas.openxmlformats.org/drawingml/2006/main">
              <a:rPr lang="ar" sz="1200" dirty="0" smtClean="0">
                <a:latin typeface="Times" pitchFamily="18" charset="0"/>
              </a:rPr>
              <a:t>لا يسمح بروتوكول POP بإمكانية البحث. للوصول إلى الرسائل ، من الضروري تنزيلها.</a:t>
            </a:r>
          </a:p>
          <a:p>
            <a:r xmlns:a="http://schemas.openxmlformats.org/drawingml/2006/main">
              <a:rPr lang="ar" sz="1200" dirty="0" smtClean="0">
                <a:latin typeface="Times" pitchFamily="18" charset="0"/>
              </a:rPr>
              <a:t>يسمح بإنشاء صندوق بريد واحد فقط على الخادم.</a:t>
            </a:r>
          </a:p>
          <a:p>
            <a:r xmlns:a="http://schemas.openxmlformats.org/drawingml/2006/main">
              <a:rPr lang="ar" sz="1200" dirty="0" smtClean="0">
                <a:latin typeface="Times" pitchFamily="18" charset="0"/>
              </a:rPr>
              <a:t>إنه غير مناسب للوصول إلى البيانات بخلاف البريد.</a:t>
            </a:r>
          </a:p>
          <a:p>
            <a:r xmlns:a="http://schemas.openxmlformats.org/drawingml/2006/main">
              <a:rPr lang="ar" sz="1200" dirty="0" smtClean="0">
                <a:latin typeface="Times" pitchFamily="18" charset="0"/>
              </a:rPr>
              <a:t>يتم اختصار أوامر POP بشكل عام إلى أكواد تتكون من ثلاثة أو أربعة أحرف. </a:t>
            </a:r>
            <a:r xmlns:a="http://schemas.openxmlformats.org/drawingml/2006/main">
              <a:rPr lang="ar" sz="1200" dirty="0" err="1" smtClean="0">
                <a:latin typeface="Times" pitchFamily="18" charset="0"/>
              </a:rPr>
              <a:t>على سبيل المثال </a:t>
            </a:r>
            <a:r xmlns:a="http://schemas.openxmlformats.org/drawingml/2006/main">
              <a:rPr lang="ar" sz="1200" dirty="0" smtClean="0">
                <a:latin typeface="Times" pitchFamily="18" charset="0"/>
              </a:rPr>
              <a:t>. STAT.</a:t>
            </a:r>
          </a:p>
          <a:p>
            <a:endParaRPr lang="en-US" dirty="0"/>
          </a:p>
        </p:txBody>
      </p:sp>
      <p:sp>
        <p:nvSpPr>
          <p:cNvPr id="4" name="Slide Number Placeholder 3"/>
          <p:cNvSpPr>
            <a:spLocks noGrp="1"/>
          </p:cNvSpPr>
          <p:nvPr>
            <p:ph type="sldNum" sz="quarter" idx="10"/>
          </p:nvPr>
        </p:nvSpPr>
        <p:spPr/>
        <p:txBody>
          <a:bodyPr/>
          <a:lstStyle/>
          <a:p>
            <a:fld id="{F914573A-9071-4CDE-8CA2-C51BC3C787F0}" type="slidenum">
              <a:rPr lang="en-US" smtClean="0"/>
              <a:t>7</a:t>
            </a:fld>
            <a:endParaRPr lang="en-US"/>
          </a:p>
        </p:txBody>
      </p:sp>
    </p:spTree>
    <p:extLst>
      <p:ext uri="{BB962C8B-B14F-4D97-AF65-F5344CB8AC3E}">
        <p14:creationId xmlns:p14="http://schemas.microsoft.com/office/powerpoint/2010/main" val="951851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14573A-9071-4CDE-8CA2-C51BC3C787F0}" type="slidenum">
              <a:rPr lang="en-US" smtClean="0"/>
              <a:t>9</a:t>
            </a:fld>
            <a:endParaRPr lang="en-US"/>
          </a:p>
        </p:txBody>
      </p:sp>
    </p:spTree>
    <p:extLst>
      <p:ext uri="{BB962C8B-B14F-4D97-AF65-F5344CB8AC3E}">
        <p14:creationId xmlns:p14="http://schemas.microsoft.com/office/powerpoint/2010/main" val="27398443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14573A-9071-4CDE-8CA2-C51BC3C787F0}" type="slidenum">
              <a:rPr lang="en-US" smtClean="0"/>
              <a:t>10</a:t>
            </a:fld>
            <a:endParaRPr lang="en-US"/>
          </a:p>
        </p:txBody>
      </p:sp>
    </p:spTree>
    <p:extLst>
      <p:ext uri="{BB962C8B-B14F-4D97-AF65-F5344CB8AC3E}">
        <p14:creationId xmlns:p14="http://schemas.microsoft.com/office/powerpoint/2010/main" val="30524868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194" name="AutoShape 2"/>
          <p:cNvSpPr>
            <a:spLocks noChangeArrowheads="1"/>
          </p:cNvSpPr>
          <p:nvPr/>
        </p:nvSpPr>
        <p:spPr bwMode="auto">
          <a:xfrm>
            <a:off x="304800" y="381000"/>
            <a:ext cx="11582400" cy="5638800"/>
          </a:xfrm>
          <a:prstGeom prst="roundRect">
            <a:avLst>
              <a:gd name="adj" fmla="val 7912"/>
            </a:avLst>
          </a:prstGeom>
          <a:solidFill>
            <a:schemeClr val="folHlink"/>
          </a:solidFill>
          <a:ln>
            <a:noFill/>
          </a:ln>
          <a:effectLst/>
          <a:extLst>
            <a:ext uri="{91240B29-F687-4F45-9708-019B960494DF}">
              <a14:hiddenLine xmlns:a14="http://schemas.microsoft.com/office/drawing/2010/main" w="9525">
                <a:solidFill>
                  <a:srgbClr val="CCCC99"/>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2400">
              <a:latin typeface="Times New Roman" panose="02020603050405020304" pitchFamily="18" charset="0"/>
            </a:endParaRPr>
          </a:p>
        </p:txBody>
      </p:sp>
      <p:sp>
        <p:nvSpPr>
          <p:cNvPr id="8195" name="AutoShape 3"/>
          <p:cNvSpPr>
            <a:spLocks noChangeArrowheads="1"/>
          </p:cNvSpPr>
          <p:nvPr/>
        </p:nvSpPr>
        <p:spPr bwMode="white">
          <a:xfrm>
            <a:off x="436034" y="488950"/>
            <a:ext cx="11247967" cy="4768850"/>
          </a:xfrm>
          <a:prstGeom prst="roundRect">
            <a:avLst>
              <a:gd name="adj" fmla="val 7310"/>
            </a:avLst>
          </a:prstGeom>
          <a:solidFill>
            <a:schemeClr val="bg1"/>
          </a:solidFill>
          <a:ln>
            <a:noFill/>
          </a:ln>
          <a:effectLst/>
          <a:extLst>
            <a:ext uri="{91240B29-F687-4F45-9708-019B960494DF}">
              <a14:hiddenLine xmlns:a14="http://schemas.microsoft.com/office/drawing/2010/main" w="9525">
                <a:solidFill>
                  <a:srgbClr val="CCCC99"/>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2400">
              <a:latin typeface="Times New Roman" panose="02020603050405020304" pitchFamily="18" charset="0"/>
            </a:endParaRPr>
          </a:p>
        </p:txBody>
      </p:sp>
      <p:sp>
        <p:nvSpPr>
          <p:cNvPr id="8196" name="AutoShape 4"/>
          <p:cNvSpPr>
            <a:spLocks noChangeArrowheads="1"/>
          </p:cNvSpPr>
          <p:nvPr/>
        </p:nvSpPr>
        <p:spPr bwMode="blackWhite">
          <a:xfrm>
            <a:off x="1828800" y="3338513"/>
            <a:ext cx="8534400" cy="2286000"/>
          </a:xfrm>
          <a:prstGeom prst="roundRect">
            <a:avLst>
              <a:gd name="adj" fmla="val 16667"/>
            </a:avLst>
          </a:prstGeom>
          <a:solidFill>
            <a:schemeClr val="bg1"/>
          </a:solidFill>
          <a:ln w="508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1800"/>
          </a:p>
        </p:txBody>
      </p:sp>
      <p:sp>
        <p:nvSpPr>
          <p:cNvPr id="8197" name="Rectangle 5"/>
          <p:cNvSpPr>
            <a:spLocks noGrp="1" noChangeArrowheads="1"/>
          </p:cNvSpPr>
          <p:nvPr>
            <p:ph type="ctrTitle"/>
          </p:nvPr>
        </p:nvSpPr>
        <p:spPr>
          <a:xfrm>
            <a:off x="914400" y="857250"/>
            <a:ext cx="10363200" cy="2266950"/>
          </a:xfrm>
        </p:spPr>
        <p:txBody>
          <a:bodyPr anchor="ctr" anchorCtr="1"/>
          <a:lstStyle>
            <a:lvl1pPr>
              <a:defRPr sz="4400" i="1"/>
            </a:lvl1pPr>
          </a:lstStyle>
          <a:p>
            <a:pPr lvl="0"/>
            <a:r>
              <a:rPr lang="en-US" noProof="0" smtClean="0"/>
              <a:t>Click to edit Master title style</a:t>
            </a:r>
          </a:p>
        </p:txBody>
      </p:sp>
      <p:sp>
        <p:nvSpPr>
          <p:cNvPr id="8198" name="Rectangle 6"/>
          <p:cNvSpPr>
            <a:spLocks noGrp="1" noChangeArrowheads="1"/>
          </p:cNvSpPr>
          <p:nvPr>
            <p:ph type="subTitle" idx="1"/>
          </p:nvPr>
        </p:nvSpPr>
        <p:spPr>
          <a:xfrm>
            <a:off x="2336800" y="3567113"/>
            <a:ext cx="7213600" cy="1905000"/>
          </a:xfrm>
        </p:spPr>
        <p:txBody>
          <a:bodyPr anchor="ctr"/>
          <a:lstStyle>
            <a:lvl1pPr marL="0" indent="0" algn="ctr">
              <a:buFont typeface="Wingdings" panose="05000000000000000000" pitchFamily="2" charset="2"/>
              <a:buNone/>
              <a:defRPr sz="3300"/>
            </a:lvl1pPr>
          </a:lstStyle>
          <a:p>
            <a:pPr lvl="0"/>
            <a:r>
              <a:rPr lang="en-US" noProof="0" smtClean="0"/>
              <a:t>Click to edit Master subtitle style</a:t>
            </a:r>
          </a:p>
        </p:txBody>
      </p:sp>
      <p:sp>
        <p:nvSpPr>
          <p:cNvPr id="8199" name="Rectangle 7"/>
          <p:cNvSpPr>
            <a:spLocks noGrp="1" noChangeArrowheads="1"/>
          </p:cNvSpPr>
          <p:nvPr>
            <p:ph type="dt" sz="half" idx="2"/>
          </p:nvPr>
        </p:nvSpPr>
        <p:spPr/>
        <p:txBody>
          <a:bodyPr/>
          <a:lstStyle>
            <a:lvl1pPr>
              <a:defRPr/>
            </a:lvl1pPr>
          </a:lstStyle>
          <a:p>
            <a:fld id="{6BBFC8C1-FB61-4297-B346-B8B699575329}" type="datetime1">
              <a:rPr lang="en-US" smtClean="0"/>
              <a:t>12/27/2022</a:t>
            </a:fld>
            <a:endParaRPr lang="en-US"/>
          </a:p>
        </p:txBody>
      </p:sp>
      <p:sp>
        <p:nvSpPr>
          <p:cNvPr id="8200" name="Rectangle 8"/>
          <p:cNvSpPr>
            <a:spLocks noGrp="1" noChangeArrowheads="1"/>
          </p:cNvSpPr>
          <p:nvPr>
            <p:ph type="ftr" sz="quarter" idx="3"/>
          </p:nvPr>
        </p:nvSpPr>
        <p:spPr>
          <a:xfrm>
            <a:off x="4470400" y="6391275"/>
            <a:ext cx="3860800" cy="457200"/>
          </a:xfrm>
        </p:spPr>
        <p:txBody>
          <a:bodyPr/>
          <a:lstStyle>
            <a:lvl1pPr>
              <a:defRPr/>
            </a:lvl1pPr>
          </a:lstStyle>
          <a:p>
            <a:endParaRPr lang="en-US"/>
          </a:p>
        </p:txBody>
      </p:sp>
      <p:sp>
        <p:nvSpPr>
          <p:cNvPr id="8201" name="Rectangle 9"/>
          <p:cNvSpPr>
            <a:spLocks noGrp="1" noChangeArrowheads="1"/>
          </p:cNvSpPr>
          <p:nvPr>
            <p:ph type="sldNum" sz="quarter" idx="4"/>
          </p:nvPr>
        </p:nvSpPr>
        <p:spPr>
          <a:xfrm>
            <a:off x="9144000" y="6391275"/>
            <a:ext cx="2133600" cy="457200"/>
          </a:xfrm>
        </p:spPr>
        <p:txBody>
          <a:bodyPr/>
          <a:lstStyle>
            <a:lvl1pPr>
              <a:defRPr/>
            </a:lvl1pPr>
          </a:lstStyle>
          <a:p>
            <a:fld id="{D2674617-9C49-4A6A-A5F8-6FBC8CEBD7D4}" type="slidenum">
              <a:rPr lang="en-US" smtClean="0"/>
              <a:t>‹#›</a:t>
            </a:fld>
            <a:endParaRPr lang="en-US"/>
          </a:p>
        </p:txBody>
      </p:sp>
    </p:spTree>
    <p:extLst>
      <p:ext uri="{BB962C8B-B14F-4D97-AF65-F5344CB8AC3E}">
        <p14:creationId xmlns:p14="http://schemas.microsoft.com/office/powerpoint/2010/main" val="3328867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ED5E75B9-E202-4F38-91B1-07C4EAFFFCB5}" type="datetime1">
              <a:rPr lang="en-US" smtClean="0"/>
              <a:t>12/27/2022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2674617-9C49-4A6A-A5F8-6FBC8CEBD7D4}" type="slidenum">
              <a:rPr lang="en-US" smtClean="0"/>
              <a:t>‹#›</a:t>
            </a:fld>
            <a:endParaRPr lang="en-US"/>
          </a:p>
        </p:txBody>
      </p:sp>
    </p:spTree>
    <p:extLst>
      <p:ext uri="{BB962C8B-B14F-4D97-AF65-F5344CB8AC3E}">
        <p14:creationId xmlns:p14="http://schemas.microsoft.com/office/powerpoint/2010/main" val="519500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AEAA4799-DB03-4C6A-8922-9070053BB26B}" type="datetime1">
              <a:rPr lang="en-US" smtClean="0"/>
              <a:t>12/27/2022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2674617-9C49-4A6A-A5F8-6FBC8CEBD7D4}" type="slidenum">
              <a:rPr lang="en-US" smtClean="0"/>
              <a:t>‹#›</a:t>
            </a:fld>
            <a:endParaRPr lang="en-US"/>
          </a:p>
        </p:txBody>
      </p:sp>
    </p:spTree>
    <p:extLst>
      <p:ext uri="{BB962C8B-B14F-4D97-AF65-F5344CB8AC3E}">
        <p14:creationId xmlns:p14="http://schemas.microsoft.com/office/powerpoint/2010/main" val="1588530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016000" y="1905000"/>
            <a:ext cx="5029200" cy="4038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248400" y="1905000"/>
            <a:ext cx="5029200" cy="4038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fld id="{251C2178-1CEA-403F-8ECC-160AEF808B12}" type="datetime1">
              <a:rPr lang="en-US" smtClean="0"/>
              <a:t>12/27/2022</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D2674617-9C49-4A6A-A5F8-6FBC8CEBD7D4}" type="slidenum">
              <a:rPr lang="en-US" smtClean="0"/>
              <a:t>‹#›</a:t>
            </a:fld>
            <a:endParaRPr lang="en-US"/>
          </a:p>
        </p:txBody>
      </p:sp>
    </p:spTree>
    <p:extLst>
      <p:ext uri="{BB962C8B-B14F-4D97-AF65-F5344CB8AC3E}">
        <p14:creationId xmlns:p14="http://schemas.microsoft.com/office/powerpoint/2010/main" val="734365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fld id="{961CDDE4-2182-4B2A-A8F3-A5A0717683A3}" type="datetime1">
              <a:rPr lang="en-US" smtClean="0"/>
              <a:t>12/27/2022</a:t>
            </a:fld>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D2674617-9C49-4A6A-A5F8-6FBC8CEBD7D4}" type="slidenum">
              <a:rPr lang="en-US" smtClean="0"/>
              <a:t>‹#›</a:t>
            </a:fld>
            <a:endParaRPr lang="en-US"/>
          </a:p>
        </p:txBody>
      </p:sp>
    </p:spTree>
    <p:extLst>
      <p:ext uri="{BB962C8B-B14F-4D97-AF65-F5344CB8AC3E}">
        <p14:creationId xmlns:p14="http://schemas.microsoft.com/office/powerpoint/2010/main" val="2354265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fld id="{B64AE09E-6276-412B-A246-6FCAC0F4B7FB}" type="datetime1">
              <a:rPr lang="en-US" smtClean="0"/>
              <a:t>12/27/2022</a:t>
            </a:fld>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D2674617-9C49-4A6A-A5F8-6FBC8CEBD7D4}" type="slidenum">
              <a:rPr lang="en-US" smtClean="0"/>
              <a:t>‹#›</a:t>
            </a:fld>
            <a:endParaRPr lang="en-US"/>
          </a:p>
        </p:txBody>
      </p:sp>
    </p:spTree>
    <p:extLst>
      <p:ext uri="{BB962C8B-B14F-4D97-AF65-F5344CB8AC3E}">
        <p14:creationId xmlns:p14="http://schemas.microsoft.com/office/powerpoint/2010/main" val="1963615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16B71B1E-48E6-4EF6-BFB0-620EFC0A10BC}" type="datetime1">
              <a:rPr lang="en-US" smtClean="0"/>
              <a:t>12/27/2022</a:t>
            </a:fld>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D2674617-9C49-4A6A-A5F8-6FBC8CEBD7D4}" type="slidenum">
              <a:rPr lang="en-US" smtClean="0"/>
              <a:t>‹#›</a:t>
            </a:fld>
            <a:endParaRPr lang="en-US"/>
          </a:p>
        </p:txBody>
      </p:sp>
    </p:spTree>
    <p:extLst>
      <p:ext uri="{BB962C8B-B14F-4D97-AF65-F5344CB8AC3E}">
        <p14:creationId xmlns:p14="http://schemas.microsoft.com/office/powerpoint/2010/main" val="1161998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AD823356-FD97-420B-BFEB-BCF6FA6BE463}" type="datetime1">
              <a:rPr lang="en-US" smtClean="0"/>
              <a:t>12/27/2022</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D2674617-9C49-4A6A-A5F8-6FBC8CEBD7D4}" type="slidenum">
              <a:rPr lang="en-US" smtClean="0"/>
              <a:t>‹#›</a:t>
            </a:fld>
            <a:endParaRPr lang="en-US"/>
          </a:p>
        </p:txBody>
      </p:sp>
    </p:spTree>
    <p:extLst>
      <p:ext uri="{BB962C8B-B14F-4D97-AF65-F5344CB8AC3E}">
        <p14:creationId xmlns:p14="http://schemas.microsoft.com/office/powerpoint/2010/main" val="290785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E1D8129F-7CBA-4546-9A75-7078EAC23ED9}" type="datetime1">
              <a:rPr lang="en-US" smtClean="0"/>
              <a:t>12/27/2022</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D2674617-9C49-4A6A-A5F8-6FBC8CEBD7D4}" type="slidenum">
              <a:rPr lang="en-US" smtClean="0"/>
              <a:t>‹#›</a:t>
            </a:fld>
            <a:endParaRPr lang="en-US"/>
          </a:p>
        </p:txBody>
      </p:sp>
    </p:spTree>
    <p:extLst>
      <p:ext uri="{BB962C8B-B14F-4D97-AF65-F5344CB8AC3E}">
        <p14:creationId xmlns:p14="http://schemas.microsoft.com/office/powerpoint/2010/main" val="3538955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9F28E476-76EE-4E14-9AE1-FD20A44B6821}" type="datetime1">
              <a:rPr lang="en-US" smtClean="0"/>
              <a:t>12/27/2022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2674617-9C49-4A6A-A5F8-6FBC8CEBD7D4}" type="slidenum">
              <a:rPr lang="en-US" smtClean="0"/>
              <a:t>‹#›</a:t>
            </a:fld>
            <a:endParaRPr lang="en-US"/>
          </a:p>
        </p:txBody>
      </p:sp>
    </p:spTree>
    <p:extLst>
      <p:ext uri="{BB962C8B-B14F-4D97-AF65-F5344CB8AC3E}">
        <p14:creationId xmlns:p14="http://schemas.microsoft.com/office/powerpoint/2010/main" val="1982198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12200" y="533400"/>
            <a:ext cx="2565400" cy="5410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016000" y="533400"/>
            <a:ext cx="749300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64D9FA38-4049-4700-84FF-64E4F6743361}" type="datetime1">
              <a:rPr lang="en-US" smtClean="0"/>
              <a:t>12/27/2022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2674617-9C49-4A6A-A5F8-6FBC8CEBD7D4}" type="slidenum">
              <a:rPr lang="en-US" smtClean="0"/>
              <a:t>‹#›</a:t>
            </a:fld>
            <a:endParaRPr lang="en-US"/>
          </a:p>
        </p:txBody>
      </p:sp>
    </p:spTree>
    <p:extLst>
      <p:ext uri="{BB962C8B-B14F-4D97-AF65-F5344CB8AC3E}">
        <p14:creationId xmlns:p14="http://schemas.microsoft.com/office/powerpoint/2010/main" val="2375250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1016000" y="533400"/>
            <a:ext cx="10261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xmlns:a="http://schemas.openxmlformats.org/drawingml/2006/main" lvl="0">
              <a:bidi/>
            </a:pPr>
            <a:r xmlns:a="http://schemas.openxmlformats.org/drawingml/2006/main">
              <a:rPr lang="ar" smtClean="0"/>
              <a:t>انقر لتحرير نمط العنوان الرئيسي</a:t>
            </a:r>
          </a:p>
        </p:txBody>
      </p:sp>
      <p:sp>
        <p:nvSpPr>
          <p:cNvPr id="7171" name="Rectangle 3"/>
          <p:cNvSpPr>
            <a:spLocks noGrp="1" noChangeArrowheads="1"/>
          </p:cNvSpPr>
          <p:nvPr>
            <p:ph type="body" idx="1"/>
          </p:nvPr>
        </p:nvSpPr>
        <p:spPr bwMode="auto">
          <a:xfrm>
            <a:off x="1016000" y="1905000"/>
            <a:ext cx="102616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xmlns:a="http://schemas.openxmlformats.org/drawingml/2006/main" lvl="0">
              <a:bidi/>
            </a:pPr>
            <a:r xmlns:a="http://schemas.openxmlformats.org/drawingml/2006/main">
              <a:rPr lang="ar" smtClean="0"/>
              <a:t>انقر لتحرير أنماط النص الرئيسي</a:t>
            </a:r>
          </a:p>
          <a:p>
            <a:pPr xmlns:a="http://schemas.openxmlformats.org/drawingml/2006/main" lvl="1">
              <a:bidi/>
            </a:pPr>
            <a:r xmlns:a="http://schemas.openxmlformats.org/drawingml/2006/main">
              <a:rPr lang="ar" smtClean="0"/>
              <a:t>المستوى الثاني</a:t>
            </a:r>
          </a:p>
          <a:p>
            <a:pPr xmlns:a="http://schemas.openxmlformats.org/drawingml/2006/main" lvl="2">
              <a:bidi/>
            </a:pPr>
            <a:r xmlns:a="http://schemas.openxmlformats.org/drawingml/2006/main">
              <a:rPr lang="ar" smtClean="0"/>
              <a:t>المستوى الثالث</a:t>
            </a:r>
          </a:p>
          <a:p>
            <a:pPr xmlns:a="http://schemas.openxmlformats.org/drawingml/2006/main" lvl="3">
              <a:bidi/>
            </a:pPr>
            <a:r xmlns:a="http://schemas.openxmlformats.org/drawingml/2006/main">
              <a:rPr lang="ar" smtClean="0"/>
              <a:t>المستوى الرابع</a:t>
            </a:r>
          </a:p>
          <a:p>
            <a:pPr xmlns:a="http://schemas.openxmlformats.org/drawingml/2006/main" lvl="4">
              <a:bidi/>
            </a:pPr>
            <a:r xmlns:a="http://schemas.openxmlformats.org/drawingml/2006/main">
              <a:rPr lang="ar" smtClean="0"/>
              <a:t>المستوى الخامس</a:t>
            </a:r>
          </a:p>
        </p:txBody>
      </p:sp>
      <p:sp>
        <p:nvSpPr>
          <p:cNvPr id="7172" name="Rectangle 4"/>
          <p:cNvSpPr>
            <a:spLocks noGrp="1" noChangeArrowheads="1"/>
          </p:cNvSpPr>
          <p:nvPr>
            <p:ph type="dt" sz="half" idx="2"/>
          </p:nvPr>
        </p:nvSpPr>
        <p:spPr bwMode="auto">
          <a:xfrm>
            <a:off x="1016000" y="6391275"/>
            <a:ext cx="274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fld id="{2F93CD7C-5D2D-4012-8066-7C55EE74EB6A}" type="datetime1">
              <a:rPr lang="en-US" smtClean="0"/>
              <a:t>12/27/2022</a:t>
            </a:fld>
            <a:endParaRPr lang="en-US"/>
          </a:p>
        </p:txBody>
      </p:sp>
      <p:sp>
        <p:nvSpPr>
          <p:cNvPr id="7173" name="Rectangle 5"/>
          <p:cNvSpPr>
            <a:spLocks noGrp="1" noChangeArrowheads="1"/>
          </p:cNvSpPr>
          <p:nvPr>
            <p:ph type="ftr" sz="quarter" idx="3"/>
          </p:nvPr>
        </p:nvSpPr>
        <p:spPr bwMode="auto">
          <a:xfrm>
            <a:off x="4470400" y="6403975"/>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endParaRPr lang="en-US"/>
          </a:p>
        </p:txBody>
      </p:sp>
      <p:sp>
        <p:nvSpPr>
          <p:cNvPr id="7174" name="Rectangle 6"/>
          <p:cNvSpPr>
            <a:spLocks noGrp="1" noChangeArrowheads="1"/>
          </p:cNvSpPr>
          <p:nvPr>
            <p:ph type="sldNum" sz="quarter" idx="4"/>
          </p:nvPr>
        </p:nvSpPr>
        <p:spPr bwMode="auto">
          <a:xfrm>
            <a:off x="9144000" y="64008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fld id="{D2674617-9C49-4A6A-A5F8-6FBC8CEBD7D4}" type="slidenum">
              <a:rPr lang="en-US" smtClean="0"/>
              <a:t>‹#›</a:t>
            </a:fld>
            <a:endParaRPr lang="en-US"/>
          </a:p>
        </p:txBody>
      </p:sp>
      <p:grpSp>
        <p:nvGrpSpPr>
          <p:cNvPr id="7175" name="Group 7"/>
          <p:cNvGrpSpPr>
            <a:grpSpLocks/>
          </p:cNvGrpSpPr>
          <p:nvPr/>
        </p:nvGrpSpPr>
        <p:grpSpPr bwMode="auto">
          <a:xfrm>
            <a:off x="224368" y="228600"/>
            <a:ext cx="11764433" cy="6096000"/>
            <a:chOff x="106" y="144"/>
            <a:chExt cx="5558" cy="3840"/>
          </a:xfrm>
        </p:grpSpPr>
        <p:sp>
          <p:nvSpPr>
            <p:cNvPr id="7176" name="AutoShape 8"/>
            <p:cNvSpPr>
              <a:spLocks noChangeArrowheads="1"/>
            </p:cNvSpPr>
            <p:nvPr/>
          </p:nvSpPr>
          <p:spPr bwMode="auto">
            <a:xfrm>
              <a:off x="106" y="144"/>
              <a:ext cx="5558" cy="3840"/>
            </a:xfrm>
            <a:prstGeom prst="roundRect">
              <a:avLst>
                <a:gd name="adj" fmla="val 11046"/>
              </a:avLst>
            </a:prstGeom>
            <a:noFill/>
            <a:ln w="28575">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2400">
                <a:latin typeface="Times New Roman" panose="02020603050405020304" pitchFamily="18" charset="0"/>
              </a:endParaRPr>
            </a:p>
          </p:txBody>
        </p:sp>
        <p:sp>
          <p:nvSpPr>
            <p:cNvPr id="7177" name="Line 9"/>
            <p:cNvSpPr>
              <a:spLocks noChangeShapeType="1"/>
            </p:cNvSpPr>
            <p:nvPr/>
          </p:nvSpPr>
          <p:spPr bwMode="auto">
            <a:xfrm>
              <a:off x="480" y="1077"/>
              <a:ext cx="4848" cy="0"/>
            </a:xfrm>
            <a:prstGeom prst="line">
              <a:avLst/>
            </a:prstGeom>
            <a:noFill/>
            <a:ln w="381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800"/>
            </a:p>
          </p:txBody>
        </p:sp>
      </p:grpSp>
    </p:spTree>
    <p:extLst>
      <p:ext uri="{BB962C8B-B14F-4D97-AF65-F5344CB8AC3E}">
        <p14:creationId xmlns:p14="http://schemas.microsoft.com/office/powerpoint/2010/main" val="13187106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1" fontAlgn="base" hangingPunct="1">
        <a:spcBef>
          <a:spcPct val="0"/>
        </a:spcBef>
        <a:spcAft>
          <a:spcPct val="0"/>
        </a:spcAft>
        <a:defRPr sz="3600" kern="12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Arial Black" panose="020B0A04020102020204" pitchFamily="34" charset="0"/>
        </a:defRPr>
      </a:lvl2pPr>
      <a:lvl3pPr algn="ctr" rtl="0" eaLnBrk="1" fontAlgn="base" hangingPunct="1">
        <a:spcBef>
          <a:spcPct val="0"/>
        </a:spcBef>
        <a:spcAft>
          <a:spcPct val="0"/>
        </a:spcAft>
        <a:defRPr sz="3600">
          <a:solidFill>
            <a:schemeClr val="tx2"/>
          </a:solidFill>
          <a:latin typeface="Arial Black" panose="020B0A04020102020204" pitchFamily="34" charset="0"/>
        </a:defRPr>
      </a:lvl3pPr>
      <a:lvl4pPr algn="ctr" rtl="0" eaLnBrk="1" fontAlgn="base" hangingPunct="1">
        <a:spcBef>
          <a:spcPct val="0"/>
        </a:spcBef>
        <a:spcAft>
          <a:spcPct val="0"/>
        </a:spcAft>
        <a:defRPr sz="3600">
          <a:solidFill>
            <a:schemeClr val="tx2"/>
          </a:solidFill>
          <a:latin typeface="Arial Black" panose="020B0A04020102020204" pitchFamily="34" charset="0"/>
        </a:defRPr>
      </a:lvl4pPr>
      <a:lvl5pPr algn="ctr" rtl="0" eaLnBrk="1" fontAlgn="base" hangingPunct="1">
        <a:spcBef>
          <a:spcPct val="0"/>
        </a:spcBef>
        <a:spcAft>
          <a:spcPct val="0"/>
        </a:spcAft>
        <a:defRPr sz="3600">
          <a:solidFill>
            <a:schemeClr val="tx2"/>
          </a:solidFill>
          <a:latin typeface="Arial Black" panose="020B0A04020102020204" pitchFamily="34" charset="0"/>
        </a:defRPr>
      </a:lvl5pPr>
      <a:lvl6pPr marL="457200" algn="ctr" rtl="0" eaLnBrk="1" fontAlgn="base" hangingPunct="1">
        <a:spcBef>
          <a:spcPct val="0"/>
        </a:spcBef>
        <a:spcAft>
          <a:spcPct val="0"/>
        </a:spcAft>
        <a:defRPr sz="3600">
          <a:solidFill>
            <a:schemeClr val="tx2"/>
          </a:solidFill>
          <a:latin typeface="Arial Black" panose="020B0A04020102020204" pitchFamily="34" charset="0"/>
        </a:defRPr>
      </a:lvl6pPr>
      <a:lvl7pPr marL="914400" algn="ctr" rtl="0" eaLnBrk="1" fontAlgn="base" hangingPunct="1">
        <a:spcBef>
          <a:spcPct val="0"/>
        </a:spcBef>
        <a:spcAft>
          <a:spcPct val="0"/>
        </a:spcAft>
        <a:defRPr sz="3600">
          <a:solidFill>
            <a:schemeClr val="tx2"/>
          </a:solidFill>
          <a:latin typeface="Arial Black" panose="020B0A04020102020204" pitchFamily="34" charset="0"/>
        </a:defRPr>
      </a:lvl7pPr>
      <a:lvl8pPr marL="1371600" algn="ctr" rtl="0" eaLnBrk="1" fontAlgn="base" hangingPunct="1">
        <a:spcBef>
          <a:spcPct val="0"/>
        </a:spcBef>
        <a:spcAft>
          <a:spcPct val="0"/>
        </a:spcAft>
        <a:defRPr sz="3600">
          <a:solidFill>
            <a:schemeClr val="tx2"/>
          </a:solidFill>
          <a:latin typeface="Arial Black" panose="020B0A04020102020204" pitchFamily="34" charset="0"/>
        </a:defRPr>
      </a:lvl8pPr>
      <a:lvl9pPr marL="1828800" algn="ctr" rtl="0" eaLnBrk="1" fontAlgn="base" hangingPunct="1">
        <a:spcBef>
          <a:spcPct val="0"/>
        </a:spcBef>
        <a:spcAft>
          <a:spcPct val="0"/>
        </a:spcAft>
        <a:defRPr sz="3600">
          <a:solidFill>
            <a:schemeClr val="tx2"/>
          </a:solidFill>
          <a:latin typeface="Arial Black" panose="020B0A04020102020204" pitchFamily="34" charset="0"/>
        </a:defRPr>
      </a:lvl9pPr>
    </p:titleStyle>
    <p:bodyStyle>
      <a:lvl1pPr marL="342900" indent="-342900" algn="l" rtl="0" eaLnBrk="1" fontAlgn="base" hangingPunct="1">
        <a:spcBef>
          <a:spcPct val="20000"/>
        </a:spcBef>
        <a:spcAft>
          <a:spcPct val="0"/>
        </a:spcAft>
        <a:buClr>
          <a:schemeClr val="bg2"/>
        </a:buClr>
        <a:buSzPct val="70000"/>
        <a:buFont typeface="Wingdings" panose="05000000000000000000" pitchFamily="2" charset="2"/>
        <a:buChar char="l"/>
        <a:defRPr sz="3100" kern="12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SzPct val="150000"/>
        <a:buChar char="•"/>
        <a:defRPr sz="2600" kern="1200">
          <a:solidFill>
            <a:schemeClr val="tx1"/>
          </a:solidFill>
          <a:latin typeface="+mn-lt"/>
          <a:ea typeface="+mn-ea"/>
          <a:cs typeface="+mn-cs"/>
        </a:defRPr>
      </a:lvl2pPr>
      <a:lvl3pPr marL="1143000" indent="-228600" algn="l" rtl="0" eaLnBrk="1" fontAlgn="base" hangingPunct="1">
        <a:spcBef>
          <a:spcPct val="20000"/>
        </a:spcBef>
        <a:spcAft>
          <a:spcPct val="0"/>
        </a:spcAft>
        <a:buClr>
          <a:schemeClr val="tx1"/>
        </a:buClr>
        <a:buSzPct val="150000"/>
        <a:buChar char="•"/>
        <a:defRPr sz="2200" kern="1200">
          <a:solidFill>
            <a:schemeClr val="tx1"/>
          </a:solidFill>
          <a:latin typeface="+mn-lt"/>
          <a:ea typeface="+mn-ea"/>
          <a:cs typeface="+mn-cs"/>
        </a:defRPr>
      </a:lvl3pPr>
      <a:lvl4pPr marL="1600200" indent="-228600" algn="l" rtl="0" eaLnBrk="1" fontAlgn="base" hangingPunct="1">
        <a:spcBef>
          <a:spcPct val="20000"/>
        </a:spcBef>
        <a:spcAft>
          <a:spcPct val="0"/>
        </a:spcAft>
        <a:buClr>
          <a:schemeClr val="tx2"/>
        </a:buClr>
        <a:buSzPct val="15000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lr>
          <a:schemeClr val="folHlink"/>
        </a:buClr>
        <a:buSzPct val="15000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98774"/>
            <a:ext cx="10363200" cy="2128321"/>
          </a:xfrm>
        </p:spPr>
        <p:txBody>
          <a:bodyPr/>
          <a:lstStyle/>
          <a:p>
            <a:r xmlns:a="http://schemas.openxmlformats.org/drawingml/2006/main">
              <a:rPr lang="ar" dirty="0" smtClean="0"/>
              <a:t>تكنولوجيا الإنترنت (1)</a:t>
            </a:r>
            <a:endParaRPr xmlns:a="http://schemas.openxmlformats.org/drawingml/2006/main" lang="en-US" dirty="0"/>
          </a:p>
        </p:txBody>
      </p:sp>
      <p:sp>
        <p:nvSpPr>
          <p:cNvPr id="3" name="Subtitle 2"/>
          <p:cNvSpPr>
            <a:spLocks noGrp="1"/>
          </p:cNvSpPr>
          <p:nvPr>
            <p:ph type="subTitle" idx="1"/>
          </p:nvPr>
        </p:nvSpPr>
        <p:spPr>
          <a:xfrm>
            <a:off x="2336188" y="3545079"/>
            <a:ext cx="7213600" cy="1905000"/>
          </a:xfrm>
        </p:spPr>
        <p:txBody>
          <a:bodyPr/>
          <a:lstStyle/>
          <a:p>
            <a:r xmlns:a="http://schemas.openxmlformats.org/drawingml/2006/main">
              <a:rPr lang="ar" sz="4800" b="1" dirty="0" smtClean="0">
                <a:latin typeface="Times" pitchFamily="18" charset="0"/>
              </a:rPr>
              <a:t>محاضرة (6)</a:t>
            </a:r>
            <a:endParaRPr xmlns:a="http://schemas.openxmlformats.org/drawingml/2006/main" lang="en-US" sz="4800" b="1" dirty="0">
              <a:latin typeface="Times" pitchFamily="18" charset="0"/>
            </a:endParaRPr>
          </a:p>
        </p:txBody>
      </p:sp>
      <p:sp>
        <p:nvSpPr>
          <p:cNvPr id="6" name="Slide Number Placeholder 5"/>
          <p:cNvSpPr>
            <a:spLocks noGrp="1"/>
          </p:cNvSpPr>
          <p:nvPr>
            <p:ph type="sldNum" sz="quarter" idx="4"/>
          </p:nvPr>
        </p:nvSpPr>
        <p:spPr/>
        <p:txBody>
          <a:bodyPr/>
          <a:lstStyle/>
          <a:p>
            <a:fld id="{D2674617-9C49-4A6A-A5F8-6FBC8CEBD7D4}" type="slidenum">
              <a:rPr lang="en-US" smtClean="0"/>
              <a:t>1</a:t>
            </a:fld>
            <a:endParaRPr lang="en-US"/>
          </a:p>
        </p:txBody>
      </p:sp>
      <p:sp>
        <p:nvSpPr>
          <p:cNvPr id="7" name="Subtitle 2"/>
          <p:cNvSpPr txBox="1">
            <a:spLocks/>
          </p:cNvSpPr>
          <p:nvPr/>
        </p:nvSpPr>
        <p:spPr bwMode="auto">
          <a:xfrm>
            <a:off x="2336188" y="516043"/>
            <a:ext cx="7213600" cy="682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marL="0" indent="0" algn="ctr" rtl="0" eaLnBrk="1" fontAlgn="base" hangingPunct="1">
              <a:spcBef>
                <a:spcPct val="20000"/>
              </a:spcBef>
              <a:spcAft>
                <a:spcPct val="0"/>
              </a:spcAft>
              <a:buClr>
                <a:schemeClr val="bg2"/>
              </a:buClr>
              <a:buSzPct val="70000"/>
              <a:buFont typeface="Wingdings" panose="05000000000000000000" pitchFamily="2" charset="2"/>
              <a:buNone/>
              <a:defRPr sz="3300" kern="12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SzPct val="150000"/>
              <a:buChar char="•"/>
              <a:defRPr sz="2600" kern="1200">
                <a:solidFill>
                  <a:schemeClr val="tx1"/>
                </a:solidFill>
                <a:latin typeface="+mn-lt"/>
                <a:ea typeface="+mn-ea"/>
                <a:cs typeface="+mn-cs"/>
              </a:defRPr>
            </a:lvl2pPr>
            <a:lvl3pPr marL="1143000" indent="-228600" algn="l" rtl="0" eaLnBrk="1" fontAlgn="base" hangingPunct="1">
              <a:spcBef>
                <a:spcPct val="20000"/>
              </a:spcBef>
              <a:spcAft>
                <a:spcPct val="0"/>
              </a:spcAft>
              <a:buClr>
                <a:schemeClr val="tx1"/>
              </a:buClr>
              <a:buSzPct val="150000"/>
              <a:buChar char="•"/>
              <a:defRPr sz="2200" kern="1200">
                <a:solidFill>
                  <a:schemeClr val="tx1"/>
                </a:solidFill>
                <a:latin typeface="+mn-lt"/>
                <a:ea typeface="+mn-ea"/>
                <a:cs typeface="+mn-cs"/>
              </a:defRPr>
            </a:lvl3pPr>
            <a:lvl4pPr marL="1600200" indent="-228600" algn="l" rtl="0" eaLnBrk="1" fontAlgn="base" hangingPunct="1">
              <a:spcBef>
                <a:spcPct val="20000"/>
              </a:spcBef>
              <a:spcAft>
                <a:spcPct val="0"/>
              </a:spcAft>
              <a:buClr>
                <a:schemeClr val="tx2"/>
              </a:buClr>
              <a:buSzPct val="15000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lr>
                <a:schemeClr val="folHlink"/>
              </a:buClr>
              <a:buSzPct val="15000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xmlns:a="http://schemas.openxmlformats.org/drawingml/2006/main">
              <a:rPr lang="ar" dirty="0" smtClean="0">
                <a:cs typeface="Traditional Arabic" pitchFamily="2" charset="-78"/>
              </a:rPr>
              <a:t>بسم الله الرحمن الرحيم</a:t>
            </a:r>
            <a:endParaRPr xmlns:a="http://schemas.openxmlformats.org/drawingml/2006/main" lang="en-US" dirty="0">
              <a:cs typeface="Traditional Arabic" pitchFamily="2" charset="-78"/>
            </a:endParaRPr>
          </a:p>
        </p:txBody>
      </p:sp>
    </p:spTree>
    <p:extLst>
      <p:ext uri="{BB962C8B-B14F-4D97-AF65-F5344CB8AC3E}">
        <p14:creationId xmlns:p14="http://schemas.microsoft.com/office/powerpoint/2010/main" val="8431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ar" dirty="0" smtClean="0"/>
              <a:t>جدول المحاضرة</a:t>
            </a:r>
            <a:endParaRPr xmlns:a="http://schemas.openxmlformats.org/drawingml/2006/main" lang="en-US" dirty="0"/>
          </a:p>
        </p:txBody>
      </p:sp>
      <p:sp>
        <p:nvSpPr>
          <p:cNvPr id="3" name="Content Placeholder 2"/>
          <p:cNvSpPr>
            <a:spLocks noGrp="1"/>
          </p:cNvSpPr>
          <p:nvPr>
            <p:ph idx="1"/>
          </p:nvPr>
        </p:nvSpPr>
        <p:spPr>
          <a:xfrm>
            <a:off x="1016000" y="3463290"/>
            <a:ext cx="10261600" cy="1245870"/>
          </a:xfrm>
        </p:spPr>
        <p:txBody>
          <a:bodyPr/>
          <a:lstStyle/>
          <a:p>
            <a:pPr xmlns:a="http://schemas.openxmlformats.org/drawingml/2006/main" marL="0" indent="0" algn="ctr">
              <a:buNone/>
              <a:bidi/>
            </a:pPr>
            <a:r xmlns:a="http://schemas.openxmlformats.org/drawingml/2006/main">
              <a:rPr lang="ar" sz="6600" b="1" dirty="0">
                <a:solidFill>
                  <a:srgbClr val="FFC000"/>
                </a:solidFill>
                <a:latin typeface="Times" pitchFamily="18" charset="0"/>
              </a:rPr>
              <a:t>نظرة عامة على البريد الإلكتروني</a:t>
            </a:r>
          </a:p>
        </p:txBody>
      </p:sp>
      <p:sp>
        <p:nvSpPr>
          <p:cNvPr id="6" name="Slide Number Placeholder 5"/>
          <p:cNvSpPr>
            <a:spLocks noGrp="1"/>
          </p:cNvSpPr>
          <p:nvPr>
            <p:ph type="sldNum" sz="quarter" idx="12"/>
          </p:nvPr>
        </p:nvSpPr>
        <p:spPr/>
        <p:txBody>
          <a:bodyPr/>
          <a:lstStyle/>
          <a:p>
            <a:fld id="{D2674617-9C49-4A6A-A5F8-6FBC8CEBD7D4}" type="slidenum">
              <a:rPr lang="en-US" smtClean="0"/>
              <a:t>2</a:t>
            </a:fld>
            <a:endParaRPr lang="en-US"/>
          </a:p>
        </p:txBody>
      </p:sp>
    </p:spTree>
    <p:extLst>
      <p:ext uri="{BB962C8B-B14F-4D97-AF65-F5344CB8AC3E}">
        <p14:creationId xmlns:p14="http://schemas.microsoft.com/office/powerpoint/2010/main" val="2346209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ar" dirty="0" smtClean="0"/>
              <a:t>نظرة عامة </a:t>
            </a:r>
            <a:endParaRPr xmlns:a="http://schemas.openxmlformats.org/drawingml/2006/main" lang="en-US" dirty="0"/>
            <a:r xmlns:a="http://schemas.openxmlformats.org/drawingml/2006/main">
              <a:rPr lang="ar" dirty="0"/>
              <a:t>على البريد الإلكتروني</a:t>
            </a:r>
          </a:p>
        </p:txBody>
      </p:sp>
      <p:sp>
        <p:nvSpPr>
          <p:cNvPr id="3" name="Content Placeholder 2"/>
          <p:cNvSpPr>
            <a:spLocks noGrp="1"/>
          </p:cNvSpPr>
          <p:nvPr>
            <p:ph idx="1"/>
          </p:nvPr>
        </p:nvSpPr>
        <p:spPr/>
        <p:txBody>
          <a:bodyPr/>
          <a:lstStyle/>
          <a:p>
            <a:pPr xmlns:a="http://schemas.openxmlformats.org/drawingml/2006/main" marL="0" indent="0">
              <a:buNone/>
              <a:bidi/>
            </a:pPr>
            <a:r xmlns:a="http://schemas.openxmlformats.org/drawingml/2006/main">
              <a:rPr lang="ar" sz="2400" dirty="0" smtClean="0">
                <a:latin typeface="Times" pitchFamily="18" charset="0"/>
              </a:rPr>
              <a:t>البريد الإلكتروني </a:t>
            </a:r>
            <a:r xmlns:a="http://schemas.openxmlformats.org/drawingml/2006/main">
              <a:rPr lang="ar" sz="2400" dirty="0">
                <a:latin typeface="Times" pitchFamily="18" charset="0"/>
              </a:rPr>
              <a:t>هو خدمة تتيح لنا إرسال الرسالة في الوضع الإلكتروني عبر الإنترنت. يوفر وسيلة فعالة وغير مكلفة وفي الوقت الحقيقي لتوزيع المعلومات بين الناس.</a:t>
            </a:r>
          </a:p>
          <a:p>
            <a:pPr xmlns:a="http://schemas.openxmlformats.org/drawingml/2006/main" marL="0" indent="0">
              <a:buNone/>
              <a:bidi/>
            </a:pPr>
            <a:r xmlns:a="http://schemas.openxmlformats.org/drawingml/2006/main">
              <a:rPr lang="ar" sz="2400" b="1" dirty="0">
                <a:latin typeface="Times" pitchFamily="18" charset="0"/>
              </a:rPr>
              <a:t>البريد الإلكتروني </a:t>
            </a:r>
            <a:r xmlns:a="http://schemas.openxmlformats.org/drawingml/2006/main">
              <a:rPr lang="ar" sz="2400" b="1" dirty="0" smtClean="0">
                <a:latin typeface="Times" pitchFamily="18" charset="0"/>
              </a:rPr>
              <a:t>:</a:t>
            </a:r>
            <a:endParaRPr xmlns:a="http://schemas.openxmlformats.org/drawingml/2006/main" lang="en-US" sz="2400" b="1" dirty="0">
              <a:latin typeface="Times" pitchFamily="18" charset="0"/>
            </a:endParaRPr>
          </a:p>
          <a:p>
            <a:pPr xmlns:a="http://schemas.openxmlformats.org/drawingml/2006/main" marL="0" indent="0">
              <a:buNone/>
              <a:bidi/>
            </a:pPr>
            <a:r xmlns:a="http://schemas.openxmlformats.org/drawingml/2006/main">
              <a:rPr lang="ar" sz="2400" dirty="0">
                <a:latin typeface="Times" pitchFamily="18" charset="0"/>
              </a:rPr>
              <a:t>يتم تعيين اسم فريد لكل مستخدم بريد إلكتروني لحساب بريده الإلكتروني. يُعرف هذا الاسم </a:t>
            </a:r>
            <a:r xmlns:a="http://schemas.openxmlformats.org/drawingml/2006/main">
              <a:rPr lang="ar" sz="2400" b="1" dirty="0">
                <a:latin typeface="Times" pitchFamily="18" charset="0"/>
              </a:rPr>
              <a:t>بعنوان البريد الإلكتروني </a:t>
            </a:r>
            <a:r xmlns:a="http://schemas.openxmlformats.org/drawingml/2006/main">
              <a:rPr lang="ar" sz="2400" dirty="0">
                <a:latin typeface="Times" pitchFamily="18" charset="0"/>
              </a:rPr>
              <a:t>. يمكن للمستخدمين المختلفين إرسال الرسائل واستلامها وفقًا لعنوان البريد الإلكتروني.</a:t>
            </a:r>
          </a:p>
          <a:p>
            <a:pPr xmlns:a="http://schemas.openxmlformats.org/drawingml/2006/main" marL="0" indent="0">
              <a:buNone/>
              <a:bidi/>
            </a:pPr>
            <a:r xmlns:a="http://schemas.openxmlformats.org/drawingml/2006/main">
              <a:rPr lang="ar" sz="2400" dirty="0">
                <a:latin typeface="Times" pitchFamily="18" charset="0"/>
              </a:rPr>
              <a:t>عادة ما يكون البريد الإلكتروني على الشكل </a:t>
            </a:r>
            <a:r xmlns:a="http://schemas.openxmlformats.org/drawingml/2006/main">
              <a:rPr lang="ar" sz="2400" dirty="0" err="1">
                <a:latin typeface="Times" pitchFamily="18" charset="0"/>
              </a:rPr>
              <a:t>username @ domainname </a:t>
            </a:r>
            <a:r xmlns:a="http://schemas.openxmlformats.org/drawingml/2006/main">
              <a:rPr lang="ar" sz="2400" dirty="0">
                <a:latin typeface="Times" pitchFamily="18" charset="0"/>
              </a:rPr>
              <a:t>. على سبيل المثال ، webmaster@tutorialspoint.com هو عنوان بريد إلكتروني حيث يكون webmaster هو username و tutorialspoint.com هو اسم المجال.</a:t>
            </a:r>
          </a:p>
          <a:p>
            <a:pPr marL="0" indent="0">
              <a:buNone/>
            </a:pPr>
            <a:endParaRPr lang="en-US" sz="24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3</a:t>
            </a:fld>
            <a:endParaRPr lang="en-US"/>
          </a:p>
        </p:txBody>
      </p:sp>
    </p:spTree>
    <p:extLst>
      <p:ext uri="{BB962C8B-B14F-4D97-AF65-F5344CB8AC3E}">
        <p14:creationId xmlns:p14="http://schemas.microsoft.com/office/powerpoint/2010/main" val="4113920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ar" dirty="0" smtClean="0"/>
              <a:t>مكونات </a:t>
            </a:r>
            <a:endParaRPr xmlns:a="http://schemas.openxmlformats.org/drawingml/2006/main" lang="en-US" dirty="0"/>
            <a:r xmlns:a="http://schemas.openxmlformats.org/drawingml/2006/main">
              <a:rPr lang="ar" dirty="0"/>
              <a:t>رسائل البريد الإلكتروني</a:t>
            </a:r>
          </a:p>
        </p:txBody>
      </p:sp>
      <p:sp>
        <p:nvSpPr>
          <p:cNvPr id="3" name="Content Placeholder 2"/>
          <p:cNvSpPr>
            <a:spLocks noGrp="1"/>
          </p:cNvSpPr>
          <p:nvPr>
            <p:ph idx="1"/>
          </p:nvPr>
        </p:nvSpPr>
        <p:spPr>
          <a:xfrm>
            <a:off x="330506" y="1904999"/>
            <a:ext cx="6021526" cy="4162425"/>
          </a:xfrm>
        </p:spPr>
        <p:txBody>
          <a:bodyPr/>
          <a:lstStyle/>
          <a:p>
            <a:pPr xmlns:a="http://schemas.openxmlformats.org/drawingml/2006/main">
              <a:lnSpc>
                <a:spcPct val="150000"/>
              </a:lnSpc>
              <a:buFont typeface="Wingdings" panose="05000000000000000000" pitchFamily="2" charset="2"/>
              <a:buChar char="Ø"/>
              <a:bidi/>
            </a:pPr>
            <a:r xmlns:a="http://schemas.openxmlformats.org/drawingml/2006/main">
              <a:rPr lang="ar" sz="2000" dirty="0">
                <a:latin typeface="Times" pitchFamily="18" charset="0"/>
              </a:rPr>
              <a:t>تتكون رسالة البريد الإلكتروني من مكونات مختلفة: </a:t>
            </a:r>
            <a:r xmlns:a="http://schemas.openxmlformats.org/drawingml/2006/main">
              <a:rPr lang="ar" sz="2000" dirty="0" smtClean="0">
                <a:latin typeface="Times" pitchFamily="18" charset="0"/>
              </a:rPr>
              <a:t>رأس البريد الإلكتروني</a:t>
            </a:r>
          </a:p>
          <a:p>
            <a:pPr xmlns:a="http://schemas.openxmlformats.org/drawingml/2006/main" marL="0" indent="0">
              <a:lnSpc>
                <a:spcPct val="150000"/>
              </a:lnSpc>
              <a:buNone/>
              <a:bidi/>
            </a:pPr>
            <a:r xmlns:a="http://schemas.openxmlformats.org/drawingml/2006/main">
              <a:rPr lang="ar" sz="2000" dirty="0" smtClean="0">
                <a:latin typeface="Times" pitchFamily="18" charset="0"/>
              </a:rPr>
              <a:t>تحية</a:t>
            </a:r>
          </a:p>
          <a:p>
            <a:pPr xmlns:a="http://schemas.openxmlformats.org/drawingml/2006/main" marL="0" indent="0">
              <a:lnSpc>
                <a:spcPct val="150000"/>
              </a:lnSpc>
              <a:buNone/>
              <a:bidi/>
            </a:pPr>
            <a:r xmlns:a="http://schemas.openxmlformats.org/drawingml/2006/main">
              <a:rPr lang="ar" sz="2000" dirty="0">
                <a:latin typeface="Times" pitchFamily="18" charset="0"/>
              </a:rPr>
              <a:t> </a:t>
            </a:r>
            <a:r xmlns:a="http://schemas.openxmlformats.org/drawingml/2006/main">
              <a:rPr lang="ar" sz="2000" dirty="0" smtClean="0">
                <a:latin typeface="Times" pitchFamily="18" charset="0"/>
              </a:rPr>
              <a:t>نص</a:t>
            </a:r>
          </a:p>
          <a:p>
            <a:pPr xmlns:a="http://schemas.openxmlformats.org/drawingml/2006/main" marL="0" indent="0">
              <a:lnSpc>
                <a:spcPct val="150000"/>
              </a:lnSpc>
              <a:buNone/>
              <a:bidi/>
            </a:pPr>
            <a:r xmlns:a="http://schemas.openxmlformats.org/drawingml/2006/main">
              <a:rPr lang="ar" sz="2000" dirty="0">
                <a:latin typeface="Times" pitchFamily="18" charset="0"/>
              </a:rPr>
              <a:t> </a:t>
            </a:r>
            <a:r xmlns:a="http://schemas.openxmlformats.org/drawingml/2006/main">
              <a:rPr lang="ar" sz="2000" dirty="0" smtClean="0">
                <a:latin typeface="Times" pitchFamily="18" charset="0"/>
              </a:rPr>
              <a:t>      </a:t>
            </a:r>
            <a:r xmlns:a="http://schemas.openxmlformats.org/drawingml/2006/main">
              <a:rPr lang="ar" sz="2000" dirty="0">
                <a:latin typeface="Times" pitchFamily="18" charset="0"/>
              </a:rPr>
              <a:t>إمضاء.</a:t>
            </a:r>
            <a:endParaRPr xmlns:a="http://schemas.openxmlformats.org/drawingml/2006/main" lang="en-US" sz="2000" dirty="0" smtClean="0">
              <a:latin typeface="Times" pitchFamily="18" charset="0"/>
            </a:endParaRPr>
          </a:p>
          <a:p>
            <a:pPr xmlns:a="http://schemas.openxmlformats.org/drawingml/2006/main">
              <a:lnSpc>
                <a:spcPct val="150000"/>
              </a:lnSpc>
              <a:buFont typeface="Wingdings" panose="05000000000000000000" pitchFamily="2" charset="2"/>
              <a:buChar char="Ø"/>
              <a:bidi/>
            </a:pPr>
            <a:r xmlns:a="http://schemas.openxmlformats.org/drawingml/2006/main">
              <a:rPr lang="ar" sz="2000" dirty="0" smtClean="0">
                <a:latin typeface="Times" pitchFamily="18" charset="0"/>
              </a:rPr>
              <a:t>هذه </a:t>
            </a:r>
            <a:r xmlns:a="http://schemas.openxmlformats.org/drawingml/2006/main">
              <a:rPr lang="ar" sz="2000" dirty="0">
                <a:latin typeface="Times" pitchFamily="18" charset="0"/>
              </a:rPr>
              <a:t>المكونات موصوفة في الرسم البياني التالي:</a:t>
            </a:r>
          </a:p>
        </p:txBody>
      </p:sp>
      <p:sp>
        <p:nvSpPr>
          <p:cNvPr id="6" name="Slide Number Placeholder 5"/>
          <p:cNvSpPr>
            <a:spLocks noGrp="1"/>
          </p:cNvSpPr>
          <p:nvPr>
            <p:ph type="sldNum" sz="quarter" idx="12"/>
          </p:nvPr>
        </p:nvSpPr>
        <p:spPr/>
        <p:txBody>
          <a:bodyPr/>
          <a:lstStyle/>
          <a:p>
            <a:fld id="{D2674617-9C49-4A6A-A5F8-6FBC8CEBD7D4}" type="slidenum">
              <a:rPr lang="en-US" smtClean="0"/>
              <a:t>4</a:t>
            </a:fld>
            <a:endParaRPr lang="en-US"/>
          </a:p>
        </p:txBody>
      </p:sp>
      <p:pic>
        <p:nvPicPr>
          <p:cNvPr id="1026" name="Picture 2" descr="internet_technologies_tutori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9064" y="1781175"/>
            <a:ext cx="5334000"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792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ar" dirty="0"/>
              <a:t>البريد الإلكتروني </a:t>
            </a:r>
            <a:r xmlns:a="http://schemas.openxmlformats.org/drawingml/2006/main">
              <a:rPr lang="ar" dirty="0" smtClean="0"/>
              <a:t>العمل</a:t>
            </a:r>
            <a:endParaRPr xmlns:a="http://schemas.openxmlformats.org/drawingml/2006/main" lang="en-US" dirty="0"/>
          </a:p>
        </p:txBody>
      </p:sp>
      <p:sp>
        <p:nvSpPr>
          <p:cNvPr id="3" name="Content Placeholder 2"/>
          <p:cNvSpPr>
            <a:spLocks noGrp="1"/>
          </p:cNvSpPr>
          <p:nvPr>
            <p:ph idx="1"/>
          </p:nvPr>
        </p:nvSpPr>
        <p:spPr>
          <a:xfrm>
            <a:off x="412521" y="1676399"/>
            <a:ext cx="11182071" cy="4714875"/>
          </a:xfrm>
        </p:spPr>
        <p:txBody>
          <a:bodyPr/>
          <a:lstStyle/>
          <a:p>
            <a:pPr xmlns:a="http://schemas.openxmlformats.org/drawingml/2006/main" marL="0" indent="0">
              <a:buNone/>
              <a:bidi/>
            </a:pPr>
            <a:r xmlns:a="http://schemas.openxmlformats.org/drawingml/2006/main">
              <a:rPr lang="ar" sz="2000" b="1" dirty="0">
                <a:latin typeface="Times" pitchFamily="18" charset="0"/>
              </a:rPr>
              <a:t>البريد الإلكتروني </a:t>
            </a:r>
            <a:r xmlns:a="http://schemas.openxmlformats.org/drawingml/2006/main">
              <a:rPr lang="ar" sz="2000" b="1" dirty="0" smtClean="0">
                <a:latin typeface="Times" pitchFamily="18" charset="0"/>
              </a:rPr>
              <a:t>:</a:t>
            </a:r>
            <a:endParaRPr xmlns:a="http://schemas.openxmlformats.org/drawingml/2006/main" lang="en-US" sz="2000" b="1" dirty="0">
              <a:latin typeface="Times" pitchFamily="18" charset="0"/>
            </a:endParaRPr>
          </a:p>
          <a:p>
            <a:pPr xmlns:a="http://schemas.openxmlformats.org/drawingml/2006/main" marL="0" indent="0">
              <a:buNone/>
              <a:bidi/>
            </a:pPr>
            <a:r xmlns:a="http://schemas.openxmlformats.org/drawingml/2006/main">
              <a:rPr lang="ar" sz="2000" dirty="0">
                <a:latin typeface="Times" pitchFamily="18" charset="0"/>
              </a:rPr>
              <a:t>يتكون نظام البريد الإلكتروني من المكونات الثلاثة التالية:</a:t>
            </a:r>
          </a:p>
          <a:p>
            <a:pPr xmlns:a="http://schemas.openxmlformats.org/drawingml/2006/main" marL="0" indent="0">
              <a:buNone/>
              <a:bidi/>
            </a:pPr>
            <a:r xmlns:a="http://schemas.openxmlformats.org/drawingml/2006/main">
              <a:rPr lang="ar" sz="2000" dirty="0" smtClean="0">
                <a:latin typeface="Times" pitchFamily="18" charset="0"/>
              </a:rPr>
              <a:t>1. البائع</a:t>
            </a:r>
            <a:endParaRPr xmlns:a="http://schemas.openxmlformats.org/drawingml/2006/main" lang="en-US" sz="2000" dirty="0">
              <a:latin typeface="Times" pitchFamily="18" charset="0"/>
            </a:endParaRPr>
          </a:p>
          <a:p>
            <a:pPr xmlns:a="http://schemas.openxmlformats.org/drawingml/2006/main" marL="0" indent="0">
              <a:buNone/>
              <a:bidi/>
            </a:pPr>
            <a:r xmlns:a="http://schemas.openxmlformats.org/drawingml/2006/main">
              <a:rPr lang="ar" sz="2000" dirty="0" smtClean="0">
                <a:latin typeface="Times" pitchFamily="18" charset="0"/>
              </a:rPr>
              <a:t>2- </a:t>
            </a:r>
            <a:r xmlns:a="http://schemas.openxmlformats.org/drawingml/2006/main">
              <a:rPr lang="ar" sz="2000" dirty="0">
                <a:latin typeface="Times" pitchFamily="18" charset="0"/>
              </a:rPr>
              <a:t>خادم البريد</a:t>
            </a:r>
          </a:p>
          <a:p>
            <a:pPr xmlns:a="http://schemas.openxmlformats.org/drawingml/2006/main" marL="0" indent="0">
              <a:buNone/>
              <a:bidi/>
            </a:pPr>
            <a:r xmlns:a="http://schemas.openxmlformats.org/drawingml/2006/main">
              <a:rPr lang="ar" sz="2000" dirty="0" smtClean="0">
                <a:latin typeface="Times" pitchFamily="18" charset="0"/>
              </a:rPr>
              <a:t>3. Mailbox</a:t>
            </a:r>
            <a:endParaRPr xmlns:a="http://schemas.openxmlformats.org/drawingml/2006/main" lang="en-US" sz="2000" dirty="0">
              <a:latin typeface="Times" pitchFamily="18" charset="0"/>
            </a:endParaRPr>
          </a:p>
          <a:p>
            <a:pPr xmlns:a="http://schemas.openxmlformats.org/drawingml/2006/main" marL="0" indent="0">
              <a:buNone/>
              <a:bidi/>
            </a:pPr>
            <a:r xmlns:a="http://schemas.openxmlformats.org/drawingml/2006/main">
              <a:rPr lang="ar" sz="2000" b="1" dirty="0" smtClean="0">
                <a:latin typeface="Times" pitchFamily="18" charset="0"/>
              </a:rPr>
              <a:t>مراسل رقمي:</a:t>
            </a:r>
            <a:endParaRPr xmlns:a="http://schemas.openxmlformats.org/drawingml/2006/main" lang="en-US" sz="2000" b="1" dirty="0">
              <a:latin typeface="Times" pitchFamily="18" charset="0"/>
            </a:endParaRPr>
          </a:p>
          <a:p>
            <a:pPr xmlns:a="http://schemas.openxmlformats.org/drawingml/2006/main" marL="0" indent="0">
              <a:buNone/>
              <a:bidi/>
            </a:pPr>
            <a:r xmlns:a="http://schemas.openxmlformats.org/drawingml/2006/main">
              <a:rPr lang="ar" sz="2000" dirty="0">
                <a:latin typeface="Times" pitchFamily="18" charset="0"/>
              </a:rPr>
              <a:t>ويسمى أيضًا </a:t>
            </a:r>
            <a:r xmlns:a="http://schemas.openxmlformats.org/drawingml/2006/main">
              <a:rPr lang="ar" sz="2000" b="1" dirty="0">
                <a:latin typeface="Times" pitchFamily="18" charset="0"/>
              </a:rPr>
              <a:t>برنامج البريد أو تطبيق البريد </a:t>
            </a:r>
            <a:r xmlns:a="http://schemas.openxmlformats.org/drawingml/2006/main">
              <a:rPr lang="ar" sz="2000" dirty="0">
                <a:latin typeface="Times" pitchFamily="18" charset="0"/>
              </a:rPr>
              <a:t>أو </a:t>
            </a:r>
            <a:r xmlns:a="http://schemas.openxmlformats.org/drawingml/2006/main">
              <a:rPr lang="ar" sz="2000" b="1" dirty="0">
                <a:latin typeface="Times" pitchFamily="18" charset="0"/>
              </a:rPr>
              <a:t>عميل البريد. </a:t>
            </a:r>
            <a:r xmlns:a="http://schemas.openxmlformats.org/drawingml/2006/main">
              <a:rPr lang="ar" sz="2000" dirty="0">
                <a:latin typeface="Times" pitchFamily="18" charset="0"/>
              </a:rPr>
              <a:t>يتيح لنا إدارة البريد الإلكتروني وقراءته وكتابته.</a:t>
            </a:r>
          </a:p>
          <a:p>
            <a:pPr xmlns:a="http://schemas.openxmlformats.org/drawingml/2006/main" marL="0" indent="0">
              <a:buNone/>
              <a:bidi/>
            </a:pPr>
            <a:r xmlns:a="http://schemas.openxmlformats.org/drawingml/2006/main">
              <a:rPr lang="ar" sz="2000" b="1" dirty="0" smtClean="0">
                <a:latin typeface="Times" pitchFamily="18" charset="0"/>
              </a:rPr>
              <a:t>خادم </a:t>
            </a:r>
            <a:endParaRPr xmlns:a="http://schemas.openxmlformats.org/drawingml/2006/main" lang="en-US" sz="2000" b="1" dirty="0">
              <a:latin typeface="Times" pitchFamily="18" charset="0"/>
            </a:endParaRPr>
            <a:r xmlns:a="http://schemas.openxmlformats.org/drawingml/2006/main">
              <a:rPr lang="ar" sz="2000" b="1" dirty="0">
                <a:latin typeface="Times" pitchFamily="18" charset="0"/>
              </a:rPr>
              <a:t>البريد :</a:t>
            </a:r>
          </a:p>
          <a:p>
            <a:pPr xmlns:a="http://schemas.openxmlformats.org/drawingml/2006/main" marL="0" indent="0">
              <a:buNone/>
              <a:bidi/>
            </a:pPr>
            <a:r xmlns:a="http://schemas.openxmlformats.org/drawingml/2006/main">
              <a:rPr lang="ar" sz="2000" dirty="0">
                <a:latin typeface="Times" pitchFamily="18" charset="0"/>
              </a:rPr>
              <a:t>تتمثل وظيفة خادم البريد في استلام البريد الإلكتروني وتخزينه وتسليمه. يجب أن تعمل خوادم البريد طوال الوقت لأنه في حالة تعطلها أو تعطلها ، يمكن فقد البريد الإلكتروني.</a:t>
            </a:r>
          </a:p>
          <a:p>
            <a:pPr xmlns:a="http://schemas.openxmlformats.org/drawingml/2006/main" marL="0" indent="0">
              <a:buNone/>
              <a:bidi/>
            </a:pPr>
            <a:r xmlns:a="http://schemas.openxmlformats.org/drawingml/2006/main">
              <a:rPr lang="ar" sz="2000" b="1" dirty="0" smtClean="0">
                <a:latin typeface="Times" pitchFamily="18" charset="0"/>
              </a:rPr>
              <a:t>علب البريد:</a:t>
            </a:r>
            <a:endParaRPr xmlns:a="http://schemas.openxmlformats.org/drawingml/2006/main" lang="en-US" sz="2000" b="1" dirty="0">
              <a:latin typeface="Times" pitchFamily="18" charset="0"/>
            </a:endParaRPr>
          </a:p>
          <a:p>
            <a:pPr xmlns:a="http://schemas.openxmlformats.org/drawingml/2006/main" marL="0" indent="0">
              <a:buNone/>
              <a:bidi/>
            </a:pPr>
            <a:r xmlns:a="http://schemas.openxmlformats.org/drawingml/2006/main">
              <a:rPr lang="ar" sz="2000" dirty="0">
                <a:latin typeface="Times" pitchFamily="18" charset="0"/>
              </a:rPr>
              <a:t>صندوق البريد هو بشكل عام مجلد يحتوي على رسائل بريد إلكتروني ومعلومات عنها.</a:t>
            </a:r>
          </a:p>
          <a:p>
            <a:pPr marL="0" indent="0">
              <a:buNone/>
            </a:pPr>
            <a:endParaRPr lang="en-US" sz="20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5</a:t>
            </a:fld>
            <a:endParaRPr lang="en-US"/>
          </a:p>
        </p:txBody>
      </p:sp>
    </p:spTree>
    <p:extLst>
      <p:ext uri="{BB962C8B-B14F-4D97-AF65-F5344CB8AC3E}">
        <p14:creationId xmlns:p14="http://schemas.microsoft.com/office/powerpoint/2010/main" val="1036973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ar" dirty="0"/>
              <a:t>عمل </a:t>
            </a:r>
            <a:r xmlns:a="http://schemas.openxmlformats.org/drawingml/2006/main">
              <a:rPr lang="ar" dirty="0" smtClean="0"/>
              <a:t>البريد الإلكتروني</a:t>
            </a:r>
            <a:endParaRPr xmlns:a="http://schemas.openxmlformats.org/drawingml/2006/main" lang="en-US" dirty="0"/>
          </a:p>
        </p:txBody>
      </p:sp>
      <p:sp>
        <p:nvSpPr>
          <p:cNvPr id="3" name="Content Placeholder 2"/>
          <p:cNvSpPr>
            <a:spLocks noGrp="1"/>
          </p:cNvSpPr>
          <p:nvPr>
            <p:ph idx="1"/>
          </p:nvPr>
        </p:nvSpPr>
        <p:spPr>
          <a:xfrm>
            <a:off x="352540" y="1905000"/>
            <a:ext cx="11457542" cy="4038600"/>
          </a:xfrm>
        </p:spPr>
        <p:txBody>
          <a:bodyPr/>
          <a:lstStyle/>
          <a:p>
            <a:pPr xmlns:a="http://schemas.openxmlformats.org/drawingml/2006/main">
              <a:buFont typeface="Wingdings" panose="05000000000000000000" pitchFamily="2" charset="2"/>
              <a:buChar char="ü"/>
              <a:bidi/>
            </a:pPr>
            <a:r xmlns:a="http://schemas.openxmlformats.org/drawingml/2006/main">
              <a:rPr lang="ar" sz="2400" dirty="0">
                <a:latin typeface="Times" pitchFamily="18" charset="0"/>
              </a:rPr>
              <a:t>يتبع عمل البريد الإلكتروني </a:t>
            </a:r>
            <a:r xmlns:a="http://schemas.openxmlformats.org/drawingml/2006/main">
              <a:rPr lang="ar" sz="2400" b="1" dirty="0">
                <a:latin typeface="Times" pitchFamily="18" charset="0"/>
              </a:rPr>
              <a:t>نهج خادم العميل </a:t>
            </a:r>
            <a:r xmlns:a="http://schemas.openxmlformats.org/drawingml/2006/main">
              <a:rPr lang="ar" sz="2400" dirty="0">
                <a:latin typeface="Times" pitchFamily="18" charset="0"/>
              </a:rPr>
              <a:t>. في هذا العميل هو جهاز الإرسال ، أي تطبيق البريد أو برنامج البريد والخادم هو جهاز يدير رسائل البريد الإلكتروني.</a:t>
            </a:r>
          </a:p>
          <a:p>
            <a:pPr xmlns:a="http://schemas.openxmlformats.org/drawingml/2006/main">
              <a:buFont typeface="Wingdings" panose="05000000000000000000" pitchFamily="2" charset="2"/>
              <a:buChar char="q"/>
              <a:bidi/>
            </a:pPr>
            <a:r xmlns:a="http://schemas.openxmlformats.org/drawingml/2006/main">
              <a:rPr lang="ar" sz="2400" dirty="0">
                <a:latin typeface="Times" pitchFamily="18" charset="0"/>
              </a:rPr>
              <a:t>سيأخذك المثال التالي عبر الخطوات الأساسية المتضمنة في إرسال رسائل البريد الإلكتروني واستلامها وسيمنحك فهمًا أفضل لعمل نظام البريد الإلكتروني:</a:t>
            </a:r>
          </a:p>
          <a:p>
            <a:r xmlns:a="http://schemas.openxmlformats.org/drawingml/2006/main">
              <a:rPr lang="ar" sz="2400" dirty="0">
                <a:latin typeface="Times" pitchFamily="18" charset="0"/>
              </a:rPr>
              <a:t>افترض أن الشخص "أ" يريد إرسال رسالة بريد إلكتروني إلى الشخص "ب".</a:t>
            </a:r>
          </a:p>
          <a:p>
            <a:r xmlns:a="http://schemas.openxmlformats.org/drawingml/2006/main">
              <a:rPr lang="ar" sz="2400" dirty="0">
                <a:latin typeface="Times" pitchFamily="18" charset="0"/>
              </a:rPr>
              <a:t>يقوم الشخص "أ" بتكوين الرسائل باستخدام برنامج إرسال بريد ، مثل عميل البريد ، ثم حدد خيار "إرسال".</a:t>
            </a:r>
          </a:p>
          <a:p>
            <a:r xmlns:a="http://schemas.openxmlformats.org/drawingml/2006/main">
              <a:rPr lang="ar" sz="2400" dirty="0">
                <a:latin typeface="Times" pitchFamily="18" charset="0"/>
              </a:rPr>
              <a:t>يتم توجيه الرسالة إلى </a:t>
            </a:r>
            <a:r xmlns:a="http://schemas.openxmlformats.org/drawingml/2006/main">
              <a:rPr lang="ar" sz="2400" b="1" dirty="0">
                <a:latin typeface="Times" pitchFamily="18" charset="0"/>
              </a:rPr>
              <a:t>Simple Mail Transfer Protocol </a:t>
            </a:r>
            <a:r xmlns:a="http://schemas.openxmlformats.org/drawingml/2006/main">
              <a:rPr lang="ar" sz="2400" dirty="0">
                <a:latin typeface="Times" pitchFamily="18" charset="0"/>
              </a:rPr>
              <a:t>إلى خادم بريد الشخص "ب".</a:t>
            </a:r>
          </a:p>
          <a:p>
            <a:r xmlns:a="http://schemas.openxmlformats.org/drawingml/2006/main">
              <a:rPr lang="ar" sz="2400" dirty="0">
                <a:latin typeface="Times" pitchFamily="18" charset="0"/>
              </a:rPr>
              <a:t>يخزن خادم البريد رسالة البريد الإلكتروني على القرص في منطقة مخصصة للشخص ب.</a:t>
            </a:r>
          </a:p>
          <a:p>
            <a:endParaRPr lang="en-US" sz="24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6</a:t>
            </a:fld>
            <a:endParaRPr lang="en-US"/>
          </a:p>
        </p:txBody>
      </p:sp>
    </p:spTree>
    <p:extLst>
      <p:ext uri="{BB962C8B-B14F-4D97-AF65-F5344CB8AC3E}">
        <p14:creationId xmlns:p14="http://schemas.microsoft.com/office/powerpoint/2010/main" val="2026941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xmlns:a="http://schemas.openxmlformats.org/drawingml/2006/main">
              <a:rPr lang="ar" sz="2800" dirty="0">
                <a:latin typeface="Times" pitchFamily="18" charset="0"/>
              </a:rPr>
              <a:t>الآن ، افترض أن الشخص "ب" يقوم بتشغيل عميل POP ويعرف كيفية الاتصال بخادم بريد "ب".</a:t>
            </a:r>
          </a:p>
          <a:p>
            <a:r xmlns:a="http://schemas.openxmlformats.org/drawingml/2006/main">
              <a:rPr lang="ar" sz="2800" dirty="0">
                <a:latin typeface="Times" pitchFamily="18" charset="0"/>
              </a:rPr>
              <a:t>سيقوم دوريًا باستطلاع رأي خادم POP للتحقق مما إذا كان قد وصل أي بريد إلكتروني جديد لـ B. كما في هذه الحالة ، أرسل الشخص " </a:t>
            </a:r>
            <a:r xmlns:a="http://schemas.openxmlformats.org/drawingml/2006/main">
              <a:rPr lang="ar" sz="2800" dirty="0" smtClean="0">
                <a:latin typeface="Times" pitchFamily="18" charset="0"/>
              </a:rPr>
              <a:t>أ </a:t>
            </a:r>
            <a:r xmlns:a="http://schemas.openxmlformats.org/drawingml/2006/main">
              <a:rPr lang="ar" sz="2800" dirty="0">
                <a:latin typeface="Times" pitchFamily="18" charset="0"/>
              </a:rPr>
              <a:t>" بريدًا إلكترونيًا للشخص "ب" ، لذلك يتم إعادة توجيه البريد الإلكتروني عبر الشبكة إلى كمبيوتر "ب". هذه الرسالة مخزنة الآن على جهاز الكمبيوتر الشخصي للشخص "ب".</a:t>
            </a:r>
          </a:p>
          <a:p>
            <a:r xmlns:a="http://schemas.openxmlformats.org/drawingml/2006/main">
              <a:rPr lang="ar" sz="2800" dirty="0">
                <a:latin typeface="Times" pitchFamily="18" charset="0"/>
              </a:rPr>
              <a:t>يعطي الرسم البياني التالي تمثيلاً تصويريًا للخطوات التي تمت مناقشتها أعلاه:</a:t>
            </a:r>
          </a:p>
          <a:p>
            <a:endParaRPr lang="en-US" sz="28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7</a:t>
            </a:fld>
            <a:endParaRPr lang="en-US"/>
          </a:p>
        </p:txBody>
      </p:sp>
      <p:sp>
        <p:nvSpPr>
          <p:cNvPr id="7" name="Title 1"/>
          <p:cNvSpPr>
            <a:spLocks noGrp="1"/>
          </p:cNvSpPr>
          <p:nvPr>
            <p:ph type="title"/>
          </p:nvPr>
        </p:nvSpPr>
        <p:spPr/>
        <p:txBody>
          <a:bodyPr/>
          <a:lstStyle/>
          <a:p>
            <a:r xmlns:a="http://schemas.openxmlformats.org/drawingml/2006/main">
              <a:rPr lang="ar" dirty="0"/>
              <a:t>عمل </a:t>
            </a:r>
            <a:r xmlns:a="http://schemas.openxmlformats.org/drawingml/2006/main">
              <a:rPr lang="ar" dirty="0" smtClean="0"/>
              <a:t>البريد الإلكتروني</a:t>
            </a:r>
            <a:endParaRPr xmlns:a="http://schemas.openxmlformats.org/drawingml/2006/main" lang="en-US" dirty="0"/>
          </a:p>
        </p:txBody>
      </p:sp>
    </p:spTree>
    <p:extLst>
      <p:ext uri="{BB962C8B-B14F-4D97-AF65-F5344CB8AC3E}">
        <p14:creationId xmlns:p14="http://schemas.microsoft.com/office/powerpoint/2010/main" val="1692384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6" name="Slide Number Placeholder 5"/>
          <p:cNvSpPr>
            <a:spLocks noGrp="1"/>
          </p:cNvSpPr>
          <p:nvPr>
            <p:ph type="sldNum" sz="quarter" idx="12"/>
          </p:nvPr>
        </p:nvSpPr>
        <p:spPr/>
        <p:txBody>
          <a:bodyPr/>
          <a:lstStyle/>
          <a:p>
            <a:fld id="{D2674617-9C49-4A6A-A5F8-6FBC8CEBD7D4}" type="slidenum">
              <a:rPr lang="en-US" smtClean="0"/>
              <a:t>8</a:t>
            </a:fld>
            <a:endParaRPr lang="en-US"/>
          </a:p>
        </p:txBody>
      </p:sp>
      <p:pic>
        <p:nvPicPr>
          <p:cNvPr id="2050" name="Picture 2" descr="internet_technologies_tutori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463"/>
            <a:ext cx="12192000" cy="6865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0599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ar" dirty="0" smtClean="0"/>
              <a:t>ميزات </a:t>
            </a:r>
            <a:endParaRPr xmlns:a="http://schemas.openxmlformats.org/drawingml/2006/main" lang="en-US" dirty="0"/>
            <a:r xmlns:a="http://schemas.openxmlformats.org/drawingml/2006/main">
              <a:rPr lang="ar" dirty="0"/>
              <a:t>البريد الإلكتروني</a:t>
            </a:r>
          </a:p>
        </p:txBody>
      </p:sp>
      <p:sp>
        <p:nvSpPr>
          <p:cNvPr id="3" name="Content Placeholder 2"/>
          <p:cNvSpPr>
            <a:spLocks noGrp="1"/>
          </p:cNvSpPr>
          <p:nvPr>
            <p:ph idx="1"/>
          </p:nvPr>
        </p:nvSpPr>
        <p:spPr>
          <a:xfrm>
            <a:off x="402336" y="1905000"/>
            <a:ext cx="11045952" cy="4038600"/>
          </a:xfrm>
        </p:spPr>
        <p:txBody>
          <a:bodyPr/>
          <a:lstStyle/>
          <a:p>
            <a:pPr xmlns:a="http://schemas.openxmlformats.org/drawingml/2006/main">
              <a:buFont typeface="Wingdings" panose="05000000000000000000" pitchFamily="2" charset="2"/>
              <a:buChar char="ü"/>
              <a:bidi/>
            </a:pPr>
            <a:r xmlns:a="http://schemas.openxmlformats.org/drawingml/2006/main">
              <a:rPr lang="ar" dirty="0" smtClean="0">
                <a:latin typeface="Times" pitchFamily="18" charset="0"/>
              </a:rPr>
              <a:t>، </a:t>
            </a:r>
            <a:r xmlns:a="http://schemas.openxmlformats.org/drawingml/2006/main">
              <a:rPr lang="ar" dirty="0">
                <a:latin typeface="Times" pitchFamily="18" charset="0"/>
              </a:rPr>
              <a:t>يأتي عميل البريد مزودًا بميزات محسنة مثل </a:t>
            </a:r>
            <a:r xmlns:a="http://schemas.openxmlformats.org/drawingml/2006/main">
              <a:rPr lang="ar" dirty="0" smtClean="0">
                <a:latin typeface="Times" pitchFamily="18" charset="0"/>
              </a:rPr>
              <a:t>: </a:t>
            </a:r>
            <a:r xmlns:a="http://schemas.openxmlformats.org/drawingml/2006/main">
              <a:rPr lang="ar" b="1" dirty="0">
                <a:latin typeface="Times" pitchFamily="18" charset="0"/>
              </a:rPr>
              <a:t>المرفقات </a:t>
            </a:r>
            <a:r xmlns:a="http://schemas.openxmlformats.org/drawingml/2006/main">
              <a:rPr lang="ar" dirty="0">
                <a:latin typeface="Times" pitchFamily="18" charset="0"/>
              </a:rPr>
              <a:t>ودفتر </a:t>
            </a:r>
            <a:r xmlns:a="http://schemas.openxmlformats.org/drawingml/2006/main">
              <a:rPr lang="ar" b="1" dirty="0">
                <a:latin typeface="Times" pitchFamily="18" charset="0"/>
              </a:rPr>
              <a:t>العناوين </a:t>
            </a:r>
            <a:r xmlns:a="http://schemas.openxmlformats.org/drawingml/2006/main">
              <a:rPr lang="ar" b="1" dirty="0" smtClean="0">
                <a:latin typeface="Times" pitchFamily="18" charset="0"/>
              </a:rPr>
              <a:t>.</a:t>
            </a:r>
          </a:p>
          <a:p>
            <a:pPr xmlns:a="http://schemas.openxmlformats.org/drawingml/2006/main">
              <a:buFont typeface="Wingdings" panose="05000000000000000000" pitchFamily="2" charset="2"/>
              <a:buChar char="ü"/>
              <a:bidi/>
            </a:pPr>
            <a:r xmlns:a="http://schemas.openxmlformats.org/drawingml/2006/main">
              <a:rPr lang="ar" dirty="0" smtClean="0">
                <a:latin typeface="Times" pitchFamily="18" charset="0"/>
              </a:rPr>
              <a:t>هنا </a:t>
            </a:r>
            <a:r xmlns:a="http://schemas.openxmlformats.org/drawingml/2006/main">
              <a:rPr lang="ar" dirty="0">
                <a:latin typeface="Times" pitchFamily="18" charset="0"/>
              </a:rPr>
              <a:t>في هذا </a:t>
            </a:r>
            <a:r xmlns:a="http://schemas.openxmlformats.org/drawingml/2006/main">
              <a:rPr lang="ar" dirty="0" smtClean="0">
                <a:latin typeface="Times" pitchFamily="18" charset="0"/>
              </a:rPr>
              <a:t>القسم </a:t>
            </a:r>
            <a:r xmlns:a="http://schemas.openxmlformats.org/drawingml/2006/main">
              <a:rPr lang="ar" dirty="0">
                <a:latin typeface="Times" pitchFamily="18" charset="0"/>
              </a:rPr>
              <a:t>كل هذه الميزات التي ستمنحك فهمًا أفضل للميزة المضافة لبرنامج عميل البريد.</a:t>
            </a:r>
          </a:p>
        </p:txBody>
      </p:sp>
      <p:sp>
        <p:nvSpPr>
          <p:cNvPr id="6" name="Slide Number Placeholder 5"/>
          <p:cNvSpPr>
            <a:spLocks noGrp="1"/>
          </p:cNvSpPr>
          <p:nvPr>
            <p:ph type="sldNum" sz="quarter" idx="12"/>
          </p:nvPr>
        </p:nvSpPr>
        <p:spPr/>
        <p:txBody>
          <a:bodyPr/>
          <a:lstStyle/>
          <a:p>
            <a:fld id="{D2674617-9C49-4A6A-A5F8-6FBC8CEBD7D4}" type="slidenum">
              <a:rPr lang="en-US" smtClean="0"/>
              <a:t>9</a:t>
            </a:fld>
            <a:endParaRPr lang="en-US"/>
          </a:p>
        </p:txBody>
      </p:sp>
    </p:spTree>
    <p:extLst>
      <p:ext uri="{BB962C8B-B14F-4D97-AF65-F5344CB8AC3E}">
        <p14:creationId xmlns:p14="http://schemas.microsoft.com/office/powerpoint/2010/main" val="6198974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6607" y="1758695"/>
            <a:ext cx="11457542" cy="4520185"/>
          </a:xfrm>
        </p:spPr>
        <p:txBody>
          <a:bodyPr/>
          <a:lstStyle/>
          <a:p>
            <a:pPr xmlns:a="http://schemas.openxmlformats.org/drawingml/2006/main" marL="0" indent="0">
              <a:buNone/>
              <a:bidi/>
            </a:pPr>
            <a:r xmlns:a="http://schemas.openxmlformats.org/drawingml/2006/main">
              <a:rPr lang="ar" sz="2400" b="1" dirty="0" smtClean="0">
                <a:latin typeface="Times" pitchFamily="18" charset="0"/>
              </a:rPr>
              <a:t>1- التعلق:</a:t>
            </a:r>
            <a:endParaRPr xmlns:a="http://schemas.openxmlformats.org/drawingml/2006/main" lang="en-US" sz="2400" b="1" dirty="0">
              <a:latin typeface="Times" pitchFamily="18" charset="0"/>
            </a:endParaRPr>
          </a:p>
          <a:p>
            <a:r xmlns:a="http://schemas.openxmlformats.org/drawingml/2006/main">
              <a:rPr lang="ar" sz="2400" dirty="0">
                <a:latin typeface="Times" pitchFamily="18" charset="0"/>
              </a:rPr>
              <a:t>تعد القدرة على إرفاق ملف (ملفات) مع الرسالة واحدة من أكثر الميزات المفيدة للبريد الإلكتروني. قد يكون المرفق </a:t>
            </a:r>
            <a:r xmlns:a="http://schemas.openxmlformats.org/drawingml/2006/main">
              <a:rPr lang="ar" sz="2400" b="1" dirty="0">
                <a:latin typeface="Times" pitchFamily="18" charset="0"/>
              </a:rPr>
              <a:t>مستند Word أو عرض PowerPoint تقديميًا أو ملفات صوت / فيديو </a:t>
            </a:r>
            <a:r xmlns:a="http://schemas.openxmlformats.org/drawingml/2006/main">
              <a:rPr lang="ar" sz="2400" dirty="0">
                <a:latin typeface="Times" pitchFamily="18" charset="0"/>
              </a:rPr>
              <a:t>أو </a:t>
            </a:r>
            <a:r xmlns:a="http://schemas.openxmlformats.org/drawingml/2006/main">
              <a:rPr lang="ar" sz="2400" b="1" dirty="0" smtClean="0">
                <a:latin typeface="Times" pitchFamily="18" charset="0"/>
              </a:rPr>
              <a:t>صور… ..</a:t>
            </a:r>
            <a:endParaRPr xmlns:a="http://schemas.openxmlformats.org/drawingml/2006/main" lang="en-US" sz="2400" dirty="0">
              <a:latin typeface="Times" pitchFamily="18" charset="0"/>
            </a:endParaRPr>
          </a:p>
          <a:p>
            <a:r xmlns:a="http://schemas.openxmlformats.org/drawingml/2006/main">
              <a:rPr lang="ar" sz="2400" dirty="0">
                <a:latin typeface="Times" pitchFamily="18" charset="0"/>
              </a:rPr>
              <a:t>لإرفاق ملف (ملفات) برسالة بريد إلكتروني ، انقر فوق الزر إرفاق. نتيجة لذلك ، يظهر مربع حوار يطلب تحديد اسم وموقع الملف الذي تريد إرفاقه.</a:t>
            </a:r>
          </a:p>
          <a:p>
            <a:r xmlns:a="http://schemas.openxmlformats.org/drawingml/2006/main">
              <a:rPr lang="ar" sz="2400" dirty="0">
                <a:latin typeface="Times" pitchFamily="18" charset="0"/>
              </a:rPr>
              <a:t>بمجرد تحديد الملف المناسب ، يتم إرفاقه بالبريد.</a:t>
            </a:r>
          </a:p>
          <a:p>
            <a:r xmlns:a="http://schemas.openxmlformats.org/drawingml/2006/main">
              <a:rPr lang="ar" sz="2400" dirty="0">
                <a:latin typeface="Times" pitchFamily="18" charset="0"/>
              </a:rPr>
              <a:t>عادةً ما يظهر رمز مشبك الورق في البريد الإلكتروني مما يشير إلى أنه يحتوي على مرفق.</a:t>
            </a:r>
          </a:p>
          <a:p>
            <a:r xmlns:a="http://schemas.openxmlformats.org/drawingml/2006/main">
              <a:rPr lang="ar" sz="2400" dirty="0">
                <a:latin typeface="Times" pitchFamily="18" charset="0"/>
              </a:rPr>
              <a:t>عند إضافة مرفق ، من الأفضل ضغط الملفات المرفقة لتقليل حجم الملف وتوفير وقت الإرسال حيث أن إرسال وتنزيل ملفات كبيرة يستهلك الكثير من المساحة والوقت.</a:t>
            </a:r>
          </a:p>
          <a:p>
            <a:endParaRPr lang="en-US" sz="24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10</a:t>
            </a:fld>
            <a:endParaRPr lang="en-US"/>
          </a:p>
        </p:txBody>
      </p:sp>
      <p:sp>
        <p:nvSpPr>
          <p:cNvPr id="7" name="Title 1"/>
          <p:cNvSpPr>
            <a:spLocks noGrp="1"/>
          </p:cNvSpPr>
          <p:nvPr>
            <p:ph type="title"/>
          </p:nvPr>
        </p:nvSpPr>
        <p:spPr/>
        <p:txBody>
          <a:bodyPr/>
          <a:lstStyle/>
          <a:p>
            <a:r xmlns:a="http://schemas.openxmlformats.org/drawingml/2006/main">
              <a:rPr lang="ar" dirty="0" smtClean="0"/>
              <a:t>ميزات </a:t>
            </a:r>
            <a:endParaRPr xmlns:a="http://schemas.openxmlformats.org/drawingml/2006/main" lang="en-US" dirty="0"/>
            <a:r xmlns:a="http://schemas.openxmlformats.org/drawingml/2006/main">
              <a:rPr lang="ar" dirty="0"/>
              <a:t>البريد الإلكتروني</a:t>
            </a:r>
          </a:p>
        </p:txBody>
      </p:sp>
    </p:spTree>
    <p:extLst>
      <p:ext uri="{BB962C8B-B14F-4D97-AF65-F5344CB8AC3E}">
        <p14:creationId xmlns:p14="http://schemas.microsoft.com/office/powerpoint/2010/main" val="1932257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9489" y="1676400"/>
            <a:ext cx="11545677" cy="4565904"/>
          </a:xfrm>
        </p:spPr>
        <p:txBody>
          <a:bodyPr/>
          <a:lstStyle/>
          <a:p>
            <a:pPr xmlns:a="http://schemas.openxmlformats.org/drawingml/2006/main" marL="0" indent="0">
              <a:buNone/>
              <a:bidi/>
            </a:pPr>
            <a:r xmlns:a="http://schemas.openxmlformats.org/drawingml/2006/main">
              <a:rPr lang="ar" sz="2200" b="1" dirty="0" smtClean="0">
                <a:latin typeface="Times" pitchFamily="18" charset="0"/>
              </a:rPr>
              <a:t>2- دفتر العناوين:</a:t>
            </a:r>
            <a:endParaRPr xmlns:a="http://schemas.openxmlformats.org/drawingml/2006/main" lang="en-US" sz="2200" b="1" dirty="0">
              <a:latin typeface="Times" pitchFamily="18" charset="0"/>
            </a:endParaRPr>
          </a:p>
          <a:p>
            <a:r xmlns:a="http://schemas.openxmlformats.org/drawingml/2006/main">
              <a:rPr lang="ar" sz="2200" dirty="0">
                <a:latin typeface="Times" pitchFamily="18" charset="0"/>
              </a:rPr>
              <a:t>تتيح ميزة دفتر العناوين لبرنامج البريد للمستخدمين تخزين معلومات حول الأشخاص الذين يتواصلون معهم بانتظام عن طريق إرسال رسائل بريد إلكتروني. فيما يلي بعض الميزات الرئيسية لدفتر العناوين:</a:t>
            </a:r>
          </a:p>
          <a:p>
            <a:r xmlns:a="http://schemas.openxmlformats.org/drawingml/2006/main">
              <a:rPr lang="ar" sz="2200" dirty="0">
                <a:latin typeface="Times" pitchFamily="18" charset="0"/>
              </a:rPr>
              <a:t>يتضمن دفتر العناوين </a:t>
            </a:r>
            <a:r xmlns:a="http://schemas.openxmlformats.org/drawingml/2006/main">
              <a:rPr lang="ar" sz="2200" b="1" dirty="0" smtClean="0">
                <a:latin typeface="Times" pitchFamily="18" charset="0"/>
              </a:rPr>
              <a:t>الأسماء </a:t>
            </a:r>
            <a:r xmlns:a="http://schemas.openxmlformats.org/drawingml/2006/main">
              <a:rPr lang="ar" sz="2200" b="1" dirty="0">
                <a:latin typeface="Times" pitchFamily="18" charset="0"/>
              </a:rPr>
              <a:t>وعناوين البريد الإلكتروني </a:t>
            </a:r>
            <a:r xmlns:a="http://schemas.openxmlformats.org/drawingml/2006/main">
              <a:rPr lang="ar" sz="2200" dirty="0">
                <a:latin typeface="Times" pitchFamily="18" charset="0"/>
              </a:rPr>
              <a:t>ورقم </a:t>
            </a:r>
            <a:r xmlns:a="http://schemas.openxmlformats.org/drawingml/2006/main">
              <a:rPr lang="ar" sz="2200" b="1" dirty="0">
                <a:latin typeface="Times" pitchFamily="18" charset="0"/>
              </a:rPr>
              <a:t>الهاتف </a:t>
            </a:r>
            <a:r xmlns:a="http://schemas.openxmlformats.org/drawingml/2006/main">
              <a:rPr lang="ar" sz="2200" dirty="0">
                <a:latin typeface="Times" pitchFamily="18" charset="0"/>
              </a:rPr>
              <a:t>وما </a:t>
            </a:r>
            <a:r xmlns:a="http://schemas.openxmlformats.org/drawingml/2006/main">
              <a:rPr lang="ar" sz="2200" dirty="0">
                <a:latin typeface="Times" pitchFamily="18" charset="0"/>
              </a:rPr>
              <a:t>إلى ذلك للأشخاص.</a:t>
            </a:r>
          </a:p>
          <a:p>
            <a:r xmlns:a="http://schemas.openxmlformats.org/drawingml/2006/main">
              <a:rPr lang="ar" sz="2200" dirty="0">
                <a:latin typeface="Times" pitchFamily="18" charset="0"/>
              </a:rPr>
              <a:t>يسمح لنا استخدام دفتر العناوين بعدم حفظ البريد الإلكتروني لعنوان شخص ما ، ما عليك سوى تحديد اسم المستلم من القائمة.</a:t>
            </a:r>
          </a:p>
          <a:p>
            <a:r xmlns:a="http://schemas.openxmlformats.org/drawingml/2006/main">
              <a:rPr lang="ar" sz="2200" dirty="0">
                <a:latin typeface="Times" pitchFamily="18" charset="0"/>
              </a:rPr>
              <a:t>عند تحديد اسم معين من القائمة ، يتم تلقائيًا إدراج ارتباط عنوان البريد الإلكتروني المقابل في </a:t>
            </a:r>
            <a:r xmlns:a="http://schemas.openxmlformats.org/drawingml/2006/main">
              <a:rPr lang="ar" sz="2200" dirty="0">
                <a:latin typeface="Times" pitchFamily="18" charset="0"/>
              </a:rPr>
              <a:t>الحقل " </a:t>
            </a:r>
            <a:r xmlns:a="http://schemas.openxmlformats.org/drawingml/2006/main">
              <a:rPr lang="ar" sz="2200" b="1" dirty="0">
                <a:latin typeface="Times" pitchFamily="18" charset="0"/>
              </a:rPr>
              <a:t>إلى:" .</a:t>
            </a:r>
          </a:p>
          <a:p>
            <a:r xmlns:a="http://schemas.openxmlformats.org/drawingml/2006/main">
              <a:rPr lang="ar" sz="2200" dirty="0">
                <a:latin typeface="Times" pitchFamily="18" charset="0"/>
              </a:rPr>
              <a:t>يسمح دفتر العناوين أيضًا بإنشاء مجموعة بحيث يمكنك إرسال بريد إلكتروني إلى عضو المجموعة دفعة واحدة بدلاً من إعطاء عنوان بريد إلكتروني لكل شخص واحدًا تلو الآخر </a:t>
            </a:r>
            <a:r xmlns:a="http://schemas.openxmlformats.org/drawingml/2006/main">
              <a:rPr lang="ar" sz="2000" dirty="0">
                <a:latin typeface="Times" pitchFamily="18" charset="0"/>
              </a:rPr>
              <a:t>.</a:t>
            </a:r>
          </a:p>
          <a:p>
            <a:endParaRPr lang="en-US" sz="20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11</a:t>
            </a:fld>
            <a:endParaRPr lang="en-US"/>
          </a:p>
        </p:txBody>
      </p:sp>
      <p:sp>
        <p:nvSpPr>
          <p:cNvPr id="7" name="Title 1"/>
          <p:cNvSpPr>
            <a:spLocks noGrp="1"/>
          </p:cNvSpPr>
          <p:nvPr>
            <p:ph type="title"/>
          </p:nvPr>
        </p:nvSpPr>
        <p:spPr/>
        <p:txBody>
          <a:bodyPr/>
          <a:lstStyle/>
          <a:p>
            <a:r xmlns:a="http://schemas.openxmlformats.org/drawingml/2006/main">
              <a:rPr lang="ar" dirty="0" smtClean="0"/>
              <a:t>ميزات </a:t>
            </a:r>
            <a:endParaRPr xmlns:a="http://schemas.openxmlformats.org/drawingml/2006/main" lang="en-US" dirty="0"/>
            <a:r xmlns:a="http://schemas.openxmlformats.org/drawingml/2006/main">
              <a:rPr lang="ar" dirty="0"/>
              <a:t>البريد الإلكتروني</a:t>
            </a:r>
          </a:p>
        </p:txBody>
      </p:sp>
    </p:spTree>
    <p:extLst>
      <p:ext uri="{BB962C8B-B14F-4D97-AF65-F5344CB8AC3E}">
        <p14:creationId xmlns:p14="http://schemas.microsoft.com/office/powerpoint/2010/main" val="1203441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ar" dirty="0" smtClean="0"/>
              <a:t>أمن </a:t>
            </a:r>
            <a:endParaRPr xmlns:a="http://schemas.openxmlformats.org/drawingml/2006/main" lang="en-US" dirty="0"/>
            <a:r xmlns:a="http://schemas.openxmlformats.org/drawingml/2006/main">
              <a:rPr lang="ar" dirty="0"/>
              <a:t>البريد الإلكتروني</a:t>
            </a:r>
          </a:p>
        </p:txBody>
      </p:sp>
      <p:sp>
        <p:nvSpPr>
          <p:cNvPr id="3" name="Content Placeholder 2"/>
          <p:cNvSpPr>
            <a:spLocks noGrp="1"/>
          </p:cNvSpPr>
          <p:nvPr>
            <p:ph idx="1"/>
          </p:nvPr>
        </p:nvSpPr>
        <p:spPr>
          <a:xfrm>
            <a:off x="264405" y="1905000"/>
            <a:ext cx="11743981" cy="4325112"/>
          </a:xfrm>
        </p:spPr>
        <p:txBody>
          <a:bodyPr/>
          <a:lstStyle/>
          <a:p>
            <a:pPr xmlns:a="http://schemas.openxmlformats.org/drawingml/2006/main" marL="0" indent="0">
              <a:buNone/>
              <a:bidi/>
            </a:pPr>
            <a:r xmlns:a="http://schemas.openxmlformats.org/drawingml/2006/main">
              <a:rPr lang="ar" sz="2400" b="1" dirty="0" smtClean="0">
                <a:latin typeface="Times" pitchFamily="18" charset="0"/>
              </a:rPr>
              <a:t>قرصنة </a:t>
            </a:r>
            <a:endParaRPr xmlns:a="http://schemas.openxmlformats.org/drawingml/2006/main" lang="en-US" sz="2400" b="1" dirty="0">
              <a:latin typeface="Times" pitchFamily="18" charset="0"/>
            </a:endParaRPr>
            <a:r xmlns:a="http://schemas.openxmlformats.org/drawingml/2006/main">
              <a:rPr lang="ar" sz="2400" b="1" dirty="0">
                <a:latin typeface="Times" pitchFamily="18" charset="0"/>
              </a:rPr>
              <a:t>البريد الإلكتروني :</a:t>
            </a:r>
          </a:p>
          <a:p>
            <a:pPr xmlns:a="http://schemas.openxmlformats.org/drawingml/2006/main" marL="0" indent="0">
              <a:buNone/>
              <a:bidi/>
            </a:pPr>
            <a:r xmlns:a="http://schemas.openxmlformats.org/drawingml/2006/main">
              <a:rPr lang="ar" sz="2400" dirty="0">
                <a:latin typeface="Times" pitchFamily="18" charset="0"/>
              </a:rPr>
              <a:t>يمكن اختراق البريد الإلكتروني بأي من الطرق التالية:</a:t>
            </a:r>
          </a:p>
          <a:p>
            <a:r xmlns:a="http://schemas.openxmlformats.org/drawingml/2006/main">
              <a:rPr lang="ar" sz="2400" dirty="0">
                <a:latin typeface="Times" pitchFamily="18" charset="0"/>
              </a:rPr>
              <a:t>رسائل إلكترونية مزعجة</a:t>
            </a:r>
          </a:p>
          <a:p>
            <a:r xmlns:a="http://schemas.openxmlformats.org/drawingml/2006/main">
              <a:rPr lang="ar" sz="2400" dirty="0">
                <a:latin typeface="Times" pitchFamily="18" charset="0"/>
              </a:rPr>
              <a:t>فايروس</a:t>
            </a:r>
          </a:p>
          <a:p>
            <a:r xmlns:a="http://schemas.openxmlformats.org/drawingml/2006/main">
              <a:rPr lang="ar" sz="2400" dirty="0">
                <a:latin typeface="Times" pitchFamily="18" charset="0"/>
              </a:rPr>
              <a:t>التصيد</a:t>
            </a:r>
          </a:p>
          <a:p>
            <a:pPr xmlns:a="http://schemas.openxmlformats.org/drawingml/2006/main" marL="0" indent="0">
              <a:buNone/>
              <a:bidi/>
            </a:pPr>
            <a:r xmlns:a="http://schemas.openxmlformats.org/drawingml/2006/main">
              <a:rPr lang="ar" sz="2400" b="1" dirty="0" smtClean="0">
                <a:latin typeface="Times" pitchFamily="18" charset="0"/>
              </a:rPr>
              <a:t>1. البريد العشوائي:</a:t>
            </a:r>
            <a:endParaRPr xmlns:a="http://schemas.openxmlformats.org/drawingml/2006/main" lang="en-US" sz="2400" b="1" dirty="0">
              <a:latin typeface="Times" pitchFamily="18" charset="0"/>
            </a:endParaRPr>
          </a:p>
          <a:p>
            <a:pPr xmlns:a="http://schemas.openxmlformats.org/drawingml/2006/main" marL="0" indent="0">
              <a:buNone/>
              <a:bidi/>
            </a:pPr>
            <a:r xmlns:a="http://schemas.openxmlformats.org/drawingml/2006/main">
              <a:rPr lang="ar" sz="2400" dirty="0">
                <a:latin typeface="Times" pitchFamily="18" charset="0"/>
              </a:rPr>
              <a:t>البريد الإلكتروني العشوائي هو عملية إرسال </a:t>
            </a:r>
            <a:r xmlns:a="http://schemas.openxmlformats.org/drawingml/2006/main">
              <a:rPr lang="ar" sz="2400" b="1" dirty="0">
                <a:latin typeface="Times" pitchFamily="18" charset="0"/>
              </a:rPr>
              <a:t>رسائل بريد إلكتروني مجمعة غير مرغوب فيها (UBI) </a:t>
            </a:r>
            <a:r xmlns:a="http://schemas.openxmlformats.org/drawingml/2006/main">
              <a:rPr lang="ar" sz="2400" dirty="0">
                <a:latin typeface="Times" pitchFamily="18" charset="0"/>
              </a:rPr>
              <a:t>لم يطلبها أحد. البريد الإلكتروني العشوائي هو رسائل البريد الإلكتروني العشوائية التي ترسلها الشركات التجارية كإعلان عن منتجاتها وخدماتها.</a:t>
            </a:r>
          </a:p>
          <a:p>
            <a:endParaRPr lang="en-US" sz="24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12</a:t>
            </a:fld>
            <a:endParaRPr lang="en-US"/>
          </a:p>
        </p:txBody>
      </p:sp>
    </p:spTree>
    <p:extLst>
      <p:ext uri="{BB962C8B-B14F-4D97-AF65-F5344CB8AC3E}">
        <p14:creationId xmlns:p14="http://schemas.microsoft.com/office/powerpoint/2010/main" val="29955086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1692" y="1905000"/>
            <a:ext cx="11281272" cy="4038600"/>
          </a:xfrm>
        </p:spPr>
        <p:txBody>
          <a:bodyPr/>
          <a:lstStyle/>
          <a:p>
            <a:pPr xmlns:a="http://schemas.openxmlformats.org/drawingml/2006/main" marL="0" indent="0">
              <a:buNone/>
              <a:bidi/>
            </a:pPr>
            <a:r xmlns:a="http://schemas.openxmlformats.org/drawingml/2006/main">
              <a:rPr lang="ar" sz="2400" b="1" dirty="0" smtClean="0">
                <a:latin typeface="Times" pitchFamily="18" charset="0"/>
              </a:rPr>
              <a:t>2- الفيروس:</a:t>
            </a:r>
            <a:endParaRPr xmlns:a="http://schemas.openxmlformats.org/drawingml/2006/main" lang="en-US" sz="2400" b="1" dirty="0">
              <a:latin typeface="Times" pitchFamily="18" charset="0"/>
            </a:endParaRPr>
          </a:p>
          <a:p>
            <a:pPr xmlns:a="http://schemas.openxmlformats.org/drawingml/2006/main" marL="0" indent="0">
              <a:buNone/>
              <a:bidi/>
            </a:pPr>
            <a:r xmlns:a="http://schemas.openxmlformats.org/drawingml/2006/main">
              <a:rPr lang="ar" sz="2400" dirty="0">
                <a:latin typeface="Times" pitchFamily="18" charset="0"/>
              </a:rPr>
              <a:t>قد يتم دمج بعض رسائل البريد الإلكتروني مع ملفات تحتوي على نصوص ضارة والتي قد تؤدي عند تشغيلها على جهاز الكمبيوتر الخاص بك إلى تدمير بياناتك المهمة.</a:t>
            </a:r>
          </a:p>
          <a:p>
            <a:pPr xmlns:a="http://schemas.openxmlformats.org/drawingml/2006/main" marL="0" indent="0">
              <a:buNone/>
              <a:bidi/>
            </a:pPr>
            <a:r xmlns:a="http://schemas.openxmlformats.org/drawingml/2006/main">
              <a:rPr lang="ar" sz="2400" b="1" dirty="0" smtClean="0">
                <a:latin typeface="Times" pitchFamily="18" charset="0"/>
              </a:rPr>
              <a:t>3-التصيد:</a:t>
            </a:r>
            <a:endParaRPr xmlns:a="http://schemas.openxmlformats.org/drawingml/2006/main" lang="en-US" sz="2400" b="1" dirty="0">
              <a:latin typeface="Times" pitchFamily="18" charset="0"/>
            </a:endParaRPr>
          </a:p>
          <a:p>
            <a:pPr xmlns:a="http://schemas.openxmlformats.org/drawingml/2006/main" marL="0" indent="0">
              <a:buNone/>
              <a:bidi/>
            </a:pPr>
            <a:r xmlns:a="http://schemas.openxmlformats.org/drawingml/2006/main">
              <a:rPr lang="ar" sz="2400" dirty="0">
                <a:latin typeface="Times" pitchFamily="18" charset="0"/>
              </a:rPr>
              <a:t>التصيد الاحتيالي عبر البريد الإلكتروني هو نشاط لإرسال رسائل بريد إلكتروني إلى مستخدم يدعي أنه مؤسسة شرعية. والغرض الرئيسي منه هو سرقة المعلومات الحساسة مثل أسماء المستخدمين وكلمات المرور وتفاصيل بطاقة الائتمان.</a:t>
            </a:r>
          </a:p>
          <a:p>
            <a:pPr xmlns:a="http://schemas.openxmlformats.org/drawingml/2006/main" marL="0" indent="0">
              <a:buNone/>
              <a:bidi/>
            </a:pPr>
            <a:r xmlns:a="http://schemas.openxmlformats.org/drawingml/2006/main">
              <a:rPr lang="ar" sz="2400" dirty="0">
                <a:latin typeface="Times" pitchFamily="18" charset="0"/>
              </a:rPr>
              <a:t>تحتوي رسائل البريد الإلكتروني هذه على رابط إلى مواقع ويب مصابة ببرامج ضارة وتوجه المستخدم إلى إدخال التفاصيل في موقع ويب مزيف يتشابه شكله ومظهره مع الموقع الشرعي.</a:t>
            </a:r>
          </a:p>
          <a:p>
            <a:pPr marL="0" indent="0">
              <a:buNone/>
            </a:pPr>
            <a:endParaRPr lang="en-US" sz="24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13</a:t>
            </a:fld>
            <a:endParaRPr lang="en-US"/>
          </a:p>
        </p:txBody>
      </p:sp>
      <p:sp>
        <p:nvSpPr>
          <p:cNvPr id="7" name="Title 1"/>
          <p:cNvSpPr>
            <a:spLocks noGrp="1"/>
          </p:cNvSpPr>
          <p:nvPr>
            <p:ph type="title"/>
          </p:nvPr>
        </p:nvSpPr>
        <p:spPr/>
        <p:txBody>
          <a:bodyPr/>
          <a:lstStyle/>
          <a:p>
            <a:r xmlns:a="http://schemas.openxmlformats.org/drawingml/2006/main">
              <a:rPr lang="ar" dirty="0" smtClean="0"/>
              <a:t>أمن </a:t>
            </a:r>
            <a:endParaRPr xmlns:a="http://schemas.openxmlformats.org/drawingml/2006/main" lang="en-US" dirty="0"/>
            <a:r xmlns:a="http://schemas.openxmlformats.org/drawingml/2006/main">
              <a:rPr lang="ar" dirty="0"/>
              <a:t>البريد الإلكتروني</a:t>
            </a:r>
          </a:p>
        </p:txBody>
      </p:sp>
    </p:spTree>
    <p:extLst>
      <p:ext uri="{BB962C8B-B14F-4D97-AF65-F5344CB8AC3E}">
        <p14:creationId xmlns:p14="http://schemas.microsoft.com/office/powerpoint/2010/main" val="3732685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ar" dirty="0" smtClean="0"/>
              <a:t>عمليات </a:t>
            </a:r>
            <a:endParaRPr xmlns:a="http://schemas.openxmlformats.org/drawingml/2006/main" lang="en-US" dirty="0"/>
            <a:r xmlns:a="http://schemas.openxmlformats.org/drawingml/2006/main">
              <a:rPr lang="ar" dirty="0"/>
              <a:t>البريد الإلكتروني</a:t>
            </a:r>
          </a:p>
        </p:txBody>
      </p:sp>
      <p:sp>
        <p:nvSpPr>
          <p:cNvPr id="3" name="Content Placeholder 2"/>
          <p:cNvSpPr>
            <a:spLocks noGrp="1"/>
          </p:cNvSpPr>
          <p:nvPr>
            <p:ph idx="1"/>
          </p:nvPr>
        </p:nvSpPr>
        <p:spPr>
          <a:xfrm>
            <a:off x="341524" y="1752600"/>
            <a:ext cx="5662670" cy="4038600"/>
          </a:xfrm>
        </p:spPr>
        <p:txBody>
          <a:bodyPr/>
          <a:lstStyle/>
          <a:p>
            <a:pPr xmlns:a="http://schemas.openxmlformats.org/drawingml/2006/main" marL="0" indent="0">
              <a:buNone/>
              <a:bidi/>
            </a:pPr>
            <a:r xmlns:a="http://schemas.openxmlformats.org/drawingml/2006/main">
              <a:rPr lang="ar" sz="2800" b="1" dirty="0">
                <a:latin typeface="Times" pitchFamily="18" charset="0"/>
              </a:rPr>
              <a:t>إنشاء حساب بريد إلكتروني:</a:t>
            </a:r>
          </a:p>
          <a:p>
            <a:pPr xmlns:a="http://schemas.openxmlformats.org/drawingml/2006/main" marL="0" indent="0">
              <a:buNone/>
              <a:bidi/>
            </a:pPr>
            <a:r xmlns:a="http://schemas.openxmlformats.org/drawingml/2006/main">
              <a:rPr lang="ar" sz="2800" dirty="0" smtClean="0">
                <a:latin typeface="Times" pitchFamily="18" charset="0"/>
              </a:rPr>
              <a:t>هناك </a:t>
            </a:r>
            <a:r xmlns:a="http://schemas.openxmlformats.org/drawingml/2006/main">
              <a:rPr lang="ar" sz="2800" dirty="0">
                <a:latin typeface="Times" pitchFamily="18" charset="0"/>
              </a:rPr>
              <a:t>العديد من مزودي خدمة البريد الإلكتروني المتاحة مثل </a:t>
            </a:r>
            <a:r xmlns:a="http://schemas.openxmlformats.org/drawingml/2006/main">
              <a:rPr lang="ar" sz="2800" b="1" dirty="0">
                <a:latin typeface="Times" pitchFamily="18" charset="0"/>
              </a:rPr>
              <a:t>Gmail و </a:t>
            </a:r>
            <a:r xmlns:a="http://schemas.openxmlformats.org/drawingml/2006/main">
              <a:rPr lang="ar" sz="2800" b="1" dirty="0" err="1">
                <a:latin typeface="Times" pitchFamily="18" charset="0"/>
              </a:rPr>
              <a:t>hotmail </a:t>
            </a:r>
            <a:r xmlns:a="http://schemas.openxmlformats.org/drawingml/2006/main">
              <a:rPr lang="ar" sz="2800" b="1" dirty="0">
                <a:latin typeface="Times" pitchFamily="18" charset="0"/>
              </a:rPr>
              <a:t>و </a:t>
            </a:r>
            <a:r xmlns:a="http://schemas.openxmlformats.org/drawingml/2006/main">
              <a:rPr lang="ar" sz="2800" b="1" dirty="0" err="1">
                <a:latin typeface="Times" pitchFamily="18" charset="0"/>
              </a:rPr>
              <a:t>ymail </a:t>
            </a:r>
            <a:r xmlns:a="http://schemas.openxmlformats.org/drawingml/2006/main">
              <a:rPr lang="ar" sz="2800" b="1" dirty="0">
                <a:latin typeface="Times" pitchFamily="18" charset="0"/>
              </a:rPr>
              <a:t>و </a:t>
            </a:r>
            <a:r xmlns:a="http://schemas.openxmlformats.org/drawingml/2006/main">
              <a:rPr lang="ar" sz="2800" b="1" dirty="0" err="1">
                <a:latin typeface="Times" pitchFamily="18" charset="0"/>
              </a:rPr>
              <a:t>rediff </a:t>
            </a:r>
            <a:r xmlns:a="http://schemas.openxmlformats.org/drawingml/2006/main">
              <a:rPr lang="ar" sz="2800" b="1" dirty="0">
                <a:latin typeface="Times" pitchFamily="18" charset="0"/>
              </a:rPr>
              <a:t>mail </a:t>
            </a:r>
            <a:r xmlns:a="http://schemas.openxmlformats.org/drawingml/2006/main">
              <a:rPr lang="ar" sz="2800" dirty="0">
                <a:latin typeface="Times" pitchFamily="18" charset="0"/>
              </a:rPr>
              <a:t>وما إلى ذلك. هنا سنتعلم كيفية إنشاء حساب باستخدام Gmail.</a:t>
            </a:r>
          </a:p>
          <a:p>
            <a:pPr xmlns:a="http://schemas.openxmlformats.org/drawingml/2006/main" marL="0" indent="0">
              <a:buNone/>
              <a:bidi/>
            </a:pPr>
            <a:r xmlns:a="http://schemas.openxmlformats.org/drawingml/2006/main">
              <a:rPr lang="ar" sz="2800" dirty="0">
                <a:latin typeface="Times" pitchFamily="18" charset="0"/>
              </a:rPr>
              <a:t>افتح gmail.com وانقر فوق </a:t>
            </a:r>
            <a:r xmlns:a="http://schemas.openxmlformats.org/drawingml/2006/main">
              <a:rPr lang="ar" sz="2800" b="1" dirty="0">
                <a:latin typeface="Times" pitchFamily="18" charset="0"/>
              </a:rPr>
              <a:t>إنشاء حساب.</a:t>
            </a:r>
            <a:endParaRPr xmlns:a="http://schemas.openxmlformats.org/drawingml/2006/main" lang="en-US" sz="2800" dirty="0">
              <a:latin typeface="Times" pitchFamily="18" charset="0"/>
            </a:endParaRPr>
          </a:p>
          <a:p>
            <a:pPr xmlns:a="http://schemas.openxmlformats.org/drawingml/2006/main" marL="0" indent="0">
              <a:buNone/>
              <a:bidi/>
            </a:pPr>
            <a:r xmlns:a="http://schemas.openxmlformats.org/drawingml/2006/main">
              <a:rPr lang="ar" sz="2800" dirty="0">
                <a:latin typeface="Times" pitchFamily="18" charset="0"/>
              </a:rPr>
              <a:t>الآن سيظهر نموذج. املأ التفاصيل الخاصة بك هنا وانقر فوق </a:t>
            </a:r>
            <a:r xmlns:a="http://schemas.openxmlformats.org/drawingml/2006/main">
              <a:rPr lang="ar" sz="2800" b="1" dirty="0">
                <a:latin typeface="Times" pitchFamily="18" charset="0"/>
              </a:rPr>
              <a:t>الخطوة التالية.</a:t>
            </a:r>
            <a:endParaRPr xmlns:a="http://schemas.openxmlformats.org/drawingml/2006/main" lang="en-US" sz="2800" dirty="0">
              <a:latin typeface="Times" pitchFamily="18" charset="0"/>
            </a:endParaRPr>
          </a:p>
          <a:p>
            <a:pPr marL="0" indent="0">
              <a:buNone/>
            </a:pPr>
            <a:endParaRPr lang="en-US" sz="28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14</a:t>
            </a:fld>
            <a:endParaRPr lang="en-US"/>
          </a:p>
        </p:txBody>
      </p:sp>
      <p:pic>
        <p:nvPicPr>
          <p:cNvPr id="4098" name="Picture 2" descr="internet_technologies_tutori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0" y="1746250"/>
            <a:ext cx="5334000" cy="4581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2268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16000" y="1905000"/>
            <a:ext cx="4999210" cy="4038600"/>
          </a:xfrm>
        </p:spPr>
        <p:txBody>
          <a:bodyPr/>
          <a:lstStyle/>
          <a:p>
            <a:pPr xmlns:a="http://schemas.openxmlformats.org/drawingml/2006/main" marL="0" indent="0">
              <a:buNone/>
              <a:bidi/>
            </a:pPr>
            <a:r xmlns:a="http://schemas.openxmlformats.org/drawingml/2006/main">
              <a:rPr lang="ar" sz="2400" dirty="0">
                <a:latin typeface="Times" pitchFamily="18" charset="0"/>
              </a:rPr>
              <a:t>تسمح لك هذه الخطوة بإضافة صورتك. إذا كنت لا تريد التحميل الآن ، يمكنك القيام بذلك لاحقًا. انقر فوق </a:t>
            </a:r>
            <a:r xmlns:a="http://schemas.openxmlformats.org/drawingml/2006/main">
              <a:rPr lang="ar" sz="2400" b="1" dirty="0">
                <a:latin typeface="Times" pitchFamily="18" charset="0"/>
              </a:rPr>
              <a:t>الخطوة التالية.</a:t>
            </a:r>
            <a:endParaRPr xmlns:a="http://schemas.openxmlformats.org/drawingml/2006/main" lang="en-US" sz="2400" dirty="0">
              <a:latin typeface="Times" pitchFamily="18" charset="0"/>
            </a:endParaRPr>
          </a:p>
          <a:p>
            <a:pPr xmlns:a="http://schemas.openxmlformats.org/drawingml/2006/main" marL="0" indent="0">
              <a:buNone/>
              <a:bidi/>
            </a:pPr>
            <a:r xmlns:a="http://schemas.openxmlformats.org/drawingml/2006/main">
              <a:rPr lang="ar" sz="2400" dirty="0">
                <a:latin typeface="Times" pitchFamily="18" charset="0"/>
              </a:rPr>
              <a:t>الآن تظهر نافذة ترحيب. انقر فوق </a:t>
            </a:r>
            <a:r xmlns:a="http://schemas.openxmlformats.org/drawingml/2006/main">
              <a:rPr lang="ar" sz="2400" b="1" dirty="0">
                <a:latin typeface="Times" pitchFamily="18" charset="0"/>
              </a:rPr>
              <a:t>متابعة إلى Gmail.</a:t>
            </a:r>
            <a:endParaRPr xmlns:a="http://schemas.openxmlformats.org/drawingml/2006/main" lang="en-US" sz="2400" dirty="0">
              <a:latin typeface="Times" pitchFamily="18" charset="0"/>
            </a:endParaRPr>
          </a:p>
          <a:p>
            <a:pPr xmlns:a="http://schemas.openxmlformats.org/drawingml/2006/main" marL="0" indent="0">
              <a:buNone/>
              <a:bidi/>
            </a:pPr>
            <a:r xmlns:a="http://schemas.openxmlformats.org/drawingml/2006/main">
              <a:rPr lang="ar" sz="2400" dirty="0">
                <a:latin typeface="Times" pitchFamily="18" charset="0"/>
              </a:rPr>
              <a:t>رائع!! لقد انتهيت من إنشاء حساب بريدك الإلكتروني مع Gmail. انه من السهل. أليس كذلك؟</a:t>
            </a:r>
          </a:p>
          <a:p>
            <a:pPr xmlns:a="http://schemas.openxmlformats.org/drawingml/2006/main" marL="0" indent="0">
              <a:buNone/>
              <a:bidi/>
            </a:pPr>
            <a:r xmlns:a="http://schemas.openxmlformats.org/drawingml/2006/main">
              <a:rPr lang="ar" sz="2400" dirty="0">
                <a:latin typeface="Times" pitchFamily="18" charset="0"/>
              </a:rPr>
              <a:t>الآن سترى حساب Gmail الخاص بك كما هو موضح في الصورة التالية:</a:t>
            </a:r>
          </a:p>
          <a:p>
            <a:pPr marL="0" indent="0">
              <a:buNone/>
            </a:pPr>
            <a:endParaRPr lang="en-US" sz="24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15</a:t>
            </a:fld>
            <a:endParaRPr lang="en-US"/>
          </a:p>
        </p:txBody>
      </p:sp>
      <p:pic>
        <p:nvPicPr>
          <p:cNvPr id="5122" name="Picture 2" descr="internet_technologies_tutori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2313" y="1984875"/>
            <a:ext cx="5715000" cy="3667126"/>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p:cNvSpPr>
            <a:spLocks noGrp="1"/>
          </p:cNvSpPr>
          <p:nvPr>
            <p:ph type="title"/>
          </p:nvPr>
        </p:nvSpPr>
        <p:spPr/>
        <p:txBody>
          <a:bodyPr/>
          <a:lstStyle/>
          <a:p>
            <a:r xmlns:a="http://schemas.openxmlformats.org/drawingml/2006/main">
              <a:rPr lang="ar" dirty="0" smtClean="0"/>
              <a:t>عمليات </a:t>
            </a:r>
            <a:endParaRPr xmlns:a="http://schemas.openxmlformats.org/drawingml/2006/main" lang="en-US" dirty="0"/>
            <a:r xmlns:a="http://schemas.openxmlformats.org/drawingml/2006/main">
              <a:rPr lang="ar" dirty="0"/>
              <a:t>البريد الإلكتروني</a:t>
            </a:r>
          </a:p>
        </p:txBody>
      </p:sp>
    </p:spTree>
    <p:extLst>
      <p:ext uri="{BB962C8B-B14F-4D97-AF65-F5344CB8AC3E}">
        <p14:creationId xmlns:p14="http://schemas.microsoft.com/office/powerpoint/2010/main" val="1687540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6095" y="1905000"/>
            <a:ext cx="10829581" cy="4038600"/>
          </a:xfrm>
        </p:spPr>
        <p:txBody>
          <a:bodyPr/>
          <a:lstStyle/>
          <a:p>
            <a:pPr xmlns:a="http://schemas.openxmlformats.org/drawingml/2006/main" marL="0" indent="0">
              <a:buNone/>
              <a:bidi/>
            </a:pPr>
            <a:r xmlns:a="http://schemas.openxmlformats.org/drawingml/2006/main">
              <a:rPr lang="ar" b="1" dirty="0">
                <a:latin typeface="Times" pitchFamily="18" charset="0"/>
              </a:rPr>
              <a:t>النقاط الرئيسية:</a:t>
            </a:r>
            <a:endParaRPr xmlns:a="http://schemas.openxmlformats.org/drawingml/2006/main" lang="en-US" dirty="0">
              <a:latin typeface="Times" pitchFamily="18" charset="0"/>
            </a:endParaRPr>
          </a:p>
          <a:p>
            <a:r xmlns:a="http://schemas.openxmlformats.org/drawingml/2006/main">
              <a:rPr lang="ar" sz="2800" dirty="0">
                <a:latin typeface="Times" pitchFamily="18" charset="0"/>
              </a:rPr>
              <a:t>يدير Gmail البريد إلى ثلاث فئات هي </a:t>
            </a:r>
            <a:r xmlns:a="http://schemas.openxmlformats.org/drawingml/2006/main">
              <a:rPr lang="ar" sz="2800" b="1" dirty="0">
                <a:latin typeface="Times" pitchFamily="18" charset="0"/>
              </a:rPr>
              <a:t>الأساسي ، والاجتماعي </a:t>
            </a:r>
            <a:r xmlns:a="http://schemas.openxmlformats.org/drawingml/2006/main">
              <a:rPr lang="ar" sz="2800" dirty="0">
                <a:latin typeface="Times" pitchFamily="18" charset="0"/>
              </a:rPr>
              <a:t>، والعروض </a:t>
            </a:r>
            <a:r xmlns:a="http://schemas.openxmlformats.org/drawingml/2006/main">
              <a:rPr lang="ar" sz="2800" b="1" dirty="0">
                <a:latin typeface="Times" pitchFamily="18" charset="0"/>
              </a:rPr>
              <a:t>الترويجية.</a:t>
            </a:r>
            <a:endParaRPr xmlns:a="http://schemas.openxmlformats.org/drawingml/2006/main" lang="en-US" sz="2800" dirty="0">
              <a:latin typeface="Times" pitchFamily="18" charset="0"/>
            </a:endParaRPr>
          </a:p>
          <a:p>
            <a:r xmlns:a="http://schemas.openxmlformats.org/drawingml/2006/main">
              <a:rPr lang="ar" sz="2800" b="1" dirty="0">
                <a:latin typeface="Times" pitchFamily="18" charset="0"/>
              </a:rPr>
              <a:t>الإنشاء </a:t>
            </a:r>
            <a:r xmlns:a="http://schemas.openxmlformats.org/drawingml/2006/main">
              <a:rPr lang="ar" sz="2800" dirty="0">
                <a:latin typeface="Times" pitchFamily="18" charset="0"/>
              </a:rPr>
              <a:t>على اليمين لإنشاء رسالة بريد إلكتروني.</a:t>
            </a:r>
          </a:p>
          <a:p>
            <a:r xmlns:a="http://schemas.openxmlformats.org/drawingml/2006/main">
              <a:rPr lang="ar" sz="2800" b="1" dirty="0">
                <a:latin typeface="Times" pitchFamily="18" charset="0"/>
              </a:rPr>
              <a:t>صندوق الوارد ، المميز بنجمة ، البريد المرسل ، خيارات المسودات </a:t>
            </a:r>
            <a:r xmlns:a="http://schemas.openxmlformats.org/drawingml/2006/main">
              <a:rPr lang="ar" sz="2800" dirty="0">
                <a:latin typeface="Times" pitchFamily="18" charset="0"/>
              </a:rPr>
              <a:t>متاحة في الجزء الأيمن مما يسمح لك بتتبع رسائل البريد الإلكتروني الخاصة بك.</a:t>
            </a:r>
          </a:p>
          <a:p>
            <a:pPr marL="0" indent="0">
              <a:buNone/>
            </a:pPr>
            <a:endParaRPr lang="en-US"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16</a:t>
            </a:fld>
            <a:endParaRPr lang="en-US"/>
          </a:p>
        </p:txBody>
      </p:sp>
      <p:sp>
        <p:nvSpPr>
          <p:cNvPr id="7" name="Title 1"/>
          <p:cNvSpPr>
            <a:spLocks noGrp="1"/>
          </p:cNvSpPr>
          <p:nvPr>
            <p:ph type="title"/>
          </p:nvPr>
        </p:nvSpPr>
        <p:spPr/>
        <p:txBody>
          <a:bodyPr/>
          <a:lstStyle/>
          <a:p>
            <a:r xmlns:a="http://schemas.openxmlformats.org/drawingml/2006/main">
              <a:rPr lang="ar" dirty="0" smtClean="0"/>
              <a:t>عمليات </a:t>
            </a:r>
            <a:endParaRPr xmlns:a="http://schemas.openxmlformats.org/drawingml/2006/main" lang="en-US" dirty="0"/>
            <a:r xmlns:a="http://schemas.openxmlformats.org/drawingml/2006/main">
              <a:rPr lang="ar" dirty="0"/>
              <a:t>البريد الإلكتروني</a:t>
            </a:r>
          </a:p>
        </p:txBody>
      </p:sp>
    </p:spTree>
    <p:extLst>
      <p:ext uri="{BB962C8B-B14F-4D97-AF65-F5344CB8AC3E}">
        <p14:creationId xmlns:p14="http://schemas.microsoft.com/office/powerpoint/2010/main" val="2278989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xmlns:a="http://schemas.openxmlformats.org/drawingml/2006/main" marL="0" indent="0">
              <a:buNone/>
              <a:bidi/>
            </a:pPr>
            <a:r xmlns:a="http://schemas.openxmlformats.org/drawingml/2006/main">
              <a:rPr lang="ar" sz="2400" b="1" dirty="0" smtClean="0">
                <a:latin typeface="Times" pitchFamily="18" charset="0"/>
              </a:rPr>
              <a:t>1- تكوين </a:t>
            </a:r>
            <a:r xmlns:a="http://schemas.openxmlformats.org/drawingml/2006/main">
              <a:rPr lang="ar" sz="2400" b="1" dirty="0">
                <a:latin typeface="Times" pitchFamily="18" charset="0"/>
              </a:rPr>
              <a:t>وإرسال </a:t>
            </a:r>
            <a:r xmlns:a="http://schemas.openxmlformats.org/drawingml/2006/main">
              <a:rPr lang="ar" sz="2400" b="1" dirty="0" smtClean="0">
                <a:latin typeface="Times" pitchFamily="18" charset="0"/>
              </a:rPr>
              <a:t>بريد إلكتروني:</a:t>
            </a:r>
            <a:endParaRPr xmlns:a="http://schemas.openxmlformats.org/drawingml/2006/main" lang="en-US" sz="2400" b="1" dirty="0">
              <a:latin typeface="Times" pitchFamily="18" charset="0"/>
            </a:endParaRPr>
          </a:p>
          <a:p>
            <a:r xmlns:a="http://schemas.openxmlformats.org/drawingml/2006/main">
              <a:rPr lang="ar" sz="2400" dirty="0">
                <a:latin typeface="Times" pitchFamily="18" charset="0"/>
              </a:rPr>
              <a:t>قبل إرسال بريد إلكتروني ، نحتاج إلى إنشاء رسالة. عندما نقوم بإنشاء رسالة بريد إلكتروني ، فإننا نحدد الأشياء التالية:</a:t>
            </a:r>
          </a:p>
          <a:p>
            <a:r xmlns:a="http://schemas.openxmlformats.org/drawingml/2006/main">
              <a:rPr lang="ar" sz="2400" dirty="0">
                <a:latin typeface="Times" pitchFamily="18" charset="0"/>
              </a:rPr>
              <a:t>عنوان المرسل في الحقل "إلى"</a:t>
            </a:r>
          </a:p>
          <a:p>
            <a:r xmlns:a="http://schemas.openxmlformats.org/drawingml/2006/main">
              <a:rPr lang="ar" sz="2400" dirty="0">
                <a:latin typeface="Times" pitchFamily="18" charset="0"/>
              </a:rPr>
              <a:t>نسخة (إذا لزم الأمر)</a:t>
            </a:r>
          </a:p>
          <a:p>
            <a:r xmlns:a="http://schemas.openxmlformats.org/drawingml/2006/main">
              <a:rPr lang="ar" sz="2400" dirty="0">
                <a:latin typeface="Times" pitchFamily="18" charset="0"/>
              </a:rPr>
              <a:t>نسخة مخفية الوجهة (إذا لزم الأمر)</a:t>
            </a:r>
          </a:p>
          <a:p>
            <a:r xmlns:a="http://schemas.openxmlformats.org/drawingml/2006/main">
              <a:rPr lang="ar" sz="2400" dirty="0">
                <a:latin typeface="Times" pitchFamily="18" charset="0"/>
              </a:rPr>
              <a:t>موضوع رسالة البريد الإلكتروني</a:t>
            </a:r>
          </a:p>
          <a:p>
            <a:r xmlns:a="http://schemas.openxmlformats.org/drawingml/2006/main">
              <a:rPr lang="ar" sz="2400" dirty="0">
                <a:latin typeface="Times" pitchFamily="18" charset="0"/>
              </a:rPr>
              <a:t>نص</a:t>
            </a:r>
          </a:p>
          <a:p>
            <a:r xmlns:a="http://schemas.openxmlformats.org/drawingml/2006/main">
              <a:rPr lang="ar" sz="2400" dirty="0">
                <a:latin typeface="Times" pitchFamily="18" charset="0"/>
              </a:rPr>
              <a:t>إمضاء</a:t>
            </a:r>
          </a:p>
          <a:p>
            <a:endParaRPr lang="en-US" sz="24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17</a:t>
            </a:fld>
            <a:endParaRPr lang="en-US"/>
          </a:p>
        </p:txBody>
      </p:sp>
      <p:sp>
        <p:nvSpPr>
          <p:cNvPr id="7" name="Title 1"/>
          <p:cNvSpPr>
            <a:spLocks noGrp="1"/>
          </p:cNvSpPr>
          <p:nvPr>
            <p:ph type="title"/>
          </p:nvPr>
        </p:nvSpPr>
        <p:spPr/>
        <p:txBody>
          <a:bodyPr/>
          <a:lstStyle/>
          <a:p>
            <a:r xmlns:a="http://schemas.openxmlformats.org/drawingml/2006/main">
              <a:rPr lang="ar" dirty="0" smtClean="0"/>
              <a:t>عمليات </a:t>
            </a:r>
            <a:endParaRPr xmlns:a="http://schemas.openxmlformats.org/drawingml/2006/main" lang="en-US" dirty="0"/>
            <a:r xmlns:a="http://schemas.openxmlformats.org/drawingml/2006/main">
              <a:rPr lang="ar" dirty="0"/>
              <a:t>البريد الإلكتروني</a:t>
            </a:r>
          </a:p>
        </p:txBody>
      </p:sp>
    </p:spTree>
    <p:extLst>
      <p:ext uri="{BB962C8B-B14F-4D97-AF65-F5344CB8AC3E}">
        <p14:creationId xmlns:p14="http://schemas.microsoft.com/office/powerpoint/2010/main" val="30255633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xmlns:a="http://schemas.openxmlformats.org/drawingml/2006/main" marL="0" indent="0">
              <a:buNone/>
              <a:bidi/>
            </a:pPr>
            <a:r xmlns:a="http://schemas.openxmlformats.org/drawingml/2006/main">
              <a:rPr lang="ar" sz="2400" b="1" dirty="0" smtClean="0">
                <a:latin typeface="Times" pitchFamily="18" charset="0"/>
              </a:rPr>
              <a:t>2-قراءة البريد الإلكتروني:</a:t>
            </a:r>
            <a:endParaRPr xmlns:a="http://schemas.openxmlformats.org/drawingml/2006/main" lang="en-US" sz="2400" b="1" dirty="0">
              <a:latin typeface="Times" pitchFamily="18" charset="0"/>
            </a:endParaRPr>
          </a:p>
          <a:p>
            <a:r xmlns:a="http://schemas.openxmlformats.org/drawingml/2006/main">
              <a:rPr lang="ar" sz="2400" dirty="0">
                <a:latin typeface="Times" pitchFamily="18" charset="0"/>
              </a:rPr>
              <a:t>يوفر لك كل برنامج بريد إلكتروني واجهة للوصول إلى رسائل البريد الإلكتروني. كما هو الحال في Gmail ، يتم تخزين رسائل البريد الإلكتروني ضمن علامات تبويب مختلفة مثل الأساسي والاجتماعي والترويجي. عند النقر فوق إحدى علامات التبويب ، فإنها تعرض قائمة برسائل البريد الإلكتروني ضمن علامة التبويب تلك.</a:t>
            </a:r>
          </a:p>
          <a:p>
            <a:r xmlns:a="http://schemas.openxmlformats.org/drawingml/2006/main">
              <a:rPr lang="ar" sz="2400" dirty="0">
                <a:latin typeface="Times" pitchFamily="18" charset="0"/>
              </a:rPr>
              <a:t>من أجل قراءة رسالة بريد إلكتروني ، ما عليك سوى النقر فوق هذا البريد الإلكتروني. بمجرد النقر فوق بريد إلكتروني معين ، يتم فتحه.</a:t>
            </a:r>
          </a:p>
          <a:p>
            <a:r xmlns:a="http://schemas.openxmlformats.org/drawingml/2006/main">
              <a:rPr lang="ar" sz="2400" dirty="0">
                <a:latin typeface="Times" pitchFamily="18" charset="0"/>
              </a:rPr>
              <a:t>قد يحتوي البريد الإلكتروني المفتوح على بعض الملفات المرفقة به. تظهر المرفقات في الجزء السفلي من البريد الإلكتروني المفتوح مع خيار يسمى </a:t>
            </a:r>
            <a:r xmlns:a="http://schemas.openxmlformats.org/drawingml/2006/main">
              <a:rPr lang="ar" sz="2400" b="1" dirty="0">
                <a:latin typeface="Times" pitchFamily="18" charset="0"/>
              </a:rPr>
              <a:t>تنزيل المرفق.</a:t>
            </a:r>
            <a:endParaRPr xmlns:a="http://schemas.openxmlformats.org/drawingml/2006/main" lang="en-US" sz="2400" dirty="0">
              <a:latin typeface="Times" pitchFamily="18" charset="0"/>
            </a:endParaRPr>
          </a:p>
          <a:p>
            <a:endParaRPr lang="en-US" sz="24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18</a:t>
            </a:fld>
            <a:endParaRPr lang="en-US"/>
          </a:p>
        </p:txBody>
      </p:sp>
      <p:sp>
        <p:nvSpPr>
          <p:cNvPr id="7" name="Title 1"/>
          <p:cNvSpPr>
            <a:spLocks noGrp="1"/>
          </p:cNvSpPr>
          <p:nvPr>
            <p:ph type="title"/>
          </p:nvPr>
        </p:nvSpPr>
        <p:spPr/>
        <p:txBody>
          <a:bodyPr/>
          <a:lstStyle/>
          <a:p>
            <a:r xmlns:a="http://schemas.openxmlformats.org/drawingml/2006/main">
              <a:rPr lang="ar" dirty="0" smtClean="0"/>
              <a:t>عمليات </a:t>
            </a:r>
            <a:endParaRPr xmlns:a="http://schemas.openxmlformats.org/drawingml/2006/main" lang="en-US" dirty="0"/>
            <a:r xmlns:a="http://schemas.openxmlformats.org/drawingml/2006/main">
              <a:rPr lang="ar" dirty="0"/>
              <a:t>البريد الإلكتروني</a:t>
            </a:r>
          </a:p>
        </p:txBody>
      </p:sp>
    </p:spTree>
    <p:extLst>
      <p:ext uri="{BB962C8B-B14F-4D97-AF65-F5344CB8AC3E}">
        <p14:creationId xmlns:p14="http://schemas.microsoft.com/office/powerpoint/2010/main" val="4237349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2877" y="1905000"/>
            <a:ext cx="11182121" cy="4038600"/>
          </a:xfrm>
        </p:spPr>
        <p:txBody>
          <a:bodyPr/>
          <a:lstStyle/>
          <a:p>
            <a:pPr xmlns:a="http://schemas.openxmlformats.org/drawingml/2006/main" marL="0" indent="0">
              <a:buNone/>
              <a:bidi/>
            </a:pPr>
            <a:r xmlns:a="http://schemas.openxmlformats.org/drawingml/2006/main">
              <a:rPr lang="ar" sz="2400" b="1" dirty="0" smtClean="0">
                <a:latin typeface="Times" pitchFamily="18" charset="0"/>
              </a:rPr>
              <a:t>3-إعادة توجيه البريد الإلكتروني:</a:t>
            </a:r>
            <a:endParaRPr xmlns:a="http://schemas.openxmlformats.org/drawingml/2006/main" lang="en-US" sz="2400" b="1" dirty="0">
              <a:latin typeface="Times" pitchFamily="18" charset="0"/>
            </a:endParaRPr>
          </a:p>
          <a:p>
            <a:r xmlns:a="http://schemas.openxmlformats.org/drawingml/2006/main">
              <a:rPr lang="ar" sz="2400" dirty="0">
                <a:latin typeface="Times" pitchFamily="18" charset="0"/>
              </a:rPr>
              <a:t>من الممكن أيضًا إرسال نسخة من الرسالة التي تلقيتها مع تعليقاتك الخاصة إذا كنت تريد ذلك. يمكن القيام بذلك باستخدام </a:t>
            </a:r>
            <a:r xmlns:a="http://schemas.openxmlformats.org/drawingml/2006/main">
              <a:rPr lang="ar" sz="2400" dirty="0">
                <a:latin typeface="Times" pitchFamily="18" charset="0"/>
              </a:rPr>
              <a:t>زر إعادة التوجيه المتاح في برنامج عميل البريد </a:t>
            </a:r>
            <a:r xmlns:a="http://schemas.openxmlformats.org/drawingml/2006/main">
              <a:rPr lang="ar" sz="2400" b="1" dirty="0">
                <a:latin typeface="Times" pitchFamily="18" charset="0"/>
              </a:rPr>
              <a:t>.</a:t>
            </a:r>
          </a:p>
          <a:p>
            <a:r xmlns:a="http://schemas.openxmlformats.org/drawingml/2006/main">
              <a:rPr lang="ar" sz="2400" dirty="0">
                <a:latin typeface="Times" pitchFamily="18" charset="0"/>
              </a:rPr>
              <a:t>يتمثل الاختلاف بين الرد على رسالة بريد إلكتروني وإعادة توجيهها في أنه عند الرد على رسالة إلى شخص أرسل البريد ولكن أثناء إعادة التوجيه ، يمكنك إرسالها إلى أي شخص.</a:t>
            </a:r>
          </a:p>
          <a:p>
            <a:r xmlns:a="http://schemas.openxmlformats.org/drawingml/2006/main">
              <a:rPr lang="ar" sz="2400" dirty="0">
                <a:latin typeface="Times" pitchFamily="18" charset="0"/>
              </a:rPr>
              <a:t>عندما تتلقى رسالة مُعاد توجيهها ، يتم تمييز الرسالة بحرف&gt; أمام كل سطر ويكون حقل </a:t>
            </a:r>
            <a:r xmlns:a="http://schemas.openxmlformats.org/drawingml/2006/main">
              <a:rPr lang="ar" sz="2400" b="1" dirty="0">
                <a:latin typeface="Times" pitchFamily="18" charset="0"/>
              </a:rPr>
              <a:t>الموضوع: </a:t>
            </a:r>
            <a:r xmlns:a="http://schemas.openxmlformats.org/drawingml/2006/main">
              <a:rPr lang="ar" sz="2400" dirty="0">
                <a:latin typeface="Times" pitchFamily="18" charset="0"/>
              </a:rPr>
              <a:t>مسبوقًا بـ </a:t>
            </a:r>
            <a:r xmlns:a="http://schemas.openxmlformats.org/drawingml/2006/main">
              <a:rPr lang="ar" sz="2400" b="1" dirty="0" err="1">
                <a:latin typeface="Times" pitchFamily="18" charset="0"/>
              </a:rPr>
              <a:t>Fw </a:t>
            </a:r>
            <a:r xmlns:a="http://schemas.openxmlformats.org/drawingml/2006/main">
              <a:rPr lang="ar" sz="2400" b="1" dirty="0">
                <a:latin typeface="Times" pitchFamily="18" charset="0"/>
              </a:rPr>
              <a:t>.</a:t>
            </a:r>
            <a:endParaRPr xmlns:a="http://schemas.openxmlformats.org/drawingml/2006/main" lang="en-US" sz="2400" dirty="0">
              <a:latin typeface="Times" pitchFamily="18" charset="0"/>
            </a:endParaRPr>
          </a:p>
          <a:p>
            <a:pPr marL="0" indent="0">
              <a:buNone/>
            </a:pPr>
            <a:endParaRPr lang="en-US" sz="24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19</a:t>
            </a:fld>
            <a:endParaRPr lang="en-US"/>
          </a:p>
        </p:txBody>
      </p:sp>
      <p:sp>
        <p:nvSpPr>
          <p:cNvPr id="7" name="Title 1"/>
          <p:cNvSpPr>
            <a:spLocks noGrp="1"/>
          </p:cNvSpPr>
          <p:nvPr>
            <p:ph type="title"/>
          </p:nvPr>
        </p:nvSpPr>
        <p:spPr/>
        <p:txBody>
          <a:bodyPr/>
          <a:lstStyle/>
          <a:p>
            <a:r xmlns:a="http://schemas.openxmlformats.org/drawingml/2006/main">
              <a:rPr lang="ar" dirty="0" smtClean="0"/>
              <a:t>عمليات </a:t>
            </a:r>
            <a:endParaRPr xmlns:a="http://schemas.openxmlformats.org/drawingml/2006/main" lang="en-US" dirty="0"/>
            <a:r xmlns:a="http://schemas.openxmlformats.org/drawingml/2006/main">
              <a:rPr lang="ar" dirty="0"/>
              <a:t>البريد الإلكتروني</a:t>
            </a:r>
          </a:p>
        </p:txBody>
      </p:sp>
    </p:spTree>
    <p:extLst>
      <p:ext uri="{BB962C8B-B14F-4D97-AF65-F5344CB8AC3E}">
        <p14:creationId xmlns:p14="http://schemas.microsoft.com/office/powerpoint/2010/main" val="5450717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xmlns:a="http://schemas.openxmlformats.org/drawingml/2006/main" marL="0" indent="0">
              <a:buNone/>
              <a:bidi/>
            </a:pPr>
            <a:r xmlns:a="http://schemas.openxmlformats.org/drawingml/2006/main">
              <a:rPr lang="ar" b="1" dirty="0">
                <a:latin typeface="Times" pitchFamily="18" charset="0"/>
              </a:rPr>
              <a:t>حذف </a:t>
            </a:r>
            <a:r xmlns:a="http://schemas.openxmlformats.org/drawingml/2006/main">
              <a:rPr lang="ar" b="1" dirty="0" smtClean="0">
                <a:latin typeface="Times" pitchFamily="18" charset="0"/>
              </a:rPr>
              <a:t>البريد الإلكتروني:</a:t>
            </a:r>
            <a:endParaRPr xmlns:a="http://schemas.openxmlformats.org/drawingml/2006/main" lang="en-US" b="1" dirty="0">
              <a:latin typeface="Times" pitchFamily="18" charset="0"/>
            </a:endParaRPr>
          </a:p>
          <a:p>
            <a:r xmlns:a="http://schemas.openxmlformats.org/drawingml/2006/main">
              <a:rPr lang="ar" dirty="0">
                <a:latin typeface="Times" pitchFamily="18" charset="0"/>
              </a:rPr>
              <a:t>إذا كنت لا تريد الاحتفاظ بالبريد الإلكتروني في صندوق الوارد الخاص بك ، فيمكنك حذفه ببساطة عن طريق تحديد الرسالة من قائمة الرسائل والنقر فوق </a:t>
            </a:r>
            <a:r xmlns:a="http://schemas.openxmlformats.org/drawingml/2006/main">
              <a:rPr lang="ar" b="1" dirty="0">
                <a:latin typeface="Times" pitchFamily="18" charset="0"/>
              </a:rPr>
              <a:t>حذف </a:t>
            </a:r>
            <a:r xmlns:a="http://schemas.openxmlformats.org/drawingml/2006/main">
              <a:rPr lang="ar" dirty="0">
                <a:latin typeface="Times" pitchFamily="18" charset="0"/>
              </a:rPr>
              <a:t>أو الضغط على الأمر المناسب.</a:t>
            </a:r>
          </a:p>
          <a:p>
            <a:r xmlns:a="http://schemas.openxmlformats.org/drawingml/2006/main">
              <a:rPr lang="ar" dirty="0">
                <a:latin typeface="Times" pitchFamily="18" charset="0"/>
              </a:rPr>
              <a:t>تقدم بعض عملاء البريد رسائل البريد المحذوفة ليتم تخزينها في مجلد يسمى العناصر المحذوفة أو المهملات حيث يمكنك استعادة البريد الإلكتروني المحذوف.</a:t>
            </a:r>
          </a:p>
          <a:p>
            <a:endParaRPr lang="en-US"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20</a:t>
            </a:fld>
            <a:endParaRPr lang="en-US"/>
          </a:p>
        </p:txBody>
      </p:sp>
      <p:sp>
        <p:nvSpPr>
          <p:cNvPr id="7" name="Title 1"/>
          <p:cNvSpPr>
            <a:spLocks noGrp="1"/>
          </p:cNvSpPr>
          <p:nvPr>
            <p:ph type="title"/>
          </p:nvPr>
        </p:nvSpPr>
        <p:spPr/>
        <p:txBody>
          <a:bodyPr/>
          <a:lstStyle/>
          <a:p>
            <a:r xmlns:a="http://schemas.openxmlformats.org/drawingml/2006/main">
              <a:rPr lang="ar" dirty="0" smtClean="0"/>
              <a:t>عمليات </a:t>
            </a:r>
            <a:endParaRPr xmlns:a="http://schemas.openxmlformats.org/drawingml/2006/main" lang="en-US" dirty="0"/>
            <a:r xmlns:a="http://schemas.openxmlformats.org/drawingml/2006/main">
              <a:rPr lang="ar" dirty="0"/>
              <a:t>البريد الإلكتروني</a:t>
            </a:r>
          </a:p>
        </p:txBody>
      </p:sp>
    </p:spTree>
    <p:extLst>
      <p:ext uri="{BB962C8B-B14F-4D97-AF65-F5344CB8AC3E}">
        <p14:creationId xmlns:p14="http://schemas.microsoft.com/office/powerpoint/2010/main" val="23968101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04032" y="2523744"/>
            <a:ext cx="5010912" cy="896112"/>
          </a:xfrm>
        </p:spPr>
        <p:txBody>
          <a:bodyPr/>
          <a:lstStyle/>
          <a:p>
            <a:r xmlns:a="http://schemas.openxmlformats.org/drawingml/2006/main">
              <a:rPr lang="ar" sz="4000" dirty="0" smtClean="0">
                <a:latin typeface="Algerian" panose="04020705040A02060702" pitchFamily="82" charset="0"/>
              </a:rPr>
              <a:t>النهاية</a:t>
            </a:r>
            <a:endParaRPr xmlns:a="http://schemas.openxmlformats.org/drawingml/2006/main" lang="en-US" sz="4000" dirty="0">
              <a:latin typeface="Algerian" panose="04020705040A02060702" pitchFamily="82" charset="0"/>
            </a:endParaRPr>
          </a:p>
        </p:txBody>
      </p:sp>
      <p:sp>
        <p:nvSpPr>
          <p:cNvPr id="4" name="Slide Number Placeholder 3"/>
          <p:cNvSpPr>
            <a:spLocks noGrp="1"/>
          </p:cNvSpPr>
          <p:nvPr>
            <p:ph type="sldNum" sz="quarter" idx="12"/>
          </p:nvPr>
        </p:nvSpPr>
        <p:spPr/>
        <p:txBody>
          <a:bodyPr/>
          <a:lstStyle/>
          <a:p>
            <a:fld id="{D2674617-9C49-4A6A-A5F8-6FBC8CEBD7D4}" type="slidenum">
              <a:rPr lang="en-US" smtClean="0"/>
              <a:t>21</a:t>
            </a:fld>
            <a:endParaRPr lang="en-US"/>
          </a:p>
        </p:txBody>
      </p:sp>
    </p:spTree>
    <p:extLst>
      <p:ext uri="{BB962C8B-B14F-4D97-AF65-F5344CB8AC3E}">
        <p14:creationId xmlns:p14="http://schemas.microsoft.com/office/powerpoint/2010/main" val="17017971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ar" dirty="0" smtClean="0"/>
              <a:t>البحث في</a:t>
            </a:r>
            <a:endParaRPr xmlns:a="http://schemas.openxmlformats.org/drawingml/2006/main" lang="en-US" dirty="0"/>
          </a:p>
        </p:txBody>
      </p:sp>
      <p:sp>
        <p:nvSpPr>
          <p:cNvPr id="3" name="Content Placeholder 2"/>
          <p:cNvSpPr>
            <a:spLocks noGrp="1"/>
          </p:cNvSpPr>
          <p:nvPr>
            <p:ph idx="1"/>
          </p:nvPr>
        </p:nvSpPr>
        <p:spPr/>
        <p:txBody>
          <a:bodyPr/>
          <a:lstStyle/>
          <a:p>
            <a:r xmlns:a="http://schemas.openxmlformats.org/drawingml/2006/main">
              <a:rPr lang="ar" sz="4000" b="1" dirty="0"/>
              <a:t>نموذج OSI ونموذج TCP / IP</a:t>
            </a:r>
          </a:p>
        </p:txBody>
      </p:sp>
      <p:sp>
        <p:nvSpPr>
          <p:cNvPr id="4" name="Slide Number Placeholder 3"/>
          <p:cNvSpPr>
            <a:spLocks noGrp="1"/>
          </p:cNvSpPr>
          <p:nvPr>
            <p:ph type="sldNum" sz="quarter" idx="12"/>
          </p:nvPr>
        </p:nvSpPr>
        <p:spPr/>
        <p:txBody>
          <a:bodyPr/>
          <a:lstStyle/>
          <a:p>
            <a:fld id="{D2674617-9C49-4A6A-A5F8-6FBC8CEBD7D4}" type="slidenum">
              <a:rPr lang="en-US" smtClean="0"/>
              <a:t>22</a:t>
            </a:fld>
            <a:endParaRPr lang="en-US"/>
          </a:p>
        </p:txBody>
      </p:sp>
    </p:spTree>
    <p:extLst>
      <p:ext uri="{BB962C8B-B14F-4D97-AF65-F5344CB8AC3E}">
        <p14:creationId xmlns:p14="http://schemas.microsoft.com/office/powerpoint/2010/main" val="3718561808"/>
      </p:ext>
    </p:extLst>
  </p:cSld>
  <p:clrMapOvr>
    <a:masterClrMapping/>
  </p:clrMapOvr>
</p:sld>
</file>

<file path=ppt/theme/theme1.xml><?xml version="1.0" encoding="utf-8"?>
<a:theme xmlns:a="http://schemas.openxmlformats.org/drawingml/2006/main" name="Theme1">
  <a:themeElements>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fontScheme name="Studio">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clrMap bg1="lt1" tx1="dk1" bg2="lt2" tx2="dk2" accent1="accent1" accent2="accent2" accent3="accent3" accent4="accent4" accent5="accent5" accent6="accent6" hlink="hlink" folHlink="folHlink"/>
    </a:extraClrScheme>
    <a:extraClrScheme>
      <a:clrScheme name="Studio 2">
        <a:dk1>
          <a:srgbClr val="000000"/>
        </a:dk1>
        <a:lt1>
          <a:srgbClr val="FFFFFF"/>
        </a:lt1>
        <a:dk2>
          <a:srgbClr val="3732A0"/>
        </a:dk2>
        <a:lt2>
          <a:srgbClr val="666699"/>
        </a:lt2>
        <a:accent1>
          <a:srgbClr val="CCCCFF"/>
        </a:accent1>
        <a:accent2>
          <a:srgbClr val="009999"/>
        </a:accent2>
        <a:accent3>
          <a:srgbClr val="FFFFFF"/>
        </a:accent3>
        <a:accent4>
          <a:srgbClr val="000000"/>
        </a:accent4>
        <a:accent5>
          <a:srgbClr val="E2E2FF"/>
        </a:accent5>
        <a:accent6>
          <a:srgbClr val="008A8A"/>
        </a:accent6>
        <a:hlink>
          <a:srgbClr val="3366CC"/>
        </a:hlink>
        <a:folHlink>
          <a:srgbClr val="9094B8"/>
        </a:folHlink>
      </a:clrScheme>
      <a:clrMap bg1="lt1" tx1="dk1" bg2="lt2" tx2="dk2" accent1="accent1" accent2="accent2" accent3="accent3" accent4="accent4" accent5="accent5" accent6="accent6" hlink="hlink" folHlink="folHlink"/>
    </a:extraClrScheme>
    <a:extraClrScheme>
      <a:clrScheme name="Studio 3">
        <a:dk1>
          <a:srgbClr val="000000"/>
        </a:dk1>
        <a:lt1>
          <a:srgbClr val="FFFFFF"/>
        </a:lt1>
        <a:dk2>
          <a:srgbClr val="CD0505"/>
        </a:dk2>
        <a:lt2>
          <a:srgbClr val="5F5F5F"/>
        </a:lt2>
        <a:accent1>
          <a:srgbClr val="D2D5DE"/>
        </a:accent1>
        <a:accent2>
          <a:srgbClr val="D55757"/>
        </a:accent2>
        <a:accent3>
          <a:srgbClr val="FFFFFF"/>
        </a:accent3>
        <a:accent4>
          <a:srgbClr val="000000"/>
        </a:accent4>
        <a:accent5>
          <a:srgbClr val="E5E7EC"/>
        </a:accent5>
        <a:accent6>
          <a:srgbClr val="C14E4E"/>
        </a:accent6>
        <a:hlink>
          <a:srgbClr val="F42D1E"/>
        </a:hlink>
        <a:folHlink>
          <a:srgbClr val="7C849E"/>
        </a:folHlink>
      </a:clrScheme>
      <a:clrMap bg1="lt1" tx1="dk1" bg2="lt2" tx2="dk2" accent1="accent1" accent2="accent2" accent3="accent3" accent4="accent4" accent5="accent5" accent6="accent6" hlink="hlink" folHlink="folHlink"/>
    </a:extraClrScheme>
    <a:extraClrScheme>
      <a:clrScheme name="Studio 4">
        <a:dk1>
          <a:srgbClr val="000000"/>
        </a:dk1>
        <a:lt1>
          <a:srgbClr val="FFFFFF"/>
        </a:lt1>
        <a:dk2>
          <a:srgbClr val="551A07"/>
        </a:dk2>
        <a:lt2>
          <a:srgbClr val="CC3300"/>
        </a:lt2>
        <a:accent1>
          <a:srgbClr val="F4B400"/>
        </a:accent1>
        <a:accent2>
          <a:srgbClr val="993300"/>
        </a:accent2>
        <a:accent3>
          <a:srgbClr val="FFFFFF"/>
        </a:accent3>
        <a:accent4>
          <a:srgbClr val="000000"/>
        </a:accent4>
        <a:accent5>
          <a:srgbClr val="F8D6AA"/>
        </a:accent5>
        <a:accent6>
          <a:srgbClr val="8A2D00"/>
        </a:accent6>
        <a:hlink>
          <a:srgbClr val="FF3300"/>
        </a:hlink>
        <a:folHlink>
          <a:srgbClr val="666699"/>
        </a:folHlink>
      </a:clrScheme>
      <a:clrMap bg1="lt1" tx1="dk1" bg2="lt2" tx2="dk2" accent1="accent1" accent2="accent2" accent3="accent3" accent4="accent4" accent5="accent5" accent6="accent6" hlink="hlink" folHlink="folHlink"/>
    </a:extraClrScheme>
    <a:extraClrScheme>
      <a:clrScheme name="Studio 5">
        <a:dk1>
          <a:srgbClr val="000000"/>
        </a:dk1>
        <a:lt1>
          <a:srgbClr val="FFFFFF"/>
        </a:lt1>
        <a:dk2>
          <a:srgbClr val="FF0000"/>
        </a:dk2>
        <a:lt2>
          <a:srgbClr val="FFCC00"/>
        </a:lt2>
        <a:accent1>
          <a:srgbClr val="66CCFF"/>
        </a:accent1>
        <a:accent2>
          <a:srgbClr val="009900"/>
        </a:accent2>
        <a:accent3>
          <a:srgbClr val="FFFFFF"/>
        </a:accent3>
        <a:accent4>
          <a:srgbClr val="000000"/>
        </a:accent4>
        <a:accent5>
          <a:srgbClr val="B8E2FF"/>
        </a:accent5>
        <a:accent6>
          <a:srgbClr val="008A00"/>
        </a:accent6>
        <a:hlink>
          <a:srgbClr val="FF3300"/>
        </a:hlink>
        <a:folHlink>
          <a:srgbClr val="6600FF"/>
        </a:folHlink>
      </a:clrScheme>
      <a:clrMap bg1="lt1" tx1="dk1" bg2="lt2" tx2="dk2" accent1="accent1" accent2="accent2" accent3="accent3" accent4="accent4" accent5="accent5" accent6="accent6" hlink="hlink" folHlink="folHlink"/>
    </a:extraClrScheme>
    <a:extraClrScheme>
      <a:clrScheme name="Studio 6">
        <a:dk1>
          <a:srgbClr val="666633"/>
        </a:dk1>
        <a:lt1>
          <a:srgbClr val="FFFFFF"/>
        </a:lt1>
        <a:dk2>
          <a:srgbClr val="000000"/>
        </a:dk2>
        <a:lt2>
          <a:srgbClr val="CC3300"/>
        </a:lt2>
        <a:accent1>
          <a:srgbClr val="808000"/>
        </a:accent1>
        <a:accent2>
          <a:srgbClr val="FF9900"/>
        </a:accent2>
        <a:accent3>
          <a:srgbClr val="AAAAAA"/>
        </a:accent3>
        <a:accent4>
          <a:srgbClr val="DADADA"/>
        </a:accent4>
        <a:accent5>
          <a:srgbClr val="C0C0AA"/>
        </a:accent5>
        <a:accent6>
          <a:srgbClr val="E78A00"/>
        </a:accent6>
        <a:hlink>
          <a:srgbClr val="CC6600"/>
        </a:hlink>
        <a:folHlink>
          <a:srgbClr val="434B1F"/>
        </a:folHlink>
      </a:clrScheme>
      <a:clrMap bg1="dk2" tx1="lt1" bg2="dk1" tx2="lt2" accent1="accent1" accent2="accent2" accent3="accent3" accent4="accent4" accent5="accent5" accent6="accent6" hlink="hlink" folHlink="folHlink"/>
    </a:extraClrScheme>
    <a:extraClrScheme>
      <a:clrScheme name="Studio 7">
        <a:dk1>
          <a:srgbClr val="766997"/>
        </a:dk1>
        <a:lt1>
          <a:srgbClr val="FFFFFF"/>
        </a:lt1>
        <a:dk2>
          <a:srgbClr val="530901"/>
        </a:dk2>
        <a:lt2>
          <a:srgbClr val="FFFFFF"/>
        </a:lt2>
        <a:accent1>
          <a:srgbClr val="FF3300"/>
        </a:accent1>
        <a:accent2>
          <a:srgbClr val="CC6600"/>
        </a:accent2>
        <a:accent3>
          <a:srgbClr val="B3AAAA"/>
        </a:accent3>
        <a:accent4>
          <a:srgbClr val="DADADA"/>
        </a:accent4>
        <a:accent5>
          <a:srgbClr val="FFADAA"/>
        </a:accent5>
        <a:accent6>
          <a:srgbClr val="B95C00"/>
        </a:accent6>
        <a:hlink>
          <a:srgbClr val="FF9900"/>
        </a:hlink>
        <a:folHlink>
          <a:srgbClr val="993300"/>
        </a:folHlink>
      </a:clrScheme>
      <a:clrMap bg1="dk2" tx1="lt1" bg2="dk1" tx2="lt2" accent1="accent1" accent2="accent2" accent3="accent3" accent4="accent4" accent5="accent5" accent6="accent6" hlink="hlink" folHlink="folHlink"/>
    </a:extraClrScheme>
    <a:extraClrScheme>
      <a:clrScheme name="Studio 8">
        <a:dk1>
          <a:srgbClr val="666699"/>
        </a:dk1>
        <a:lt1>
          <a:srgbClr val="FFFFFF"/>
        </a:lt1>
        <a:dk2>
          <a:srgbClr val="4C004C"/>
        </a:dk2>
        <a:lt2>
          <a:srgbClr val="FFFFFF"/>
        </a:lt2>
        <a:accent1>
          <a:srgbClr val="0099CC"/>
        </a:accent1>
        <a:accent2>
          <a:srgbClr val="993366"/>
        </a:accent2>
        <a:accent3>
          <a:srgbClr val="B2AAB2"/>
        </a:accent3>
        <a:accent4>
          <a:srgbClr val="DADADA"/>
        </a:accent4>
        <a:accent5>
          <a:srgbClr val="AACAE2"/>
        </a:accent5>
        <a:accent6>
          <a:srgbClr val="8A2D5C"/>
        </a:accent6>
        <a:hlink>
          <a:srgbClr val="99CC00"/>
        </a:hlink>
        <a:folHlink>
          <a:srgbClr val="006699"/>
        </a:folHlink>
      </a:clrScheme>
      <a:clrMap bg1="dk2" tx1="lt1" bg2="dk1" tx2="lt2" accent1="accent1" accent2="accent2" accent3="accent3" accent4="accent4" accent5="accent5" accent6="accent6" hlink="hlink" folHlink="folHlink"/>
    </a:extraClrScheme>
    <a:extraClrScheme>
      <a:clrScheme name="Studio 9">
        <a:dk1>
          <a:srgbClr val="565682"/>
        </a:dk1>
        <a:lt1>
          <a:srgbClr val="FFFFFF"/>
        </a:lt1>
        <a:dk2>
          <a:srgbClr val="1E1551"/>
        </a:dk2>
        <a:lt2>
          <a:srgbClr val="CCFFFF"/>
        </a:lt2>
        <a:accent1>
          <a:srgbClr val="33CCCC"/>
        </a:accent1>
        <a:accent2>
          <a:srgbClr val="009999"/>
        </a:accent2>
        <a:accent3>
          <a:srgbClr val="ABAAB3"/>
        </a:accent3>
        <a:accent4>
          <a:srgbClr val="DADADA"/>
        </a:accent4>
        <a:accent5>
          <a:srgbClr val="ADE2E2"/>
        </a:accent5>
        <a:accent6>
          <a:srgbClr val="008A8A"/>
        </a:accent6>
        <a:hlink>
          <a:srgbClr val="FF9900"/>
        </a:hlink>
        <a:folHlink>
          <a:srgbClr val="005986"/>
        </a:folHlink>
      </a:clrScheme>
      <a:clrMap bg1="dk2" tx1="lt1" bg2="dk1" tx2="lt2" accent1="accent1" accent2="accent2" accent3="accent3" accent4="accent4" accent5="accent5" accent6="accent6" hlink="hlink" folHlink="folHlink"/>
    </a:extraClrScheme>
    <a:extraClrScheme>
      <a:clrScheme name="Studio 10">
        <a:dk1>
          <a:srgbClr val="CCCC99"/>
        </a:dk1>
        <a:lt1>
          <a:srgbClr val="FFFFFF"/>
        </a:lt1>
        <a:dk2>
          <a:srgbClr val="2E5D5C"/>
        </a:dk2>
        <a:lt2>
          <a:srgbClr val="FFFFFF"/>
        </a:lt2>
        <a:accent1>
          <a:srgbClr val="0099CC"/>
        </a:accent1>
        <a:accent2>
          <a:srgbClr val="D6E0E0"/>
        </a:accent2>
        <a:accent3>
          <a:srgbClr val="ADB6B5"/>
        </a:accent3>
        <a:accent4>
          <a:srgbClr val="DADADA"/>
        </a:accent4>
        <a:accent5>
          <a:srgbClr val="AACAE2"/>
        </a:accent5>
        <a:accent6>
          <a:srgbClr val="C2CBCB"/>
        </a:accent6>
        <a:hlink>
          <a:srgbClr val="CCCC99"/>
        </a:hlink>
        <a:folHlink>
          <a:srgbClr val="428A8C"/>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5156623E-C4D3-4CB0-9D27-1EE9773B569B}" vid="{0B3C5A56-0FEE-40DB-ABE1-5232A31F373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503</TotalTime>
  <Words>1098</Words>
  <Application>Microsoft Office PowerPoint</Application>
  <PresentationFormat>Widescreen</PresentationFormat>
  <Paragraphs>147</Paragraphs>
  <Slides>22</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Algerian</vt:lpstr>
      <vt:lpstr>Arial</vt:lpstr>
      <vt:lpstr>Arial Black</vt:lpstr>
      <vt:lpstr>Calibri</vt:lpstr>
      <vt:lpstr>Times</vt:lpstr>
      <vt:lpstr>Times New Roman</vt:lpstr>
      <vt:lpstr>Traditional Arabic</vt:lpstr>
      <vt:lpstr>Wingdings</vt:lpstr>
      <vt:lpstr>Theme1</vt:lpstr>
      <vt:lpstr>Internet Technology (1)</vt:lpstr>
      <vt:lpstr>Lecture Agenda</vt:lpstr>
      <vt:lpstr>E-mail Overview</vt:lpstr>
      <vt:lpstr>E-mail Message Components</vt:lpstr>
      <vt:lpstr>E-mail Working</vt:lpstr>
      <vt:lpstr>Working of E-mail</vt:lpstr>
      <vt:lpstr>Working of E-mail</vt:lpstr>
      <vt:lpstr>PowerPoint Presentation</vt:lpstr>
      <vt:lpstr>E-mail Features</vt:lpstr>
      <vt:lpstr>E-mail Features</vt:lpstr>
      <vt:lpstr>E-mail Features</vt:lpstr>
      <vt:lpstr>E-mail Security</vt:lpstr>
      <vt:lpstr>E-mail Security</vt:lpstr>
      <vt:lpstr>Email Operations</vt:lpstr>
      <vt:lpstr>Email Operations</vt:lpstr>
      <vt:lpstr>Email Operations</vt:lpstr>
      <vt:lpstr>Email Operations</vt:lpstr>
      <vt:lpstr>Email Operations</vt:lpstr>
      <vt:lpstr>Email Operations</vt:lpstr>
      <vt:lpstr>Email Operations</vt:lpstr>
      <vt:lpstr>The end </vt:lpstr>
      <vt:lpstr>Research in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Technology (1)</dc:title>
  <dc:creator>Hussein</dc:creator>
  <cp:lastModifiedBy>alsura</cp:lastModifiedBy>
  <cp:revision>85</cp:revision>
  <dcterms:created xsi:type="dcterms:W3CDTF">2020-01-09T08:34:50Z</dcterms:created>
  <dcterms:modified xsi:type="dcterms:W3CDTF">2022-12-27T18:19:52Z</dcterms:modified>
</cp:coreProperties>
</file>