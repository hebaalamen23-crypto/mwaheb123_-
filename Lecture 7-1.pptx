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53"/>
  </p:notesMasterIdLst>
  <p:sldIdLst>
    <p:sldId id="385" r:id="rId3"/>
    <p:sldId id="307" r:id="rId4"/>
    <p:sldId id="308" r:id="rId5"/>
    <p:sldId id="310" r:id="rId6"/>
    <p:sldId id="311" r:id="rId7"/>
    <p:sldId id="312" r:id="rId8"/>
    <p:sldId id="313" r:id="rId9"/>
    <p:sldId id="314" r:id="rId10"/>
    <p:sldId id="316" r:id="rId11"/>
    <p:sldId id="317" r:id="rId12"/>
    <p:sldId id="318" r:id="rId13"/>
    <p:sldId id="319" r:id="rId14"/>
    <p:sldId id="320" r:id="rId15"/>
    <p:sldId id="321" r:id="rId16"/>
    <p:sldId id="335" r:id="rId17"/>
    <p:sldId id="337" r:id="rId18"/>
    <p:sldId id="342" r:id="rId19"/>
    <p:sldId id="343" r:id="rId20"/>
    <p:sldId id="344" r:id="rId21"/>
    <p:sldId id="386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  <p:sldId id="361" r:id="rId39"/>
    <p:sldId id="362" r:id="rId40"/>
    <p:sldId id="365" r:id="rId41"/>
    <p:sldId id="366" r:id="rId42"/>
    <p:sldId id="367" r:id="rId43"/>
    <p:sldId id="368" r:id="rId44"/>
    <p:sldId id="369" r:id="rId45"/>
    <p:sldId id="370" r:id="rId46"/>
    <p:sldId id="374" r:id="rId47"/>
    <p:sldId id="375" r:id="rId48"/>
    <p:sldId id="377" r:id="rId49"/>
    <p:sldId id="378" r:id="rId50"/>
    <p:sldId id="380" r:id="rId51"/>
    <p:sldId id="381" r:id="rId52"/>
  </p:sldIdLst>
  <p:sldSz cx="9144000" cy="6858000" type="screen4x3"/>
  <p:notesSz cx="9144000" cy="6858000"/>
  <p:defaultTextStyle>
    <a:defPPr>
      <a:defRPr lang="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6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3E925-54E6-4B8E-8855-A8799CF3BD22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xmlns:a="http://schemas.openxmlformats.org/drawingml/2006/main" lvl="0">
              <a:bidi/>
            </a:pPr>
            <a:r xmlns:a="http://schemas.openxmlformats.org/drawingml/2006/main">
              <a:rPr lang="ar"/>
              <a:t>انقر لتحرير أنماط النص الرئيسي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/>
              <a:t>المستوى الثاني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/>
              <a:t>المستوى الثالث</a:t>
            </a:r>
          </a:p>
          <a:p>
            <a:pPr xmlns:a="http://schemas.openxmlformats.org/drawingml/2006/main" lvl="3">
              <a:bidi/>
            </a:pPr>
            <a:r xmlns:a="http://schemas.openxmlformats.org/drawingml/2006/main">
              <a:rPr lang="ar"/>
              <a:t>المستوى الرابع</a:t>
            </a:r>
          </a:p>
          <a:p>
            <a:pPr xmlns:a="http://schemas.openxmlformats.org/drawingml/2006/main" lvl="4">
              <a:bidi/>
            </a:pPr>
            <a:r xmlns:a="http://schemas.openxmlformats.org/drawingml/2006/main">
              <a:rPr lang="ar"/>
              <a:t>المستوى الخامس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EC8FB-1242-4DDA-A11A-5B5E08AFF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9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14573A-9071-4CDE-8CA2-C51BC3C787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94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EC8FB-1242-4DDA-A11A-5B5E08AFFF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EC8FB-1242-4DDA-A11A-5B5E08AFFF2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74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4807" y="1453718"/>
            <a:ext cx="8514384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5B11E-9EF5-4745-8C63-B6AB9CF4948B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FC768-BE3F-45AF-A62D-746B0E9DD1B3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015C1-37D3-4864-B81B-77914B8B56CF}" type="datetime1">
              <a:rPr lang="en-US" smtClean="0"/>
              <a:t>12/27/2022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CBF3C-A674-4975-B71A-631EA5E0A4A1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6470B-CC7A-498A-9AAF-99C39EB07CB8}" type="datetime1">
              <a:rPr lang="en-US" smtClean="0"/>
              <a:t>12/27/2022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/>
          <p:cNvSpPr>
            <a:spLocks noChangeArrowheads="1"/>
          </p:cNvSpPr>
          <p:nvPr/>
        </p:nvSpPr>
        <p:spPr bwMode="auto">
          <a:xfrm>
            <a:off x="228600" y="381000"/>
            <a:ext cx="8686800" cy="5638800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white">
          <a:xfrm>
            <a:off x="327025" y="488950"/>
            <a:ext cx="8435975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CCC99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blackWhite">
          <a:xfrm>
            <a:off x="1371600" y="3338513"/>
            <a:ext cx="6400800" cy="2286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857250"/>
            <a:ext cx="7772400" cy="2266950"/>
          </a:xfrm>
        </p:spPr>
        <p:txBody>
          <a:bodyPr anchor="ctr" anchorCtr="1"/>
          <a:lstStyle>
            <a:lvl1pPr>
              <a:defRPr sz="4400" i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3567113"/>
            <a:ext cx="5410200" cy="19050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sz="33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083304F3-8080-4511-AB9B-BF257B8432C0}" type="datetime1">
              <a:rPr lang="en-US" smtClean="0"/>
              <a:t>12/27/2022</a:t>
            </a:fld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391275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391275"/>
            <a:ext cx="16002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8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BD0307-42E7-419F-A2C8-03BAC30CAC08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2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155417-01B6-4337-A9CC-83CE1477F560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905000"/>
            <a:ext cx="37719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424CEB-1ACA-42FC-9CF2-328C615ABFC4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8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F3552C-6025-498E-A319-4BFD5474AD3C}" type="datetime1">
              <a:rPr lang="en-US" smtClean="0"/>
              <a:t>12/27/2022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8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E3BD2A-2AC3-4048-A4BB-5704C5700264}" type="datetime1">
              <a:rPr lang="en-US" smtClean="0"/>
              <a:t>12/27/2022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12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3B8DC9-B0D2-4A31-9AB2-E2C83F6F23EE}" type="datetime1">
              <a:rPr lang="en-US" smtClean="0"/>
              <a:t>12/27/2022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56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8E9C7B-C5F8-4A7F-BCC2-3FB0784D1C7C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5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9C57DC-9607-4E10-AD54-678A8BB0AEC8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05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AD19EF-5F11-4A01-B896-337CD5AEE582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46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4150" y="533400"/>
            <a:ext cx="192405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533400"/>
            <a:ext cx="561975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C65D610-D03F-4375-8A92-0A91D2EF3678}" type="datetime1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5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5693" y="191846"/>
            <a:ext cx="7852613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18462"/>
            <a:ext cx="8294370" cy="4754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74576-57A6-48A7-80C7-AE0B7430F4B2}" type="datetime1">
              <a:rPr lang="en-US" smtClean="0"/>
              <a:t>12/27/2022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xmlns:a="http://schemas.openxmlformats.org/drawingml/2006/main" lvl="0">
              <a:bidi/>
            </a:pPr>
            <a:r xmlns:a="http://schemas.openxmlformats.org/drawingml/2006/main">
              <a:rPr lang="ar"/>
              <a:t>انقر لتحرير نمط العنوان الرئيسي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xmlns:a="http://schemas.openxmlformats.org/drawingml/2006/main" lvl="0">
              <a:bidi/>
            </a:pPr>
            <a:r xmlns:a="http://schemas.openxmlformats.org/drawingml/2006/main">
              <a:rPr lang="ar"/>
              <a:t>انقر لتحرير أنماط النص الرئيسي</a:t>
            </a:r>
          </a:p>
          <a:p>
            <a:pPr xmlns:a="http://schemas.openxmlformats.org/drawingml/2006/main" lvl="1">
              <a:bidi/>
            </a:pPr>
            <a:r xmlns:a="http://schemas.openxmlformats.org/drawingml/2006/main">
              <a:rPr lang="ar"/>
              <a:t>المستوى الثاني</a:t>
            </a:r>
          </a:p>
          <a:p>
            <a:pPr xmlns:a="http://schemas.openxmlformats.org/drawingml/2006/main" lvl="2">
              <a:bidi/>
            </a:pPr>
            <a:r xmlns:a="http://schemas.openxmlformats.org/drawingml/2006/main">
              <a:rPr lang="ar"/>
              <a:t>المستوى الثالث</a:t>
            </a:r>
          </a:p>
          <a:p>
            <a:pPr xmlns:a="http://schemas.openxmlformats.org/drawingml/2006/main" lvl="3">
              <a:bidi/>
            </a:pPr>
            <a:r xmlns:a="http://schemas.openxmlformats.org/drawingml/2006/main">
              <a:rPr lang="ar"/>
              <a:t>المستوى الرابع</a:t>
            </a:r>
          </a:p>
          <a:p>
            <a:pPr xmlns:a="http://schemas.openxmlformats.org/drawingml/2006/main" lvl="4">
              <a:bidi/>
            </a:pPr>
            <a:r xmlns:a="http://schemas.openxmlformats.org/drawingml/2006/main">
              <a:rPr lang="ar"/>
              <a:t>المستوى الخامس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fld id="{89616C71-67F5-409F-8184-F2193E9B2C21}" type="datetime1">
              <a:rPr lang="en-US" smtClean="0"/>
              <a:t>12/27/2022</a:t>
            </a:fld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grpSp>
        <p:nvGrpSpPr>
          <p:cNvPr id="7175" name="Group 7"/>
          <p:cNvGrpSpPr>
            <a:grpSpLocks/>
          </p:cNvGrpSpPr>
          <p:nvPr/>
        </p:nvGrpSpPr>
        <p:grpSpPr bwMode="auto">
          <a:xfrm>
            <a:off x="168275" y="228600"/>
            <a:ext cx="8823325" cy="6096000"/>
            <a:chOff x="106" y="144"/>
            <a:chExt cx="5558" cy="3840"/>
          </a:xfrm>
        </p:grpSpPr>
        <p:sp>
          <p:nvSpPr>
            <p:cNvPr id="7176" name="AutoShape 8"/>
            <p:cNvSpPr>
              <a:spLocks noChangeArrowheads="1"/>
            </p:cNvSpPr>
            <p:nvPr/>
          </p:nvSpPr>
          <p:spPr bwMode="auto">
            <a:xfrm>
              <a:off x="106" y="144"/>
              <a:ext cx="5558" cy="3840"/>
            </a:xfrm>
            <a:prstGeom prst="roundRect">
              <a:avLst>
                <a:gd name="adj" fmla="val 11046"/>
              </a:avLst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177" name="Line 9"/>
            <p:cNvSpPr>
              <a:spLocks noChangeShapeType="1"/>
            </p:cNvSpPr>
            <p:nvPr/>
          </p:nvSpPr>
          <p:spPr bwMode="auto">
            <a:xfrm>
              <a:off x="480" y="1077"/>
              <a:ext cx="484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10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6331"/>
            <a:ext cx="7772400" cy="615553"/>
          </a:xfrm>
        </p:spPr>
        <p:txBody>
          <a:bodyPr/>
          <a:lstStyle/>
          <a:p>
            <a:r xmlns:a="http://schemas.openxmlformats.org/drawingml/2006/main">
              <a:rPr lang="ar" dirty="0"/>
              <a:t>تكنولوجيا الإنترنت (1)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5940" y="3810000"/>
            <a:ext cx="5410200" cy="1428750"/>
          </a:xfrm>
          <a:prstGeom prst="rect">
            <a:avLst/>
          </a:prstGeom>
        </p:spPr>
        <p:txBody>
          <a:bodyPr/>
          <a:lstStyle/>
          <a:p>
            <a:r xmlns:a="http://schemas.openxmlformats.org/drawingml/2006/main">
              <a:rPr lang="ar" sz="3600" b="1">
                <a:latin typeface="Times" pitchFamily="18" charset="0"/>
              </a:rPr>
              <a:t>محاضرة </a:t>
            </a:r>
            <a:r xmlns:a="http://schemas.openxmlformats.org/drawingml/2006/main">
              <a:rPr lang="ar" sz="3600" b="1" smtClean="0">
                <a:latin typeface="Times" pitchFamily="18" charset="0"/>
              </a:rPr>
              <a:t>(7)</a:t>
            </a:r>
            <a:endParaRPr xmlns:a="http://schemas.openxmlformats.org/drawingml/2006/main" lang="en-US" sz="3600" b="1" dirty="0">
              <a:latin typeface="Times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1752141" y="1244282"/>
            <a:ext cx="5410200" cy="511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5000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50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 xmlns:a="http://schemas.openxmlformats.org/drawingml/2006/main">
              <a:rPr lang="ar" sz="2475" dirty="0">
                <a:cs typeface="Traditional Arabic" pitchFamily="2" charset="-78"/>
              </a:rPr>
              <a:t>بسم الله الرحمن الرحيم</a:t>
            </a:r>
            <a:endParaRPr xmlns:a="http://schemas.openxmlformats.org/drawingml/2006/main" lang="en-US" sz="2475" dirty="0">
              <a:cs typeface="Traditional Arabic" pitchFamily="2" charset="-78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1" y="5064977"/>
            <a:ext cx="2514600" cy="1793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6553200" y="0"/>
            <a:ext cx="2590800" cy="1632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812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9161" y="377774"/>
            <a:ext cx="4264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spc="-70" dirty="0">
                <a:solidFill>
                  <a:srgbClr val="00AF50"/>
                </a:solidFill>
              </a:rPr>
              <a:t>الويب</a:t>
            </a:r>
            <a:r xmlns:a="http://schemas.openxmlformats.org/drawingml/2006/main">
              <a:rPr sz="5400" spc="-75" dirty="0">
                <a:solidFill>
                  <a:srgbClr val="00AF50"/>
                </a:solidFill>
              </a:rPr>
              <a:t> </a:t>
            </a:r>
            <a:r xmlns:a="http://schemas.openxmlformats.org/drawingml/2006/main">
              <a:rPr sz="5400" spc="-5" dirty="0">
                <a:solidFill>
                  <a:srgbClr val="00AF50"/>
                </a:solidFill>
              </a:rPr>
              <a:t>تصميم</a:t>
            </a:r>
            <a:endParaRPr xmlns:a="http://schemas.openxmlformats.org/drawingml/2006/main" sz="5400" dirty="0"/>
          </a:p>
        </p:txBody>
      </p:sp>
      <p:sp>
        <p:nvSpPr>
          <p:cNvPr id="3" name="object 3"/>
          <p:cNvSpPr/>
          <p:nvPr/>
        </p:nvSpPr>
        <p:spPr>
          <a:xfrm>
            <a:off x="577888" y="1920113"/>
            <a:ext cx="8185150" cy="3794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9144000" cy="4999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 marR="5080" indent="635" algn="l" rtl="0">
              <a:lnSpc>
                <a:spcPct val="150000"/>
              </a:lnSpc>
              <a:spcBef>
                <a:spcPts val="105"/>
              </a:spcBef>
              <a:bidi/>
            </a:pPr>
            <a:r xmlns:a="http://schemas.openxmlformats.org/drawingml/2006/main">
              <a:rPr sz="3600" b="0" spc="-20" dirty="0">
                <a:latin typeface="Times" panose="02020603050405020304" pitchFamily="18" charset="0"/>
                <a:cs typeface="Times" panose="02020603050405020304" pitchFamily="18" charset="0"/>
              </a:rPr>
              <a:t>الخطوة </a:t>
            </a:r>
            <a:r xmlns:a="http://schemas.openxmlformats.org/drawingml/2006/main">
              <a:rPr sz="3600" b="0" spc="-30" dirty="0">
                <a:latin typeface="Times" panose="02020603050405020304" pitchFamily="18" charset="0"/>
                <a:cs typeface="Times" panose="02020603050405020304" pitchFamily="18" charset="0"/>
              </a:rPr>
              <a:t>الأولى </a:t>
            </a:r>
            <a:r xmlns:a="http://schemas.openxmlformats.org/drawingml/2006/main"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في </a:t>
            </a:r>
            <a:r xmlns:a="http://schemas.openxmlformats.org/drawingml/2006/main">
              <a:rPr sz="3600" b="0" spc="-5" dirty="0">
                <a:latin typeface="Times" panose="02020603050405020304" pitchFamily="18" charset="0"/>
                <a:cs typeface="Times" panose="02020603050405020304" pitchFamily="18" charset="0"/>
              </a:rPr>
              <a:t>إنشاء </a:t>
            </a:r>
            <a:r xmlns:a="http://schemas.openxmlformats.org/drawingml/2006/main">
              <a:rPr sz="3600" b="0" spc="-10" dirty="0">
                <a:latin typeface="Times" panose="02020603050405020304" pitchFamily="18" charset="0"/>
                <a:cs typeface="Times" panose="02020603050405020304" pitchFamily="18" charset="0"/>
              </a:rPr>
              <a:t>موقع </a:t>
            </a:r>
            <a:r xmlns:a="http://schemas.openxmlformats.org/drawingml/2006/main"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على </a:t>
            </a:r>
            <a:r xmlns:a="http://schemas.openxmlformats.org/drawingml/2006/main">
              <a:rPr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شبكة الإنترنت </a:t>
            </a:r>
            <a:r xmlns:a="http://schemas.openxmlformats.org/drawingml/2006/main"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هي </a:t>
            </a:r>
            <a:r xmlns:a="http://schemas.openxmlformats.org/drawingml/2006/main">
              <a:rPr sz="3600" b="0" spc="-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التخطيط</a:t>
            </a:r>
            <a:r xmlns:a="http://schemas.openxmlformats.org/drawingml/2006/main">
              <a:rPr sz="3600" b="0" spc="-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 xmlns:a="http://schemas.openxmlformats.org/drawingml/2006/main"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صفحات </a:t>
            </a:r>
            <a:r xmlns:a="http://schemas.openxmlformats.org/drawingml/2006/main">
              <a:rPr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الويب </a:t>
            </a:r>
            <a:r xmlns:a="http://schemas.openxmlformats.org/drawingml/2006/main">
              <a:rPr sz="3600" b="0" spc="-35" dirty="0">
                <a:latin typeface="Times" panose="02020603050405020304" pitchFamily="18" charset="0"/>
                <a:cs typeface="Times" panose="02020603050405020304" pitchFamily="18" charset="0"/>
              </a:rPr>
              <a:t>الخاصة </a:t>
            </a:r>
            <a:r xmlns:a="http://schemas.openxmlformats.org/drawingml/2006/main">
              <a:rPr sz="3600" b="0" dirty="0">
                <a:latin typeface="Times" panose="02020603050405020304" pitchFamily="18" charset="0"/>
                <a:cs typeface="Times" panose="02020603050405020304" pitchFamily="18" charset="0"/>
              </a:rPr>
              <a:t>بـ </a:t>
            </a:r>
            <a:r xmlns:a="http://schemas.openxmlformats.org/drawingml/2006/main">
              <a:rPr sz="3600" b="0" spc="-5" dirty="0">
                <a:latin typeface="Times" panose="02020603050405020304" pitchFamily="18" charset="0"/>
                <a:cs typeface="Times" panose="02020603050405020304" pitchFamily="18" charset="0"/>
              </a:rPr>
              <a:t>_</a:t>
            </a:r>
            <a:r xmlns:a="http://schemas.openxmlformats.org/drawingml/2006/main">
              <a:rPr sz="3600" b="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 xmlns:a="http://schemas.openxmlformats.org/drawingml/2006/main">
              <a:rPr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المواقع </a:t>
            </a:r>
            <a:r xmlns:a="http://schemas.openxmlformats.org/drawingml/2006/main">
              <a:rPr lang="ar"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br xmlns:a="http://schemas.openxmlformats.org/drawingml/2006/main">
              <a:rPr lang="en-US" sz="3600" b="0" spc="-15" dirty="0">
                <a:latin typeface="Times" panose="02020603050405020304" pitchFamily="18" charset="0"/>
                <a:cs typeface="Times" panose="02020603050405020304" pitchFamily="18" charset="0"/>
              </a:rPr>
            </a:br>
            <a:r xmlns:a="http://schemas.openxmlformats.org/drawingml/2006/main">
              <a:rPr lang="ar" sz="3600" b="0" spc="-15" dirty="0">
                <a:latin typeface="Times" panose="02020603050405020304" pitchFamily="18" charset="0"/>
                <a:cs typeface="Times" panose="02020603050405020304" pitchFamily="18" charset="0"/>
              </a:rPr>
              <a:t>ينقسم أي موقع إلى مرحلتين في مرحلة التطوير </a:t>
            </a:r>
            <a:br xmlns:a="http://schemas.openxmlformats.org/drawingml/2006/main">
              <a:rPr lang="en-US" sz="3600" b="0" spc="-15" dirty="0">
                <a:latin typeface="Times" panose="02020603050405020304" pitchFamily="18" charset="0"/>
                <a:cs typeface="Times" panose="02020603050405020304" pitchFamily="18" charset="0"/>
              </a:rPr>
            </a:br>
            <a:r xmlns:a="http://schemas.openxmlformats.org/drawingml/2006/main">
              <a:rPr lang="ar" sz="3600" b="0" spc="-1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أ) الواجهة الأمامية (التصميم). </a:t>
            </a:r>
            <a:br xmlns:a="http://schemas.openxmlformats.org/drawingml/2006/main">
              <a:rPr lang="en-US" sz="3600" b="0" spc="-1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 xmlns:a="http://schemas.openxmlformats.org/drawingml/2006/main">
              <a:rPr lang="ar" sz="3600" b="0" spc="-15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ب) النهاية الخلفية (البرمجة).</a:t>
            </a:r>
            <a:endParaRPr xmlns:a="http://schemas.openxmlformats.org/drawingml/2006/main" sz="36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67525" y="4848225"/>
            <a:ext cx="2276475" cy="200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465" y="507314"/>
            <a:ext cx="168846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dirty="0">
                <a:solidFill>
                  <a:srgbClr val="C00000"/>
                </a:solidFill>
              </a:rPr>
              <a:t>لغة البرمجة</a:t>
            </a:r>
            <a:endParaRPr xmlns:a="http://schemas.openxmlformats.org/drawingml/2006/main" sz="5400"/>
          </a:p>
        </p:txBody>
      </p:sp>
      <p:sp>
        <p:nvSpPr>
          <p:cNvPr id="3" name="object 3"/>
          <p:cNvSpPr txBox="1"/>
          <p:nvPr/>
        </p:nvSpPr>
        <p:spPr>
          <a:xfrm>
            <a:off x="384683" y="1524000"/>
            <a:ext cx="8454517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4000" spc="-10" dirty="0">
                <a:latin typeface="Calibri"/>
                <a:cs typeface="Calibri"/>
              </a:rPr>
              <a:t>Hyper </a:t>
            </a:r>
            <a:r xmlns:a="http://schemas.openxmlformats.org/drawingml/2006/main">
              <a:rPr sz="4000" spc="-110" dirty="0">
                <a:latin typeface="Calibri"/>
                <a:cs typeface="Calibri"/>
              </a:rPr>
              <a:t>Text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Markup</a:t>
            </a:r>
            <a:r xmlns:a="http://schemas.openxmlformats.org/drawingml/2006/main">
              <a:rPr sz="4000" spc="1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لغة</a:t>
            </a:r>
            <a:endParaRPr xmlns:a="http://schemas.openxmlformats.org/drawingml/2006/main" sz="5800" dirty="0">
              <a:latin typeface="Times New Roman"/>
              <a:cs typeface="Times New Roman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4000" spc="-15" dirty="0">
                <a:latin typeface="Calibri"/>
                <a:cs typeface="Calibri"/>
              </a:rPr>
              <a:t>يتكون </a:t>
            </a:r>
            <a:r xmlns:a="http://schemas.openxmlformats.org/drawingml/2006/main">
              <a:rPr sz="400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علامات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وسماته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المستخدمة </a:t>
            </a:r>
            <a:r xmlns:a="http://schemas.openxmlformats.org/drawingml/2006/main">
              <a:rPr sz="4000" spc="-20" dirty="0">
                <a:latin typeface="Calibri"/>
                <a:cs typeface="Calibri"/>
              </a:rPr>
              <a:t>لتنسيق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4000" spc="-25" dirty="0">
                <a:latin typeface="Calibri"/>
                <a:cs typeface="Calibri"/>
              </a:rPr>
              <a:t>_</a:t>
            </a:r>
            <a:r xmlns:a="http://schemas.openxmlformats.org/drawingml/2006/main">
              <a:rPr sz="4000" spc="55" dirty="0">
                <a:latin typeface="Calibri"/>
                <a:cs typeface="Calibri"/>
              </a:rPr>
              <a:t>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الصفحات</a:t>
            </a:r>
            <a:endParaRPr xmlns:a="http://schemas.openxmlformats.org/drawingml/2006/main" lang="en-US" sz="4000" spc="-10" dirty="0">
              <a:latin typeface="Calibri"/>
              <a:cs typeface="Calibri"/>
            </a:endParaRPr>
          </a:p>
          <a:p>
            <a:pPr xmlns:a="http://schemas.openxmlformats.org/drawingml/2006/main" marL="583565" marR="5080" indent="-5715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356235" algn="l"/>
              </a:tabLst>
              <a:bidi/>
            </a:pPr>
            <a:r xmlns:a="http://schemas.openxmlformats.org/drawingml/2006/main">
              <a:rPr lang="ar" sz="4000" spc="-10" dirty="0" smtClean="0">
                <a:latin typeface="Calibri"/>
                <a:cs typeface="Calibri"/>
              </a:rPr>
              <a:t>نوع </a:t>
            </a:r>
            <a:r xmlns:a="http://schemas.openxmlformats.org/drawingml/2006/main">
              <a:rPr lang="ar" sz="4000" spc="-15" dirty="0">
                <a:cs typeface="Calibri"/>
              </a:rPr>
              <a:t>الويب</a:t>
            </a:r>
            <a:r xmlns:a="http://schemas.openxmlformats.org/drawingml/2006/main">
              <a:rPr lang="ar" sz="4000" spc="55" dirty="0">
                <a:cs typeface="Calibri"/>
              </a:rPr>
              <a:t> </a:t>
            </a:r>
            <a:r xmlns:a="http://schemas.openxmlformats.org/drawingml/2006/main">
              <a:rPr lang="ar" sz="4000" spc="-10" dirty="0" smtClean="0">
                <a:cs typeface="Calibri"/>
              </a:rPr>
              <a:t>الصفحات</a:t>
            </a:r>
          </a:p>
          <a:p>
            <a:pPr xmlns:a="http://schemas.openxmlformats.org/drawingml/2006/main" marL="755015" marR="5080" indent="-742950">
              <a:lnSpc>
                <a:spcPct val="100000"/>
              </a:lnSpc>
              <a:buFont typeface="+mj-lt"/>
              <a:buAutoNum type="arabicPeriod"/>
              <a:tabLst>
                <a:tab pos="356235" algn="l"/>
              </a:tabLst>
              <a:bidi/>
            </a:pPr>
            <a:r xmlns:a="http://schemas.openxmlformats.org/drawingml/2006/main">
              <a:rPr lang="ar" sz="4000" spc="-20" dirty="0">
                <a:solidFill>
                  <a:srgbClr val="C00000"/>
                </a:solidFill>
              </a:rPr>
              <a:t>الويب الثابت</a:t>
            </a:r>
            <a:r xmlns:a="http://schemas.openxmlformats.org/drawingml/2006/main">
              <a:rPr lang="ar" sz="4000" spc="-40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lang="ar" sz="4000" spc="-20" dirty="0" smtClean="0">
                <a:solidFill>
                  <a:srgbClr val="C00000"/>
                </a:solidFill>
              </a:rPr>
              <a:t>الصفحات</a:t>
            </a:r>
          </a:p>
          <a:p>
            <a:pPr xmlns:a="http://schemas.openxmlformats.org/drawingml/2006/main" marL="755015" marR="5080" indent="-742950">
              <a:lnSpc>
                <a:spcPct val="100000"/>
              </a:lnSpc>
              <a:buFont typeface="+mj-lt"/>
              <a:buAutoNum type="arabicPeriod"/>
              <a:tabLst>
                <a:tab pos="356235" algn="l"/>
              </a:tabLst>
              <a:bidi/>
            </a:pPr>
            <a:r xmlns:a="http://schemas.openxmlformats.org/drawingml/2006/main">
              <a:rPr lang="ar" sz="4000" spc="-15" dirty="0">
                <a:solidFill>
                  <a:srgbClr val="C00000"/>
                </a:solidFill>
              </a:rPr>
              <a:t>الويب </a:t>
            </a:r>
            <a:r xmlns:a="http://schemas.openxmlformats.org/drawingml/2006/main">
              <a:rPr lang="ar" sz="4000" spc="-5" dirty="0">
                <a:solidFill>
                  <a:srgbClr val="C00000"/>
                </a:solidFill>
              </a:rPr>
              <a:t>الديناميكي</a:t>
            </a:r>
            <a:r xmlns:a="http://schemas.openxmlformats.org/drawingml/2006/main">
              <a:rPr lang="ar" sz="4000" spc="-75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lang="ar" sz="4000" spc="-15" dirty="0">
                <a:solidFill>
                  <a:srgbClr val="C00000"/>
                </a:solidFill>
              </a:rPr>
              <a:t>الصفحات</a:t>
            </a:r>
            <a:endParaRPr xmlns:a="http://schemas.openxmlformats.org/drawingml/2006/main" lang="en-US" sz="4000" spc="-10" dirty="0" smtClean="0">
              <a:cs typeface="Calibri"/>
            </a:endParaRPr>
          </a:p>
          <a:p>
            <a:pPr marL="12065" marR="5080">
              <a:lnSpc>
                <a:spcPct val="100000"/>
              </a:lnSpc>
              <a:tabLst>
                <a:tab pos="356235" algn="l"/>
              </a:tabLst>
            </a:pPr>
            <a:endParaRPr lang="en-US" sz="40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2748" y="507314"/>
            <a:ext cx="47777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spc="-20" dirty="0">
                <a:solidFill>
                  <a:srgbClr val="C00000"/>
                </a:solidFill>
              </a:rPr>
              <a:t>الويب الثابت</a:t>
            </a:r>
            <a:r xmlns:a="http://schemas.openxmlformats.org/drawingml/2006/main">
              <a:rPr sz="5400" spc="-40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sz="5400" spc="-20" dirty="0">
                <a:solidFill>
                  <a:srgbClr val="C00000"/>
                </a:solidFill>
              </a:rPr>
              <a:t>الصفحات</a:t>
            </a:r>
            <a:endParaRPr xmlns:a="http://schemas.openxmlformats.org/drawingml/2006/main"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59050"/>
            <a:ext cx="7777480" cy="3317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355600" marR="5080" indent="-3435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4000" spc="-10" dirty="0">
                <a:latin typeface="Calibri"/>
                <a:cs typeface="Calibri"/>
              </a:rPr>
              <a:t>تظل صفحات </a:t>
            </a:r>
            <a:r xmlns:a="http://schemas.openxmlformats.org/drawingml/2006/main">
              <a:rPr sz="4000" spc="-5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كما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طوال الوقت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حتى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يتم تغيير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التعليمات البرمجية </a:t>
            </a:r>
            <a:r xmlns:a="http://schemas.openxmlformats.org/drawingml/2006/main">
              <a:rPr sz="4000" dirty="0">
                <a:latin typeface="Calibri"/>
                <a:cs typeface="Calibri"/>
              </a:rPr>
              <a:t>الخاصة بها </a:t>
            </a:r>
            <a:r xmlns:a="http://schemas.openxmlformats.org/drawingml/2006/main">
              <a:rPr sz="4000" spc="-35" dirty="0">
                <a:latin typeface="Calibri"/>
                <a:cs typeface="Calibri"/>
              </a:rPr>
              <a:t>يدويًا.</a:t>
            </a:r>
            <a:endParaRPr xmlns:a="http://schemas.openxmlformats.org/drawingml/2006/main"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5800">
              <a:latin typeface="Times New Roman"/>
              <a:cs typeface="Times New Roman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4000" spc="-5" dirty="0">
                <a:latin typeface="Calibri"/>
                <a:cs typeface="Calibri"/>
              </a:rPr>
              <a:t>تم </a:t>
            </a:r>
            <a:r xmlns:a="http://schemas.openxmlformats.org/drawingml/2006/main">
              <a:rPr sz="4000" spc="-20" dirty="0">
                <a:latin typeface="Calibri"/>
                <a:cs typeface="Calibri"/>
              </a:rPr>
              <a:t>إنشاؤه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باستخدام ملفات</a:t>
            </a:r>
            <a:r xmlns:a="http://schemas.openxmlformats.org/drawingml/2006/main">
              <a:rPr sz="40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لغة البرمجة.</a:t>
            </a:r>
            <a:endParaRPr xmlns:a="http://schemas.openxmlformats.org/drawingml/2006/main"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4692" y="507314"/>
            <a:ext cx="56730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spc="-15" dirty="0">
                <a:solidFill>
                  <a:srgbClr val="C00000"/>
                </a:solidFill>
              </a:rPr>
              <a:t>الويب </a:t>
            </a:r>
            <a:r xmlns:a="http://schemas.openxmlformats.org/drawingml/2006/main">
              <a:rPr sz="5400" spc="-5" dirty="0">
                <a:solidFill>
                  <a:srgbClr val="C00000"/>
                </a:solidFill>
              </a:rPr>
              <a:t>الديناميكي</a:t>
            </a:r>
            <a:r xmlns:a="http://schemas.openxmlformats.org/drawingml/2006/main">
              <a:rPr sz="5400" spc="-75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sz="5400" spc="-15" dirty="0">
                <a:solidFill>
                  <a:srgbClr val="C00000"/>
                </a:solidFill>
              </a:rPr>
              <a:t>الصفحات</a:t>
            </a:r>
            <a:endParaRPr xmlns:a="http://schemas.openxmlformats.org/drawingml/2006/main"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604594"/>
            <a:ext cx="7902575" cy="476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355600" marR="10350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700" spc="-5" dirty="0">
                <a:latin typeface="Calibri"/>
                <a:cs typeface="Calibri"/>
              </a:rPr>
              <a:t>تسمى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صفحات </a:t>
            </a:r>
            <a:r xmlns:a="http://schemas.openxmlformats.org/drawingml/2006/main">
              <a:rPr sz="3700" spc="-15" dirty="0">
                <a:latin typeface="Calibri"/>
                <a:cs typeface="Calibri"/>
              </a:rPr>
              <a:t>الويب التي </a:t>
            </a:r>
            <a:r xmlns:a="http://schemas.openxmlformats.org/drawingml/2006/main">
              <a:rPr sz="3700" spc="-25" dirty="0">
                <a:latin typeface="Calibri"/>
                <a:cs typeface="Calibri"/>
              </a:rPr>
              <a:t>تحتوي على تعليمات </a:t>
            </a:r>
            <a:r xmlns:a="http://schemas.openxmlformats.org/drawingml/2006/main">
              <a:rPr sz="3700" spc="-20" dirty="0">
                <a:latin typeface="Calibri"/>
                <a:cs typeface="Calibri"/>
              </a:rPr>
              <a:t>برمجية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من جانب الخادم </a:t>
            </a:r>
            <a:r xmlns:a="http://schemas.openxmlformats.org/drawingml/2006/main">
              <a:rPr sz="3700" spc="-5" dirty="0">
                <a:latin typeface="Calibri"/>
                <a:cs typeface="Calibri"/>
              </a:rPr>
              <a:t>والتي </a:t>
            </a:r>
            <a:r xmlns:a="http://schemas.openxmlformats.org/drawingml/2006/main">
              <a:rPr sz="3700" spc="-25" dirty="0">
                <a:latin typeface="Calibri"/>
                <a:cs typeface="Calibri"/>
              </a:rPr>
              <a:t>تنشئ </a:t>
            </a:r>
            <a:r xmlns:a="http://schemas.openxmlformats.org/drawingml/2006/main">
              <a:rPr sz="3700" spc="-5" dirty="0">
                <a:latin typeface="Calibri"/>
                <a:cs typeface="Calibri"/>
              </a:rPr>
              <a:t>صفحة </a:t>
            </a:r>
            <a:r xmlns:a="http://schemas.openxmlformats.org/drawingml/2006/main">
              <a:rPr sz="3700" spc="-15" dirty="0">
                <a:latin typeface="Calibri"/>
                <a:cs typeface="Calibri"/>
              </a:rPr>
              <a:t>ويب في </a:t>
            </a:r>
            <a:r xmlns:a="http://schemas.openxmlformats.org/drawingml/2006/main">
              <a:rPr sz="3700" spc="-5" dirty="0">
                <a:latin typeface="Calibri"/>
                <a:cs typeface="Calibri"/>
              </a:rPr>
              <a:t>كل مرة يتم الوصول إليها </a:t>
            </a:r>
            <a:r xmlns:a="http://schemas.openxmlformats.org/drawingml/2006/main">
              <a:rPr sz="3700" spc="-20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700" spc="-2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الديناميكي</a:t>
            </a:r>
            <a:r xmlns:a="http://schemas.openxmlformats.org/drawingml/2006/main">
              <a:rPr sz="3700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700" spc="-15" dirty="0">
                <a:latin typeface="Calibri"/>
                <a:cs typeface="Calibri"/>
              </a:rPr>
              <a:t>الصفحات.</a:t>
            </a:r>
            <a:endParaRPr xmlns:a="http://schemas.openxmlformats.org/drawingml/2006/main" sz="37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700" spc="-15" dirty="0">
                <a:latin typeface="Calibri"/>
                <a:cs typeface="Calibri"/>
              </a:rPr>
              <a:t>كود </a:t>
            </a:r>
            <a:r xmlns:a="http://schemas.openxmlformats.org/drawingml/2006/main">
              <a:rPr sz="3700" spc="-30" dirty="0">
                <a:latin typeface="Calibri"/>
                <a:cs typeface="Calibri"/>
              </a:rPr>
              <a:t>البرنامج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الذي </a:t>
            </a:r>
            <a:r xmlns:a="http://schemas.openxmlformats.org/drawingml/2006/main">
              <a:rPr sz="3700" spc="-5" dirty="0">
                <a:latin typeface="Calibri"/>
                <a:cs typeface="Calibri"/>
              </a:rPr>
              <a:t>يتم تشغيله على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3700" spc="-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جانب الخادم</a:t>
            </a:r>
            <a:r xmlns:a="http://schemas.openxmlformats.org/drawingml/2006/main">
              <a:rPr sz="3700" spc="6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700" spc="-15" dirty="0">
                <a:latin typeface="Calibri"/>
                <a:cs typeface="Calibri"/>
              </a:rPr>
              <a:t>الشفرة.</a:t>
            </a:r>
            <a:endParaRPr xmlns:a="http://schemas.openxmlformats.org/drawingml/2006/main" sz="3700">
              <a:latin typeface="Calibri"/>
              <a:cs typeface="Calibri"/>
            </a:endParaRPr>
          </a:p>
          <a:p>
            <a:pPr xmlns:a="http://schemas.openxmlformats.org/drawingml/2006/main" marL="355600" marR="53975" indent="-34353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700" spc="-10" dirty="0">
                <a:latin typeface="Calibri"/>
                <a:cs typeface="Calibri"/>
              </a:rPr>
              <a:t>تُستخدم </a:t>
            </a:r>
            <a:r xmlns:a="http://schemas.openxmlformats.org/drawingml/2006/main">
              <a:rPr sz="3700" spc="-30" dirty="0">
                <a:latin typeface="Calibri"/>
                <a:cs typeface="Calibri"/>
              </a:rPr>
              <a:t>تقنيات </a:t>
            </a:r>
            <a:r xmlns:a="http://schemas.openxmlformats.org/drawingml/2006/main">
              <a:rPr sz="3700" spc="-35" dirty="0">
                <a:latin typeface="Calibri"/>
                <a:cs typeface="Calibri"/>
              </a:rPr>
              <a:t>مثل </a:t>
            </a:r>
            <a:r xmlns:a="http://schemas.openxmlformats.org/drawingml/2006/main">
              <a:rPr sz="3700" spc="-120" dirty="0">
                <a:latin typeface="Calibri"/>
                <a:cs typeface="Calibri"/>
              </a:rPr>
              <a:t>PHP و </a:t>
            </a:r>
            <a:r xmlns:a="http://schemas.openxmlformats.org/drawingml/2006/main">
              <a:rPr sz="3700" spc="-114" dirty="0">
                <a:latin typeface="Calibri"/>
                <a:cs typeface="Calibri"/>
              </a:rPr>
              <a:t>ASP و JSP </a:t>
            </a:r>
            <a:r xmlns:a="http://schemas.openxmlformats.org/drawingml/2006/main">
              <a:rPr sz="3700" spc="-20" dirty="0">
                <a:latin typeface="Calibri"/>
                <a:cs typeface="Calibri"/>
              </a:rPr>
              <a:t>وما </a:t>
            </a:r>
            <a:r xmlns:a="http://schemas.openxmlformats.org/drawingml/2006/main">
              <a:rPr sz="3700" spc="-25" dirty="0">
                <a:latin typeface="Calibri"/>
                <a:cs typeface="Calibri"/>
              </a:rPr>
              <a:t>إلى ذلك </a:t>
            </a:r>
            <a:r xmlns:a="http://schemas.openxmlformats.org/drawingml/2006/main">
              <a:rPr sz="3700" spc="-15" dirty="0">
                <a:latin typeface="Calibri"/>
                <a:cs typeface="Calibri"/>
              </a:rPr>
              <a:t>لتطوير </a:t>
            </a:r>
            <a:r xmlns:a="http://schemas.openxmlformats.org/drawingml/2006/main">
              <a:rPr sz="3700" spc="-2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700" spc="-5" dirty="0">
                <a:latin typeface="Calibri"/>
                <a:cs typeface="Calibri"/>
              </a:rPr>
              <a:t>الديناميكي</a:t>
            </a:r>
            <a:r xmlns:a="http://schemas.openxmlformats.org/drawingml/2006/main">
              <a:rPr sz="3700" spc="1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700" spc="-10" dirty="0">
                <a:latin typeface="Calibri"/>
                <a:cs typeface="Calibri"/>
              </a:rPr>
              <a:t>الصفحات</a:t>
            </a:r>
            <a:endParaRPr xmlns:a="http://schemas.openxmlformats.org/drawingml/2006/main" sz="3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9210" y="126314"/>
            <a:ext cx="694817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algn="ctr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5" dirty="0">
                <a:solidFill>
                  <a:srgbClr val="C00000"/>
                </a:solidFill>
              </a:rPr>
              <a:t>مقارنة</a:t>
            </a:r>
            <a:r xmlns:a="http://schemas.openxmlformats.org/drawingml/2006/main">
              <a:rPr sz="4400" spc="-30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sz="4400" dirty="0">
                <a:solidFill>
                  <a:srgbClr val="C00000"/>
                </a:solidFill>
              </a:rPr>
              <a:t>من</a:t>
            </a:r>
            <a:endParaRPr xmlns:a="http://schemas.openxmlformats.org/drawingml/2006/main" sz="4400"/>
          </a:p>
          <a:p>
            <a:pPr xmlns:a="http://schemas.openxmlformats.org/drawingml/2006/main" algn="ctr">
              <a:lnSpc>
                <a:spcPct val="100000"/>
              </a:lnSpc>
              <a:bidi/>
            </a:pPr>
            <a:r xmlns:a="http://schemas.openxmlformats.org/drawingml/2006/main">
              <a:rPr sz="4400" spc="-15" dirty="0">
                <a:solidFill>
                  <a:srgbClr val="C00000"/>
                </a:solidFill>
              </a:rPr>
              <a:t>ويب </a:t>
            </a:r>
            <a:r xmlns:a="http://schemas.openxmlformats.org/drawingml/2006/main">
              <a:rPr sz="4400" spc="-25" dirty="0">
                <a:solidFill>
                  <a:srgbClr val="C00000"/>
                </a:solidFill>
              </a:rPr>
              <a:t>ثابت </a:t>
            </a:r>
            <a:r xmlns:a="http://schemas.openxmlformats.org/drawingml/2006/main">
              <a:rPr sz="4400" spc="-5" dirty="0">
                <a:solidFill>
                  <a:srgbClr val="C00000"/>
                </a:solidFill>
              </a:rPr>
              <a:t>وديناميكي </a:t>
            </a:r>
            <a:r xmlns:a="http://schemas.openxmlformats.org/drawingml/2006/main">
              <a:rPr sz="4400" dirty="0">
                <a:solidFill>
                  <a:srgbClr val="C00000"/>
                </a:solidFill>
              </a:rPr>
              <a:t>_</a:t>
            </a:r>
            <a:r xmlns:a="http://schemas.openxmlformats.org/drawingml/2006/main">
              <a:rPr sz="4400" spc="-40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sz="4400" spc="-15" dirty="0">
                <a:solidFill>
                  <a:srgbClr val="C00000"/>
                </a:solidFill>
              </a:rPr>
              <a:t>الصفحات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2188590"/>
            <a:ext cx="354457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400" spc="-15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والتخطيط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_</a:t>
            </a:r>
            <a:r xmlns:a="http://schemas.openxmlformats.org/drawingml/2006/main">
              <a:rPr sz="2400" spc="-8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صفحة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الويب</a:t>
            </a:r>
            <a:r xmlns:a="http://schemas.openxmlformats.org/drawingml/2006/main">
              <a:rPr sz="24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مُثَبَّت</a:t>
            </a:r>
            <a:endParaRPr xmlns:a="http://schemas.openxmlformats.org/drawingml/2006/main" sz="2400" dirty="0">
              <a:solidFill>
                <a:srgbClr val="FF0000"/>
              </a:solidFill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400" dirty="0">
                <a:latin typeface="Calibri"/>
                <a:cs typeface="Calibri"/>
              </a:rPr>
              <a:t>انها </a:t>
            </a:r>
            <a:r xmlns:a="http://schemas.openxmlformats.org/drawingml/2006/main"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ابدا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استعمال</a:t>
            </a:r>
            <a:r xmlns:a="http://schemas.openxmlformats.org/drawingml/2006/main">
              <a:rPr sz="2400" spc="-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قواعد بيانات</a:t>
            </a:r>
            <a:endParaRPr xmlns:a="http://schemas.openxmlformats.org/drawingml/2006/main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71721"/>
            <a:ext cx="3763645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4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تشغيله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مباشرة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المتصفح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ولا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يفعل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ذلك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400" spc="-7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تتطلب </a:t>
            </a:r>
            <a:r xmlns:a="http://schemas.openxmlformats.org/drawingml/2006/main">
              <a:rPr sz="2400" spc="-20" dirty="0">
                <a:latin typeface="Calibri"/>
                <a:cs typeface="Calibri"/>
              </a:rPr>
              <a:t>أي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برنامج </a:t>
            </a:r>
            <a:endParaRPr xmlns:a="http://schemas.openxmlformats.org/drawingml/2006/main" sz="2400">
              <a:latin typeface="Calibri"/>
              <a:cs typeface="Calibri"/>
            </a:endParaRPr>
            <a:r xmlns:a="http://schemas.openxmlformats.org/drawingml/2006/main">
              <a:rPr sz="2400" spc="-5" dirty="0">
                <a:latin typeface="Calibri"/>
                <a:cs typeface="Calibri"/>
              </a:rPr>
              <a:t>تطبيق من جانب الخادم</a:t>
            </a: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400" spc="-5" dirty="0">
                <a:latin typeface="Calibri"/>
                <a:cs typeface="Calibri"/>
              </a:rPr>
              <a:t>هذه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سهلة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التطوير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731390"/>
            <a:ext cx="6600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tabLst>
                <a:tab pos="4201160" algn="l"/>
              </a:tabLst>
              <a:bidi/>
            </a:pPr>
            <a:r xmlns:a="http://schemas.openxmlformats.org/drawingml/2006/main"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ثابتة</a:t>
            </a:r>
            <a:r xmlns:a="http://schemas.openxmlformats.org/drawingml/2006/main">
              <a:rPr sz="2400" b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الويب</a:t>
            </a:r>
            <a:r xmlns:a="http://schemas.openxmlformats.org/drawingml/2006/main"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صفحة </a:t>
            </a:r>
            <a:r xmlns:a="http://schemas.openxmlformats.org/drawingml/2006/main"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ويب </a:t>
            </a:r>
            <a:r xmlns:a="http://schemas.openxmlformats.org/drawingml/2006/main"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ديناميكي</a:t>
            </a:r>
            <a:r xmlns:a="http://schemas.openxmlformats.org/drawingml/2006/main">
              <a:rPr sz="24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صفحة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527" y="2188590"/>
            <a:ext cx="3841115" cy="390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355600" marR="3302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2400" spc="-15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والتخطيط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_</a:t>
            </a:r>
            <a:r xmlns:a="http://schemas.openxmlformats.org/drawingml/2006/main">
              <a:rPr sz="2400" spc="-8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قد </a:t>
            </a:r>
            <a:r xmlns:a="http://schemas.openxmlformats.org/drawingml/2006/main"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تتغير أثناء </a:t>
            </a:r>
            <a:r xmlns:a="http://schemas.openxmlformats.org/drawingml/2006/main"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الجري</a:t>
            </a:r>
            <a:r xmlns:a="http://schemas.openxmlformats.org/drawingml/2006/main"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الوقت</a:t>
            </a:r>
          </a:p>
          <a:p>
            <a:pPr xmlns:a="http://schemas.openxmlformats.org/drawingml/2006/main" marL="355600" marR="240665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يستخدم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قواعد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البيانات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لتوليد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ديناميكية</a:t>
            </a:r>
            <a:r xmlns:a="http://schemas.openxmlformats.org/drawingml/2006/main">
              <a:rPr sz="2400" spc="-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10" dirty="0">
                <a:latin typeface="Calibri"/>
                <a:cs typeface="Calibri"/>
              </a:rPr>
              <a:t>من خلال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المحتوى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استفسارات</a:t>
            </a:r>
            <a:endParaRPr xmlns:a="http://schemas.openxmlformats.org/drawingml/2006/main" sz="2400" dirty="0">
              <a:latin typeface="Calibri"/>
              <a:cs typeface="Calibri"/>
            </a:endParaRPr>
          </a:p>
          <a:p>
            <a:pPr xmlns:a="http://schemas.openxmlformats.org/drawingml/2006/main" marL="355600" marR="401320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2400" dirty="0">
                <a:latin typeface="Calibri"/>
                <a:cs typeface="Calibri"/>
              </a:rPr>
              <a:t>يعمل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400" spc="-10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برنامج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التطبيق </a:t>
            </a:r>
            <a:r xmlns:a="http://schemas.openxmlformats.org/drawingml/2006/main">
              <a:rPr sz="2400" spc="-15" dirty="0">
                <a:latin typeface="Calibri"/>
                <a:cs typeface="Calibri"/>
              </a:rPr>
              <a:t>الجانبي 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ويعرض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ملف</a:t>
            </a:r>
            <a:r xmlns:a="http://schemas.openxmlformats.org/drawingml/2006/main">
              <a:rPr sz="240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النتائج</a:t>
            </a:r>
            <a:endParaRPr xmlns:a="http://schemas.openxmlformats.org/drawingml/2006/main" sz="2400" dirty="0">
              <a:latin typeface="Calibri"/>
              <a:cs typeface="Calibri"/>
            </a:endParaRPr>
          </a:p>
          <a:p>
            <a:pPr xmlns:a="http://schemas.openxmlformats.org/drawingml/2006/main" marL="355600" marR="5080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2400" spc="-10" dirty="0">
                <a:latin typeface="Calibri"/>
                <a:cs typeface="Calibri"/>
              </a:rPr>
              <a:t>يتطلب تطوير صفحة الويب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هذه البرمجة</a:t>
            </a:r>
            <a:r xmlns:a="http://schemas.openxmlformats.org/drawingml/2006/main">
              <a:rPr sz="2400" spc="-7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400" spc="-5" dirty="0">
                <a:latin typeface="Calibri"/>
                <a:cs typeface="Calibri"/>
              </a:rPr>
              <a:t>مهارات</a:t>
            </a:r>
            <a:endParaRPr xmlns:a="http://schemas.openxmlformats.org/drawingml/2006/main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3978" y="377774"/>
            <a:ext cx="187578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dirty="0">
                <a:solidFill>
                  <a:srgbClr val="FF0000"/>
                </a:solidFill>
              </a:rPr>
              <a:t>scri </a:t>
            </a:r>
            <a:r xmlns:a="http://schemas.openxmlformats.org/drawingml/2006/main">
              <a:rPr sz="5400" spc="-30" dirty="0">
                <a:solidFill>
                  <a:srgbClr val="FF0000"/>
                </a:solidFill>
              </a:rPr>
              <a:t>p </a:t>
            </a:r>
            <a:r xmlns:a="http://schemas.openxmlformats.org/drawingml/2006/main">
              <a:rPr sz="5400" dirty="0">
                <a:solidFill>
                  <a:srgbClr val="FF0000"/>
                </a:solidFill>
              </a:rPr>
              <a:t>ts</a:t>
            </a:r>
            <a:endParaRPr xmlns:a="http://schemas.openxmlformats.org/drawingml/2006/main" sz="5400"/>
          </a:p>
        </p:txBody>
      </p:sp>
      <p:sp>
        <p:nvSpPr>
          <p:cNvPr id="3" name="object 3"/>
          <p:cNvSpPr txBox="1"/>
          <p:nvPr/>
        </p:nvSpPr>
        <p:spPr>
          <a:xfrm>
            <a:off x="76200" y="1607642"/>
            <a:ext cx="8534400" cy="36657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هذه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أكواد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البرامج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المكتوبة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داخل صفحة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 dirty="0">
              <a:latin typeface="Calibri"/>
              <a:cs typeface="Calibri"/>
            </a:endParaRPr>
          </a:p>
          <a:p>
            <a:pPr xmlns:a="http://schemas.openxmlformats.org/drawingml/2006/main" marL="355600" marR="113855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لقد </a:t>
            </a:r>
            <a:r xmlns:a="http://schemas.openxmlformats.org/drawingml/2006/main">
              <a:rPr sz="3200" spc="-30" dirty="0" smtClean="0">
                <a:latin typeface="Calibri"/>
                <a:cs typeface="Calibri"/>
              </a:rPr>
              <a:t>تم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كتابتها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باستخدام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محرر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نصوص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مثل</a:t>
            </a:r>
            <a:r xmlns:a="http://schemas.openxmlformats.org/drawingml/2006/main">
              <a:rPr lang="ar" sz="3200" spc="-30" dirty="0" smtClean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 smtClean="0">
                <a:latin typeface="Calibri"/>
                <a:cs typeface="Calibri"/>
              </a:rPr>
              <a:t>المفكرة</a:t>
            </a:r>
            <a:endParaRPr xmlns:a="http://schemas.openxmlformats.org/drawingml/2006/main" sz="3200" dirty="0">
              <a:latin typeface="Calibri"/>
              <a:cs typeface="Calibri"/>
            </a:endParaRPr>
          </a:p>
          <a:p>
            <a:pPr xmlns:a="http://schemas.openxmlformats.org/drawingml/2006/main" marL="355600" marR="16827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لغات البرمجة النصية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مثل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JavaScript و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VB script و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PHP </a:t>
            </a:r>
            <a:r xmlns:a="http://schemas.openxmlformats.org/drawingml/2006/main">
              <a:rPr sz="3200" b="1" spc="-90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Perl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وما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ذلك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لإنشاء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ويب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ديناميكي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الصفحات.</a:t>
            </a:r>
            <a:endParaRPr xmlns:a="http://schemas.openxmlformats.org/drawingml/2006/main"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697" y="598678"/>
            <a:ext cx="799528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spc="-35" dirty="0">
                <a:solidFill>
                  <a:srgbClr val="FF0000"/>
                </a:solidFill>
              </a:rPr>
              <a:t>أنواع </a:t>
            </a:r>
            <a:r xmlns:a="http://schemas.openxmlformats.org/drawingml/2006/main">
              <a:rPr sz="5400" dirty="0">
                <a:solidFill>
                  <a:srgbClr val="FF0000"/>
                </a:solidFill>
              </a:rPr>
              <a:t>البرمجة </a:t>
            </a:r>
            <a:r xmlns:a="http://schemas.openxmlformats.org/drawingml/2006/main">
              <a:rPr sz="5400" spc="-5" dirty="0">
                <a:solidFill>
                  <a:srgbClr val="FF0000"/>
                </a:solidFill>
              </a:rPr>
              <a:t>النصية</a:t>
            </a:r>
            <a:r xmlns:a="http://schemas.openxmlformats.org/drawingml/2006/main">
              <a:rPr sz="5400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5400" spc="-10" dirty="0">
                <a:solidFill>
                  <a:srgbClr val="FF0000"/>
                </a:solidFill>
              </a:rPr>
              <a:t>اللغات</a:t>
            </a:r>
            <a:endParaRPr xmlns:a="http://schemas.openxmlformats.org/drawingml/2006/main" sz="5400"/>
          </a:p>
        </p:txBody>
      </p:sp>
      <p:sp>
        <p:nvSpPr>
          <p:cNvPr id="3" name="object 3"/>
          <p:cNvSpPr txBox="1"/>
          <p:nvPr/>
        </p:nvSpPr>
        <p:spPr>
          <a:xfrm>
            <a:off x="1069644" y="2363850"/>
            <a:ext cx="5049520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756285" indent="-74422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756285" algn="l"/>
                <a:tab pos="756920" algn="l"/>
              </a:tabLst>
              <a:bidi/>
            </a:pPr>
            <a:r xmlns:a="http://schemas.openxmlformats.org/drawingml/2006/main"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جانب </a:t>
            </a:r>
            <a:r xmlns:a="http://schemas.openxmlformats.org/drawingml/2006/main"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العميل</a:t>
            </a:r>
            <a:r xmlns:a="http://schemas.openxmlformats.org/drawingml/2006/main">
              <a:rPr sz="4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البرمجة النصية</a:t>
            </a:r>
            <a:endParaRPr xmlns:a="http://schemas.openxmlformats.org/drawingml/2006/main"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Calibri"/>
              <a:buAutoNum type="arabicPeriod"/>
            </a:pPr>
            <a:endParaRPr sz="5800">
              <a:latin typeface="Times New Roman"/>
              <a:cs typeface="Times New Roman"/>
            </a:endParaRPr>
          </a:p>
          <a:p>
            <a:pPr xmlns:a="http://schemas.openxmlformats.org/drawingml/2006/main" marL="756285" indent="-744220">
              <a:lnSpc>
                <a:spcPct val="100000"/>
              </a:lnSpc>
              <a:buAutoNum type="arabicPeriod"/>
              <a:tabLst>
                <a:tab pos="756285" algn="l"/>
                <a:tab pos="756920" algn="l"/>
              </a:tabLst>
              <a:bidi/>
            </a:pPr>
            <a:r xmlns:a="http://schemas.openxmlformats.org/drawingml/2006/main"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جانب الخادم</a:t>
            </a:r>
            <a:r xmlns:a="http://schemas.openxmlformats.org/drawingml/2006/main">
              <a:rPr sz="4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البرمجة النصية</a:t>
            </a:r>
            <a:endParaRPr xmlns:a="http://schemas.openxmlformats.org/drawingml/2006/main"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0601" y="64973"/>
            <a:ext cx="56248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spc="-5" dirty="0">
                <a:solidFill>
                  <a:srgbClr val="006FC0"/>
                </a:solidFill>
              </a:rPr>
              <a:t>جانب </a:t>
            </a:r>
            <a:r xmlns:a="http://schemas.openxmlformats.org/drawingml/2006/main">
              <a:rPr sz="5400" spc="-15" dirty="0">
                <a:solidFill>
                  <a:srgbClr val="006FC0"/>
                </a:solidFill>
              </a:rPr>
              <a:t>العميل</a:t>
            </a:r>
            <a:r xmlns:a="http://schemas.openxmlformats.org/drawingml/2006/main">
              <a:rPr sz="5400" spc="-35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5400" spc="-5" dirty="0">
                <a:solidFill>
                  <a:srgbClr val="006FC0"/>
                </a:solidFill>
              </a:rPr>
              <a:t>البرمجة النصية</a:t>
            </a:r>
            <a:endParaRPr xmlns:a="http://schemas.openxmlformats.org/drawingml/2006/main" sz="5400"/>
          </a:p>
        </p:txBody>
      </p:sp>
      <p:sp>
        <p:nvSpPr>
          <p:cNvPr id="3" name="object 3"/>
          <p:cNvSpPr txBox="1"/>
          <p:nvPr/>
        </p:nvSpPr>
        <p:spPr>
          <a:xfrm>
            <a:off x="383540" y="1098550"/>
            <a:ext cx="8208645" cy="54584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xmlns:a="http://schemas.openxmlformats.org/drawingml/2006/main" marL="355600" marR="5080" indent="-342900">
              <a:lnSpc>
                <a:spcPts val="3570"/>
              </a:lnSpc>
              <a:spcBef>
                <a:spcPts val="54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3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3300" spc="-20" dirty="0">
                <a:latin typeface="Calibri"/>
                <a:cs typeface="Calibri"/>
              </a:rPr>
              <a:t>لأداء </a:t>
            </a:r>
            <a:r xmlns:a="http://schemas.openxmlformats.org/drawingml/2006/main">
              <a:rPr sz="3300" spc="-25" dirty="0">
                <a:latin typeface="Calibri"/>
                <a:cs typeface="Calibri"/>
              </a:rPr>
              <a:t>أي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مهمة </a:t>
            </a:r>
            <a:r xmlns:a="http://schemas.openxmlformats.org/drawingml/2006/main">
              <a:rPr sz="3300" spc="-2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العميل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ويتم </a:t>
            </a:r>
            <a:r xmlns:a="http://schemas.openxmlformats.org/drawingml/2006/main">
              <a:rPr sz="3300" spc="-25" dirty="0">
                <a:latin typeface="Calibri"/>
                <a:cs typeface="Calibri"/>
              </a:rPr>
              <a:t>تنفيذها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3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300" spc="-55" dirty="0">
                <a:latin typeface="Calibri"/>
                <a:cs typeface="Calibri"/>
              </a:rPr>
              <a:t>المتصفح.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355600" marR="108585" indent="-342900">
              <a:lnSpc>
                <a:spcPct val="9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300" spc="-5" dirty="0">
                <a:latin typeface="Calibri"/>
                <a:cs typeface="Calibri"/>
              </a:rPr>
              <a:t>نظرًا </a:t>
            </a:r>
            <a:r xmlns:a="http://schemas.openxmlformats.org/drawingml/2006/main">
              <a:rPr sz="3300" spc="-25" dirty="0">
                <a:latin typeface="Calibri"/>
                <a:cs typeface="Calibri"/>
              </a:rPr>
              <a:t>لأن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كود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البرنامج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النصي </a:t>
            </a:r>
            <a:endParaRPr xmlns:a="http://schemas.openxmlformats.org/drawingml/2006/main" sz="3300">
              <a:latin typeface="Calibri"/>
              <a:cs typeface="Calibri"/>
            </a:endParaRPr>
            <a:r xmlns:a="http://schemas.openxmlformats.org/drawingml/2006/main">
              <a:rPr sz="33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300" spc="-25" dirty="0">
                <a:latin typeface="Calibri"/>
                <a:cs typeface="Calibri"/>
              </a:rPr>
              <a:t>تنفيذه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متصفح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العميل </a:t>
            </a:r>
            <a:r xmlns:a="http://schemas.openxmlformats.org/drawingml/2006/main">
              <a:rPr sz="3300" spc="-50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فإنه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يوفر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استجابة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سريعة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للمستخدمين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.</a:t>
            </a:r>
          </a:p>
          <a:p>
            <a:pPr xmlns:a="http://schemas.openxmlformats.org/drawingml/2006/main" marL="355600" marR="89535" indent="-342900" algn="just">
              <a:lnSpc>
                <a:spcPct val="90000"/>
              </a:lnSpc>
              <a:spcBef>
                <a:spcPts val="790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300" b="1" spc="-15" dirty="0">
                <a:latin typeface="Calibri"/>
                <a:cs typeface="Calibri"/>
              </a:rPr>
              <a:t>سلبيات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: هناك </a:t>
            </a:r>
            <a:r xmlns:a="http://schemas.openxmlformats.org/drawingml/2006/main">
              <a:rPr sz="3300" spc="-20" dirty="0">
                <a:latin typeface="Calibri"/>
                <a:cs typeface="Calibri"/>
              </a:rPr>
              <a:t>متصفحات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لا تدعم البرامج النصية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بعض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الحالات ، </a:t>
            </a:r>
            <a:r xmlns:a="http://schemas.openxmlformats.org/drawingml/2006/main">
              <a:rPr sz="3300" spc="-25" dirty="0">
                <a:latin typeface="Calibri"/>
                <a:cs typeface="Calibri"/>
              </a:rPr>
              <a:t>قد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يقوم المستخدمون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بإيقاف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تشغيل </a:t>
            </a:r>
            <a:r xmlns:a="http://schemas.openxmlformats.org/drawingml/2006/main">
              <a:rPr sz="3300" spc="-20" dirty="0">
                <a:latin typeface="Calibri"/>
                <a:cs typeface="Calibri"/>
              </a:rPr>
              <a:t>تنفيذ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البرامج النصية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300" dirty="0">
                <a:latin typeface="Calibri"/>
                <a:cs typeface="Calibri"/>
              </a:rPr>
              <a:t>ملف</a:t>
            </a:r>
            <a:r xmlns:a="http://schemas.openxmlformats.org/drawingml/2006/main">
              <a:rPr sz="3300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300" spc="-55" dirty="0">
                <a:latin typeface="Calibri"/>
                <a:cs typeface="Calibri"/>
              </a:rPr>
              <a:t>المتصفح.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355600" indent="-342900" algn="just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300" b="1" spc="-5" dirty="0">
                <a:latin typeface="Calibri"/>
                <a:cs typeface="Calibri"/>
              </a:rPr>
              <a:t>على سبيل المثال. </a:t>
            </a:r>
            <a:r xmlns:a="http://schemas.openxmlformats.org/drawingml/2006/main">
              <a:rPr sz="3300" spc="-15" dirty="0">
                <a:latin typeface="Calibri"/>
                <a:cs typeface="Calibri"/>
              </a:rPr>
              <a:t>جافا سكريبت </a:t>
            </a:r>
            <a:r xmlns:a="http://schemas.openxmlformats.org/drawingml/2006/main">
              <a:rPr sz="3300" spc="-5" dirty="0">
                <a:latin typeface="Calibri"/>
                <a:cs typeface="Calibri"/>
              </a:rPr>
              <a:t>VB</a:t>
            </a:r>
            <a:r xmlns:a="http://schemas.openxmlformats.org/drawingml/2006/main">
              <a:rPr sz="3300" spc="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300" spc="-10" dirty="0">
                <a:latin typeface="Calibri"/>
                <a:cs typeface="Calibri"/>
              </a:rPr>
              <a:t>النصي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355600" marR="309880" indent="-342900" algn="just">
              <a:lnSpc>
                <a:spcPts val="3560"/>
              </a:lnSpc>
              <a:spcBef>
                <a:spcPts val="850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3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300" b="1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3300" b="1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300" b="1" spc="-10" dirty="0">
                <a:latin typeface="Calibri"/>
                <a:cs typeface="Calibri"/>
              </a:rPr>
              <a:t>الغالب </a:t>
            </a:r>
            <a:r xmlns:a="http://schemas.openxmlformats.org/drawingml/2006/main">
              <a:rPr sz="3300" b="1" spc="-20" dirty="0">
                <a:latin typeface="Calibri"/>
                <a:cs typeface="Calibri"/>
              </a:rPr>
              <a:t>لعمليات </a:t>
            </a:r>
            <a:r xmlns:a="http://schemas.openxmlformats.org/drawingml/2006/main">
              <a:rPr sz="3300" b="1" spc="-10" dirty="0">
                <a:latin typeface="Calibri"/>
                <a:cs typeface="Calibri"/>
              </a:rPr>
              <a:t>التحقق </a:t>
            </a:r>
            <a:r xmlns:a="http://schemas.openxmlformats.org/drawingml/2006/main">
              <a:rPr sz="3300" b="1" dirty="0">
                <a:latin typeface="Calibri"/>
                <a:cs typeface="Calibri"/>
              </a:rPr>
              <a:t>وكذلك </a:t>
            </a:r>
            <a:r xmlns:a="http://schemas.openxmlformats.org/drawingml/2006/main">
              <a:rPr sz="3300" b="1" spc="-20" dirty="0">
                <a:latin typeface="Calibri"/>
                <a:cs typeface="Calibri"/>
              </a:rPr>
              <a:t>للأداء </a:t>
            </a:r>
            <a:r xmlns:a="http://schemas.openxmlformats.org/drawingml/2006/main">
              <a:rPr sz="3300" b="1" spc="-5" dirty="0">
                <a:latin typeface="Calibri"/>
                <a:cs typeface="Calibri"/>
              </a:rPr>
              <a:t>البسيط</a:t>
            </a:r>
            <a:r xmlns:a="http://schemas.openxmlformats.org/drawingml/2006/main">
              <a:rPr sz="3300" b="1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300" b="1" spc="-5" dirty="0">
                <a:latin typeface="Calibri"/>
                <a:cs typeface="Calibri"/>
              </a:rPr>
              <a:t>العمليات الحسابية</a:t>
            </a:r>
            <a:endParaRPr xmlns:a="http://schemas.openxmlformats.org/drawingml/2006/main"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9160" y="64973"/>
            <a:ext cx="58115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5400" dirty="0">
                <a:solidFill>
                  <a:srgbClr val="006FC0"/>
                </a:solidFill>
              </a:rPr>
              <a:t>جانب الخادم</a:t>
            </a:r>
            <a:r xmlns:a="http://schemas.openxmlformats.org/drawingml/2006/main">
              <a:rPr sz="5400" spc="-70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5400" spc="-5" dirty="0">
                <a:solidFill>
                  <a:srgbClr val="006FC0"/>
                </a:solidFill>
              </a:rPr>
              <a:t>البرمجة النصية</a:t>
            </a:r>
            <a:endParaRPr xmlns:a="http://schemas.openxmlformats.org/drawingml/2006/main" sz="5400"/>
          </a:p>
        </p:txBody>
      </p:sp>
      <p:sp>
        <p:nvSpPr>
          <p:cNvPr id="3" name="object 3"/>
          <p:cNvSpPr txBox="1"/>
          <p:nvPr/>
        </p:nvSpPr>
        <p:spPr>
          <a:xfrm>
            <a:off x="612140" y="1299717"/>
            <a:ext cx="7789545" cy="408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6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3600" b="1" spc="-20" dirty="0">
                <a:latin typeface="Calibri"/>
                <a:cs typeface="Calibri"/>
              </a:rPr>
              <a:t>لإنشاء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شبكة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ديناميكية </a:t>
            </a:r>
            <a:r xmlns:a="http://schemas.openxmlformats.org/drawingml/2006/main">
              <a:rPr sz="3600" b="1" spc="-2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600" b="1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الصفحات</a:t>
            </a:r>
            <a:endParaRPr xmlns:a="http://schemas.openxmlformats.org/drawingml/2006/main" sz="3600" dirty="0">
              <a:latin typeface="Calibri"/>
              <a:cs typeface="Calibri"/>
            </a:endParaRPr>
          </a:p>
          <a:p>
            <a:pPr xmlns:a="http://schemas.openxmlformats.org/drawingml/2006/main" marL="355600">
              <a:lnSpc>
                <a:spcPct val="100000"/>
              </a:lnSpc>
              <a:bidi/>
            </a:pPr>
            <a:r xmlns:a="http://schemas.openxmlformats.org/drawingml/2006/main">
              <a:rPr sz="3600" dirty="0">
                <a:latin typeface="Calibri"/>
                <a:cs typeface="Calibri"/>
              </a:rPr>
              <a:t>ويتم </a:t>
            </a:r>
            <a:r xmlns:a="http://schemas.openxmlformats.org/drawingml/2006/main">
              <a:rPr sz="3600" b="1" spc="-30" dirty="0">
                <a:latin typeface="Calibri"/>
                <a:cs typeface="Calibri"/>
              </a:rPr>
              <a:t>تنفيذها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600" spc="-1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600" b="1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.</a:t>
            </a:r>
          </a:p>
          <a:p>
            <a:pPr xmlns:a="http://schemas.openxmlformats.org/drawingml/2006/main" marL="355600" marR="73406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600" spc="-5" dirty="0">
                <a:latin typeface="Calibri"/>
                <a:cs typeface="Calibri"/>
              </a:rPr>
              <a:t>نظرًا لأن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البرامج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النصية </a:t>
            </a:r>
            <a:r xmlns:a="http://schemas.openxmlformats.org/drawingml/2006/main">
              <a:rPr sz="3600" spc="-15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600" spc="-25" dirty="0">
                <a:latin typeface="Calibri"/>
                <a:cs typeface="Calibri"/>
              </a:rPr>
              <a:t>تنفيذها </a:t>
            </a:r>
            <a:r xmlns:a="http://schemas.openxmlformats.org/drawingml/2006/main">
              <a:rPr sz="3600" spc="-20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600" spc="-65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فإن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نوع 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وإصدار</a:t>
            </a:r>
            <a:r xmlns:a="http://schemas.openxmlformats.org/drawingml/2006/main">
              <a:rPr sz="3600" b="1" spc="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ال</a:t>
            </a:r>
            <a:endParaRPr xmlns:a="http://schemas.openxmlformats.org/drawingml/2006/main" sz="3600" dirty="0">
              <a:latin typeface="Calibri"/>
              <a:cs typeface="Calibri"/>
            </a:endParaRPr>
          </a:p>
          <a:p>
            <a:pPr xmlns:a="http://schemas.openxmlformats.org/drawingml/2006/main" marL="355600" marR="5080">
              <a:lnSpc>
                <a:spcPct val="100000"/>
              </a:lnSpc>
              <a:spcBef>
                <a:spcPts val="5"/>
              </a:spcBef>
              <a:bidi/>
            </a:pPr>
            <a:r xmlns:a="http://schemas.openxmlformats.org/drawingml/2006/main">
              <a:rPr sz="3600" b="1" dirty="0">
                <a:latin typeface="Calibri"/>
                <a:cs typeface="Calibri"/>
              </a:rPr>
              <a:t>لا </a:t>
            </a:r>
            <a:r xmlns:a="http://schemas.openxmlformats.org/drawingml/2006/main">
              <a:rPr sz="3600" b="1" spc="-20" dirty="0">
                <a:latin typeface="Calibri"/>
                <a:cs typeface="Calibri"/>
              </a:rPr>
              <a:t>يؤثر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المتصفح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نظام التشغيل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جهاز الكمبيوتر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الخاص </a:t>
            </a:r>
            <a:r xmlns:a="http://schemas.openxmlformats.org/drawingml/2006/main">
              <a:rPr sz="3600" b="1" spc="-25" dirty="0">
                <a:latin typeface="Calibri"/>
                <a:cs typeface="Calibri"/>
              </a:rPr>
              <a:t>بالعميل</a:t>
            </a:r>
            <a:r xmlns:a="http://schemas.openxmlformats.org/drawingml/2006/main">
              <a:rPr sz="3600" b="1" spc="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20" dirty="0">
                <a:latin typeface="Calibri"/>
                <a:cs typeface="Calibri"/>
              </a:rPr>
              <a:t>إعدام </a:t>
            </a:r>
            <a:r xmlns:a="http://schemas.openxmlformats.org/drawingml/2006/main">
              <a:rPr sz="3600" spc="-20" dirty="0">
                <a:latin typeface="Calibri"/>
                <a:cs typeface="Calibri"/>
              </a:rPr>
              <a:t>.</a:t>
            </a:r>
            <a:endParaRPr xmlns:a="http://schemas.openxmlformats.org/drawingml/2006/main" sz="3600" dirty="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600" b="1" spc="-5" dirty="0">
                <a:latin typeface="Calibri"/>
                <a:cs typeface="Calibri"/>
              </a:rPr>
              <a:t>على سبيل المثال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600" spc="-15" dirty="0">
                <a:latin typeface="Calibri"/>
                <a:cs typeface="Calibri"/>
              </a:rPr>
              <a:t>لغة Perl، </a:t>
            </a:r>
            <a:r xmlns:a="http://schemas.openxmlformats.org/drawingml/2006/main">
              <a:rPr sz="3600" spc="-114" dirty="0">
                <a:latin typeface="Calibri"/>
                <a:cs typeface="Calibri"/>
              </a:rPr>
              <a:t>PHP، ASP،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JSP</a:t>
            </a:r>
            <a:r xmlns:a="http://schemas.openxmlformats.org/drawingml/2006/main">
              <a:rPr sz="3600" spc="2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spc="-20" dirty="0">
                <a:latin typeface="Calibri"/>
                <a:cs typeface="Calibri"/>
              </a:rPr>
              <a:t>إلخ.،</a:t>
            </a:r>
            <a:endParaRPr xmlns:a="http://schemas.openxmlformats.org/drawingml/2006/main"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371600"/>
            <a:ext cx="2971800" cy="4419600"/>
          </a:xfrm>
          <a:custGeom>
            <a:avLst/>
            <a:gdLst/>
            <a:ahLst/>
            <a:cxnLst/>
            <a:rect l="l" t="t" r="r" b="b"/>
            <a:pathLst>
              <a:path w="2971800" h="4419600">
                <a:moveTo>
                  <a:pt x="0" y="4419600"/>
                </a:moveTo>
                <a:lnTo>
                  <a:pt x="2971800" y="4419600"/>
                </a:lnTo>
                <a:lnTo>
                  <a:pt x="2971800" y="0"/>
                </a:lnTo>
                <a:lnTo>
                  <a:pt x="0" y="0"/>
                </a:lnTo>
                <a:lnTo>
                  <a:pt x="0" y="44196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406" y="461594"/>
            <a:ext cx="6862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25" dirty="0"/>
              <a:t>العمل </a:t>
            </a:r>
            <a:r xmlns:a="http://schemas.openxmlformats.org/drawingml/2006/main">
              <a:rPr sz="4400" dirty="0"/>
              <a:t>من </a:t>
            </a:r>
            <a:r xmlns:a="http://schemas.openxmlformats.org/drawingml/2006/main">
              <a:rPr sz="4400" spc="-5" dirty="0"/>
              <a:t>جانب الخادم</a:t>
            </a:r>
            <a:r xmlns:a="http://schemas.openxmlformats.org/drawingml/2006/main">
              <a:rPr sz="4400" spc="-20" dirty="0"/>
              <a:t> </a:t>
            </a:r>
            <a:r xmlns:a="http://schemas.openxmlformats.org/drawingml/2006/main">
              <a:rPr sz="4400" spc="-5" dirty="0"/>
              <a:t>نصوص</a:t>
            </a:r>
            <a:endParaRPr xmlns:a="http://schemas.openxmlformats.org/drawingml/2006/main" sz="4400"/>
          </a:p>
        </p:txBody>
      </p:sp>
      <p:sp>
        <p:nvSpPr>
          <p:cNvPr id="4" name="object 4"/>
          <p:cNvSpPr/>
          <p:nvPr/>
        </p:nvSpPr>
        <p:spPr>
          <a:xfrm>
            <a:off x="1371600" y="4114800"/>
            <a:ext cx="2209800" cy="1371600"/>
          </a:xfrm>
          <a:custGeom>
            <a:avLst/>
            <a:gdLst/>
            <a:ahLst/>
            <a:cxnLst/>
            <a:rect l="l" t="t" r="r" b="b"/>
            <a:pathLst>
              <a:path w="2209800" h="1371600">
                <a:moveTo>
                  <a:pt x="1104900" y="0"/>
                </a:moveTo>
                <a:lnTo>
                  <a:pt x="1029249" y="527"/>
                </a:lnTo>
                <a:lnTo>
                  <a:pt x="954968" y="2087"/>
                </a:lnTo>
                <a:lnTo>
                  <a:pt x="882219" y="4644"/>
                </a:lnTo>
                <a:lnTo>
                  <a:pt x="811168" y="8166"/>
                </a:lnTo>
                <a:lnTo>
                  <a:pt x="741979" y="12618"/>
                </a:lnTo>
                <a:lnTo>
                  <a:pt x="674816" y="17966"/>
                </a:lnTo>
                <a:lnTo>
                  <a:pt x="609844" y="24176"/>
                </a:lnTo>
                <a:lnTo>
                  <a:pt x="547228" y="31213"/>
                </a:lnTo>
                <a:lnTo>
                  <a:pt x="487133" y="39045"/>
                </a:lnTo>
                <a:lnTo>
                  <a:pt x="429721" y="47636"/>
                </a:lnTo>
                <a:lnTo>
                  <a:pt x="375160" y="56952"/>
                </a:lnTo>
                <a:lnTo>
                  <a:pt x="323611" y="66960"/>
                </a:lnTo>
                <a:lnTo>
                  <a:pt x="275242" y="77626"/>
                </a:lnTo>
                <a:lnTo>
                  <a:pt x="230215" y="88915"/>
                </a:lnTo>
                <a:lnTo>
                  <a:pt x="188695" y="100793"/>
                </a:lnTo>
                <a:lnTo>
                  <a:pt x="150847" y="113227"/>
                </a:lnTo>
                <a:lnTo>
                  <a:pt x="86826" y="139624"/>
                </a:lnTo>
                <a:lnTo>
                  <a:pt x="39467" y="167834"/>
                </a:lnTo>
                <a:lnTo>
                  <a:pt x="10086" y="197583"/>
                </a:lnTo>
                <a:lnTo>
                  <a:pt x="0" y="228600"/>
                </a:lnTo>
                <a:lnTo>
                  <a:pt x="0" y="1143000"/>
                </a:lnTo>
                <a:lnTo>
                  <a:pt x="22447" y="1189066"/>
                </a:lnTo>
                <a:lnTo>
                  <a:pt x="60981" y="1218080"/>
                </a:lnTo>
                <a:lnTo>
                  <a:pt x="116836" y="1245417"/>
                </a:lnTo>
                <a:lnTo>
                  <a:pt x="188695" y="1270806"/>
                </a:lnTo>
                <a:lnTo>
                  <a:pt x="230215" y="1282684"/>
                </a:lnTo>
                <a:lnTo>
                  <a:pt x="275242" y="1293973"/>
                </a:lnTo>
                <a:lnTo>
                  <a:pt x="323611" y="1304639"/>
                </a:lnTo>
                <a:lnTo>
                  <a:pt x="375160" y="1314647"/>
                </a:lnTo>
                <a:lnTo>
                  <a:pt x="429721" y="1323963"/>
                </a:lnTo>
                <a:lnTo>
                  <a:pt x="487133" y="1332554"/>
                </a:lnTo>
                <a:lnTo>
                  <a:pt x="547228" y="1340386"/>
                </a:lnTo>
                <a:lnTo>
                  <a:pt x="609844" y="1347423"/>
                </a:lnTo>
                <a:lnTo>
                  <a:pt x="674816" y="1353633"/>
                </a:lnTo>
                <a:lnTo>
                  <a:pt x="741979" y="1358981"/>
                </a:lnTo>
                <a:lnTo>
                  <a:pt x="811168" y="1363433"/>
                </a:lnTo>
                <a:lnTo>
                  <a:pt x="882219" y="1366955"/>
                </a:lnTo>
                <a:lnTo>
                  <a:pt x="954968" y="1369512"/>
                </a:lnTo>
                <a:lnTo>
                  <a:pt x="1029249" y="1371072"/>
                </a:lnTo>
                <a:lnTo>
                  <a:pt x="1104900" y="1371600"/>
                </a:lnTo>
                <a:lnTo>
                  <a:pt x="1180550" y="1371072"/>
                </a:lnTo>
                <a:lnTo>
                  <a:pt x="1254831" y="1369512"/>
                </a:lnTo>
                <a:lnTo>
                  <a:pt x="1327580" y="1366955"/>
                </a:lnTo>
                <a:lnTo>
                  <a:pt x="1398631" y="1363433"/>
                </a:lnTo>
                <a:lnTo>
                  <a:pt x="1467820" y="1358981"/>
                </a:lnTo>
                <a:lnTo>
                  <a:pt x="1534983" y="1353633"/>
                </a:lnTo>
                <a:lnTo>
                  <a:pt x="1599955" y="1347423"/>
                </a:lnTo>
                <a:lnTo>
                  <a:pt x="1662571" y="1340386"/>
                </a:lnTo>
                <a:lnTo>
                  <a:pt x="1722666" y="1332554"/>
                </a:lnTo>
                <a:lnTo>
                  <a:pt x="1780078" y="1323963"/>
                </a:lnTo>
                <a:lnTo>
                  <a:pt x="1834639" y="1314647"/>
                </a:lnTo>
                <a:lnTo>
                  <a:pt x="1886188" y="1304639"/>
                </a:lnTo>
                <a:lnTo>
                  <a:pt x="1934557" y="1293973"/>
                </a:lnTo>
                <a:lnTo>
                  <a:pt x="1979584" y="1282684"/>
                </a:lnTo>
                <a:lnTo>
                  <a:pt x="2021104" y="1270806"/>
                </a:lnTo>
                <a:lnTo>
                  <a:pt x="2058952" y="1258372"/>
                </a:lnTo>
                <a:lnTo>
                  <a:pt x="2122973" y="1231975"/>
                </a:lnTo>
                <a:lnTo>
                  <a:pt x="2170332" y="1203765"/>
                </a:lnTo>
                <a:lnTo>
                  <a:pt x="2199713" y="1174016"/>
                </a:lnTo>
                <a:lnTo>
                  <a:pt x="2209800" y="1143000"/>
                </a:lnTo>
                <a:lnTo>
                  <a:pt x="2209800" y="228600"/>
                </a:lnTo>
                <a:lnTo>
                  <a:pt x="2187352" y="182533"/>
                </a:lnTo>
                <a:lnTo>
                  <a:pt x="2148818" y="153519"/>
                </a:lnTo>
                <a:lnTo>
                  <a:pt x="2092963" y="126182"/>
                </a:lnTo>
                <a:lnTo>
                  <a:pt x="2021104" y="100793"/>
                </a:lnTo>
                <a:lnTo>
                  <a:pt x="1979584" y="88915"/>
                </a:lnTo>
                <a:lnTo>
                  <a:pt x="1934557" y="77626"/>
                </a:lnTo>
                <a:lnTo>
                  <a:pt x="1886188" y="66960"/>
                </a:lnTo>
                <a:lnTo>
                  <a:pt x="1834639" y="56952"/>
                </a:lnTo>
                <a:lnTo>
                  <a:pt x="1780078" y="47636"/>
                </a:lnTo>
                <a:lnTo>
                  <a:pt x="1722666" y="39045"/>
                </a:lnTo>
                <a:lnTo>
                  <a:pt x="1662571" y="31213"/>
                </a:lnTo>
                <a:lnTo>
                  <a:pt x="1599955" y="24176"/>
                </a:lnTo>
                <a:lnTo>
                  <a:pt x="1534983" y="17966"/>
                </a:lnTo>
                <a:lnTo>
                  <a:pt x="1467820" y="12618"/>
                </a:lnTo>
                <a:lnTo>
                  <a:pt x="1398631" y="8166"/>
                </a:lnTo>
                <a:lnTo>
                  <a:pt x="1327580" y="4644"/>
                </a:lnTo>
                <a:lnTo>
                  <a:pt x="1254831" y="2087"/>
                </a:lnTo>
                <a:lnTo>
                  <a:pt x="1180550" y="527"/>
                </a:lnTo>
                <a:lnTo>
                  <a:pt x="11049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71600" y="4343400"/>
            <a:ext cx="2209800" cy="228600"/>
          </a:xfrm>
          <a:custGeom>
            <a:avLst/>
            <a:gdLst/>
            <a:ahLst/>
            <a:cxnLst/>
            <a:rect l="l" t="t" r="r" b="b"/>
            <a:pathLst>
              <a:path w="2209800" h="228600">
                <a:moveTo>
                  <a:pt x="2209800" y="0"/>
                </a:moveTo>
                <a:lnTo>
                  <a:pt x="2187352" y="46066"/>
                </a:lnTo>
                <a:lnTo>
                  <a:pt x="2148818" y="75080"/>
                </a:lnTo>
                <a:lnTo>
                  <a:pt x="2092963" y="102417"/>
                </a:lnTo>
                <a:lnTo>
                  <a:pt x="2021104" y="127806"/>
                </a:lnTo>
                <a:lnTo>
                  <a:pt x="1979584" y="139684"/>
                </a:lnTo>
                <a:lnTo>
                  <a:pt x="1934557" y="150973"/>
                </a:lnTo>
                <a:lnTo>
                  <a:pt x="1886188" y="161639"/>
                </a:lnTo>
                <a:lnTo>
                  <a:pt x="1834639" y="171647"/>
                </a:lnTo>
                <a:lnTo>
                  <a:pt x="1780078" y="180963"/>
                </a:lnTo>
                <a:lnTo>
                  <a:pt x="1722666" y="189554"/>
                </a:lnTo>
                <a:lnTo>
                  <a:pt x="1662571" y="197386"/>
                </a:lnTo>
                <a:lnTo>
                  <a:pt x="1599955" y="204423"/>
                </a:lnTo>
                <a:lnTo>
                  <a:pt x="1534983" y="210633"/>
                </a:lnTo>
                <a:lnTo>
                  <a:pt x="1467820" y="215981"/>
                </a:lnTo>
                <a:lnTo>
                  <a:pt x="1398631" y="220433"/>
                </a:lnTo>
                <a:lnTo>
                  <a:pt x="1327580" y="223955"/>
                </a:lnTo>
                <a:lnTo>
                  <a:pt x="1254831" y="226512"/>
                </a:lnTo>
                <a:lnTo>
                  <a:pt x="1180550" y="228072"/>
                </a:lnTo>
                <a:lnTo>
                  <a:pt x="1104900" y="228600"/>
                </a:lnTo>
                <a:lnTo>
                  <a:pt x="1029249" y="228072"/>
                </a:lnTo>
                <a:lnTo>
                  <a:pt x="954968" y="226512"/>
                </a:lnTo>
                <a:lnTo>
                  <a:pt x="882219" y="223955"/>
                </a:lnTo>
                <a:lnTo>
                  <a:pt x="811168" y="220433"/>
                </a:lnTo>
                <a:lnTo>
                  <a:pt x="741979" y="215981"/>
                </a:lnTo>
                <a:lnTo>
                  <a:pt x="674816" y="210633"/>
                </a:lnTo>
                <a:lnTo>
                  <a:pt x="609844" y="204423"/>
                </a:lnTo>
                <a:lnTo>
                  <a:pt x="547228" y="197386"/>
                </a:lnTo>
                <a:lnTo>
                  <a:pt x="487133" y="189554"/>
                </a:lnTo>
                <a:lnTo>
                  <a:pt x="429721" y="180963"/>
                </a:lnTo>
                <a:lnTo>
                  <a:pt x="375160" y="171647"/>
                </a:lnTo>
                <a:lnTo>
                  <a:pt x="323611" y="161639"/>
                </a:lnTo>
                <a:lnTo>
                  <a:pt x="275242" y="150973"/>
                </a:lnTo>
                <a:lnTo>
                  <a:pt x="230215" y="139684"/>
                </a:lnTo>
                <a:lnTo>
                  <a:pt x="188695" y="127806"/>
                </a:lnTo>
                <a:lnTo>
                  <a:pt x="150847" y="115372"/>
                </a:lnTo>
                <a:lnTo>
                  <a:pt x="86826" y="88975"/>
                </a:lnTo>
                <a:lnTo>
                  <a:pt x="39467" y="60765"/>
                </a:lnTo>
                <a:lnTo>
                  <a:pt x="10086" y="31016"/>
                </a:lnTo>
                <a:lnTo>
                  <a:pt x="2548" y="15649"/>
                </a:lnTo>
                <a:lnTo>
                  <a:pt x="0" y="0"/>
                </a:lnTo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1600" y="4114800"/>
            <a:ext cx="2209800" cy="1371600"/>
          </a:xfrm>
          <a:custGeom>
            <a:avLst/>
            <a:gdLst/>
            <a:ahLst/>
            <a:cxnLst/>
            <a:rect l="l" t="t" r="r" b="b"/>
            <a:pathLst>
              <a:path w="2209800" h="1371600">
                <a:moveTo>
                  <a:pt x="0" y="228600"/>
                </a:moveTo>
                <a:lnTo>
                  <a:pt x="22447" y="182533"/>
                </a:lnTo>
                <a:lnTo>
                  <a:pt x="60981" y="153519"/>
                </a:lnTo>
                <a:lnTo>
                  <a:pt x="116836" y="126182"/>
                </a:lnTo>
                <a:lnTo>
                  <a:pt x="188695" y="100793"/>
                </a:lnTo>
                <a:lnTo>
                  <a:pt x="230215" y="88915"/>
                </a:lnTo>
                <a:lnTo>
                  <a:pt x="275242" y="77626"/>
                </a:lnTo>
                <a:lnTo>
                  <a:pt x="323611" y="66960"/>
                </a:lnTo>
                <a:lnTo>
                  <a:pt x="375160" y="56952"/>
                </a:lnTo>
                <a:lnTo>
                  <a:pt x="429721" y="47636"/>
                </a:lnTo>
                <a:lnTo>
                  <a:pt x="487133" y="39045"/>
                </a:lnTo>
                <a:lnTo>
                  <a:pt x="547228" y="31213"/>
                </a:lnTo>
                <a:lnTo>
                  <a:pt x="609844" y="24176"/>
                </a:lnTo>
                <a:lnTo>
                  <a:pt x="674816" y="17966"/>
                </a:lnTo>
                <a:lnTo>
                  <a:pt x="741979" y="12618"/>
                </a:lnTo>
                <a:lnTo>
                  <a:pt x="811168" y="8166"/>
                </a:lnTo>
                <a:lnTo>
                  <a:pt x="882219" y="4644"/>
                </a:lnTo>
                <a:lnTo>
                  <a:pt x="954968" y="2087"/>
                </a:lnTo>
                <a:lnTo>
                  <a:pt x="1029249" y="527"/>
                </a:lnTo>
                <a:lnTo>
                  <a:pt x="1104900" y="0"/>
                </a:lnTo>
                <a:lnTo>
                  <a:pt x="1180550" y="527"/>
                </a:lnTo>
                <a:lnTo>
                  <a:pt x="1254831" y="2087"/>
                </a:lnTo>
                <a:lnTo>
                  <a:pt x="1327580" y="4644"/>
                </a:lnTo>
                <a:lnTo>
                  <a:pt x="1398631" y="8166"/>
                </a:lnTo>
                <a:lnTo>
                  <a:pt x="1467820" y="12618"/>
                </a:lnTo>
                <a:lnTo>
                  <a:pt x="1534983" y="17966"/>
                </a:lnTo>
                <a:lnTo>
                  <a:pt x="1599955" y="24176"/>
                </a:lnTo>
                <a:lnTo>
                  <a:pt x="1662571" y="31213"/>
                </a:lnTo>
                <a:lnTo>
                  <a:pt x="1722666" y="39045"/>
                </a:lnTo>
                <a:lnTo>
                  <a:pt x="1780078" y="47636"/>
                </a:lnTo>
                <a:lnTo>
                  <a:pt x="1834639" y="56952"/>
                </a:lnTo>
                <a:lnTo>
                  <a:pt x="1886188" y="66960"/>
                </a:lnTo>
                <a:lnTo>
                  <a:pt x="1934557" y="77626"/>
                </a:lnTo>
                <a:lnTo>
                  <a:pt x="1979584" y="88915"/>
                </a:lnTo>
                <a:lnTo>
                  <a:pt x="2021104" y="100793"/>
                </a:lnTo>
                <a:lnTo>
                  <a:pt x="2058952" y="113227"/>
                </a:lnTo>
                <a:lnTo>
                  <a:pt x="2122973" y="139624"/>
                </a:lnTo>
                <a:lnTo>
                  <a:pt x="2170332" y="167834"/>
                </a:lnTo>
                <a:lnTo>
                  <a:pt x="2199713" y="197583"/>
                </a:lnTo>
                <a:lnTo>
                  <a:pt x="2209800" y="228600"/>
                </a:lnTo>
                <a:lnTo>
                  <a:pt x="2209800" y="1143000"/>
                </a:lnTo>
                <a:lnTo>
                  <a:pt x="2187352" y="1189066"/>
                </a:lnTo>
                <a:lnTo>
                  <a:pt x="2148818" y="1218080"/>
                </a:lnTo>
                <a:lnTo>
                  <a:pt x="2092963" y="1245417"/>
                </a:lnTo>
                <a:lnTo>
                  <a:pt x="2021104" y="1270806"/>
                </a:lnTo>
                <a:lnTo>
                  <a:pt x="1979584" y="1282684"/>
                </a:lnTo>
                <a:lnTo>
                  <a:pt x="1934557" y="1293973"/>
                </a:lnTo>
                <a:lnTo>
                  <a:pt x="1886188" y="1304639"/>
                </a:lnTo>
                <a:lnTo>
                  <a:pt x="1834639" y="1314647"/>
                </a:lnTo>
                <a:lnTo>
                  <a:pt x="1780078" y="1323963"/>
                </a:lnTo>
                <a:lnTo>
                  <a:pt x="1722666" y="1332554"/>
                </a:lnTo>
                <a:lnTo>
                  <a:pt x="1662571" y="1340386"/>
                </a:lnTo>
                <a:lnTo>
                  <a:pt x="1599955" y="1347423"/>
                </a:lnTo>
                <a:lnTo>
                  <a:pt x="1534983" y="1353633"/>
                </a:lnTo>
                <a:lnTo>
                  <a:pt x="1467820" y="1358981"/>
                </a:lnTo>
                <a:lnTo>
                  <a:pt x="1398631" y="1363433"/>
                </a:lnTo>
                <a:lnTo>
                  <a:pt x="1327580" y="1366955"/>
                </a:lnTo>
                <a:lnTo>
                  <a:pt x="1254831" y="1369512"/>
                </a:lnTo>
                <a:lnTo>
                  <a:pt x="1180550" y="1371072"/>
                </a:lnTo>
                <a:lnTo>
                  <a:pt x="1104900" y="1371600"/>
                </a:lnTo>
                <a:lnTo>
                  <a:pt x="1029249" y="1371072"/>
                </a:lnTo>
                <a:lnTo>
                  <a:pt x="954968" y="1369512"/>
                </a:lnTo>
                <a:lnTo>
                  <a:pt x="882219" y="1366955"/>
                </a:lnTo>
                <a:lnTo>
                  <a:pt x="811168" y="1363433"/>
                </a:lnTo>
                <a:lnTo>
                  <a:pt x="741979" y="1358981"/>
                </a:lnTo>
                <a:lnTo>
                  <a:pt x="674816" y="1353633"/>
                </a:lnTo>
                <a:lnTo>
                  <a:pt x="609844" y="1347423"/>
                </a:lnTo>
                <a:lnTo>
                  <a:pt x="547228" y="1340386"/>
                </a:lnTo>
                <a:lnTo>
                  <a:pt x="487133" y="1332554"/>
                </a:lnTo>
                <a:lnTo>
                  <a:pt x="429721" y="1323963"/>
                </a:lnTo>
                <a:lnTo>
                  <a:pt x="375160" y="1314647"/>
                </a:lnTo>
                <a:lnTo>
                  <a:pt x="323611" y="1304639"/>
                </a:lnTo>
                <a:lnTo>
                  <a:pt x="275242" y="1293973"/>
                </a:lnTo>
                <a:lnTo>
                  <a:pt x="230215" y="1282684"/>
                </a:lnTo>
                <a:lnTo>
                  <a:pt x="188695" y="1270806"/>
                </a:lnTo>
                <a:lnTo>
                  <a:pt x="150847" y="1258372"/>
                </a:lnTo>
                <a:lnTo>
                  <a:pt x="86826" y="1231975"/>
                </a:lnTo>
                <a:lnTo>
                  <a:pt x="39467" y="1203765"/>
                </a:lnTo>
                <a:lnTo>
                  <a:pt x="10086" y="1174016"/>
                </a:lnTo>
                <a:lnTo>
                  <a:pt x="0" y="1143000"/>
                </a:lnTo>
                <a:lnTo>
                  <a:pt x="0" y="2286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71852" y="4517897"/>
            <a:ext cx="12077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5748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endParaRPr xmlns:a="http://schemas.openxmlformats.org/drawingml/2006/main" sz="2400">
              <a:latin typeface="Calibri"/>
              <a:cs typeface="Calibri"/>
            </a:endParaRPr>
          </a:p>
          <a:p>
            <a:pPr xmlns:a="http://schemas.openxmlformats.org/drawingml/2006/main" marL="12700">
              <a:lnSpc>
                <a:spcPct val="100000"/>
              </a:lnSpc>
              <a:bidi/>
            </a:pPr>
            <a:r xmlns:a="http://schemas.openxmlformats.org/drawingml/2006/main"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تهاوي </a:t>
            </a:r>
            <a:r xmlns:a="http://schemas.openxmlformats.org/drawingml/2006/main"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_ </a:t>
            </a:r>
            <a:r xmlns:a="http://schemas.openxmlformats.org/drawingml/2006/main"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_ </a:t>
            </a: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_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71600" y="1828800"/>
            <a:ext cx="2057400" cy="838200"/>
          </a:xfrm>
          <a:custGeom>
            <a:avLst/>
            <a:gdLst/>
            <a:ahLst/>
            <a:cxnLst/>
            <a:rect l="l" t="t" r="r" b="b"/>
            <a:pathLst>
              <a:path w="2057400" h="838200">
                <a:moveTo>
                  <a:pt x="0" y="838200"/>
                </a:moveTo>
                <a:lnTo>
                  <a:pt x="2057400" y="838200"/>
                </a:lnTo>
                <a:lnTo>
                  <a:pt x="20574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71600" y="1828800"/>
            <a:ext cx="2057400" cy="838200"/>
          </a:xfrm>
          <a:custGeom>
            <a:avLst/>
            <a:gdLst/>
            <a:ahLst/>
            <a:cxnLst/>
            <a:rect l="l" t="t" r="r" b="b"/>
            <a:pathLst>
              <a:path w="2057400" h="838200">
                <a:moveTo>
                  <a:pt x="0" y="838200"/>
                </a:moveTo>
                <a:lnTo>
                  <a:pt x="2057400" y="838200"/>
                </a:lnTo>
                <a:lnTo>
                  <a:pt x="20574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28586" y="1570456"/>
            <a:ext cx="3282205" cy="2012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64563" y="2647188"/>
            <a:ext cx="423672" cy="17023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0821" y="2667000"/>
            <a:ext cx="171450" cy="1448435"/>
          </a:xfrm>
          <a:custGeom>
            <a:avLst/>
            <a:gdLst/>
            <a:ahLst/>
            <a:cxnLst/>
            <a:rect l="l" t="t" r="r" b="b"/>
            <a:pathLst>
              <a:path w="171450" h="1448435">
                <a:moveTo>
                  <a:pt x="16446" y="1276877"/>
                </a:moveTo>
                <a:lnTo>
                  <a:pt x="9251" y="1279270"/>
                </a:lnTo>
                <a:lnTo>
                  <a:pt x="3643" y="1284323"/>
                </a:lnTo>
                <a:lnTo>
                  <a:pt x="488" y="1290923"/>
                </a:lnTo>
                <a:lnTo>
                  <a:pt x="0" y="1298237"/>
                </a:lnTo>
                <a:lnTo>
                  <a:pt x="2393" y="1305433"/>
                </a:lnTo>
                <a:lnTo>
                  <a:pt x="85578" y="1447927"/>
                </a:lnTo>
                <a:lnTo>
                  <a:pt x="107671" y="1410081"/>
                </a:lnTo>
                <a:lnTo>
                  <a:pt x="66528" y="1410081"/>
                </a:lnTo>
                <a:lnTo>
                  <a:pt x="66528" y="1339469"/>
                </a:lnTo>
                <a:lnTo>
                  <a:pt x="35413" y="1286129"/>
                </a:lnTo>
                <a:lnTo>
                  <a:pt x="30360" y="1280521"/>
                </a:lnTo>
                <a:lnTo>
                  <a:pt x="23760" y="1277366"/>
                </a:lnTo>
                <a:lnTo>
                  <a:pt x="16446" y="1276877"/>
                </a:lnTo>
                <a:close/>
              </a:path>
              <a:path w="171450" h="1448435">
                <a:moveTo>
                  <a:pt x="66528" y="1339469"/>
                </a:moveTo>
                <a:lnTo>
                  <a:pt x="66528" y="1410081"/>
                </a:lnTo>
                <a:lnTo>
                  <a:pt x="104628" y="1410081"/>
                </a:lnTo>
                <a:lnTo>
                  <a:pt x="104628" y="1400429"/>
                </a:lnTo>
                <a:lnTo>
                  <a:pt x="69068" y="1400429"/>
                </a:lnTo>
                <a:lnTo>
                  <a:pt x="85578" y="1372126"/>
                </a:lnTo>
                <a:lnTo>
                  <a:pt x="66528" y="1339469"/>
                </a:lnTo>
                <a:close/>
              </a:path>
              <a:path w="171450" h="1448435">
                <a:moveTo>
                  <a:pt x="154709" y="1276877"/>
                </a:moveTo>
                <a:lnTo>
                  <a:pt x="147395" y="1277366"/>
                </a:lnTo>
                <a:lnTo>
                  <a:pt x="140795" y="1280521"/>
                </a:lnTo>
                <a:lnTo>
                  <a:pt x="135743" y="1286129"/>
                </a:lnTo>
                <a:lnTo>
                  <a:pt x="104628" y="1339469"/>
                </a:lnTo>
                <a:lnTo>
                  <a:pt x="104628" y="1410081"/>
                </a:lnTo>
                <a:lnTo>
                  <a:pt x="107671" y="1410081"/>
                </a:lnTo>
                <a:lnTo>
                  <a:pt x="168763" y="1305433"/>
                </a:lnTo>
                <a:lnTo>
                  <a:pt x="171156" y="1298237"/>
                </a:lnTo>
                <a:lnTo>
                  <a:pt x="170668" y="1290923"/>
                </a:lnTo>
                <a:lnTo>
                  <a:pt x="167512" y="1284323"/>
                </a:lnTo>
                <a:lnTo>
                  <a:pt x="161905" y="1279270"/>
                </a:lnTo>
                <a:lnTo>
                  <a:pt x="154709" y="1276877"/>
                </a:lnTo>
                <a:close/>
              </a:path>
              <a:path w="171450" h="1448435">
                <a:moveTo>
                  <a:pt x="85578" y="1372126"/>
                </a:moveTo>
                <a:lnTo>
                  <a:pt x="69068" y="1400429"/>
                </a:lnTo>
                <a:lnTo>
                  <a:pt x="102088" y="1400429"/>
                </a:lnTo>
                <a:lnTo>
                  <a:pt x="85578" y="1372126"/>
                </a:lnTo>
                <a:close/>
              </a:path>
              <a:path w="171450" h="1448435">
                <a:moveTo>
                  <a:pt x="104628" y="1339469"/>
                </a:moveTo>
                <a:lnTo>
                  <a:pt x="85578" y="1372126"/>
                </a:lnTo>
                <a:lnTo>
                  <a:pt x="102088" y="1400429"/>
                </a:lnTo>
                <a:lnTo>
                  <a:pt x="104628" y="1400429"/>
                </a:lnTo>
                <a:lnTo>
                  <a:pt x="104628" y="1339469"/>
                </a:lnTo>
                <a:close/>
              </a:path>
              <a:path w="171450" h="1448435">
                <a:moveTo>
                  <a:pt x="104628" y="0"/>
                </a:moveTo>
                <a:lnTo>
                  <a:pt x="66528" y="0"/>
                </a:lnTo>
                <a:lnTo>
                  <a:pt x="66528" y="1339469"/>
                </a:lnTo>
                <a:lnTo>
                  <a:pt x="85578" y="1372126"/>
                </a:lnTo>
                <a:lnTo>
                  <a:pt x="104628" y="1339469"/>
                </a:lnTo>
                <a:lnTo>
                  <a:pt x="10462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36164" y="2478023"/>
            <a:ext cx="423672" cy="17023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62421" y="2666873"/>
            <a:ext cx="171450" cy="1448435"/>
          </a:xfrm>
          <a:custGeom>
            <a:avLst/>
            <a:gdLst/>
            <a:ahLst/>
            <a:cxnLst/>
            <a:rect l="l" t="t" r="r" b="b"/>
            <a:pathLst>
              <a:path w="171450" h="1448435">
                <a:moveTo>
                  <a:pt x="85578" y="75800"/>
                </a:moveTo>
                <a:lnTo>
                  <a:pt x="66528" y="108458"/>
                </a:lnTo>
                <a:lnTo>
                  <a:pt x="66528" y="1447927"/>
                </a:lnTo>
                <a:lnTo>
                  <a:pt x="104628" y="1447927"/>
                </a:lnTo>
                <a:lnTo>
                  <a:pt x="104628" y="108458"/>
                </a:lnTo>
                <a:lnTo>
                  <a:pt x="85578" y="75800"/>
                </a:lnTo>
                <a:close/>
              </a:path>
              <a:path w="171450" h="1448435">
                <a:moveTo>
                  <a:pt x="85578" y="0"/>
                </a:moveTo>
                <a:lnTo>
                  <a:pt x="2393" y="142493"/>
                </a:lnTo>
                <a:lnTo>
                  <a:pt x="0" y="149689"/>
                </a:lnTo>
                <a:lnTo>
                  <a:pt x="488" y="157003"/>
                </a:lnTo>
                <a:lnTo>
                  <a:pt x="3643" y="163603"/>
                </a:lnTo>
                <a:lnTo>
                  <a:pt x="9251" y="168655"/>
                </a:lnTo>
                <a:lnTo>
                  <a:pt x="16446" y="171049"/>
                </a:lnTo>
                <a:lnTo>
                  <a:pt x="23760" y="170561"/>
                </a:lnTo>
                <a:lnTo>
                  <a:pt x="30360" y="167405"/>
                </a:lnTo>
                <a:lnTo>
                  <a:pt x="35413" y="161798"/>
                </a:lnTo>
                <a:lnTo>
                  <a:pt x="66528" y="108458"/>
                </a:lnTo>
                <a:lnTo>
                  <a:pt x="66528" y="37846"/>
                </a:lnTo>
                <a:lnTo>
                  <a:pt x="107671" y="37846"/>
                </a:lnTo>
                <a:lnTo>
                  <a:pt x="85578" y="0"/>
                </a:lnTo>
                <a:close/>
              </a:path>
              <a:path w="171450" h="1448435">
                <a:moveTo>
                  <a:pt x="107671" y="37846"/>
                </a:moveTo>
                <a:lnTo>
                  <a:pt x="104628" y="37846"/>
                </a:lnTo>
                <a:lnTo>
                  <a:pt x="104628" y="108458"/>
                </a:lnTo>
                <a:lnTo>
                  <a:pt x="135743" y="161798"/>
                </a:lnTo>
                <a:lnTo>
                  <a:pt x="140795" y="167405"/>
                </a:lnTo>
                <a:lnTo>
                  <a:pt x="147395" y="170561"/>
                </a:lnTo>
                <a:lnTo>
                  <a:pt x="154709" y="171049"/>
                </a:lnTo>
                <a:lnTo>
                  <a:pt x="161905" y="168655"/>
                </a:lnTo>
                <a:lnTo>
                  <a:pt x="167512" y="163603"/>
                </a:lnTo>
                <a:lnTo>
                  <a:pt x="170668" y="157003"/>
                </a:lnTo>
                <a:lnTo>
                  <a:pt x="171156" y="149689"/>
                </a:lnTo>
                <a:lnTo>
                  <a:pt x="168763" y="142493"/>
                </a:lnTo>
                <a:lnTo>
                  <a:pt x="107671" y="37846"/>
                </a:lnTo>
                <a:close/>
              </a:path>
              <a:path w="171450" h="1448435">
                <a:moveTo>
                  <a:pt x="104628" y="37846"/>
                </a:moveTo>
                <a:lnTo>
                  <a:pt x="66528" y="37846"/>
                </a:lnTo>
                <a:lnTo>
                  <a:pt x="66528" y="108458"/>
                </a:lnTo>
                <a:lnTo>
                  <a:pt x="85578" y="75800"/>
                </a:lnTo>
                <a:lnTo>
                  <a:pt x="69068" y="47498"/>
                </a:lnTo>
                <a:lnTo>
                  <a:pt x="104628" y="47498"/>
                </a:lnTo>
                <a:lnTo>
                  <a:pt x="104628" y="37846"/>
                </a:lnTo>
                <a:close/>
              </a:path>
              <a:path w="171450" h="1448435">
                <a:moveTo>
                  <a:pt x="104628" y="47498"/>
                </a:moveTo>
                <a:lnTo>
                  <a:pt x="102088" y="47498"/>
                </a:lnTo>
                <a:lnTo>
                  <a:pt x="85578" y="75800"/>
                </a:lnTo>
                <a:lnTo>
                  <a:pt x="104628" y="108458"/>
                </a:lnTo>
                <a:lnTo>
                  <a:pt x="104628" y="47498"/>
                </a:lnTo>
                <a:close/>
              </a:path>
              <a:path w="171450" h="1448435">
                <a:moveTo>
                  <a:pt x="102088" y="47498"/>
                </a:moveTo>
                <a:lnTo>
                  <a:pt x="69068" y="47498"/>
                </a:lnTo>
                <a:lnTo>
                  <a:pt x="85578" y="75800"/>
                </a:lnTo>
                <a:lnTo>
                  <a:pt x="102088" y="47498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86328" y="2249423"/>
            <a:ext cx="2540507" cy="4236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9000" y="2352821"/>
            <a:ext cx="2286635" cy="171450"/>
          </a:xfrm>
          <a:custGeom>
            <a:avLst/>
            <a:gdLst/>
            <a:ahLst/>
            <a:cxnLst/>
            <a:rect l="l" t="t" r="r" b="b"/>
            <a:pathLst>
              <a:path w="2286635" h="171450">
                <a:moveTo>
                  <a:pt x="2210326" y="85578"/>
                </a:moveTo>
                <a:lnTo>
                  <a:pt x="2124329" y="135743"/>
                </a:lnTo>
                <a:lnTo>
                  <a:pt x="2118721" y="140795"/>
                </a:lnTo>
                <a:lnTo>
                  <a:pt x="2115566" y="147395"/>
                </a:lnTo>
                <a:lnTo>
                  <a:pt x="2115077" y="154709"/>
                </a:lnTo>
                <a:lnTo>
                  <a:pt x="2117471" y="161905"/>
                </a:lnTo>
                <a:lnTo>
                  <a:pt x="2122523" y="167512"/>
                </a:lnTo>
                <a:lnTo>
                  <a:pt x="2129123" y="170668"/>
                </a:lnTo>
                <a:lnTo>
                  <a:pt x="2136437" y="171156"/>
                </a:lnTo>
                <a:lnTo>
                  <a:pt x="2143633" y="168763"/>
                </a:lnTo>
                <a:lnTo>
                  <a:pt x="2253494" y="104628"/>
                </a:lnTo>
                <a:lnTo>
                  <a:pt x="2248280" y="104628"/>
                </a:lnTo>
                <a:lnTo>
                  <a:pt x="2248280" y="102088"/>
                </a:lnTo>
                <a:lnTo>
                  <a:pt x="2238629" y="102088"/>
                </a:lnTo>
                <a:lnTo>
                  <a:pt x="2210326" y="85578"/>
                </a:lnTo>
                <a:close/>
              </a:path>
              <a:path w="2286635" h="171450">
                <a:moveTo>
                  <a:pt x="2177668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2177668" y="104628"/>
                </a:lnTo>
                <a:lnTo>
                  <a:pt x="2210326" y="85578"/>
                </a:lnTo>
                <a:lnTo>
                  <a:pt x="2177668" y="66528"/>
                </a:lnTo>
                <a:close/>
              </a:path>
              <a:path w="2286635" h="171450">
                <a:moveTo>
                  <a:pt x="2253494" y="66528"/>
                </a:moveTo>
                <a:lnTo>
                  <a:pt x="2248280" y="66528"/>
                </a:lnTo>
                <a:lnTo>
                  <a:pt x="2248280" y="104628"/>
                </a:lnTo>
                <a:lnTo>
                  <a:pt x="2253494" y="104628"/>
                </a:lnTo>
                <a:lnTo>
                  <a:pt x="2286127" y="85578"/>
                </a:lnTo>
                <a:lnTo>
                  <a:pt x="2253494" y="66528"/>
                </a:lnTo>
                <a:close/>
              </a:path>
              <a:path w="2286635" h="171450">
                <a:moveTo>
                  <a:pt x="2238629" y="69068"/>
                </a:moveTo>
                <a:lnTo>
                  <a:pt x="2210326" y="85578"/>
                </a:lnTo>
                <a:lnTo>
                  <a:pt x="2238629" y="102088"/>
                </a:lnTo>
                <a:lnTo>
                  <a:pt x="2238629" y="69068"/>
                </a:lnTo>
                <a:close/>
              </a:path>
              <a:path w="2286635" h="171450">
                <a:moveTo>
                  <a:pt x="2248280" y="69068"/>
                </a:moveTo>
                <a:lnTo>
                  <a:pt x="2238629" y="69068"/>
                </a:lnTo>
                <a:lnTo>
                  <a:pt x="2238629" y="102088"/>
                </a:lnTo>
                <a:lnTo>
                  <a:pt x="2248280" y="102088"/>
                </a:lnTo>
                <a:lnTo>
                  <a:pt x="2248280" y="69068"/>
                </a:lnTo>
                <a:close/>
              </a:path>
              <a:path w="2286635" h="171450">
                <a:moveTo>
                  <a:pt x="2136437" y="0"/>
                </a:moveTo>
                <a:lnTo>
                  <a:pt x="2129123" y="488"/>
                </a:lnTo>
                <a:lnTo>
                  <a:pt x="2122523" y="3643"/>
                </a:lnTo>
                <a:lnTo>
                  <a:pt x="2117471" y="9251"/>
                </a:lnTo>
                <a:lnTo>
                  <a:pt x="2115077" y="16446"/>
                </a:lnTo>
                <a:lnTo>
                  <a:pt x="2115566" y="23760"/>
                </a:lnTo>
                <a:lnTo>
                  <a:pt x="2118721" y="30360"/>
                </a:lnTo>
                <a:lnTo>
                  <a:pt x="2124329" y="35413"/>
                </a:lnTo>
                <a:lnTo>
                  <a:pt x="2210326" y="85578"/>
                </a:lnTo>
                <a:lnTo>
                  <a:pt x="2238629" y="69068"/>
                </a:lnTo>
                <a:lnTo>
                  <a:pt x="2248280" y="69068"/>
                </a:lnTo>
                <a:lnTo>
                  <a:pt x="2248280" y="66528"/>
                </a:lnTo>
                <a:lnTo>
                  <a:pt x="2253494" y="66528"/>
                </a:lnTo>
                <a:lnTo>
                  <a:pt x="2143633" y="2393"/>
                </a:lnTo>
                <a:lnTo>
                  <a:pt x="2136437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17164" y="1792223"/>
            <a:ext cx="2540508" cy="423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8872" y="1895621"/>
            <a:ext cx="2286635" cy="171450"/>
          </a:xfrm>
          <a:custGeom>
            <a:avLst/>
            <a:gdLst/>
            <a:ahLst/>
            <a:cxnLst/>
            <a:rect l="l" t="t" r="r" b="b"/>
            <a:pathLst>
              <a:path w="2286635" h="171450">
                <a:moveTo>
                  <a:pt x="149689" y="0"/>
                </a:moveTo>
                <a:lnTo>
                  <a:pt x="142493" y="2393"/>
                </a:lnTo>
                <a:lnTo>
                  <a:pt x="0" y="85578"/>
                </a:lnTo>
                <a:lnTo>
                  <a:pt x="142493" y="168763"/>
                </a:lnTo>
                <a:lnTo>
                  <a:pt x="149689" y="171156"/>
                </a:lnTo>
                <a:lnTo>
                  <a:pt x="157003" y="170668"/>
                </a:lnTo>
                <a:lnTo>
                  <a:pt x="163603" y="167512"/>
                </a:lnTo>
                <a:lnTo>
                  <a:pt x="168655" y="161905"/>
                </a:lnTo>
                <a:lnTo>
                  <a:pt x="171049" y="154709"/>
                </a:lnTo>
                <a:lnTo>
                  <a:pt x="170561" y="147395"/>
                </a:lnTo>
                <a:lnTo>
                  <a:pt x="167405" y="140795"/>
                </a:lnTo>
                <a:lnTo>
                  <a:pt x="161798" y="135743"/>
                </a:lnTo>
                <a:lnTo>
                  <a:pt x="108458" y="104628"/>
                </a:lnTo>
                <a:lnTo>
                  <a:pt x="37846" y="104628"/>
                </a:lnTo>
                <a:lnTo>
                  <a:pt x="37846" y="66528"/>
                </a:lnTo>
                <a:lnTo>
                  <a:pt x="108458" y="66528"/>
                </a:lnTo>
                <a:lnTo>
                  <a:pt x="161798" y="35413"/>
                </a:lnTo>
                <a:lnTo>
                  <a:pt x="167405" y="30360"/>
                </a:lnTo>
                <a:lnTo>
                  <a:pt x="170560" y="23760"/>
                </a:lnTo>
                <a:lnTo>
                  <a:pt x="171049" y="16446"/>
                </a:lnTo>
                <a:lnTo>
                  <a:pt x="168655" y="9251"/>
                </a:lnTo>
                <a:lnTo>
                  <a:pt x="163603" y="3643"/>
                </a:lnTo>
                <a:lnTo>
                  <a:pt x="157003" y="488"/>
                </a:lnTo>
                <a:lnTo>
                  <a:pt x="149689" y="0"/>
                </a:lnTo>
                <a:close/>
              </a:path>
              <a:path w="2286635" h="171450">
                <a:moveTo>
                  <a:pt x="108458" y="66528"/>
                </a:moveTo>
                <a:lnTo>
                  <a:pt x="37846" y="66528"/>
                </a:lnTo>
                <a:lnTo>
                  <a:pt x="37846" y="104628"/>
                </a:lnTo>
                <a:lnTo>
                  <a:pt x="108458" y="104628"/>
                </a:lnTo>
                <a:lnTo>
                  <a:pt x="104103" y="102088"/>
                </a:lnTo>
                <a:lnTo>
                  <a:pt x="47498" y="102088"/>
                </a:lnTo>
                <a:lnTo>
                  <a:pt x="47498" y="69068"/>
                </a:lnTo>
                <a:lnTo>
                  <a:pt x="104103" y="69068"/>
                </a:lnTo>
                <a:lnTo>
                  <a:pt x="108458" y="66528"/>
                </a:lnTo>
                <a:close/>
              </a:path>
              <a:path w="2286635" h="171450">
                <a:moveTo>
                  <a:pt x="2286127" y="66528"/>
                </a:moveTo>
                <a:lnTo>
                  <a:pt x="108458" y="66528"/>
                </a:lnTo>
                <a:lnTo>
                  <a:pt x="75800" y="85578"/>
                </a:lnTo>
                <a:lnTo>
                  <a:pt x="108458" y="104628"/>
                </a:lnTo>
                <a:lnTo>
                  <a:pt x="2286127" y="104628"/>
                </a:lnTo>
                <a:lnTo>
                  <a:pt x="2286127" y="66528"/>
                </a:lnTo>
                <a:close/>
              </a:path>
              <a:path w="2286635" h="171450">
                <a:moveTo>
                  <a:pt x="47498" y="69068"/>
                </a:moveTo>
                <a:lnTo>
                  <a:pt x="47498" y="102088"/>
                </a:lnTo>
                <a:lnTo>
                  <a:pt x="75800" y="85578"/>
                </a:lnTo>
                <a:lnTo>
                  <a:pt x="47498" y="69068"/>
                </a:lnTo>
                <a:close/>
              </a:path>
              <a:path w="2286635" h="171450">
                <a:moveTo>
                  <a:pt x="75800" y="85578"/>
                </a:moveTo>
                <a:lnTo>
                  <a:pt x="47498" y="102088"/>
                </a:lnTo>
                <a:lnTo>
                  <a:pt x="104103" y="102088"/>
                </a:lnTo>
                <a:lnTo>
                  <a:pt x="75800" y="85578"/>
                </a:lnTo>
                <a:close/>
              </a:path>
              <a:path w="2286635" h="171450">
                <a:moveTo>
                  <a:pt x="104103" y="69068"/>
                </a:moveTo>
                <a:lnTo>
                  <a:pt x="47498" y="69068"/>
                </a:lnTo>
                <a:lnTo>
                  <a:pt x="75800" y="85578"/>
                </a:lnTo>
                <a:lnTo>
                  <a:pt x="104103" y="69068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297180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952500" y="0"/>
                </a:moveTo>
                <a:lnTo>
                  <a:pt x="889874" y="972"/>
                </a:lnTo>
                <a:lnTo>
                  <a:pt x="828330" y="3850"/>
                </a:lnTo>
                <a:lnTo>
                  <a:pt x="767993" y="8572"/>
                </a:lnTo>
                <a:lnTo>
                  <a:pt x="708989" y="15079"/>
                </a:lnTo>
                <a:lnTo>
                  <a:pt x="651442" y="23311"/>
                </a:lnTo>
                <a:lnTo>
                  <a:pt x="595479" y="33206"/>
                </a:lnTo>
                <a:lnTo>
                  <a:pt x="541225" y="44705"/>
                </a:lnTo>
                <a:lnTo>
                  <a:pt x="488806" y="57747"/>
                </a:lnTo>
                <a:lnTo>
                  <a:pt x="438347" y="72273"/>
                </a:lnTo>
                <a:lnTo>
                  <a:pt x="389973" y="88221"/>
                </a:lnTo>
                <a:lnTo>
                  <a:pt x="343810" y="105532"/>
                </a:lnTo>
                <a:lnTo>
                  <a:pt x="299984" y="124145"/>
                </a:lnTo>
                <a:lnTo>
                  <a:pt x="258620" y="144000"/>
                </a:lnTo>
                <a:lnTo>
                  <a:pt x="219844" y="165037"/>
                </a:lnTo>
                <a:lnTo>
                  <a:pt x="183782" y="187195"/>
                </a:lnTo>
                <a:lnTo>
                  <a:pt x="150558" y="210415"/>
                </a:lnTo>
                <a:lnTo>
                  <a:pt x="120298" y="234636"/>
                </a:lnTo>
                <a:lnTo>
                  <a:pt x="69174" y="285838"/>
                </a:lnTo>
                <a:lnTo>
                  <a:pt x="31413" y="340321"/>
                </a:lnTo>
                <a:lnTo>
                  <a:pt x="8020" y="397602"/>
                </a:lnTo>
                <a:lnTo>
                  <a:pt x="0" y="457200"/>
                </a:lnTo>
                <a:lnTo>
                  <a:pt x="2026" y="487257"/>
                </a:lnTo>
                <a:lnTo>
                  <a:pt x="17858" y="545757"/>
                </a:lnTo>
                <a:lnTo>
                  <a:pt x="48560" y="601699"/>
                </a:lnTo>
                <a:lnTo>
                  <a:pt x="93128" y="654602"/>
                </a:lnTo>
                <a:lnTo>
                  <a:pt x="150558" y="703984"/>
                </a:lnTo>
                <a:lnTo>
                  <a:pt x="183782" y="727204"/>
                </a:lnTo>
                <a:lnTo>
                  <a:pt x="219844" y="749362"/>
                </a:lnTo>
                <a:lnTo>
                  <a:pt x="258620" y="770399"/>
                </a:lnTo>
                <a:lnTo>
                  <a:pt x="299984" y="790254"/>
                </a:lnTo>
                <a:lnTo>
                  <a:pt x="343810" y="808867"/>
                </a:lnTo>
                <a:lnTo>
                  <a:pt x="389973" y="826178"/>
                </a:lnTo>
                <a:lnTo>
                  <a:pt x="438347" y="842126"/>
                </a:lnTo>
                <a:lnTo>
                  <a:pt x="488806" y="856652"/>
                </a:lnTo>
                <a:lnTo>
                  <a:pt x="541225" y="869694"/>
                </a:lnTo>
                <a:lnTo>
                  <a:pt x="595479" y="881193"/>
                </a:lnTo>
                <a:lnTo>
                  <a:pt x="651442" y="891088"/>
                </a:lnTo>
                <a:lnTo>
                  <a:pt x="708989" y="899320"/>
                </a:lnTo>
                <a:lnTo>
                  <a:pt x="767993" y="905827"/>
                </a:lnTo>
                <a:lnTo>
                  <a:pt x="828330" y="910549"/>
                </a:lnTo>
                <a:lnTo>
                  <a:pt x="889874" y="913427"/>
                </a:lnTo>
                <a:lnTo>
                  <a:pt x="952500" y="914400"/>
                </a:lnTo>
                <a:lnTo>
                  <a:pt x="1015125" y="913427"/>
                </a:lnTo>
                <a:lnTo>
                  <a:pt x="1076669" y="910549"/>
                </a:lnTo>
                <a:lnTo>
                  <a:pt x="1137006" y="905827"/>
                </a:lnTo>
                <a:lnTo>
                  <a:pt x="1196010" y="899320"/>
                </a:lnTo>
                <a:lnTo>
                  <a:pt x="1253557" y="891088"/>
                </a:lnTo>
                <a:lnTo>
                  <a:pt x="1309520" y="881193"/>
                </a:lnTo>
                <a:lnTo>
                  <a:pt x="1363774" y="869694"/>
                </a:lnTo>
                <a:lnTo>
                  <a:pt x="1416193" y="856652"/>
                </a:lnTo>
                <a:lnTo>
                  <a:pt x="1466652" y="842126"/>
                </a:lnTo>
                <a:lnTo>
                  <a:pt x="1515026" y="826178"/>
                </a:lnTo>
                <a:lnTo>
                  <a:pt x="1561189" y="808867"/>
                </a:lnTo>
                <a:lnTo>
                  <a:pt x="1605015" y="790254"/>
                </a:lnTo>
                <a:lnTo>
                  <a:pt x="1646379" y="770399"/>
                </a:lnTo>
                <a:lnTo>
                  <a:pt x="1685155" y="749362"/>
                </a:lnTo>
                <a:lnTo>
                  <a:pt x="1721217" y="727204"/>
                </a:lnTo>
                <a:lnTo>
                  <a:pt x="1754441" y="703984"/>
                </a:lnTo>
                <a:lnTo>
                  <a:pt x="1784701" y="679763"/>
                </a:lnTo>
                <a:lnTo>
                  <a:pt x="1835825" y="628561"/>
                </a:lnTo>
                <a:lnTo>
                  <a:pt x="1873586" y="574078"/>
                </a:lnTo>
                <a:lnTo>
                  <a:pt x="1896979" y="516797"/>
                </a:lnTo>
                <a:lnTo>
                  <a:pt x="1905000" y="457200"/>
                </a:lnTo>
                <a:lnTo>
                  <a:pt x="1902973" y="427142"/>
                </a:lnTo>
                <a:lnTo>
                  <a:pt x="1887141" y="368642"/>
                </a:lnTo>
                <a:lnTo>
                  <a:pt x="1856439" y="312700"/>
                </a:lnTo>
                <a:lnTo>
                  <a:pt x="1811871" y="259797"/>
                </a:lnTo>
                <a:lnTo>
                  <a:pt x="1754441" y="210415"/>
                </a:lnTo>
                <a:lnTo>
                  <a:pt x="1721217" y="187195"/>
                </a:lnTo>
                <a:lnTo>
                  <a:pt x="1685155" y="165037"/>
                </a:lnTo>
                <a:lnTo>
                  <a:pt x="1646379" y="144000"/>
                </a:lnTo>
                <a:lnTo>
                  <a:pt x="1605015" y="124145"/>
                </a:lnTo>
                <a:lnTo>
                  <a:pt x="1561189" y="105532"/>
                </a:lnTo>
                <a:lnTo>
                  <a:pt x="1515026" y="88221"/>
                </a:lnTo>
                <a:lnTo>
                  <a:pt x="1466652" y="72273"/>
                </a:lnTo>
                <a:lnTo>
                  <a:pt x="1416193" y="57747"/>
                </a:lnTo>
                <a:lnTo>
                  <a:pt x="1363774" y="44705"/>
                </a:lnTo>
                <a:lnTo>
                  <a:pt x="1309520" y="33206"/>
                </a:lnTo>
                <a:lnTo>
                  <a:pt x="1253557" y="23311"/>
                </a:lnTo>
                <a:lnTo>
                  <a:pt x="1196010" y="15079"/>
                </a:lnTo>
                <a:lnTo>
                  <a:pt x="1137006" y="8572"/>
                </a:lnTo>
                <a:lnTo>
                  <a:pt x="1076669" y="3850"/>
                </a:lnTo>
                <a:lnTo>
                  <a:pt x="1015125" y="972"/>
                </a:lnTo>
                <a:lnTo>
                  <a:pt x="9525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24000" y="2971800"/>
            <a:ext cx="1905000" cy="914400"/>
          </a:xfrm>
          <a:custGeom>
            <a:avLst/>
            <a:gdLst/>
            <a:ahLst/>
            <a:cxnLst/>
            <a:rect l="l" t="t" r="r" b="b"/>
            <a:pathLst>
              <a:path w="1905000" h="914400">
                <a:moveTo>
                  <a:pt x="0" y="457200"/>
                </a:moveTo>
                <a:lnTo>
                  <a:pt x="8020" y="397602"/>
                </a:lnTo>
                <a:lnTo>
                  <a:pt x="31413" y="340321"/>
                </a:lnTo>
                <a:lnTo>
                  <a:pt x="69174" y="285838"/>
                </a:lnTo>
                <a:lnTo>
                  <a:pt x="120298" y="234636"/>
                </a:lnTo>
                <a:lnTo>
                  <a:pt x="150558" y="210415"/>
                </a:lnTo>
                <a:lnTo>
                  <a:pt x="183782" y="187195"/>
                </a:lnTo>
                <a:lnTo>
                  <a:pt x="219844" y="165037"/>
                </a:lnTo>
                <a:lnTo>
                  <a:pt x="258620" y="144000"/>
                </a:lnTo>
                <a:lnTo>
                  <a:pt x="299984" y="124145"/>
                </a:lnTo>
                <a:lnTo>
                  <a:pt x="343810" y="105532"/>
                </a:lnTo>
                <a:lnTo>
                  <a:pt x="389973" y="88221"/>
                </a:lnTo>
                <a:lnTo>
                  <a:pt x="438347" y="72273"/>
                </a:lnTo>
                <a:lnTo>
                  <a:pt x="488806" y="57747"/>
                </a:lnTo>
                <a:lnTo>
                  <a:pt x="541225" y="44705"/>
                </a:lnTo>
                <a:lnTo>
                  <a:pt x="595479" y="33206"/>
                </a:lnTo>
                <a:lnTo>
                  <a:pt x="651442" y="23311"/>
                </a:lnTo>
                <a:lnTo>
                  <a:pt x="708989" y="15079"/>
                </a:lnTo>
                <a:lnTo>
                  <a:pt x="767993" y="8572"/>
                </a:lnTo>
                <a:lnTo>
                  <a:pt x="828330" y="3850"/>
                </a:lnTo>
                <a:lnTo>
                  <a:pt x="889874" y="972"/>
                </a:lnTo>
                <a:lnTo>
                  <a:pt x="952500" y="0"/>
                </a:lnTo>
                <a:lnTo>
                  <a:pt x="1015125" y="972"/>
                </a:lnTo>
                <a:lnTo>
                  <a:pt x="1076669" y="3850"/>
                </a:lnTo>
                <a:lnTo>
                  <a:pt x="1137006" y="8572"/>
                </a:lnTo>
                <a:lnTo>
                  <a:pt x="1196010" y="15079"/>
                </a:lnTo>
                <a:lnTo>
                  <a:pt x="1253557" y="23311"/>
                </a:lnTo>
                <a:lnTo>
                  <a:pt x="1309520" y="33206"/>
                </a:lnTo>
                <a:lnTo>
                  <a:pt x="1363774" y="44705"/>
                </a:lnTo>
                <a:lnTo>
                  <a:pt x="1416193" y="57747"/>
                </a:lnTo>
                <a:lnTo>
                  <a:pt x="1466652" y="72273"/>
                </a:lnTo>
                <a:lnTo>
                  <a:pt x="1515026" y="88221"/>
                </a:lnTo>
                <a:lnTo>
                  <a:pt x="1561189" y="105532"/>
                </a:lnTo>
                <a:lnTo>
                  <a:pt x="1605015" y="124145"/>
                </a:lnTo>
                <a:lnTo>
                  <a:pt x="1646379" y="144000"/>
                </a:lnTo>
                <a:lnTo>
                  <a:pt x="1685155" y="165037"/>
                </a:lnTo>
                <a:lnTo>
                  <a:pt x="1721217" y="187195"/>
                </a:lnTo>
                <a:lnTo>
                  <a:pt x="1754441" y="210415"/>
                </a:lnTo>
                <a:lnTo>
                  <a:pt x="1784701" y="234636"/>
                </a:lnTo>
                <a:lnTo>
                  <a:pt x="1835825" y="285838"/>
                </a:lnTo>
                <a:lnTo>
                  <a:pt x="1873586" y="340321"/>
                </a:lnTo>
                <a:lnTo>
                  <a:pt x="1896979" y="397602"/>
                </a:lnTo>
                <a:lnTo>
                  <a:pt x="1905000" y="457200"/>
                </a:lnTo>
                <a:lnTo>
                  <a:pt x="1902973" y="487257"/>
                </a:lnTo>
                <a:lnTo>
                  <a:pt x="1887141" y="545757"/>
                </a:lnTo>
                <a:lnTo>
                  <a:pt x="1856439" y="601699"/>
                </a:lnTo>
                <a:lnTo>
                  <a:pt x="1811871" y="654602"/>
                </a:lnTo>
                <a:lnTo>
                  <a:pt x="1754441" y="703984"/>
                </a:lnTo>
                <a:lnTo>
                  <a:pt x="1721217" y="727204"/>
                </a:lnTo>
                <a:lnTo>
                  <a:pt x="1685155" y="749362"/>
                </a:lnTo>
                <a:lnTo>
                  <a:pt x="1646379" y="770399"/>
                </a:lnTo>
                <a:lnTo>
                  <a:pt x="1605015" y="790254"/>
                </a:lnTo>
                <a:lnTo>
                  <a:pt x="1561189" y="808867"/>
                </a:lnTo>
                <a:lnTo>
                  <a:pt x="1515026" y="826178"/>
                </a:lnTo>
                <a:lnTo>
                  <a:pt x="1466652" y="842126"/>
                </a:lnTo>
                <a:lnTo>
                  <a:pt x="1416193" y="856652"/>
                </a:lnTo>
                <a:lnTo>
                  <a:pt x="1363774" y="869694"/>
                </a:lnTo>
                <a:lnTo>
                  <a:pt x="1309520" y="881193"/>
                </a:lnTo>
                <a:lnTo>
                  <a:pt x="1253557" y="891088"/>
                </a:lnTo>
                <a:lnTo>
                  <a:pt x="1196010" y="899320"/>
                </a:lnTo>
                <a:lnTo>
                  <a:pt x="1137006" y="905827"/>
                </a:lnTo>
                <a:lnTo>
                  <a:pt x="1076669" y="910549"/>
                </a:lnTo>
                <a:lnTo>
                  <a:pt x="1015125" y="913427"/>
                </a:lnTo>
                <a:lnTo>
                  <a:pt x="952500" y="914400"/>
                </a:lnTo>
                <a:lnTo>
                  <a:pt x="889874" y="913427"/>
                </a:lnTo>
                <a:lnTo>
                  <a:pt x="828330" y="910549"/>
                </a:lnTo>
                <a:lnTo>
                  <a:pt x="767993" y="905827"/>
                </a:lnTo>
                <a:lnTo>
                  <a:pt x="708989" y="899320"/>
                </a:lnTo>
                <a:lnTo>
                  <a:pt x="651442" y="891088"/>
                </a:lnTo>
                <a:lnTo>
                  <a:pt x="595479" y="881193"/>
                </a:lnTo>
                <a:lnTo>
                  <a:pt x="541225" y="869694"/>
                </a:lnTo>
                <a:lnTo>
                  <a:pt x="488806" y="856652"/>
                </a:lnTo>
                <a:lnTo>
                  <a:pt x="438347" y="842126"/>
                </a:lnTo>
                <a:lnTo>
                  <a:pt x="389973" y="826178"/>
                </a:lnTo>
                <a:lnTo>
                  <a:pt x="343810" y="808867"/>
                </a:lnTo>
                <a:lnTo>
                  <a:pt x="299984" y="790254"/>
                </a:lnTo>
                <a:lnTo>
                  <a:pt x="258620" y="770399"/>
                </a:lnTo>
                <a:lnTo>
                  <a:pt x="219844" y="749362"/>
                </a:lnTo>
                <a:lnTo>
                  <a:pt x="183782" y="727204"/>
                </a:lnTo>
                <a:lnTo>
                  <a:pt x="150558" y="703984"/>
                </a:lnTo>
                <a:lnTo>
                  <a:pt x="120298" y="679763"/>
                </a:lnTo>
                <a:lnTo>
                  <a:pt x="69174" y="628561"/>
                </a:lnTo>
                <a:lnTo>
                  <a:pt x="31413" y="574078"/>
                </a:lnTo>
                <a:lnTo>
                  <a:pt x="8020" y="516797"/>
                </a:lnTo>
                <a:lnTo>
                  <a:pt x="0" y="4572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06879" y="3214496"/>
            <a:ext cx="542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بي أتش بي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4663" y="3830573"/>
            <a:ext cx="1188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عميل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84985" y="5900724"/>
            <a:ext cx="13081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3200" b="1" dirty="0">
                <a:latin typeface="Calibri"/>
                <a:cs typeface="Calibri"/>
              </a:rPr>
              <a:t>SE </a:t>
            </a:r>
            <a:r xmlns:a="http://schemas.openxmlformats.org/drawingml/2006/main">
              <a:rPr sz="3200" b="1" spc="-55" dirty="0">
                <a:latin typeface="Calibri"/>
                <a:cs typeface="Calibri"/>
              </a:rPr>
              <a:t>R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VER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43400" y="1447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8" y="5034"/>
                </a:lnTo>
                <a:lnTo>
                  <a:pt x="128073" y="19372"/>
                </a:lnTo>
                <a:lnTo>
                  <a:pt x="85628" y="41867"/>
                </a:lnTo>
                <a:lnTo>
                  <a:pt x="50225" y="71374"/>
                </a:lnTo>
                <a:lnTo>
                  <a:pt x="23237" y="106746"/>
                </a:lnTo>
                <a:lnTo>
                  <a:pt x="6038" y="146837"/>
                </a:lnTo>
                <a:lnTo>
                  <a:pt x="0" y="190500"/>
                </a:lnTo>
                <a:lnTo>
                  <a:pt x="6038" y="234162"/>
                </a:lnTo>
                <a:lnTo>
                  <a:pt x="23237" y="274253"/>
                </a:lnTo>
                <a:lnTo>
                  <a:pt x="50225" y="309625"/>
                </a:lnTo>
                <a:lnTo>
                  <a:pt x="85628" y="339132"/>
                </a:lnTo>
                <a:lnTo>
                  <a:pt x="128073" y="361627"/>
                </a:lnTo>
                <a:lnTo>
                  <a:pt x="176188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43400" y="1447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55445" y="1361820"/>
            <a:ext cx="3007995" cy="12458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xmlns:a="http://schemas.openxmlformats.org/drawingml/2006/main" marL="2840355">
              <a:lnSpc>
                <a:spcPct val="100000"/>
              </a:lnSpc>
              <a:spcBef>
                <a:spcPts val="58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xmlns:a="http://schemas.openxmlformats.org/drawingml/2006/main" sz="2400">
              <a:latin typeface="Calibri"/>
              <a:cs typeface="Calibri"/>
            </a:endParaRPr>
          </a:p>
          <a:p>
            <a:pPr xmlns:a="http://schemas.openxmlformats.org/drawingml/2006/main" marL="121920" marR="1524000" indent="-109855">
              <a:lnSpc>
                <a:spcPct val="100000"/>
              </a:lnSpc>
              <a:spcBef>
                <a:spcPts val="484"/>
              </a:spcBef>
              <a:bidi/>
            </a:pPr>
            <a:r xmlns:a="http://schemas.openxmlformats.org/drawingml/2006/main"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الويب</a:t>
            </a:r>
            <a:r xmlns:a="http://schemas.openxmlformats.org/drawingml/2006/main">
              <a:rPr sz="2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برامج </a:t>
            </a:r>
            <a:endParaRPr xmlns:a="http://schemas.openxmlformats.org/drawingml/2006/main" sz="2400">
              <a:latin typeface="Calibri"/>
              <a:cs typeface="Calibri"/>
            </a:endParaRPr>
            <a:r xmlns:a="http://schemas.openxmlformats.org/drawingml/2006/main"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الخادم</a:t>
            </a:r>
          </a:p>
        </p:txBody>
      </p:sp>
      <p:sp>
        <p:nvSpPr>
          <p:cNvPr id="27" name="object 27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82064" y="27189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76600" y="2819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8" y="5034"/>
                </a:lnTo>
                <a:lnTo>
                  <a:pt x="128073" y="19372"/>
                </a:lnTo>
                <a:lnTo>
                  <a:pt x="85628" y="41867"/>
                </a:lnTo>
                <a:lnTo>
                  <a:pt x="50225" y="71374"/>
                </a:lnTo>
                <a:lnTo>
                  <a:pt x="23237" y="106746"/>
                </a:lnTo>
                <a:lnTo>
                  <a:pt x="6038" y="146837"/>
                </a:lnTo>
                <a:lnTo>
                  <a:pt x="0" y="190500"/>
                </a:lnTo>
                <a:lnTo>
                  <a:pt x="6038" y="234162"/>
                </a:lnTo>
                <a:lnTo>
                  <a:pt x="23237" y="274253"/>
                </a:lnTo>
                <a:lnTo>
                  <a:pt x="50225" y="309625"/>
                </a:lnTo>
                <a:lnTo>
                  <a:pt x="85628" y="339132"/>
                </a:lnTo>
                <a:lnTo>
                  <a:pt x="128073" y="361627"/>
                </a:lnTo>
                <a:lnTo>
                  <a:pt x="176188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6600" y="2819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416046" y="27951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67200" y="2590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8" y="5034"/>
                </a:lnTo>
                <a:lnTo>
                  <a:pt x="128073" y="19372"/>
                </a:lnTo>
                <a:lnTo>
                  <a:pt x="85628" y="41867"/>
                </a:lnTo>
                <a:lnTo>
                  <a:pt x="50225" y="71374"/>
                </a:lnTo>
                <a:lnTo>
                  <a:pt x="23237" y="106746"/>
                </a:lnTo>
                <a:lnTo>
                  <a:pt x="6038" y="146837"/>
                </a:lnTo>
                <a:lnTo>
                  <a:pt x="0" y="190500"/>
                </a:lnTo>
                <a:lnTo>
                  <a:pt x="6038" y="234162"/>
                </a:lnTo>
                <a:lnTo>
                  <a:pt x="23237" y="274253"/>
                </a:lnTo>
                <a:lnTo>
                  <a:pt x="50225" y="309625"/>
                </a:lnTo>
                <a:lnTo>
                  <a:pt x="85628" y="339132"/>
                </a:lnTo>
                <a:lnTo>
                  <a:pt x="128073" y="361627"/>
                </a:lnTo>
                <a:lnTo>
                  <a:pt x="176188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67200" y="2590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8" y="146837"/>
                </a:lnTo>
                <a:lnTo>
                  <a:pt x="23237" y="106746"/>
                </a:lnTo>
                <a:lnTo>
                  <a:pt x="50225" y="71374"/>
                </a:lnTo>
                <a:lnTo>
                  <a:pt x="85628" y="41867"/>
                </a:lnTo>
                <a:lnTo>
                  <a:pt x="128073" y="19372"/>
                </a:lnTo>
                <a:lnTo>
                  <a:pt x="176188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8" y="375965"/>
                </a:lnTo>
                <a:lnTo>
                  <a:pt x="128073" y="361627"/>
                </a:lnTo>
                <a:lnTo>
                  <a:pt x="85628" y="339132"/>
                </a:lnTo>
                <a:lnTo>
                  <a:pt x="50225" y="309625"/>
                </a:lnTo>
                <a:lnTo>
                  <a:pt x="23237" y="274253"/>
                </a:lnTo>
                <a:lnTo>
                  <a:pt x="6038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06900" y="25665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406" y="461594"/>
            <a:ext cx="6862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25" dirty="0">
                <a:solidFill>
                  <a:srgbClr val="FF0000"/>
                </a:solidFill>
              </a:rPr>
              <a:t>العمل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من </a:t>
            </a:r>
            <a:r xmlns:a="http://schemas.openxmlformats.org/drawingml/2006/main">
              <a:rPr sz="4400" spc="-5" dirty="0">
                <a:solidFill>
                  <a:srgbClr val="FF0000"/>
                </a:solidFill>
              </a:rPr>
              <a:t>جانب الخادم</a:t>
            </a:r>
            <a:r xmlns:a="http://schemas.openxmlformats.org/drawingml/2006/main">
              <a:rPr sz="4400" spc="-20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4400" spc="-5" dirty="0">
                <a:solidFill>
                  <a:srgbClr val="FF0000"/>
                </a:solidFill>
              </a:rPr>
              <a:t>نصوص</a:t>
            </a:r>
            <a:endParaRPr xmlns:a="http://schemas.openxmlformats.org/drawingml/2006/main" sz="4400"/>
          </a:p>
        </p:txBody>
      </p:sp>
      <p:sp>
        <p:nvSpPr>
          <p:cNvPr id="3" name="object 3"/>
          <p:cNvSpPr/>
          <p:nvPr/>
        </p:nvSpPr>
        <p:spPr>
          <a:xfrm>
            <a:off x="1206906" y="1670304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574" y="0"/>
                </a:moveTo>
                <a:lnTo>
                  <a:pt x="176164" y="5027"/>
                </a:lnTo>
                <a:lnTo>
                  <a:pt x="128053" y="19349"/>
                </a:lnTo>
                <a:lnTo>
                  <a:pt x="85612" y="41827"/>
                </a:lnTo>
                <a:lnTo>
                  <a:pt x="50215" y="71321"/>
                </a:lnTo>
                <a:lnTo>
                  <a:pt x="23232" y="106691"/>
                </a:lnTo>
                <a:lnTo>
                  <a:pt x="6036" y="146797"/>
                </a:lnTo>
                <a:lnTo>
                  <a:pt x="0" y="190500"/>
                </a:lnTo>
                <a:lnTo>
                  <a:pt x="6036" y="234162"/>
                </a:lnTo>
                <a:lnTo>
                  <a:pt x="23232" y="274253"/>
                </a:lnTo>
                <a:lnTo>
                  <a:pt x="50215" y="309625"/>
                </a:lnTo>
                <a:lnTo>
                  <a:pt x="85612" y="339132"/>
                </a:lnTo>
                <a:lnTo>
                  <a:pt x="128053" y="361627"/>
                </a:lnTo>
                <a:lnTo>
                  <a:pt x="176164" y="375965"/>
                </a:lnTo>
                <a:lnTo>
                  <a:pt x="228574" y="381000"/>
                </a:lnTo>
                <a:lnTo>
                  <a:pt x="280985" y="375965"/>
                </a:lnTo>
                <a:lnTo>
                  <a:pt x="329100" y="361627"/>
                </a:lnTo>
                <a:lnTo>
                  <a:pt x="371546" y="339132"/>
                </a:lnTo>
                <a:lnTo>
                  <a:pt x="406949" y="309625"/>
                </a:lnTo>
                <a:lnTo>
                  <a:pt x="433936" y="274253"/>
                </a:lnTo>
                <a:lnTo>
                  <a:pt x="451136" y="234162"/>
                </a:lnTo>
                <a:lnTo>
                  <a:pt x="457174" y="190500"/>
                </a:lnTo>
                <a:lnTo>
                  <a:pt x="451136" y="146797"/>
                </a:lnTo>
                <a:lnTo>
                  <a:pt x="433936" y="106691"/>
                </a:lnTo>
                <a:lnTo>
                  <a:pt x="406949" y="71321"/>
                </a:lnTo>
                <a:lnTo>
                  <a:pt x="371546" y="41827"/>
                </a:lnTo>
                <a:lnTo>
                  <a:pt x="329100" y="19349"/>
                </a:lnTo>
                <a:lnTo>
                  <a:pt x="280985" y="5027"/>
                </a:lnTo>
                <a:lnTo>
                  <a:pt x="2285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6906" y="1670304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6" y="146797"/>
                </a:lnTo>
                <a:lnTo>
                  <a:pt x="23232" y="106691"/>
                </a:lnTo>
                <a:lnTo>
                  <a:pt x="50215" y="71321"/>
                </a:lnTo>
                <a:lnTo>
                  <a:pt x="85612" y="41827"/>
                </a:lnTo>
                <a:lnTo>
                  <a:pt x="128053" y="19349"/>
                </a:lnTo>
                <a:lnTo>
                  <a:pt x="176164" y="5027"/>
                </a:lnTo>
                <a:lnTo>
                  <a:pt x="228574" y="0"/>
                </a:lnTo>
                <a:lnTo>
                  <a:pt x="280985" y="5027"/>
                </a:lnTo>
                <a:lnTo>
                  <a:pt x="329100" y="19349"/>
                </a:lnTo>
                <a:lnTo>
                  <a:pt x="371546" y="41827"/>
                </a:lnTo>
                <a:lnTo>
                  <a:pt x="406949" y="71321"/>
                </a:lnTo>
                <a:lnTo>
                  <a:pt x="433936" y="106691"/>
                </a:lnTo>
                <a:lnTo>
                  <a:pt x="451136" y="146797"/>
                </a:lnTo>
                <a:lnTo>
                  <a:pt x="457174" y="190500"/>
                </a:lnTo>
                <a:lnTo>
                  <a:pt x="451136" y="234162"/>
                </a:lnTo>
                <a:lnTo>
                  <a:pt x="433936" y="274253"/>
                </a:lnTo>
                <a:lnTo>
                  <a:pt x="406949" y="309625"/>
                </a:lnTo>
                <a:lnTo>
                  <a:pt x="371546" y="339132"/>
                </a:lnTo>
                <a:lnTo>
                  <a:pt x="329100" y="361627"/>
                </a:lnTo>
                <a:lnTo>
                  <a:pt x="280985" y="375965"/>
                </a:lnTo>
                <a:lnTo>
                  <a:pt x="228574" y="381000"/>
                </a:lnTo>
                <a:lnTo>
                  <a:pt x="176164" y="375965"/>
                </a:lnTo>
                <a:lnTo>
                  <a:pt x="128053" y="361627"/>
                </a:lnTo>
                <a:lnTo>
                  <a:pt x="85612" y="339132"/>
                </a:lnTo>
                <a:lnTo>
                  <a:pt x="50215" y="309625"/>
                </a:lnTo>
                <a:lnTo>
                  <a:pt x="23232" y="274253"/>
                </a:lnTo>
                <a:lnTo>
                  <a:pt x="6036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46072" y="1645665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000" y="2743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82064" y="2718942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3000" y="3962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43000" y="39624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82064" y="3938396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3000" y="5029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228600" y="0"/>
                </a:moveTo>
                <a:lnTo>
                  <a:pt x="176184" y="5034"/>
                </a:lnTo>
                <a:lnTo>
                  <a:pt x="128068" y="19372"/>
                </a:lnTo>
                <a:lnTo>
                  <a:pt x="85623" y="41867"/>
                </a:lnTo>
                <a:lnTo>
                  <a:pt x="50221" y="71374"/>
                </a:lnTo>
                <a:lnTo>
                  <a:pt x="23235" y="106746"/>
                </a:lnTo>
                <a:lnTo>
                  <a:pt x="6037" y="146837"/>
                </a:lnTo>
                <a:lnTo>
                  <a:pt x="0" y="190500"/>
                </a:lnTo>
                <a:lnTo>
                  <a:pt x="6037" y="234162"/>
                </a:lnTo>
                <a:lnTo>
                  <a:pt x="23235" y="274253"/>
                </a:lnTo>
                <a:lnTo>
                  <a:pt x="50221" y="309625"/>
                </a:lnTo>
                <a:lnTo>
                  <a:pt x="85623" y="339132"/>
                </a:lnTo>
                <a:lnTo>
                  <a:pt x="128068" y="361627"/>
                </a:lnTo>
                <a:lnTo>
                  <a:pt x="176184" y="375965"/>
                </a:lnTo>
                <a:lnTo>
                  <a:pt x="228600" y="381000"/>
                </a:lnTo>
                <a:lnTo>
                  <a:pt x="281011" y="375965"/>
                </a:lnTo>
                <a:lnTo>
                  <a:pt x="329126" y="361627"/>
                </a:lnTo>
                <a:lnTo>
                  <a:pt x="371571" y="339132"/>
                </a:lnTo>
                <a:lnTo>
                  <a:pt x="406974" y="309625"/>
                </a:lnTo>
                <a:lnTo>
                  <a:pt x="433962" y="274253"/>
                </a:lnTo>
                <a:lnTo>
                  <a:pt x="451161" y="234162"/>
                </a:lnTo>
                <a:lnTo>
                  <a:pt x="457200" y="190500"/>
                </a:lnTo>
                <a:lnTo>
                  <a:pt x="451161" y="146837"/>
                </a:lnTo>
                <a:lnTo>
                  <a:pt x="433962" y="106746"/>
                </a:lnTo>
                <a:lnTo>
                  <a:pt x="406974" y="71374"/>
                </a:lnTo>
                <a:lnTo>
                  <a:pt x="371571" y="41867"/>
                </a:lnTo>
                <a:lnTo>
                  <a:pt x="329126" y="19372"/>
                </a:lnTo>
                <a:lnTo>
                  <a:pt x="281011" y="5034"/>
                </a:lnTo>
                <a:lnTo>
                  <a:pt x="228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43000" y="50292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190500"/>
                </a:moveTo>
                <a:lnTo>
                  <a:pt x="6037" y="146837"/>
                </a:lnTo>
                <a:lnTo>
                  <a:pt x="23235" y="106746"/>
                </a:lnTo>
                <a:lnTo>
                  <a:pt x="50221" y="71374"/>
                </a:lnTo>
                <a:lnTo>
                  <a:pt x="85623" y="41867"/>
                </a:lnTo>
                <a:lnTo>
                  <a:pt x="128068" y="19372"/>
                </a:lnTo>
                <a:lnTo>
                  <a:pt x="176184" y="5034"/>
                </a:lnTo>
                <a:lnTo>
                  <a:pt x="228600" y="0"/>
                </a:lnTo>
                <a:lnTo>
                  <a:pt x="281011" y="5034"/>
                </a:lnTo>
                <a:lnTo>
                  <a:pt x="329126" y="19372"/>
                </a:lnTo>
                <a:lnTo>
                  <a:pt x="371571" y="41867"/>
                </a:lnTo>
                <a:lnTo>
                  <a:pt x="406974" y="71374"/>
                </a:lnTo>
                <a:lnTo>
                  <a:pt x="433962" y="106746"/>
                </a:lnTo>
                <a:lnTo>
                  <a:pt x="451161" y="146837"/>
                </a:lnTo>
                <a:lnTo>
                  <a:pt x="457200" y="190500"/>
                </a:lnTo>
                <a:lnTo>
                  <a:pt x="451161" y="234162"/>
                </a:lnTo>
                <a:lnTo>
                  <a:pt x="433962" y="274253"/>
                </a:lnTo>
                <a:lnTo>
                  <a:pt x="406974" y="309625"/>
                </a:lnTo>
                <a:lnTo>
                  <a:pt x="371571" y="339132"/>
                </a:lnTo>
                <a:lnTo>
                  <a:pt x="329126" y="361627"/>
                </a:lnTo>
                <a:lnTo>
                  <a:pt x="281011" y="375965"/>
                </a:lnTo>
                <a:lnTo>
                  <a:pt x="228600" y="381000"/>
                </a:lnTo>
                <a:lnTo>
                  <a:pt x="176184" y="375965"/>
                </a:lnTo>
                <a:lnTo>
                  <a:pt x="128068" y="361627"/>
                </a:lnTo>
                <a:lnTo>
                  <a:pt x="85623" y="339132"/>
                </a:lnTo>
                <a:lnTo>
                  <a:pt x="50221" y="309625"/>
                </a:lnTo>
                <a:lnTo>
                  <a:pt x="23235" y="274253"/>
                </a:lnTo>
                <a:lnTo>
                  <a:pt x="6037" y="234162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82064" y="5005578"/>
            <a:ext cx="180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xmlns:a="http://schemas.openxmlformats.org/drawingml/2006/main"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7794" y="1570990"/>
            <a:ext cx="53822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 marR="508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z="2800" b="1" spc="-10" dirty="0">
                <a:latin typeface="Calibri"/>
                <a:cs typeface="Calibri"/>
              </a:rPr>
              <a:t>صفحة الويب التي تحتوي على البرامج النصية من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التي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طلبها</a:t>
            </a:r>
            <a:r xmlns:a="http://schemas.openxmlformats.org/drawingml/2006/main">
              <a:rPr sz="2800" b="1" spc="6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المستعمل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07794" y="2714370"/>
            <a:ext cx="56642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 marR="508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البرامج النصية من جانب الخادم التي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تنفذ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وتصل إلى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النتيجة من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ملف</a:t>
            </a:r>
            <a:r xmlns:a="http://schemas.openxmlformats.org/drawingml/2006/main">
              <a:rPr sz="2800" b="1" spc="8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قاعدة البيانات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7794" y="3907663"/>
            <a:ext cx="5674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z="2800" b="1" spc="-20" dirty="0">
                <a:latin typeface="Calibri"/>
                <a:cs typeface="Calibri"/>
              </a:rPr>
              <a:t>يقوم بإنشاء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صفحات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ويب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بسيطة</a:t>
            </a:r>
            <a:r xmlns:a="http://schemas.openxmlformats.org/drawingml/2006/main">
              <a:rPr sz="2800" b="1" spc="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ديناميكيًا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7794" y="4974412"/>
            <a:ext cx="57708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 marR="508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ثم يتم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إرسال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صفحة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الويب هذه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متصفح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العميل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ويتم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عرض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المتصفح</a:t>
            </a:r>
            <a:r xmlns:a="http://schemas.openxmlformats.org/drawingml/2006/main">
              <a:rPr sz="2800" b="1" spc="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هو - هي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1842" y="54610"/>
            <a:ext cx="749680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678305" marR="5080" indent="-1666239">
              <a:lnSpc>
                <a:spcPct val="100000"/>
              </a:lnSpc>
              <a:spcBef>
                <a:spcPts val="95"/>
              </a:spcBef>
              <a:tabLst>
                <a:tab pos="3717290" algn="l"/>
              </a:tabLst>
              <a:bidi/>
            </a:pPr>
            <a:r xmlns:a="http://schemas.openxmlformats.org/drawingml/2006/main">
              <a:rPr spc="-10" dirty="0">
                <a:solidFill>
                  <a:srgbClr val="FF0000"/>
                </a:solidFill>
              </a:rPr>
              <a:t>مقارنة </a:t>
            </a:r>
            <a:r xmlns:a="http://schemas.openxmlformats.org/drawingml/2006/main">
              <a:rPr spc="-10" dirty="0">
                <a:solidFill>
                  <a:srgbClr val="FF0000"/>
                </a:solidFill>
              </a:rPr>
              <a:t>تصنيفات </a:t>
            </a:r>
            <a:r xmlns:a="http://schemas.openxmlformats.org/drawingml/2006/main">
              <a:rPr spc="-5" dirty="0">
                <a:solidFill>
                  <a:srgbClr val="FF0000"/>
                </a:solidFill>
              </a:rPr>
              <a:t>لغات </a:t>
            </a:r>
            <a:r xmlns:a="http://schemas.openxmlformats.org/drawingml/2006/main">
              <a:rPr spc="-5" dirty="0">
                <a:solidFill>
                  <a:srgbClr val="FF0000"/>
                </a:solidFill>
              </a:rPr>
              <a:t>البرمجة </a:t>
            </a:r>
            <a:r xmlns:a="http://schemas.openxmlformats.org/drawingml/2006/main">
              <a:rPr spc="-10" dirty="0">
                <a:solidFill>
                  <a:srgbClr val="FF0000"/>
                </a:solidFill>
              </a:rPr>
              <a:t>النصية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73774"/>
            <a:ext cx="3670300" cy="556831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xmlns:a="http://schemas.openxmlformats.org/drawingml/2006/main" marL="294640">
              <a:lnSpc>
                <a:spcPct val="100000"/>
              </a:lnSpc>
              <a:spcBef>
                <a:spcPts val="1785"/>
              </a:spcBef>
              <a:bidi/>
            </a:pPr>
            <a:r xmlns:a="http://schemas.openxmlformats.org/drawingml/2006/main">
              <a:rPr sz="3200" b="1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العميل</a:t>
            </a:r>
            <a:r xmlns:a="http://schemas.openxmlformats.org/drawingml/2006/main">
              <a:rPr sz="3200" b="1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البرمجة النصية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83185" indent="-343535">
              <a:lnSpc>
                <a:spcPct val="100000"/>
              </a:lnSpc>
              <a:spcBef>
                <a:spcPts val="115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200" spc="-5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نسخ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البرنامج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النصي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متصفح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العميل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ويتم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تنفيذه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متصفح </a:t>
            </a:r>
            <a:endParaRPr xmlns:a="http://schemas.openxmlformats.org/drawingml/2006/main" sz="2200">
              <a:latin typeface="Calibri"/>
              <a:cs typeface="Calibri"/>
            </a:endParaRPr>
            <a:r xmlns:a="http://schemas.openxmlformats.org/drawingml/2006/main">
              <a:rPr sz="2200" spc="-10" dirty="0">
                <a:latin typeface="Calibri"/>
                <a:cs typeface="Calibri"/>
              </a:rPr>
              <a:t>العميل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xmlns:a="http://schemas.openxmlformats.org/drawingml/2006/main" marL="355600" marR="5715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2200" spc="-10" dirty="0">
                <a:latin typeface="Calibri"/>
                <a:cs typeface="Calibri"/>
              </a:rPr>
              <a:t>تُستخدم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البرامج النصية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من جانب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العميل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بشكل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أساسي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للتحقق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صحة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البيانات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في</a:t>
            </a:r>
            <a:r xmlns:a="http://schemas.openxmlformats.org/drawingml/2006/main">
              <a:rPr sz="22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عميل</a:t>
            </a:r>
            <a:endParaRPr xmlns:a="http://schemas.openxmlformats.org/drawingml/2006/main"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xmlns:a="http://schemas.openxmlformats.org/drawingml/2006/main" marL="355600" marR="347345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200" spc="-15" dirty="0">
                <a:latin typeface="Calibri"/>
                <a:cs typeface="Calibri"/>
              </a:rPr>
              <a:t>يمكن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للمستخدمين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حظر البرمجة النصية من جانب العميل</a:t>
            </a:r>
            <a:endParaRPr xmlns:a="http://schemas.openxmlformats.org/drawingml/2006/main" sz="22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2200" spc="-20" dirty="0">
                <a:latin typeface="Calibri"/>
                <a:cs typeface="Calibri"/>
              </a:rPr>
              <a:t>يؤثر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نوع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وإصدار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مستعرض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عمل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العميل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النصي</a:t>
            </a:r>
            <a:endParaRPr xmlns:a="http://schemas.openxmlformats.org/drawingml/2006/main"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527" y="1122692"/>
            <a:ext cx="3839845" cy="5250815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xmlns:a="http://schemas.openxmlformats.org/drawingml/2006/main" marL="241935">
              <a:lnSpc>
                <a:spcPct val="100000"/>
              </a:lnSpc>
              <a:spcBef>
                <a:spcPts val="1400"/>
              </a:spcBef>
              <a:bidi/>
            </a:pPr>
            <a:r xmlns:a="http://schemas.openxmlformats.org/drawingml/2006/main">
              <a:rPr sz="3200" b="1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الخادم</a:t>
            </a:r>
            <a:r xmlns:a="http://schemas.openxmlformats.org/drawingml/2006/main">
              <a:rPr sz="3200" b="1" spc="-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البرمجة النصية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133350" indent="-342900">
              <a:lnSpc>
                <a:spcPct val="90000"/>
              </a:lnSpc>
              <a:spcBef>
                <a:spcPts val="114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2200" spc="-5" dirty="0">
                <a:latin typeface="Calibri"/>
                <a:cs typeface="Calibri"/>
              </a:rPr>
              <a:t>يبقى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البرنامج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النصي في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خادم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ويتم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تنفيذه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خادم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ويتم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إرجاع صفحة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المنتجة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متصفح </a:t>
            </a:r>
            <a:endParaRPr xmlns:a="http://schemas.openxmlformats.org/drawingml/2006/main" sz="2200">
              <a:latin typeface="Calibri"/>
              <a:cs typeface="Calibri"/>
            </a:endParaRPr>
            <a:r xmlns:a="http://schemas.openxmlformats.org/drawingml/2006/main">
              <a:rPr sz="2200" spc="-5" dirty="0">
                <a:latin typeface="Calibri"/>
                <a:cs typeface="Calibri"/>
              </a:rPr>
              <a:t>العميل</a:t>
            </a:r>
          </a:p>
          <a:p>
            <a:pPr xmlns:a="http://schemas.openxmlformats.org/drawingml/2006/main" marL="355600" marR="107314" indent="-342900">
              <a:lnSpc>
                <a:spcPct val="9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2200" spc="-10" dirty="0">
                <a:latin typeface="Calibri"/>
                <a:cs typeface="Calibri"/>
              </a:rPr>
              <a:t>تُستخدم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البرامج </a:t>
            </a:r>
            <a:endParaRPr xmlns:a="http://schemas.openxmlformats.org/drawingml/2006/main" sz="2200">
              <a:latin typeface="Calibri"/>
              <a:cs typeface="Calibri"/>
            </a:endParaRPr>
            <a:r xmlns:a="http://schemas.openxmlformats.org/drawingml/2006/main">
              <a:rPr sz="2200" spc="-10" dirty="0">
                <a:latin typeface="Calibri"/>
                <a:cs typeface="Calibri"/>
              </a:rPr>
              <a:t>النصية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عادةً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للاتصال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بقاعدة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البيانات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وإرجاع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البيانات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خادم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الويب</a:t>
            </a:r>
          </a:p>
          <a:p>
            <a:pPr xmlns:a="http://schemas.openxmlformats.org/drawingml/2006/main" marL="355600" marR="5080" indent="-3429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2200" spc="-10" dirty="0">
                <a:latin typeface="Calibri"/>
                <a:cs typeface="Calibri"/>
              </a:rPr>
              <a:t>لا يمكن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حظر البرمجة النصية من جانب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بواسطة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ملف</a:t>
            </a:r>
            <a:r xmlns:a="http://schemas.openxmlformats.org/drawingml/2006/main">
              <a:rPr sz="22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المستعمل</a:t>
            </a:r>
            <a:endParaRPr xmlns:a="http://schemas.openxmlformats.org/drawingml/2006/main" sz="2200">
              <a:latin typeface="Calibri"/>
              <a:cs typeface="Calibri"/>
            </a:endParaRPr>
          </a:p>
          <a:p>
            <a:pPr xmlns:a="http://schemas.openxmlformats.org/drawingml/2006/main" marL="355600" marR="285115" indent="-342900">
              <a:lnSpc>
                <a:spcPts val="2380"/>
              </a:lnSpc>
              <a:spcBef>
                <a:spcPts val="52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2200" spc="-5" dirty="0">
                <a:latin typeface="Calibri"/>
                <a:cs typeface="Calibri"/>
              </a:rPr>
              <a:t>لا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تؤثر </a:t>
            </a:r>
            <a:r xmlns:a="http://schemas.openxmlformats.org/drawingml/2006/main">
              <a:rPr sz="2200" spc="-20" dirty="0">
                <a:latin typeface="Calibri"/>
                <a:cs typeface="Calibri"/>
              </a:rPr>
              <a:t>ميزات 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متصفح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عمل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جانب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الخادم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2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200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200" spc="-5" dirty="0">
                <a:latin typeface="Calibri"/>
                <a:cs typeface="Calibri"/>
              </a:rPr>
              <a:t>النصي</a:t>
            </a:r>
            <a:endParaRPr xmlns:a="http://schemas.openxmlformats.org/drawingml/2006/main"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7636" y="428066"/>
            <a:ext cx="69189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4800" spc="-10" dirty="0">
                <a:solidFill>
                  <a:srgbClr val="006FC0"/>
                </a:solidFill>
              </a:rPr>
              <a:t>ورقة </a:t>
            </a:r>
            <a:r xmlns:a="http://schemas.openxmlformats.org/drawingml/2006/main">
              <a:rPr sz="4800" spc="-5" dirty="0">
                <a:solidFill>
                  <a:srgbClr val="006FC0"/>
                </a:solidFill>
              </a:rPr>
              <a:t>الأنماط المتتالية</a:t>
            </a:r>
            <a:r xmlns:a="http://schemas.openxmlformats.org/drawingml/2006/main">
              <a:rPr sz="4800" spc="-30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800" dirty="0">
                <a:solidFill>
                  <a:srgbClr val="006FC0"/>
                </a:solidFill>
              </a:rPr>
              <a:t>(CSS)</a:t>
            </a:r>
            <a:endParaRPr xmlns:a="http://schemas.openxmlformats.org/drawingml/2006/main"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531442"/>
            <a:ext cx="8199120" cy="46275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78105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لغة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ورقة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أنماط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تستخدم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لوصف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تنسيق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المكتوب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به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8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لغة البرمجة.</a:t>
            </a:r>
            <a:endParaRPr xmlns:a="http://schemas.openxmlformats.org/drawingml/2006/main" sz="3200" dirty="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باستخدام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CSS ،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يمكننا ذلك</a:t>
            </a:r>
            <a:r xmlns:a="http://schemas.openxmlformats.org/drawingml/2006/main">
              <a:rPr sz="3200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يتحكم</a:t>
            </a:r>
            <a:endParaRPr xmlns:a="http://schemas.openxmlformats.org/drawingml/2006/main" sz="3200" dirty="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10" dirty="0">
                <a:latin typeface="Calibri"/>
                <a:cs typeface="Calibri"/>
              </a:rPr>
              <a:t>لون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نص،</a:t>
            </a:r>
            <a:endParaRPr xmlns:a="http://schemas.openxmlformats.org/drawingml/2006/main" sz="2800" dirty="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15" dirty="0">
                <a:latin typeface="Calibri"/>
                <a:cs typeface="Calibri"/>
              </a:rPr>
              <a:t>اسلوب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الخطوط</a:t>
            </a:r>
            <a:endParaRPr xmlns:a="http://schemas.openxmlformats.org/drawingml/2006/main" sz="2800" dirty="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5" dirty="0">
                <a:latin typeface="Calibri"/>
                <a:cs typeface="Calibri"/>
              </a:rPr>
              <a:t>التباعد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بين</a:t>
            </a:r>
            <a:r xmlns:a="http://schemas.openxmlformats.org/drawingml/2006/main">
              <a:rPr sz="2800" spc="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فقرات</a:t>
            </a:r>
            <a:endParaRPr xmlns:a="http://schemas.openxmlformats.org/drawingml/2006/main" sz="2800" dirty="0">
              <a:latin typeface="Calibri"/>
              <a:cs typeface="Calibri"/>
            </a:endParaRPr>
          </a:p>
          <a:p>
            <a:pPr xmlns:a="http://schemas.openxmlformats.org/drawingml/2006/main" marL="756285" marR="508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2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2800" spc="-20" dirty="0" smtClean="0">
                <a:latin typeface="Calibri"/>
                <a:cs typeface="Calibri"/>
              </a:rPr>
              <a:t>حجم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الأعمدة </a:t>
            </a:r>
            <a:r xmlns:a="http://schemas.openxmlformats.org/drawingml/2006/main">
              <a:rPr sz="2800" spc="-10" dirty="0" smtClean="0">
                <a:latin typeface="Calibri"/>
                <a:cs typeface="Calibri"/>
              </a:rPr>
              <a:t>،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والحدود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وألوانها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،</a:t>
            </a:r>
            <a:endParaRPr xmlns:a="http://schemas.openxmlformats.org/drawingml/2006/main" sz="2800" dirty="0">
              <a:latin typeface="Calibri"/>
              <a:cs typeface="Calibri"/>
            </a:endParaRPr>
          </a:p>
          <a:p>
            <a:pPr xmlns:a="http://schemas.openxmlformats.org/drawingml/2006/main" marL="756285" marR="45085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10" dirty="0">
                <a:latin typeface="Calibri"/>
                <a:cs typeface="Calibri"/>
              </a:rPr>
              <a:t>ما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صور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الخلفية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الألوان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المستخدمة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بالإضافة </a:t>
            </a:r>
            <a:r xmlns:a="http://schemas.openxmlformats.org/drawingml/2006/main">
              <a:rPr sz="2800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مجموعة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متنوعة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800" spc="-25" dirty="0">
                <a:latin typeface="Calibri"/>
                <a:cs typeface="Calibri"/>
              </a:rPr>
              <a:t>التأثيرات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الأخرى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الويب</a:t>
            </a:r>
            <a:r xmlns:a="http://schemas.openxmlformats.org/drawingml/2006/main">
              <a:rPr sz="2800" spc="9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صفحة.</a:t>
            </a:r>
            <a:endParaRPr xmlns:a="http://schemas.openxmlformats.org/drawingml/2006/main"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5250" y="2746252"/>
            <a:ext cx="2689854" cy="1688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64" y="228600"/>
            <a:ext cx="1524000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961" y="428066"/>
            <a:ext cx="4415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4800" spc="-30" dirty="0">
                <a:solidFill>
                  <a:srgbClr val="006FC0"/>
                </a:solidFill>
              </a:rPr>
              <a:t>ميزة </a:t>
            </a:r>
            <a:r xmlns:a="http://schemas.openxmlformats.org/drawingml/2006/main">
              <a:rPr sz="4800" dirty="0">
                <a:solidFill>
                  <a:srgbClr val="006FC0"/>
                </a:solidFill>
              </a:rPr>
              <a:t>_</a:t>
            </a:r>
            <a:r xmlns:a="http://schemas.openxmlformats.org/drawingml/2006/main">
              <a:rPr sz="4800" spc="-25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800" spc="-5" dirty="0">
                <a:solidFill>
                  <a:srgbClr val="006FC0"/>
                </a:solidFill>
              </a:rPr>
              <a:t>CSS</a:t>
            </a:r>
            <a:endParaRPr xmlns:a="http://schemas.openxmlformats.org/drawingml/2006/main" sz="4800"/>
          </a:p>
        </p:txBody>
      </p:sp>
      <p:sp>
        <p:nvSpPr>
          <p:cNvPr id="3" name="object 3"/>
          <p:cNvSpPr txBox="1"/>
          <p:nvPr/>
        </p:nvSpPr>
        <p:spPr>
          <a:xfrm>
            <a:off x="535940" y="1434503"/>
            <a:ext cx="8170545" cy="431863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5" dirty="0">
                <a:latin typeface="Calibri"/>
                <a:cs typeface="Calibri"/>
              </a:rPr>
              <a:t>يمكننا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إعادة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استخدام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نفس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الرمز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لجميع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ملفات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الصفحات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أنماط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CSS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مكتوبة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مكان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مشترك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فإنها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تفصل بين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CSS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HTML ، مما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يجعل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الأمر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سهلاً</a:t>
            </a:r>
            <a:r xmlns:a="http://schemas.openxmlformats.org/drawingml/2006/main">
              <a:rPr sz="3200" b="1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الصيانة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السهل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أن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نفهم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43624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هذا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أيضًا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تقليل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حجم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صفحة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وبالتالي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توفير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تنزيلات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أسرع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لصفحات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2272" y="496950"/>
            <a:ext cx="7453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5" dirty="0">
                <a:solidFill>
                  <a:srgbClr val="FF0000"/>
                </a:solidFill>
              </a:rPr>
              <a:t>المفاهيم الأساسية لـ HTML</a:t>
            </a:r>
            <a:r xmlns:a="http://schemas.openxmlformats.org/drawingml/2006/main">
              <a:rPr spc="25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pc="-10" dirty="0">
                <a:solidFill>
                  <a:srgbClr val="FF0000"/>
                </a:solidFill>
              </a:rPr>
              <a:t>مستندات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17509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294005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اللغة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الأكثر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استخدامًا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لكتابة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صفحات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ليست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برمجة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لغة.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انها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ليست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حساسة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لحالة الأحرف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لغة.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  <a:tab pos="4773930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كل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ملف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هو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نص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عادي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مجموعة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الأوامر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إلى عن على</a:t>
            </a:r>
            <a:r xmlns:a="http://schemas.openxmlformats.org/drawingml/2006/main">
              <a:rPr sz="3200" spc="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إنشاء مستندات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نص تشعبي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تُعرف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هذه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الأوامر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بعلامات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039" y="0"/>
            <a:ext cx="1496949" cy="1496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822" y="496950"/>
            <a:ext cx="7818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5" dirty="0">
                <a:solidFill>
                  <a:srgbClr val="FF0000"/>
                </a:solidFill>
              </a:rPr>
              <a:t>HTML (Hyper </a:t>
            </a:r>
            <a:r xmlns:a="http://schemas.openxmlformats.org/drawingml/2006/main">
              <a:rPr spc="-110" dirty="0">
                <a:solidFill>
                  <a:srgbClr val="FF0000"/>
                </a:solidFill>
              </a:rPr>
              <a:t>Text </a:t>
            </a:r>
            <a:r xmlns:a="http://schemas.openxmlformats.org/drawingml/2006/main">
              <a:rPr spc="-15" dirty="0">
                <a:solidFill>
                  <a:srgbClr val="FF0000"/>
                </a:solidFill>
              </a:rPr>
              <a:t>Markup</a:t>
            </a:r>
            <a:r xmlns:a="http://schemas.openxmlformats.org/drawingml/2006/main">
              <a:rPr spc="120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pc="-10" dirty="0">
                <a:solidFill>
                  <a:srgbClr val="FF0000"/>
                </a:solidFill>
              </a:rPr>
              <a:t>لغة)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4834890" cy="4612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تم تطويره في الأصل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بواسطة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Tim Berners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- Lee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عام 1980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CERN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وهو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فيزياء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الجسيمات الأوروبية</a:t>
            </a:r>
            <a:r xmlns:a="http://schemas.openxmlformats.org/drawingml/2006/main">
              <a:rPr sz="3200" spc="-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35" dirty="0">
                <a:latin typeface="Calibri"/>
                <a:cs typeface="Calibri"/>
              </a:rPr>
              <a:t>معمل.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xmlns:a="http://schemas.openxmlformats.org/drawingml/2006/main" marL="355600" marR="217804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407479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لا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ث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L</a:t>
            </a:r>
            <a:r xmlns:a="http://schemas.openxmlformats.org/drawingml/2006/main">
              <a:rPr sz="32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45" dirty="0">
                <a:latin typeface="Calibri"/>
                <a:cs typeface="Calibri"/>
              </a:rPr>
              <a:t>st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anda </a:t>
            </a:r>
            <a:r xmlns:a="http://schemas.openxmlformats.org/drawingml/2006/main">
              <a:rPr sz="3200" spc="-60" dirty="0">
                <a:latin typeface="Calibri"/>
                <a:cs typeface="Calibri"/>
              </a:rPr>
              <a:t>r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d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sa </a:t>
            </a:r>
            <a:r xmlns:a="http://schemas.openxmlformats.org/drawingml/2006/main">
              <a:rPr sz="3200" spc="-45" dirty="0">
                <a:latin typeface="Calibri"/>
                <a:cs typeface="Calibri"/>
              </a:rPr>
              <a:t>r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e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تسيطر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عليها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W3C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وهي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منظمة تأسست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1994.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54396" y="1976629"/>
            <a:ext cx="2848355" cy="3887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642"/>
            <a:ext cx="7446009" cy="471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يجب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حفظ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ملفات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بامتداد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htm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b="1" spc="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أو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>
              <a:lnSpc>
                <a:spcPct val="100000"/>
              </a:lnSpc>
              <a:bidi/>
            </a:pPr>
            <a:r xmlns:a="http://schemas.openxmlformats.org/drawingml/2006/main">
              <a:rPr sz="3200" b="1" spc="-10" dirty="0">
                <a:latin typeface="Calibri"/>
                <a:cs typeface="Calibri"/>
              </a:rPr>
              <a:t>.لغة البرمجة</a:t>
            </a:r>
            <a:r xmlns:a="http://schemas.openxmlformats.org/drawingml/2006/main">
              <a:rPr sz="3200" b="1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ملحقات.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15938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عرض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صفحات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بمساعدة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برنامج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يسمى </a:t>
            </a:r>
            <a:r xmlns:a="http://schemas.openxmlformats.org/drawingml/2006/main">
              <a:rPr sz="3200" b="1" spc="-4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المتصفحات.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15" dirty="0">
                <a:latin typeface="Calibri"/>
                <a:cs typeface="Calibri"/>
              </a:rPr>
              <a:t>متصفحات </a:t>
            </a:r>
            <a:r xmlns:a="http://schemas.openxmlformats.org/drawingml/2006/main">
              <a:rPr sz="3200" b="1" spc="-4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الشعبية</a:t>
            </a:r>
            <a:r xmlns:a="http://schemas.openxmlformats.org/drawingml/2006/main">
              <a:rPr sz="3200" b="1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نكون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15" dirty="0">
                <a:latin typeface="Calibri"/>
                <a:cs typeface="Calibri"/>
              </a:rPr>
              <a:t>مايكروسوفت إنترنت</a:t>
            </a:r>
            <a:r xmlns:a="http://schemas.openxmlformats.org/drawingml/2006/main">
              <a:rPr sz="2800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إكسبلورر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15" dirty="0">
                <a:latin typeface="Calibri"/>
                <a:cs typeface="Calibri"/>
              </a:rPr>
              <a:t>موزيلا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35" dirty="0">
                <a:latin typeface="Calibri"/>
                <a:cs typeface="Calibri"/>
              </a:rPr>
              <a:t>ثعلب النار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5" dirty="0">
                <a:latin typeface="Calibri"/>
                <a:cs typeface="Calibri"/>
              </a:rPr>
              <a:t>جوجل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كروم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spc="-20" dirty="0">
                <a:latin typeface="Calibri"/>
                <a:cs typeface="Calibri"/>
              </a:rPr>
              <a:t>أوبرا</a:t>
            </a:r>
            <a:r xmlns:a="http://schemas.openxmlformats.org/drawingml/2006/main">
              <a:rPr sz="28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5" dirty="0">
                <a:latin typeface="Calibri"/>
                <a:cs typeface="Calibri"/>
              </a:rPr>
              <a:t>إلخ.،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47813" y="77597"/>
            <a:ext cx="1496186" cy="15761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819400"/>
            <a:ext cx="5410200" cy="1046440"/>
          </a:xfrm>
        </p:spPr>
        <p:txBody>
          <a:bodyPr/>
          <a:lstStyle/>
          <a:p>
            <a:pPr xmlns:a="http://schemas.openxmlformats.org/drawingml/2006/main" algn="ctr">
              <a:bidi/>
            </a:pPr>
            <a:r xmlns:a="http://schemas.openxmlformats.org/drawingml/2006/main">
              <a:rPr lang="ar" sz="4000" dirty="0" smtClean="0">
                <a:solidFill>
                  <a:srgbClr val="FFC000"/>
                </a:solidFill>
                <a:latin typeface="Times" pitchFamily="18" charset="0"/>
              </a:rPr>
              <a:t>نهاية </a:t>
            </a:r>
            <a:r xmlns:a="http://schemas.openxmlformats.org/drawingml/2006/main">
              <a:rPr lang="ar" sz="4000" dirty="0">
                <a:solidFill>
                  <a:srgbClr val="FFC000"/>
                </a:solidFill>
                <a:latin typeface="Times" pitchFamily="18" charset="0"/>
              </a:rPr>
              <a:t>الدورة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134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870" y="428066"/>
            <a:ext cx="13188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4800" spc="-375" dirty="0">
                <a:solidFill>
                  <a:srgbClr val="FF0000"/>
                </a:solidFill>
              </a:rPr>
              <a:t>T </a:t>
            </a:r>
            <a:r xmlns:a="http://schemas.openxmlformats.org/drawingml/2006/main">
              <a:rPr sz="4800" spc="-65" dirty="0">
                <a:solidFill>
                  <a:srgbClr val="FF0000"/>
                </a:solidFill>
              </a:rPr>
              <a:t>A </a:t>
            </a:r>
            <a:r xmlns:a="http://schemas.openxmlformats.org/drawingml/2006/main">
              <a:rPr sz="4800" spc="-5" dirty="0">
                <a:solidFill>
                  <a:srgbClr val="FF0000"/>
                </a:solidFill>
              </a:rPr>
              <a:t>GS</a:t>
            </a:r>
            <a:endParaRPr xmlns:a="http://schemas.openxmlformats.org/drawingml/2006/main" sz="4800"/>
          </a:p>
        </p:txBody>
      </p:sp>
      <p:sp>
        <p:nvSpPr>
          <p:cNvPr id="3" name="object 3"/>
          <p:cNvSpPr txBox="1"/>
          <p:nvPr/>
        </p:nvSpPr>
        <p:spPr>
          <a:xfrm>
            <a:off x="1526794" y="1753946"/>
            <a:ext cx="6605270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 marR="508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z="4000" spc="-2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تصنيف </a:t>
            </a:r>
            <a:r xmlns:a="http://schemas.openxmlformats.org/drawingml/2006/main">
              <a:rPr sz="4000" spc="-85" dirty="0">
                <a:latin typeface="Calibri"/>
                <a:cs typeface="Calibri"/>
              </a:rPr>
              <a:t>العلامات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بشكل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عام </a:t>
            </a:r>
            <a:r xmlns:a="http://schemas.openxmlformats.org/drawingml/2006/main">
              <a:rPr sz="4000" spc="-2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نوعين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:</a:t>
            </a:r>
            <a:endParaRPr xmlns:a="http://schemas.openxmlformats.org/drawingml/2006/main"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150">
              <a:latin typeface="Times New Roman"/>
              <a:cs typeface="Times New Roman"/>
            </a:endParaRPr>
          </a:p>
          <a:p>
            <a:pPr xmlns:a="http://schemas.openxmlformats.org/drawingml/2006/main" marL="756285" indent="-744220">
              <a:lnSpc>
                <a:spcPct val="100000"/>
              </a:lnSpc>
              <a:buAutoNum type="arabicPeriod"/>
              <a:tabLst>
                <a:tab pos="756285" algn="l"/>
                <a:tab pos="756920" algn="l"/>
              </a:tabLst>
              <a:bidi/>
            </a:pPr>
            <a:r xmlns:a="http://schemas.openxmlformats.org/drawingml/2006/main">
              <a:rPr sz="4000" b="1" spc="-15" dirty="0">
                <a:solidFill>
                  <a:srgbClr val="00AF50"/>
                </a:solidFill>
                <a:latin typeface="Calibri"/>
                <a:cs typeface="Calibri"/>
              </a:rPr>
              <a:t>حاوية</a:t>
            </a:r>
            <a:r xmlns:a="http://schemas.openxmlformats.org/drawingml/2006/main">
              <a:rPr sz="4000" b="1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4000" b="1" spc="-20" dirty="0">
                <a:solidFill>
                  <a:srgbClr val="00AF50"/>
                </a:solidFill>
                <a:latin typeface="Calibri"/>
                <a:cs typeface="Calibri"/>
              </a:rPr>
              <a:t>بطاقة شعار</a:t>
            </a:r>
            <a:endParaRPr xmlns:a="http://schemas.openxmlformats.org/drawingml/2006/main"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AutoNum type="arabicPeriod"/>
            </a:pPr>
            <a:endParaRPr sz="4150">
              <a:latin typeface="Times New Roman"/>
              <a:cs typeface="Times New Roman"/>
            </a:endParaRPr>
          </a:p>
          <a:p>
            <a:pPr xmlns:a="http://schemas.openxmlformats.org/drawingml/2006/main" marL="756285" indent="-7442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56285" algn="l"/>
                <a:tab pos="756920" algn="l"/>
              </a:tabLst>
              <a:bidi/>
            </a:pPr>
            <a:r xmlns:a="http://schemas.openxmlformats.org/drawingml/2006/main"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فارغة</a:t>
            </a:r>
            <a:r xmlns:a="http://schemas.openxmlformats.org/drawingml/2006/main">
              <a:rPr sz="40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4000" b="1" spc="-20" dirty="0">
                <a:solidFill>
                  <a:srgbClr val="C00000"/>
                </a:solidFill>
                <a:latin typeface="Calibri"/>
                <a:cs typeface="Calibri"/>
              </a:rPr>
              <a:t>بطاقة شعار</a:t>
            </a:r>
            <a:endParaRPr xmlns:a="http://schemas.openxmlformats.org/drawingml/2006/main"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461594"/>
            <a:ext cx="5837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20" dirty="0">
                <a:solidFill>
                  <a:srgbClr val="FF0000"/>
                </a:solidFill>
              </a:rPr>
              <a:t>علامة </a:t>
            </a:r>
            <a:r xmlns:a="http://schemas.openxmlformats.org/drawingml/2006/main">
              <a:rPr sz="4400" spc="-10" dirty="0">
                <a:solidFill>
                  <a:srgbClr val="FF0000"/>
                </a:solidFill>
              </a:rPr>
              <a:t>الحاوية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أو</a:t>
            </a:r>
            <a:r xmlns:a="http://schemas.openxmlformats.org/drawingml/2006/main">
              <a:rPr sz="4400" spc="-45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4400" spc="-5" dirty="0">
                <a:solidFill>
                  <a:srgbClr val="FF0000"/>
                </a:solidFill>
              </a:rPr>
              <a:t>جزء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84820" cy="421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يتطلب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هذا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النوع من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علامات 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عناصر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وسوم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زوج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أي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بداية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بالإضافة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إلى علامة نهاية</a:t>
            </a:r>
            <a:r xmlns:a="http://schemas.openxmlformats.org/drawingml/2006/main">
              <a:rPr sz="3200" spc="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أمثلة</a:t>
            </a:r>
            <a:r xmlns:a="http://schemas.openxmlformats.org/drawingml/2006/main">
              <a:rPr sz="32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35"/>
              </a:spcBef>
              <a:bidi/>
            </a:pPr>
            <a:r xmlns:a="http://schemas.openxmlformats.org/drawingml/2006/main"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&lt;html&gt; …… ..</a:t>
            </a:r>
            <a:r xmlns:a="http://schemas.openxmlformats.org/drawingml/2006/main">
              <a:rPr sz="3600" b="1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70"/>
              </a:spcBef>
              <a:bidi/>
            </a:pPr>
            <a:r xmlns:a="http://schemas.openxmlformats.org/drawingml/2006/main">
              <a:rPr sz="3600" b="1" spc="-5" dirty="0">
                <a:solidFill>
                  <a:srgbClr val="C00000"/>
                </a:solidFill>
                <a:latin typeface="Calibri"/>
                <a:cs typeface="Calibri"/>
              </a:rPr>
              <a:t>&lt;head&gt; …… &lt;/head&gt;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60"/>
              </a:spcBef>
              <a:bidi/>
            </a:pPr>
            <a:r xmlns:a="http://schemas.openxmlformats.org/drawingml/2006/main">
              <a:rPr sz="3600" b="1" spc="-5" dirty="0">
                <a:latin typeface="Calibri"/>
                <a:cs typeface="Calibri"/>
              </a:rPr>
              <a:t>&lt;العنوان&gt;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5" dirty="0">
                <a:solidFill>
                  <a:srgbClr val="00AF50"/>
                </a:solidFill>
                <a:latin typeface="Calibri"/>
                <a:cs typeface="Calibri"/>
              </a:rPr>
              <a:t>……………….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&lt;/title&gt;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70"/>
              </a:spcBef>
              <a:bidi/>
            </a:pPr>
            <a:r xmlns:a="http://schemas.openxmlformats.org/drawingml/2006/main">
              <a:rPr sz="3600" b="1" spc="-5" dirty="0">
                <a:solidFill>
                  <a:srgbClr val="FF0000"/>
                </a:solidFill>
                <a:latin typeface="Calibri"/>
                <a:cs typeface="Calibri"/>
              </a:rPr>
              <a:t>&lt;body&gt; ………. &lt;/body&gt;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0160" y="461594"/>
            <a:ext cx="5045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20" dirty="0">
                <a:solidFill>
                  <a:srgbClr val="FF0000"/>
                </a:solidFill>
              </a:rPr>
              <a:t>علامة </a:t>
            </a:r>
            <a:r xmlns:a="http://schemas.openxmlformats.org/drawingml/2006/main">
              <a:rPr sz="4400" spc="-5" dirty="0">
                <a:solidFill>
                  <a:srgbClr val="FF0000"/>
                </a:solidFill>
              </a:rPr>
              <a:t>فارغة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أو</a:t>
            </a:r>
            <a:r xmlns:a="http://schemas.openxmlformats.org/drawingml/2006/main">
              <a:rPr sz="4400" spc="-25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4400" spc="-10" dirty="0">
                <a:solidFill>
                  <a:srgbClr val="FF0000"/>
                </a:solidFill>
              </a:rPr>
              <a:t>جزء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101330" cy="421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يتطلب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هذا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النوع من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علامات 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عناصر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مجرد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بداية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وليس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نهاية</a:t>
            </a:r>
            <a:r xmlns:a="http://schemas.openxmlformats.org/drawingml/2006/main">
              <a:rPr sz="3200" spc="8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أمثلة</a:t>
            </a:r>
            <a:r xmlns:a="http://schemas.openxmlformats.org/drawingml/2006/main">
              <a:rPr sz="32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35"/>
              </a:spcBef>
              <a:bidi/>
            </a:pPr>
            <a:r xmlns:a="http://schemas.openxmlformats.org/drawingml/2006/main"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&lt;br&gt;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70"/>
              </a:spcBef>
              <a:bidi/>
            </a:pPr>
            <a:r xmlns:a="http://schemas.openxmlformats.org/drawingml/2006/main">
              <a:rPr sz="3600" b="1" spc="-15" dirty="0">
                <a:solidFill>
                  <a:srgbClr val="C00000"/>
                </a:solidFill>
                <a:latin typeface="Calibri"/>
                <a:cs typeface="Calibri"/>
              </a:rPr>
              <a:t>&lt;frame&gt;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60"/>
              </a:spcBef>
              <a:bidi/>
            </a:pPr>
            <a:r xmlns:a="http://schemas.openxmlformats.org/drawingml/2006/main">
              <a:rPr sz="3600" b="1" spc="-5" dirty="0">
                <a:solidFill>
                  <a:srgbClr val="FF0000"/>
                </a:solidFill>
                <a:latin typeface="Calibri"/>
                <a:cs typeface="Calibri"/>
              </a:rPr>
              <a:t>&lt;hr&gt;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413384">
              <a:lnSpc>
                <a:spcPct val="100000"/>
              </a:lnSpc>
              <a:spcBef>
                <a:spcPts val="870"/>
              </a:spcBef>
              <a:bidi/>
            </a:pPr>
            <a:r xmlns:a="http://schemas.openxmlformats.org/drawingml/2006/main">
              <a:rPr sz="3600" b="1" spc="-5" dirty="0">
                <a:latin typeface="Calibri"/>
                <a:cs typeface="Calibri"/>
              </a:rPr>
              <a:t>&lt;img&gt; </a:t>
            </a:r>
            <a:r xmlns:a="http://schemas.openxmlformats.org/drawingml/2006/main">
              <a:rPr sz="3600" b="1" spc="-20" dirty="0">
                <a:latin typeface="Calibri"/>
                <a:cs typeface="Calibri"/>
              </a:rPr>
              <a:t>وما إلى ذلك ،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4709" y="461594"/>
            <a:ext cx="2357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55" dirty="0">
                <a:solidFill>
                  <a:srgbClr val="FF0000"/>
                </a:solidFill>
              </a:rPr>
              <a:t>لا </a:t>
            </a:r>
            <a:r xmlns:a="http://schemas.openxmlformats.org/drawingml/2006/main">
              <a:rPr sz="4400" spc="-140" dirty="0">
                <a:solidFill>
                  <a:srgbClr val="FF0000"/>
                </a:solidFill>
              </a:rPr>
              <a:t>يوجد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_ </a:t>
            </a:r>
            <a:r xmlns:a="http://schemas.openxmlformats.org/drawingml/2006/main">
              <a:rPr sz="4400" spc="-15" dirty="0">
                <a:solidFill>
                  <a:srgbClr val="FF0000"/>
                </a:solidFill>
              </a:rPr>
              <a:t>_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_ </a:t>
            </a:r>
            <a:r xmlns:a="http://schemas.openxmlformats.org/drawingml/2006/main">
              <a:rPr sz="4400" spc="-55" dirty="0">
                <a:solidFill>
                  <a:srgbClr val="FF0000"/>
                </a:solidFill>
              </a:rPr>
              <a:t>_ </a:t>
            </a:r>
            <a:r xmlns:a="http://schemas.openxmlformats.org/drawingml/2006/main">
              <a:rPr sz="4400" spc="-5" dirty="0">
                <a:solidFill>
                  <a:srgbClr val="FF0000"/>
                </a:solidFill>
              </a:rPr>
              <a:t>_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0" y="1601546"/>
            <a:ext cx="8667723" cy="3927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84455" marR="73025" indent="-3810" algn="ctr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z="4000" spc="-20" dirty="0">
                <a:latin typeface="Calibri"/>
                <a:cs typeface="Calibri"/>
              </a:rPr>
              <a:t>السمة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كلمة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خاصة </a:t>
            </a:r>
            <a:r xmlns:a="http://schemas.openxmlformats.org/drawingml/2006/main">
              <a:rPr sz="4000" spc="-30" dirty="0">
                <a:latin typeface="Calibri"/>
                <a:cs typeface="Calibri"/>
              </a:rPr>
              <a:t>تُستخدم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داخل </a:t>
            </a:r>
            <a:r xmlns:a="http://schemas.openxmlformats.org/drawingml/2006/main">
              <a:rPr sz="4000" dirty="0">
                <a:latin typeface="Calibri"/>
                <a:cs typeface="Calibri"/>
              </a:rPr>
              <a:t>العلامة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لتحديد </a:t>
            </a:r>
            <a:r xmlns:a="http://schemas.openxmlformats.org/drawingml/2006/main">
              <a:rPr sz="4000" spc="-20" dirty="0">
                <a:latin typeface="Calibri"/>
                <a:cs typeface="Calibri"/>
              </a:rPr>
              <a:t>معلومات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إضافية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مثل </a:t>
            </a:r>
            <a:r xmlns:a="http://schemas.openxmlformats.org/drawingml/2006/main">
              <a:rPr sz="4000" spc="-60" dirty="0">
                <a:latin typeface="Calibri"/>
                <a:cs typeface="Calibri"/>
              </a:rPr>
              <a:t>اللون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والمحاذاة 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والخلفية </a:t>
            </a:r>
            <a:r xmlns:a="http://schemas.openxmlformats.org/drawingml/2006/main">
              <a:rPr sz="4000" spc="-15" dirty="0">
                <a:latin typeface="Calibri"/>
                <a:cs typeface="Calibri"/>
              </a:rPr>
              <a:t>وما إلى ذلك </a:t>
            </a:r>
            <a:endParaRPr xmlns:a="http://schemas.openxmlformats.org/drawingml/2006/main" sz="4000" dirty="0">
              <a:latin typeface="Calibri"/>
              <a:cs typeface="Calibri"/>
            </a:endParaRPr>
            <a:r xmlns:a="http://schemas.openxmlformats.org/drawingml/2006/main">
              <a:rPr sz="4000" spc="-20" dirty="0">
                <a:latin typeface="Calibri"/>
                <a:cs typeface="Calibri"/>
              </a:rPr>
              <a:t>،</a:t>
            </a:r>
          </a:p>
          <a:p>
            <a:pPr xmlns:a="http://schemas.openxmlformats.org/drawingml/2006/main" marL="1905" algn="ctr">
              <a:lnSpc>
                <a:spcPct val="100000"/>
              </a:lnSpc>
              <a:spcBef>
                <a:spcPts val="965"/>
              </a:spcBef>
              <a:bidi/>
            </a:pPr>
            <a:r xmlns:a="http://schemas.openxmlformats.org/drawingml/2006/main">
              <a:rPr sz="4000" spc="-15" dirty="0">
                <a:latin typeface="Calibri"/>
                <a:cs typeface="Calibri"/>
              </a:rPr>
              <a:t>أمثلة</a:t>
            </a:r>
            <a:r xmlns:a="http://schemas.openxmlformats.org/drawingml/2006/main">
              <a:rPr sz="4000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4000" spc="-5" dirty="0">
                <a:latin typeface="Calibri"/>
                <a:cs typeface="Calibri"/>
              </a:rPr>
              <a:t>:</a:t>
            </a:r>
            <a:endParaRPr xmlns:a="http://schemas.openxmlformats.org/drawingml/2006/main" sz="4000" dirty="0">
              <a:latin typeface="Calibri"/>
              <a:cs typeface="Calibri"/>
            </a:endParaRPr>
          </a:p>
          <a:p>
            <a:pPr xmlns:a="http://schemas.openxmlformats.org/drawingml/2006/main" algn="ctr">
              <a:lnSpc>
                <a:spcPct val="100000"/>
              </a:lnSpc>
              <a:spcBef>
                <a:spcPts val="960"/>
              </a:spcBef>
              <a:bidi/>
            </a:pPr>
            <a:r xmlns:a="http://schemas.openxmlformats.org/drawingml/2006/main">
              <a:rPr sz="4000" b="1" spc="-45" dirty="0">
                <a:solidFill>
                  <a:srgbClr val="006FC0"/>
                </a:solidFill>
                <a:latin typeface="Calibri"/>
                <a:cs typeface="Calibri"/>
              </a:rPr>
              <a:t>bgcolour ، </a:t>
            </a:r>
            <a:r xmlns:a="http://schemas.openxmlformats.org/drawingml/2006/main">
              <a:rPr sz="4000" b="1" spc="-10" dirty="0">
                <a:solidFill>
                  <a:srgbClr val="C00000"/>
                </a:solidFill>
                <a:latin typeface="Calibri"/>
                <a:cs typeface="Calibri"/>
              </a:rPr>
              <a:t>الخلفية </a:t>
            </a:r>
            <a:r xmlns:a="http://schemas.openxmlformats.org/drawingml/2006/main"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4000" b="1" spc="-5" dirty="0">
                <a:solidFill>
                  <a:srgbClr val="FF0000"/>
                </a:solidFill>
                <a:latin typeface="Calibri"/>
                <a:cs typeface="Calibri"/>
              </a:rPr>
              <a:t>النوع </a:t>
            </a:r>
            <a:r xmlns:a="http://schemas.openxmlformats.org/drawingml/2006/main"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4000" b="1" spc="-5" dirty="0">
                <a:solidFill>
                  <a:srgbClr val="6F2F9F"/>
                </a:solidFill>
                <a:latin typeface="Calibri"/>
                <a:cs typeface="Calibri"/>
              </a:rPr>
              <a:t>المحاذاة</a:t>
            </a:r>
            <a:r xmlns:a="http://schemas.openxmlformats.org/drawingml/2006/main">
              <a:rPr sz="4000" b="1" spc="1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4000" b="1" spc="-20" dirty="0">
                <a:solidFill>
                  <a:srgbClr val="006FC0"/>
                </a:solidFill>
                <a:latin typeface="Calibri"/>
                <a:cs typeface="Calibri"/>
              </a:rPr>
              <a:t>إلخ.،</a:t>
            </a:r>
            <a:endParaRPr xmlns:a="http://schemas.openxmlformats.org/drawingml/2006/main"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9997" y="450545"/>
            <a:ext cx="72917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15" dirty="0">
                <a:solidFill>
                  <a:srgbClr val="FF0000"/>
                </a:solidFill>
              </a:rPr>
              <a:t>البنية </a:t>
            </a:r>
            <a:r xmlns:a="http://schemas.openxmlformats.org/drawingml/2006/main">
              <a:rPr spc="-5" dirty="0">
                <a:solidFill>
                  <a:srgbClr val="FF0000"/>
                </a:solidFill>
              </a:rPr>
              <a:t>الأساسية </a:t>
            </a:r>
            <a:r xmlns:a="http://schemas.openxmlformats.org/drawingml/2006/main">
              <a:rPr spc="-5" dirty="0">
                <a:solidFill>
                  <a:srgbClr val="FF0000"/>
                </a:solidFill>
              </a:rPr>
              <a:t>لـ HTML</a:t>
            </a:r>
            <a:r xmlns:a="http://schemas.openxmlformats.org/drawingml/2006/main">
              <a:rPr spc="45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pc="-10" dirty="0">
                <a:solidFill>
                  <a:srgbClr val="FF0000"/>
                </a:solidFill>
              </a:rPr>
              <a:t>وثيقة</a:t>
            </a:r>
          </a:p>
        </p:txBody>
      </p:sp>
      <p:sp>
        <p:nvSpPr>
          <p:cNvPr id="3" name="object 3"/>
          <p:cNvSpPr/>
          <p:nvPr/>
        </p:nvSpPr>
        <p:spPr>
          <a:xfrm>
            <a:off x="27039" y="0"/>
            <a:ext cx="1496949" cy="1496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36319" y="1219200"/>
            <a:ext cx="6159881" cy="5638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7760" y="415493"/>
            <a:ext cx="6570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10" dirty="0">
                <a:solidFill>
                  <a:srgbClr val="FF0000"/>
                </a:solidFill>
              </a:rPr>
              <a:t>مثال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على HTML</a:t>
            </a:r>
            <a:r xmlns:a="http://schemas.openxmlformats.org/drawingml/2006/main">
              <a:rPr sz="4400" spc="-35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4400" spc="-10" dirty="0">
                <a:solidFill>
                  <a:srgbClr val="FF0000"/>
                </a:solidFill>
              </a:rPr>
              <a:t>وثيقة</a:t>
            </a:r>
            <a:endParaRPr xmlns:a="http://schemas.openxmlformats.org/drawingml/2006/main" sz="4400"/>
          </a:p>
        </p:txBody>
      </p:sp>
      <p:sp>
        <p:nvSpPr>
          <p:cNvPr id="3" name="object 3"/>
          <p:cNvSpPr/>
          <p:nvPr/>
        </p:nvSpPr>
        <p:spPr>
          <a:xfrm>
            <a:off x="124341" y="22454"/>
            <a:ext cx="1399647" cy="14744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505521"/>
            <a:ext cx="8395970" cy="4855210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895"/>
              </a:spcBef>
              <a:bidi/>
            </a:pPr>
            <a:r xmlns:a="http://schemas.openxmlformats.org/drawingml/2006/main">
              <a:rPr sz="3300" b="1" spc="-10" dirty="0">
                <a:solidFill>
                  <a:srgbClr val="006FC0"/>
                </a:solidFill>
                <a:latin typeface="Calibri"/>
                <a:cs typeface="Calibri"/>
              </a:rPr>
              <a:t>&lt;html&gt;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297180">
              <a:lnSpc>
                <a:spcPct val="100000"/>
              </a:lnSpc>
              <a:spcBef>
                <a:spcPts val="790"/>
              </a:spcBef>
              <a:bidi/>
            </a:pPr>
            <a:r xmlns:a="http://schemas.openxmlformats.org/drawingml/2006/main">
              <a:rPr sz="3300" b="1" spc="-5" dirty="0">
                <a:solidFill>
                  <a:srgbClr val="C00000"/>
                </a:solidFill>
                <a:latin typeface="Calibri"/>
                <a:cs typeface="Calibri"/>
              </a:rPr>
              <a:t>&lt;head&gt;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927100">
              <a:lnSpc>
                <a:spcPct val="100000"/>
              </a:lnSpc>
              <a:spcBef>
                <a:spcPts val="795"/>
              </a:spcBef>
              <a:bidi/>
            </a:pPr>
            <a:r xmlns:a="http://schemas.openxmlformats.org/drawingml/2006/main">
              <a:rPr sz="3300" b="1" spc="-5" dirty="0">
                <a:latin typeface="Calibri"/>
                <a:cs typeface="Calibri"/>
              </a:rPr>
              <a:t>&lt;title&gt; </a:t>
            </a:r>
            <a:r xmlns:a="http://schemas.openxmlformats.org/drawingml/2006/main">
              <a:rPr sz="3300" b="1" spc="-5" dirty="0">
                <a:solidFill>
                  <a:srgbClr val="00AF50"/>
                </a:solidFill>
                <a:latin typeface="Calibri"/>
                <a:cs typeface="Calibri"/>
              </a:rPr>
              <a:t>هذا </a:t>
            </a:r>
            <a:r xmlns:a="http://schemas.openxmlformats.org/drawingml/2006/main">
              <a:rPr sz="3300" b="1" dirty="0">
                <a:solidFill>
                  <a:srgbClr val="00AF50"/>
                </a:solidFill>
                <a:latin typeface="Calibri"/>
                <a:cs typeface="Calibri"/>
              </a:rPr>
              <a:t>هو عنوان </a:t>
            </a:r>
            <a:r xmlns:a="http://schemas.openxmlformats.org/drawingml/2006/main">
              <a:rPr sz="3300" b="1" spc="-10" dirty="0">
                <a:solidFill>
                  <a:srgbClr val="00AF50"/>
                </a:solidFill>
                <a:latin typeface="Calibri"/>
                <a:cs typeface="Calibri"/>
              </a:rPr>
              <a:t>صفحة </a:t>
            </a:r>
            <a:r xmlns:a="http://schemas.openxmlformats.org/drawingml/2006/main">
              <a:rPr sz="3300" b="1" spc="-15" dirty="0">
                <a:solidFill>
                  <a:srgbClr val="00AF50"/>
                </a:solidFill>
                <a:latin typeface="Calibri"/>
                <a:cs typeface="Calibri"/>
              </a:rPr>
              <a:t>الويب</a:t>
            </a:r>
            <a:r xmlns:a="http://schemas.openxmlformats.org/drawingml/2006/main">
              <a:rPr sz="3300" b="1" spc="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300" b="1" spc="-5" dirty="0">
                <a:latin typeface="Calibri"/>
                <a:cs typeface="Calibri"/>
              </a:rPr>
              <a:t>&lt;/title&gt;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297180">
              <a:lnSpc>
                <a:spcPct val="100000"/>
              </a:lnSpc>
              <a:spcBef>
                <a:spcPts val="790"/>
              </a:spcBef>
              <a:bidi/>
            </a:pPr>
            <a:r xmlns:a="http://schemas.openxmlformats.org/drawingml/2006/main">
              <a:rPr sz="3300" b="1" spc="-5" dirty="0">
                <a:solidFill>
                  <a:srgbClr val="C00000"/>
                </a:solidFill>
                <a:latin typeface="Calibri"/>
                <a:cs typeface="Calibri"/>
              </a:rPr>
              <a:t>&lt;/head&gt;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203200">
              <a:lnSpc>
                <a:spcPct val="100000"/>
              </a:lnSpc>
              <a:spcBef>
                <a:spcPts val="795"/>
              </a:spcBef>
              <a:bidi/>
            </a:pPr>
            <a:r xmlns:a="http://schemas.openxmlformats.org/drawingml/2006/main">
              <a:rPr sz="3300" b="1" spc="-5" dirty="0">
                <a:solidFill>
                  <a:srgbClr val="FF0000"/>
                </a:solidFill>
                <a:latin typeface="Calibri"/>
                <a:cs typeface="Calibri"/>
              </a:rPr>
              <a:t>&lt;الجسم&gt;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774700">
              <a:lnSpc>
                <a:spcPct val="100000"/>
              </a:lnSpc>
              <a:spcBef>
                <a:spcPts val="795"/>
              </a:spcBef>
              <a:bidi/>
            </a:pPr>
            <a:r xmlns:a="http://schemas.openxmlformats.org/drawingml/2006/main">
              <a:rPr sz="3300" b="1" spc="-10" dirty="0">
                <a:latin typeface="Calibri"/>
                <a:cs typeface="Calibri"/>
              </a:rPr>
              <a:t>مرحبًا ، </a:t>
            </a:r>
            <a:r xmlns:a="http://schemas.openxmlformats.org/drawingml/2006/main">
              <a:rPr sz="3300" b="1" spc="-25" dirty="0">
                <a:latin typeface="Calibri"/>
                <a:cs typeface="Calibri"/>
              </a:rPr>
              <a:t>مرحبًا </a:t>
            </a:r>
            <a:r xmlns:a="http://schemas.openxmlformats.org/drawingml/2006/main">
              <a:rPr sz="3300" b="1" spc="-10" dirty="0">
                <a:latin typeface="Calibri"/>
                <a:cs typeface="Calibri"/>
              </a:rPr>
              <a:t>بك </a:t>
            </a:r>
            <a:r xmlns:a="http://schemas.openxmlformats.org/drawingml/2006/main">
              <a:rPr sz="3300" b="1" spc="-2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300" b="1" dirty="0">
                <a:latin typeface="Calibri"/>
                <a:cs typeface="Calibri"/>
              </a:rPr>
              <a:t>عالم </a:t>
            </a:r>
            <a:r xmlns:a="http://schemas.openxmlformats.org/drawingml/2006/main">
              <a:rPr sz="3300" b="1" spc="-5" dirty="0">
                <a:latin typeface="Calibri"/>
                <a:cs typeface="Calibri"/>
              </a:rPr>
              <a:t>صفحات </a:t>
            </a:r>
            <a:r xmlns:a="http://schemas.openxmlformats.org/drawingml/2006/main">
              <a:rPr sz="3300" b="1" dirty="0">
                <a:latin typeface="Calibri"/>
                <a:cs typeface="Calibri"/>
              </a:rPr>
              <a:t>الويب</a:t>
            </a:r>
            <a:r xmlns:a="http://schemas.openxmlformats.org/drawingml/2006/main">
              <a:rPr sz="3300" b="1" spc="6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300" b="1" dirty="0">
                <a:latin typeface="Calibri"/>
                <a:cs typeface="Calibri"/>
              </a:rPr>
              <a:t>!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203200">
              <a:lnSpc>
                <a:spcPct val="100000"/>
              </a:lnSpc>
              <a:spcBef>
                <a:spcPts val="790"/>
              </a:spcBef>
              <a:bidi/>
            </a:pPr>
            <a:r xmlns:a="http://schemas.openxmlformats.org/drawingml/2006/main">
              <a:rPr sz="3300" b="1" spc="-5" dirty="0">
                <a:solidFill>
                  <a:srgbClr val="FF0000"/>
                </a:solidFill>
                <a:latin typeface="Calibri"/>
                <a:cs typeface="Calibri"/>
              </a:rPr>
              <a:t>&lt;/body&gt;</a:t>
            </a:r>
            <a:endParaRPr xmlns:a="http://schemas.openxmlformats.org/drawingml/2006/main" sz="3300">
              <a:latin typeface="Calibri"/>
              <a:cs typeface="Calibri"/>
            </a:endParaRPr>
          </a:p>
          <a:p>
            <a:pPr xmlns:a="http://schemas.openxmlformats.org/drawingml/2006/main" marL="12700">
              <a:lnSpc>
                <a:spcPct val="100000"/>
              </a:lnSpc>
              <a:spcBef>
                <a:spcPts val="795"/>
              </a:spcBef>
              <a:bidi/>
            </a:pPr>
            <a:r xmlns:a="http://schemas.openxmlformats.org/drawingml/2006/main">
              <a:rPr sz="3300" b="1" spc="-10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endParaRPr xmlns:a="http://schemas.openxmlformats.org/drawingml/2006/main"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3938" y="461594"/>
            <a:ext cx="2517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10" dirty="0">
                <a:solidFill>
                  <a:srgbClr val="006FC0"/>
                </a:solidFill>
              </a:rPr>
              <a:t>&lt;html&gt;</a:t>
            </a:r>
            <a:r xmlns:a="http://schemas.openxmlformats.org/drawingml/2006/main">
              <a:rPr sz="4400" spc="-90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400" spc="-20" dirty="0">
                <a:solidFill>
                  <a:srgbClr val="006FC0"/>
                </a:solidFill>
              </a:rPr>
              <a:t>بطاقة شعار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770495" cy="4486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يشير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أن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يبدأ</a:t>
            </a:r>
            <a:r xmlns:a="http://schemas.openxmlformats.org/drawingml/2006/main">
              <a:rPr sz="32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مع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>
              <a:lnSpc>
                <a:spcPct val="100000"/>
              </a:lnSpc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&lt;html&gt;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وتنتهي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بـ </a:t>
            </a: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r xmlns:a="http://schemas.openxmlformats.org/drawingml/2006/main">
              <a:rPr sz="3200" b="1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15" dirty="0">
                <a:solidFill>
                  <a:srgbClr val="C00000"/>
                </a:solidFill>
                <a:latin typeface="Calibri"/>
                <a:cs typeface="Calibri"/>
              </a:rPr>
              <a:t>سمة </a:t>
            </a: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DIR</a:t>
            </a:r>
            <a:r xmlns:a="http://schemas.openxmlformats.org/drawingml/2006/main">
              <a:rPr sz="32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للإشارة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الوثيقة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اتجاه.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يمكن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أن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يستغرق </a:t>
            </a:r>
            <a:r xmlns:a="http://schemas.openxmlformats.org/drawingml/2006/main">
              <a:rPr sz="3200" spc="-40" dirty="0">
                <a:latin typeface="Calibri"/>
                <a:cs typeface="Calibri"/>
              </a:rPr>
              <a:t>الأمر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قيمتين </a:t>
            </a:r>
            <a:r xmlns:a="http://schemas.openxmlformats.org/drawingml/2006/main">
              <a:rPr sz="3200" spc="30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ltr </a:t>
            </a:r>
            <a:r xmlns:a="http://schemas.openxmlformats.org/drawingml/2006/main">
              <a:rPr sz="3200" spc="30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200" spc="30" dirty="0">
                <a:solidFill>
                  <a:srgbClr val="FF0000"/>
                </a:solidFill>
                <a:latin typeface="Calibri"/>
                <a:cs typeface="Calibri"/>
              </a:rPr>
              <a:t>و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0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200" spc="-100" dirty="0">
                <a:solidFill>
                  <a:srgbClr val="FF0000"/>
                </a:solidFill>
                <a:latin typeface="Calibri"/>
                <a:cs typeface="Calibri"/>
              </a:rPr>
              <a:t>rtl </a:t>
            </a:r>
            <a:r xmlns:a="http://schemas.openxmlformats.org/drawingml/2006/main">
              <a:rPr sz="3200" spc="-100" dirty="0">
                <a:latin typeface="Calibri"/>
                <a:cs typeface="Calibri"/>
              </a:rPr>
              <a:t>".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2032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يحدد ما إذا كان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اتجاه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اللغة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اليسار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اليمين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اليمين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إلى</a:t>
            </a:r>
            <a:r xmlns:a="http://schemas.openxmlformats.org/drawingml/2006/main">
              <a:rPr sz="3200" spc="4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اليسار.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مثال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&lt;html </a:t>
            </a:r>
            <a:r xmlns:a="http://schemas.openxmlformats.org/drawingml/2006/main"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dir </a:t>
            </a:r>
            <a:r xmlns:a="http://schemas.openxmlformats.org/drawingml/2006/main"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 xmlns:a="http://schemas.openxmlformats.org/drawingml/2006/main">
              <a:rPr sz="36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20" dirty="0">
                <a:solidFill>
                  <a:srgbClr val="006FC0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3600" b="1" spc="20" dirty="0">
                <a:solidFill>
                  <a:srgbClr val="FF0000"/>
                </a:solidFill>
                <a:latin typeface="Calibri"/>
                <a:cs typeface="Calibri"/>
              </a:rPr>
              <a:t>لتر </a:t>
            </a:r>
            <a:r xmlns:a="http://schemas.openxmlformats.org/drawingml/2006/main">
              <a:rPr sz="3600" b="1" spc="20" dirty="0">
                <a:solidFill>
                  <a:srgbClr val="006FC0"/>
                </a:solidFill>
                <a:latin typeface="Calibri"/>
                <a:cs typeface="Calibri"/>
              </a:rPr>
              <a:t>"&gt;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557" y="316483"/>
            <a:ext cx="2517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0"/>
              </a:spcBef>
              <a:bidi/>
            </a:pPr>
            <a:r xmlns:a="http://schemas.openxmlformats.org/drawingml/2006/main">
              <a:rPr sz="4400" spc="-10" dirty="0">
                <a:solidFill>
                  <a:srgbClr val="006FC0"/>
                </a:solidFill>
              </a:rPr>
              <a:t>&lt;html&gt;</a:t>
            </a:r>
            <a:r xmlns:a="http://schemas.openxmlformats.org/drawingml/2006/main">
              <a:rPr sz="4400" spc="-95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400" spc="-20" dirty="0">
                <a:solidFill>
                  <a:srgbClr val="006FC0"/>
                </a:solidFill>
              </a:rPr>
              <a:t>بطاقة شعار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205458"/>
            <a:ext cx="3561715" cy="397382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10" dirty="0">
                <a:solidFill>
                  <a:srgbClr val="C00000"/>
                </a:solidFill>
                <a:latin typeface="Calibri"/>
                <a:cs typeface="Calibri"/>
              </a:rPr>
              <a:t>سمة </a:t>
            </a: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LANG</a:t>
            </a:r>
            <a:r xmlns:a="http://schemas.openxmlformats.org/drawingml/2006/main">
              <a:rPr sz="3200" b="1" spc="-9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56578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تحدد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اللغة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التي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سيتم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استخدامها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70" dirty="0">
                <a:latin typeface="Calibri"/>
                <a:cs typeface="Calibri"/>
              </a:rPr>
              <a:t> صفحة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600" b="1" spc="-10" dirty="0">
                <a:latin typeface="Calibri"/>
                <a:cs typeface="Calibri"/>
              </a:rPr>
              <a:t>مثال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: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12700">
              <a:lnSpc>
                <a:spcPct val="100000"/>
              </a:lnSpc>
              <a:spcBef>
                <a:spcPts val="865"/>
              </a:spcBef>
              <a:bidi/>
            </a:pPr>
            <a:r xmlns:a="http://schemas.openxmlformats.org/drawingml/2006/main"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&lt;html </a:t>
            </a:r>
            <a:r xmlns:a="http://schemas.openxmlformats.org/drawingml/2006/main"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lang </a:t>
            </a:r>
            <a:r xmlns:a="http://schemas.openxmlformats.org/drawingml/2006/main"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 xmlns:a="http://schemas.openxmlformats.org/drawingml/2006/main">
              <a:rPr sz="36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30" dirty="0">
                <a:solidFill>
                  <a:srgbClr val="006FC0"/>
                </a:solidFill>
                <a:latin typeface="Calibri"/>
                <a:cs typeface="Calibri"/>
              </a:rPr>
              <a:t>“ </a:t>
            </a:r>
            <a:r xmlns:a="http://schemas.openxmlformats.org/drawingml/2006/main">
              <a:rPr sz="3600" b="1" spc="-30" dirty="0">
                <a:solidFill>
                  <a:srgbClr val="FF0000"/>
                </a:solidFill>
                <a:latin typeface="Calibri"/>
                <a:cs typeface="Calibri"/>
              </a:rPr>
              <a:t>en </a:t>
            </a:r>
            <a:r xmlns:a="http://schemas.openxmlformats.org/drawingml/2006/main">
              <a:rPr sz="3600" b="1" spc="-30" dirty="0">
                <a:solidFill>
                  <a:srgbClr val="006FC0"/>
                </a:solidFill>
                <a:latin typeface="Calibri"/>
                <a:cs typeface="Calibri"/>
              </a:rPr>
              <a:t>”&gt;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27650" y="984250"/>
          <a:ext cx="3352800" cy="5699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75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الشفرة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75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لغة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en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spc="-10" dirty="0">
                          <a:latin typeface="Calibri"/>
                          <a:cs typeface="Calibri"/>
                        </a:rPr>
                        <a:t>إنجليزي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xmlns:a="http://schemas.openxmlformats.org/drawingml/2006/main"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b="1" spc="-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الاب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spc="-15" dirty="0">
                          <a:latin typeface="Calibri"/>
                          <a:cs typeface="Calibri"/>
                        </a:rPr>
                        <a:t>فرنسي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دي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spc="-5" dirty="0">
                          <a:latin typeface="Calibri"/>
                          <a:cs typeface="Calibri"/>
                        </a:rPr>
                        <a:t>ألمانية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هو - هي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spc="-10" dirty="0">
                          <a:latin typeface="Calibri"/>
                          <a:cs typeface="Calibri"/>
                        </a:rPr>
                        <a:t>إيطالي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0"/>
                        </a:spcBef>
                        <a:bidi/>
                      </a:pPr>
                      <a:r xmlns:a="http://schemas.openxmlformats.org/drawingml/2006/main">
                        <a:rPr sz="2800" spc="-10" dirty="0">
                          <a:latin typeface="Calibri"/>
                          <a:cs typeface="Calibri"/>
                        </a:rPr>
                        <a:t>جريك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إس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spc="-10" dirty="0">
                          <a:latin typeface="Calibri"/>
                          <a:cs typeface="Calibri"/>
                        </a:rPr>
                        <a:t>الأسبانية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أر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spc="-15" dirty="0">
                          <a:latin typeface="Calibri"/>
                          <a:cs typeface="Calibri"/>
                        </a:rPr>
                        <a:t>عربي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xmlns:a="http://schemas.openxmlformats.org/drawingml/2006/main"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b="1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جا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spc="-5" dirty="0">
                          <a:latin typeface="Calibri"/>
                          <a:cs typeface="Calibri"/>
                        </a:rPr>
                        <a:t>اليابانية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xmlns:a="http://schemas.openxmlformats.org/drawingml/2006/main"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b="1" spc="-10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مرحبا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spc="-10" dirty="0">
                          <a:latin typeface="Calibri"/>
                          <a:cs typeface="Calibri"/>
                        </a:rPr>
                        <a:t>هندي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xmlns:a="http://schemas.openxmlformats.org/drawingml/2006/main" algn="ctr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b="1" spc="-5" dirty="0">
                          <a:solidFill>
                            <a:srgbClr val="00AFEF"/>
                          </a:solidFill>
                          <a:latin typeface="Calibri"/>
                          <a:cs typeface="Calibri"/>
                        </a:rPr>
                        <a:t>ru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marL="92075">
                        <a:lnSpc>
                          <a:spcPct val="100000"/>
                        </a:lnSpc>
                        <a:spcBef>
                          <a:spcPts val="185"/>
                        </a:spcBef>
                        <a:bidi/>
                      </a:pPr>
                      <a:r xmlns:a="http://schemas.openxmlformats.org/drawingml/2006/main">
                        <a:rPr sz="2800" spc="-10" dirty="0">
                          <a:latin typeface="Calibri"/>
                          <a:cs typeface="Calibri"/>
                        </a:rPr>
                        <a:t>الروسية</a:t>
                      </a:r>
                      <a:endParaRPr xmlns:a="http://schemas.openxmlformats.org/drawingml/2006/main" sz="28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5838" y="461594"/>
            <a:ext cx="2597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dirty="0">
                <a:solidFill>
                  <a:srgbClr val="006FC0"/>
                </a:solidFill>
              </a:rPr>
              <a:t>&lt;head&gt;</a:t>
            </a:r>
            <a:r xmlns:a="http://schemas.openxmlformats.org/drawingml/2006/main">
              <a:rPr sz="4400" spc="-75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400" spc="-20" dirty="0">
                <a:solidFill>
                  <a:srgbClr val="006FC0"/>
                </a:solidFill>
              </a:rPr>
              <a:t>بطاقة شعار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688340" y="1607642"/>
            <a:ext cx="7926705" cy="2632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يحتوي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رأس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مستند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والذي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يحتوي على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معلومات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حول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مثل </a:t>
            </a: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العنوان </a:t>
            </a: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والنصوص </a:t>
            </a: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المستخدمة </a:t>
            </a: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وتعريفات الأنماط وما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b="1" spc="-20" dirty="0">
                <a:solidFill>
                  <a:srgbClr val="C00000"/>
                </a:solidFill>
                <a:latin typeface="Calibri"/>
                <a:cs typeface="Calibri"/>
              </a:rPr>
              <a:t>ذلك ،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600" dirty="0">
                <a:latin typeface="Calibri"/>
                <a:cs typeface="Calibri"/>
              </a:rPr>
              <a:t>إنها أيضًا </a:t>
            </a:r>
            <a:r xmlns:a="http://schemas.openxmlformats.org/drawingml/2006/main"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علامة حاوية.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2517" y="461594"/>
            <a:ext cx="2379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5" dirty="0">
                <a:solidFill>
                  <a:srgbClr val="006FC0"/>
                </a:solidFill>
              </a:rPr>
              <a:t>&lt;العنوان&gt;</a:t>
            </a:r>
            <a:r xmlns:a="http://schemas.openxmlformats.org/drawingml/2006/main">
              <a:rPr sz="4400" spc="-90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400" spc="-20" dirty="0">
                <a:solidFill>
                  <a:srgbClr val="006FC0"/>
                </a:solidFill>
              </a:rPr>
              <a:t>بطاقة شعار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383540" y="1604594"/>
            <a:ext cx="8297545" cy="408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1896745" algn="l"/>
              </a:tabLst>
              <a:bidi/>
            </a:pPr>
            <a:r xmlns:a="http://schemas.openxmlformats.org/drawingml/2006/main">
              <a:rPr sz="3600" dirty="0">
                <a:latin typeface="Calibri"/>
                <a:cs typeface="Calibri"/>
              </a:rPr>
              <a:t>وهو أيضًا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زوج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600" b="1" spc="-15" dirty="0">
                <a:solidFill>
                  <a:srgbClr val="C00000"/>
                </a:solidFill>
                <a:latin typeface="Calibri"/>
                <a:cs typeface="Calibri"/>
              </a:rPr>
              <a:t>حاوية </a:t>
            </a:r>
            <a:r xmlns:a="http://schemas.openxmlformats.org/drawingml/2006/main"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يحتوي </a:t>
            </a:r>
            <a:r xmlns:a="http://schemas.openxmlformats.org/drawingml/2006/main">
              <a:rPr sz="3600" spc="-10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600" spc="-15" dirty="0">
                <a:latin typeface="Calibri"/>
                <a:cs typeface="Calibri"/>
              </a:rPr>
              <a:t>عنوان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مستند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والذي</a:t>
            </a:r>
            <a:r xmlns:a="http://schemas.openxmlformats.org/drawingml/2006/main">
              <a:rPr sz="3600" spc="-15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سيظهر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عنوان </a:t>
            </a:r>
            <a:r xmlns:a="http://schemas.openxmlformats.org/drawingml/2006/main">
              <a:rPr sz="3600" b="1" spc="-20" dirty="0">
                <a:latin typeface="Calibri"/>
                <a:cs typeface="Calibri"/>
              </a:rPr>
              <a:t>متصفح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600" b="1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80" dirty="0">
                <a:latin typeface="Calibri"/>
                <a:cs typeface="Calibri"/>
              </a:rPr>
              <a:t>شريط.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355600" marR="119888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600" b="1" spc="-5" dirty="0">
                <a:latin typeface="Calibri"/>
                <a:cs typeface="Calibri"/>
              </a:rPr>
              <a:t>تستخدم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محركات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البحث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العنوان 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لتعريف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الصفحة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. </a:t>
            </a:r>
            <a:endParaRPr xmlns:a="http://schemas.openxmlformats.org/drawingml/2006/main" sz="3600">
              <a:latin typeface="Calibri"/>
              <a:cs typeface="Calibri"/>
            </a:endParaRPr>
            <a:r xmlns:a="http://schemas.openxmlformats.org/drawingml/2006/main">
              <a:rPr sz="3600" b="1" spc="-5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600" b="1" dirty="0">
                <a:latin typeface="Calibri"/>
                <a:cs typeface="Calibri"/>
              </a:rPr>
              <a:t>يتم استخدامه داخل 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العلامة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زوج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355600">
              <a:lnSpc>
                <a:spcPct val="100000"/>
              </a:lnSpc>
              <a:bidi/>
            </a:pPr>
            <a:r xmlns:a="http://schemas.openxmlformats.org/drawingml/2006/main"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&lt;head&gt; .. &lt;/head&gt;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5" y="461594"/>
            <a:ext cx="2602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5" dirty="0">
                <a:solidFill>
                  <a:srgbClr val="006FC0"/>
                </a:solidFill>
              </a:rPr>
              <a:t>&lt;الجسم&gt;</a:t>
            </a:r>
            <a:r xmlns:a="http://schemas.openxmlformats.org/drawingml/2006/main">
              <a:rPr sz="4400" spc="-80" dirty="0">
                <a:solidFill>
                  <a:srgbClr val="006FC0"/>
                </a:solidFill>
              </a:rPr>
              <a:t> </a:t>
            </a:r>
            <a:r xmlns:a="http://schemas.openxmlformats.org/drawingml/2006/main">
              <a:rPr sz="4400" spc="-20" dirty="0">
                <a:solidFill>
                  <a:srgbClr val="006FC0"/>
                </a:solidFill>
              </a:rPr>
              <a:t>بطاقة شعار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383540" y="1604594"/>
            <a:ext cx="8192770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xmlns:a="http://schemas.openxmlformats.org/drawingml/2006/main"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600" dirty="0">
                <a:latin typeface="Calibri"/>
                <a:cs typeface="Calibri"/>
              </a:rPr>
              <a:t>وهو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أيضًا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زوج </a:t>
            </a:r>
            <a:r xmlns:a="http://schemas.openxmlformats.org/drawingml/2006/main">
              <a:rPr sz="3600" b="1" spc="-15" dirty="0">
                <a:solidFill>
                  <a:srgbClr val="C00000"/>
                </a:solidFill>
                <a:latin typeface="Calibri"/>
                <a:cs typeface="Calibri"/>
              </a:rPr>
              <a:t>علامة </a:t>
            </a:r>
            <a:r xmlns:a="http://schemas.openxmlformats.org/drawingml/2006/main"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حاوية </a:t>
            </a:r>
            <a:r xmlns:a="http://schemas.openxmlformats.org/drawingml/2006/main">
              <a:rPr sz="3600" spc="-10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3600" dirty="0">
                <a:latin typeface="Calibri"/>
                <a:cs typeface="Calibri"/>
              </a:rPr>
              <a:t>هيكل </a:t>
            </a:r>
            <a:r xmlns:a="http://schemas.openxmlformats.org/drawingml/2006/main">
              <a:rPr sz="3600" spc="-1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600" spc="-6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spc="-5" dirty="0">
                <a:latin typeface="Calibri"/>
                <a:cs typeface="Calibri"/>
              </a:rPr>
              <a:t>قسم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.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355600" marR="1078865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600" b="1" spc="-15" dirty="0">
                <a:latin typeface="Calibri"/>
                <a:cs typeface="Calibri"/>
              </a:rPr>
              <a:t>يحتوي </a:t>
            </a:r>
            <a:r xmlns:a="http://schemas.openxmlformats.org/drawingml/2006/main">
              <a:rPr sz="3600" b="1" spc="-5" dirty="0">
                <a:latin typeface="Calibri"/>
                <a:cs typeface="Calibri"/>
              </a:rPr>
              <a:t>هذا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الجزء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600" b="1" spc="-25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3600" b="1" spc="-20" dirty="0">
                <a:latin typeface="Calibri"/>
                <a:cs typeface="Calibri"/>
              </a:rPr>
              <a:t>الذي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سيتم 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عرضه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المتصفح</a:t>
            </a:r>
            <a:r xmlns:a="http://schemas.openxmlformats.org/drawingml/2006/main">
              <a:rPr sz="3600" b="1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35" dirty="0">
                <a:latin typeface="Calibri"/>
                <a:cs typeface="Calibri"/>
              </a:rPr>
              <a:t>نافذة او شباك.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5600" algn="l"/>
                <a:tab pos="4088129" algn="l"/>
              </a:tabLst>
              <a:bidi/>
            </a:pPr>
            <a:r xmlns:a="http://schemas.openxmlformats.org/drawingml/2006/main">
              <a:rPr sz="3600" b="1" dirty="0">
                <a:latin typeface="Calibri"/>
                <a:cs typeface="Calibri"/>
              </a:rPr>
              <a:t>بعض</a:t>
            </a:r>
            <a:r xmlns:a="http://schemas.openxmlformats.org/drawingml/2006/main">
              <a:rPr sz="3600" b="1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15" dirty="0">
                <a:latin typeface="Calibri"/>
                <a:cs typeface="Calibri"/>
              </a:rPr>
              <a:t>سمات </a:t>
            </a:r>
            <a:r xmlns:a="http://schemas.openxmlformats.org/drawingml/2006/main">
              <a:rPr sz="3600" b="1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&lt;body&gt; .. &lt;/body </a:t>
            </a:r>
            <a:r xmlns:a="http://schemas.openxmlformats.org/drawingml/2006/main">
              <a:rPr sz="3600" b="1" spc="-15" dirty="0">
                <a:solidFill>
                  <a:srgbClr val="006FC0"/>
                </a:solidFill>
                <a:latin typeface="Calibri"/>
                <a:cs typeface="Calibri"/>
              </a:rPr>
              <a:t>&gt;</a:t>
            </a:r>
            <a:endParaRPr xmlns:a="http://schemas.openxmlformats.org/drawingml/2006/main" sz="3600">
              <a:latin typeface="Calibri"/>
              <a:cs typeface="Calibri"/>
            </a:endParaRPr>
          </a:p>
          <a:p>
            <a:pPr xmlns:a="http://schemas.openxmlformats.org/drawingml/2006/main" marL="355600" marR="59563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  <a:bidi/>
            </a:pPr>
            <a:r xmlns:a="http://schemas.openxmlformats.org/drawingml/2006/main"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الخلفية ، </a:t>
            </a:r>
            <a:r xmlns:a="http://schemas.openxmlformats.org/drawingml/2006/main">
              <a:rPr sz="3600" b="1" spc="-35" dirty="0">
                <a:solidFill>
                  <a:srgbClr val="FF0000"/>
                </a:solidFill>
                <a:latin typeface="Calibri"/>
                <a:cs typeface="Calibri"/>
              </a:rPr>
              <a:t>bgcolour </a:t>
            </a:r>
            <a:r xmlns:a="http://schemas.openxmlformats.org/drawingml/2006/main">
              <a:rPr sz="3600" b="1" spc="-35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3600" b="1" spc="-25" dirty="0">
                <a:solidFill>
                  <a:srgbClr val="C00000"/>
                </a:solidFill>
                <a:latin typeface="Calibri"/>
                <a:cs typeface="Calibri"/>
              </a:rPr>
              <a:t>النص </a:t>
            </a:r>
            <a:r xmlns:a="http://schemas.openxmlformats.org/drawingml/2006/main">
              <a:rPr sz="3600" b="1" spc="-25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3600" b="1" dirty="0">
                <a:solidFill>
                  <a:srgbClr val="00AF50"/>
                </a:solidFill>
                <a:latin typeface="Calibri"/>
                <a:cs typeface="Calibri"/>
              </a:rPr>
              <a:t>الرابط </a:t>
            </a:r>
            <a:r xmlns:a="http://schemas.openxmlformats.org/drawingml/2006/main"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3600" b="1" dirty="0">
                <a:solidFill>
                  <a:srgbClr val="001F5F"/>
                </a:solidFill>
                <a:latin typeface="Calibri"/>
                <a:cs typeface="Calibri"/>
              </a:rPr>
              <a:t>الرابط </a:t>
            </a:r>
            <a:r xmlns:a="http://schemas.openxmlformats.org/drawingml/2006/main">
              <a:rPr sz="3600" b="1" dirty="0">
                <a:solidFill>
                  <a:srgbClr val="006FC0"/>
                </a:solidFill>
                <a:latin typeface="Calibri"/>
                <a:cs typeface="Calibri"/>
              </a:rPr>
              <a:t>،</a:t>
            </a:r>
            <a:r xmlns:a="http://schemas.openxmlformats.org/drawingml/2006/main">
              <a:rPr sz="3600" b="1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5" dirty="0">
                <a:solidFill>
                  <a:srgbClr val="6F2F9F"/>
                </a:solidFill>
                <a:latin typeface="Calibri"/>
                <a:cs typeface="Calibri"/>
              </a:rPr>
              <a:t>vlink </a:t>
            </a:r>
            <a:r xmlns:a="http://schemas.openxmlformats.org/drawingml/2006/main">
              <a:rPr sz="3600" b="1" spc="-5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3600" b="1" spc="-10" dirty="0">
                <a:latin typeface="Calibri"/>
                <a:cs typeface="Calibri"/>
              </a:rPr>
              <a:t>الهامش الأيسر </a:t>
            </a:r>
            <a:r xmlns:a="http://schemas.openxmlformats.org/drawingml/2006/main">
              <a:rPr sz="3600" b="1" spc="-10" dirty="0">
                <a:solidFill>
                  <a:srgbClr val="006FC0"/>
                </a:solidFill>
                <a:latin typeface="Calibri"/>
                <a:cs typeface="Calibri"/>
              </a:rPr>
              <a:t>، </a:t>
            </a:r>
            <a:r xmlns:a="http://schemas.openxmlformats.org/drawingml/2006/main">
              <a:rPr sz="3600" b="1" spc="-10" dirty="0">
                <a:solidFill>
                  <a:srgbClr val="E36C09"/>
                </a:solidFill>
                <a:latin typeface="Calibri"/>
                <a:cs typeface="Calibri"/>
              </a:rPr>
              <a:t>الهامش العلوي</a:t>
            </a:r>
            <a:r xmlns:a="http://schemas.openxmlformats.org/drawingml/2006/main">
              <a:rPr sz="3600" b="1" spc="-1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600" b="1" spc="-20" dirty="0">
                <a:solidFill>
                  <a:srgbClr val="006FC0"/>
                </a:solidFill>
                <a:latin typeface="Calibri"/>
                <a:cs typeface="Calibri"/>
              </a:rPr>
              <a:t>إلخ.،</a:t>
            </a:r>
            <a:endParaRPr xmlns:a="http://schemas.openxmlformats.org/drawingml/2006/main"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9450" y="461594"/>
            <a:ext cx="2703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b="0" spc="-5" dirty="0">
                <a:latin typeface="Calibri"/>
                <a:cs typeface="Calibri"/>
              </a:rPr>
              <a:t>راوند </a:t>
            </a:r>
            <a:r xmlns:a="http://schemas.openxmlformats.org/drawingml/2006/main">
              <a:rPr sz="4400" b="0" spc="-80" dirty="0">
                <a:latin typeface="Calibri"/>
                <a:cs typeface="Calibri"/>
              </a:rPr>
              <a:t>باكج </a:t>
            </a:r>
            <a:r xmlns:a="http://schemas.openxmlformats.org/drawingml/2006/main">
              <a:rPr sz="4400" b="0" spc="-5" dirty="0">
                <a:latin typeface="Calibri"/>
                <a:cs typeface="Calibri"/>
              </a:rPr>
              <a:t>_</a:t>
            </a:r>
            <a:endParaRPr xmlns:a="http://schemas.openxmlformats.org/drawingml/2006/main"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10740"/>
            <a:ext cx="7355205" cy="42208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سمة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سمات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&lt;body&gt;</a:t>
            </a:r>
            <a:r xmlns:a="http://schemas.openxmlformats.org/drawingml/2006/main">
              <a:rPr sz="3200" spc="5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716280" indent="-343535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يقوم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بتعيين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صورة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كخلفية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للمستندات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0" dirty="0">
                <a:latin typeface="Calibri"/>
                <a:cs typeface="Calibri"/>
              </a:rPr>
              <a:t>الجسم.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25" dirty="0">
                <a:latin typeface="Calibri"/>
                <a:cs typeface="Calibri"/>
              </a:rPr>
              <a:t>يجعل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الصفحة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أكثر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ملفت للانتباه.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25" dirty="0">
                <a:latin typeface="Calibri"/>
                <a:cs typeface="Calibri"/>
              </a:rPr>
              <a:t>التنسيق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العام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&lt;body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background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= "URL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للصورة"&gt;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مثال: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&lt;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خلفية الجسم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=</a:t>
            </a:r>
            <a:r xmlns:a="http://schemas.openxmlformats.org/drawingml/2006/main">
              <a:rPr sz="3200" spc="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“school.jpg”&gt;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2842895" marR="5080" indent="-2676525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180" dirty="0"/>
              <a:t>لتعيين </a:t>
            </a:r>
            <a:r xmlns:a="http://schemas.openxmlformats.org/drawingml/2006/main">
              <a:rPr spc="-10" dirty="0"/>
              <a:t>صورة </a:t>
            </a:r>
            <a:r xmlns:a="http://schemas.openxmlformats.org/drawingml/2006/main">
              <a:rPr spc="-5" dirty="0"/>
              <a:t>كخلفية </a:t>
            </a:r>
            <a:r xmlns:a="http://schemas.openxmlformats.org/drawingml/2006/main">
              <a:rPr spc="-25" dirty="0"/>
              <a:t>للشبكة </a:t>
            </a:r>
            <a:r xmlns:a="http://schemas.openxmlformats.org/drawingml/2006/main">
              <a:rPr spc="-15" dirty="0"/>
              <a:t>_ </a:t>
            </a:r>
            <a:r xmlns:a="http://schemas.openxmlformats.org/drawingml/2006/main">
              <a:rPr spc="-10" dirty="0"/>
              <a:t>_ </a:t>
            </a:r>
            <a:r xmlns:a="http://schemas.openxmlformats.org/drawingml/2006/main">
              <a:rPr spc="-5" dirty="0"/>
              <a:t>_ </a:t>
            </a:r>
            <a:r xmlns:a="http://schemas.openxmlformats.org/drawingml/2006/main">
              <a:rPr spc="-20" dirty="0"/>
              <a:t>_</a:t>
            </a:r>
            <a:r xmlns:a="http://schemas.openxmlformats.org/drawingml/2006/main">
              <a:rPr dirty="0"/>
              <a:t> </a:t>
            </a:r>
            <a:r xmlns:a="http://schemas.openxmlformats.org/drawingml/2006/main">
              <a:rPr spc="-15" dirty="0"/>
              <a:t>صفحة.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10703"/>
            <a:ext cx="8611870" cy="47085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870"/>
              </a:spcBef>
              <a:bidi/>
            </a:pP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&lt;html&gt;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288290">
              <a:lnSpc>
                <a:spcPct val="100000"/>
              </a:lnSpc>
              <a:spcBef>
                <a:spcPts val="765"/>
              </a:spcBef>
              <a:bidi/>
            </a:pP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&lt;head&gt;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927100">
              <a:lnSpc>
                <a:spcPct val="100000"/>
              </a:lnSpc>
              <a:spcBef>
                <a:spcPts val="770"/>
              </a:spcBef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&lt;title&gt; </a:t>
            </a:r>
            <a:r xmlns:a="http://schemas.openxmlformats.org/drawingml/2006/main">
              <a:rPr sz="3200" b="1" spc="-10" dirty="0">
                <a:solidFill>
                  <a:srgbClr val="00AF50"/>
                </a:solidFill>
                <a:latin typeface="Calibri"/>
                <a:cs typeface="Calibri"/>
              </a:rPr>
              <a:t>صورة </a:t>
            </a:r>
            <a:r xmlns:a="http://schemas.openxmlformats.org/drawingml/2006/main">
              <a:rPr sz="3200" b="1" dirty="0">
                <a:solidFill>
                  <a:srgbClr val="00AF50"/>
                </a:solidFill>
                <a:latin typeface="Calibri"/>
                <a:cs typeface="Calibri"/>
              </a:rPr>
              <a:t>الخلفية</a:t>
            </a:r>
            <a:r xmlns:a="http://schemas.openxmlformats.org/drawingml/2006/main">
              <a:rPr sz="32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&lt;/title&gt;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288290">
              <a:lnSpc>
                <a:spcPct val="100000"/>
              </a:lnSpc>
              <a:spcBef>
                <a:spcPts val="770"/>
              </a:spcBef>
              <a:bidi/>
            </a:pP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&lt;/head&gt;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196850">
              <a:lnSpc>
                <a:spcPct val="100000"/>
              </a:lnSpc>
              <a:spcBef>
                <a:spcPts val="770"/>
              </a:spcBef>
              <a:bidi/>
            </a:pPr>
            <a:r xmlns:a="http://schemas.openxmlformats.org/drawingml/2006/main"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&lt; </a:t>
            </a:r>
            <a:r xmlns:a="http://schemas.openxmlformats.org/drawingml/2006/main">
              <a:rPr sz="3200" b="1" spc="-5" dirty="0">
                <a:solidFill>
                  <a:srgbClr val="00AFEF"/>
                </a:solidFill>
                <a:latin typeface="Calibri"/>
                <a:cs typeface="Calibri"/>
              </a:rPr>
              <a:t>خلفية الجسم </a:t>
            </a:r>
            <a:r xmlns:a="http://schemas.openxmlformats.org/drawingml/2006/main">
              <a:rPr sz="3200" b="1" dirty="0">
                <a:solidFill>
                  <a:srgbClr val="00AFEF"/>
                </a:solidFill>
                <a:latin typeface="Calibri"/>
                <a:cs typeface="Calibri"/>
              </a:rPr>
              <a:t>=</a:t>
            </a:r>
            <a:r xmlns:a="http://schemas.openxmlformats.org/drawingml/2006/main">
              <a:rPr sz="32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200" b="1" dirty="0">
                <a:solidFill>
                  <a:srgbClr val="FFC000"/>
                </a:solidFill>
                <a:latin typeface="Calibri"/>
                <a:cs typeface="Calibri"/>
              </a:rPr>
              <a:t>“school.jpg” </a:t>
            </a:r>
            <a:r xmlns:a="http://schemas.openxmlformats.org/drawingml/2006/main"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196850">
              <a:lnSpc>
                <a:spcPct val="100000"/>
              </a:lnSpc>
              <a:spcBef>
                <a:spcPts val="770"/>
              </a:spcBef>
              <a:tabLst>
                <a:tab pos="7555865" algn="l"/>
              </a:tabLst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&lt;ح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1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&gt;</a:t>
            </a:r>
            <a:r xmlns:a="http://schemas.openxmlformats.org/drawingml/2006/main">
              <a:rPr sz="3200" b="1" spc="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BEM</a:t>
            </a:r>
            <a:r xmlns:a="http://schemas.openxmlformats.org/drawingml/2006/main">
              <a:rPr sz="2600" b="1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أعلى</a:t>
            </a:r>
            <a:r xmlns:a="http://schemas.openxmlformats.org/drawingml/2006/main">
              <a:rPr sz="2600" b="1" spc="-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S </a:t>
            </a:r>
            <a:r xmlns:a="http://schemas.openxmlformats.org/drawingml/2006/main">
              <a:rPr sz="2600" b="1" spc="-35" dirty="0">
                <a:latin typeface="Calibri"/>
                <a:cs typeface="Calibri"/>
              </a:rPr>
              <a:t>E </a:t>
            </a:r>
            <a:r xmlns:a="http://schemas.openxmlformats.org/drawingml/2006/main">
              <a:rPr sz="2600" b="1" spc="-25" dirty="0">
                <a:latin typeface="Calibri"/>
                <a:cs typeface="Calibri"/>
              </a:rPr>
              <a:t>C </a:t>
            </a:r>
            <a:r xmlns:a="http://schemas.openxmlformats.org/drawingml/2006/main">
              <a:rPr sz="2600" b="1" spc="-5" dirty="0">
                <a:latin typeface="Calibri"/>
                <a:cs typeface="Calibri"/>
              </a:rPr>
              <a:t>ON </a:t>
            </a:r>
            <a:r xmlns:a="http://schemas.openxmlformats.org/drawingml/2006/main">
              <a:rPr sz="2600" b="1" spc="-55" dirty="0">
                <a:latin typeface="Calibri"/>
                <a:cs typeface="Calibri"/>
              </a:rPr>
              <a:t>D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A </a:t>
            </a:r>
            <a:r xmlns:a="http://schemas.openxmlformats.org/drawingml/2006/main">
              <a:rPr sz="2600" b="1" spc="-60" dirty="0">
                <a:latin typeface="Calibri"/>
                <a:cs typeface="Calibri"/>
              </a:rPr>
              <a:t>R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Y</a:t>
            </a:r>
            <a:r xmlns:a="http://schemas.openxmlformats.org/drawingml/2006/main">
              <a:rPr sz="2600" b="1" spc="-4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SCH </a:t>
            </a:r>
            <a:r xmlns:a="http://schemas.openxmlformats.org/drawingml/2006/main">
              <a:rPr sz="2600" b="1" spc="5" dirty="0">
                <a:latin typeface="Calibri"/>
                <a:cs typeface="Calibri"/>
              </a:rPr>
              <a:t>O </a:t>
            </a:r>
            <a:r xmlns:a="http://schemas.openxmlformats.org/drawingml/2006/main">
              <a:rPr sz="2600" b="1" spc="-5" dirty="0">
                <a:latin typeface="Calibri"/>
                <a:cs typeface="Calibri"/>
              </a:rPr>
              <a:t>O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L</a:t>
            </a:r>
            <a:r xmlns:a="http://schemas.openxmlformats.org/drawingml/2006/main">
              <a:rPr sz="2600" b="1" spc="-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600" b="1" spc="-180" dirty="0">
                <a:latin typeface="Calibri"/>
                <a:cs typeface="Calibri"/>
              </a:rPr>
              <a:t>P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A </a:t>
            </a:r>
            <a:r xmlns:a="http://schemas.openxmlformats.org/drawingml/2006/main">
              <a:rPr sz="2600" b="1" spc="5" dirty="0">
                <a:latin typeface="Calibri"/>
                <a:cs typeface="Calibri"/>
              </a:rPr>
              <a:t>L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A </a:t>
            </a:r>
            <a:r xmlns:a="http://schemas.openxmlformats.org/drawingml/2006/main">
              <a:rPr sz="2600" b="1" spc="5" dirty="0">
                <a:latin typeface="Calibri"/>
                <a:cs typeface="Calibri"/>
              </a:rPr>
              <a:t>K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K </a:t>
            </a:r>
            <a:r xmlns:a="http://schemas.openxmlformats.org/drawingml/2006/main">
              <a:rPr sz="2600" b="1" spc="5" dirty="0">
                <a:latin typeface="Calibri"/>
                <a:cs typeface="Calibri"/>
              </a:rPr>
              <a:t>A </a:t>
            </a:r>
            <a:r xmlns:a="http://schemas.openxmlformats.org/drawingml/2006/main">
              <a:rPr sz="2600" b="1" dirty="0">
                <a:latin typeface="Calibri"/>
                <a:cs typeface="Calibri"/>
              </a:rPr>
              <a:t>D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&lt;/ H1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196850">
              <a:lnSpc>
                <a:spcPct val="100000"/>
              </a:lnSpc>
              <a:spcBef>
                <a:spcPts val="765"/>
              </a:spcBef>
              <a:bidi/>
            </a:pPr>
            <a:r xmlns:a="http://schemas.openxmlformats.org/drawingml/2006/main">
              <a:rPr sz="3200" b="1" spc="-5" dirty="0">
                <a:solidFill>
                  <a:srgbClr val="FF0000"/>
                </a:solidFill>
                <a:latin typeface="Calibri"/>
                <a:cs typeface="Calibri"/>
              </a:rPr>
              <a:t>&lt;/body&gt;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12700">
              <a:lnSpc>
                <a:spcPct val="100000"/>
              </a:lnSpc>
              <a:spcBef>
                <a:spcPts val="770"/>
              </a:spcBef>
              <a:bidi/>
            </a:pP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&lt;/html&gt;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4938" y="461594"/>
            <a:ext cx="175513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dirty="0">
                <a:solidFill>
                  <a:srgbClr val="C00000"/>
                </a:solidFill>
              </a:rPr>
              <a:t>b </a:t>
            </a:r>
            <a:r xmlns:a="http://schemas.openxmlformats.org/drawingml/2006/main">
              <a:rPr sz="4400" spc="-40" dirty="0">
                <a:solidFill>
                  <a:srgbClr val="C00000"/>
                </a:solidFill>
              </a:rPr>
              <a:t>g </a:t>
            </a:r>
            <a:r xmlns:a="http://schemas.openxmlformats.org/drawingml/2006/main">
              <a:rPr sz="4400" spc="-20" dirty="0">
                <a:solidFill>
                  <a:srgbClr val="C00000"/>
                </a:solidFill>
              </a:rPr>
              <a:t>c </a:t>
            </a:r>
            <a:r xmlns:a="http://schemas.openxmlformats.org/drawingml/2006/main">
              <a:rPr sz="4400" dirty="0">
                <a:solidFill>
                  <a:srgbClr val="C00000"/>
                </a:solidFill>
              </a:rPr>
              <a:t>ol </a:t>
            </a:r>
            <a:r xmlns:a="http://schemas.openxmlformats.org/drawingml/2006/main">
              <a:rPr sz="4400" spc="-20" dirty="0">
                <a:solidFill>
                  <a:srgbClr val="C00000"/>
                </a:solidFill>
              </a:rPr>
              <a:t>o </a:t>
            </a:r>
            <a:r xmlns:a="http://schemas.openxmlformats.org/drawingml/2006/main">
              <a:rPr sz="4400" dirty="0">
                <a:solidFill>
                  <a:srgbClr val="C00000"/>
                </a:solidFill>
              </a:rPr>
              <a:t>r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863840" cy="392811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سمة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سمات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الجسد</a:t>
            </a:r>
            <a:r xmlns:a="http://schemas.openxmlformats.org/drawingml/2006/main">
              <a:rPr sz="3200" spc="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لونًا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لخلفية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نص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50" dirty="0">
                <a:latin typeface="Calibri"/>
                <a:cs typeface="Calibri"/>
              </a:rPr>
              <a:t>. </a:t>
            </a:r>
            <a:endParaRPr xmlns:a="http://schemas.openxmlformats.org/drawingml/2006/main" sz="3200">
              <a:latin typeface="Calibri"/>
              <a:cs typeface="Calibri"/>
            </a:endParaRP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marR="3111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يمكن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إعطاء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قيمة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السمة </a:t>
            </a: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bgcolor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بطريقتين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Color_name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رقم سداسي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مثال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&lt;الجسم </a:t>
            </a: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bgcolor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=</a:t>
            </a:r>
            <a:r xmlns:a="http://schemas.openxmlformats.org/drawingml/2006/main">
              <a:rPr sz="3200" b="1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أزرق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"&gt;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370" y="461594"/>
            <a:ext cx="9366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55" dirty="0">
                <a:solidFill>
                  <a:srgbClr val="C00000"/>
                </a:solidFill>
              </a:rPr>
              <a:t>ر </a:t>
            </a:r>
            <a:r xmlns:a="http://schemas.openxmlformats.org/drawingml/2006/main">
              <a:rPr sz="4400" spc="-70" dirty="0">
                <a:solidFill>
                  <a:srgbClr val="C00000"/>
                </a:solidFill>
              </a:rPr>
              <a:t>ه </a:t>
            </a:r>
            <a:r xmlns:a="http://schemas.openxmlformats.org/drawingml/2006/main">
              <a:rPr sz="4400" spc="-5" dirty="0">
                <a:solidFill>
                  <a:srgbClr val="C00000"/>
                </a:solidFill>
              </a:rPr>
              <a:t>xt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17750"/>
            <a:ext cx="7763509" cy="42786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xmlns:a="http://schemas.openxmlformats.org/drawingml/2006/main" marL="355600" indent="-34353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000" dirty="0">
                <a:latin typeface="Calibri"/>
                <a:cs typeface="Calibri"/>
              </a:rPr>
              <a:t>إنها سمة من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سمات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الجسد</a:t>
            </a:r>
            <a:r xmlns:a="http://schemas.openxmlformats.org/drawingml/2006/main">
              <a:rPr sz="3000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000">
              <a:latin typeface="Calibri"/>
              <a:cs typeface="Calibri"/>
            </a:endParaRPr>
          </a:p>
          <a:p>
            <a:pPr xmlns:a="http://schemas.openxmlformats.org/drawingml/2006/main" marL="355600" marR="154305" indent="-343535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000" spc="-10" dirty="0">
                <a:latin typeface="Calibri"/>
                <a:cs typeface="Calibri"/>
              </a:rPr>
              <a:t>تحدد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لون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محتوى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3000" spc="-2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الصفحة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. </a:t>
            </a:r>
            <a:endParaRPr xmlns:a="http://schemas.openxmlformats.org/drawingml/2006/main" sz="3000">
              <a:latin typeface="Calibri"/>
              <a:cs typeface="Calibri"/>
            </a:endParaRPr>
            <a:r xmlns:a="http://schemas.openxmlformats.org/drawingml/2006/main">
              <a:rPr sz="30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spc="-25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marR="38100" indent="-343535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000" spc="-20" dirty="0">
                <a:latin typeface="Calibri"/>
                <a:cs typeface="Calibri"/>
              </a:rPr>
              <a:t>يعرض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المتصفح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افتراضيًا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باللون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الأسود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أبيض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000" spc="-20" dirty="0">
                <a:latin typeface="Calibri"/>
                <a:cs typeface="Calibri"/>
              </a:rPr>
              <a:t>رمادي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spc="-2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0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معرفتي.</a:t>
            </a:r>
            <a:endParaRPr xmlns:a="http://schemas.openxmlformats.org/drawingml/2006/main" sz="3000">
              <a:latin typeface="Calibri"/>
              <a:cs typeface="Calibri"/>
            </a:endParaRPr>
          </a:p>
          <a:p>
            <a:pPr xmlns:a="http://schemas.openxmlformats.org/drawingml/2006/main" marL="355600" marR="292100" indent="-343535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000" spc="-5" dirty="0">
                <a:latin typeface="Calibri"/>
                <a:cs typeface="Calibri"/>
              </a:rPr>
              <a:t>يمكن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إعطاء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قيمة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سمة </a:t>
            </a:r>
            <a:r xmlns:a="http://schemas.openxmlformats.org/drawingml/2006/main">
              <a:rPr sz="3000" b="1" spc="-25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بطريقتين </a:t>
            </a:r>
            <a:r xmlns:a="http://schemas.openxmlformats.org/drawingml/2006/main">
              <a:rPr sz="3000" spc="-30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000" b="1" spc="-5" dirty="0">
                <a:latin typeface="Calibri"/>
                <a:cs typeface="Calibri"/>
              </a:rPr>
              <a:t>Color_name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0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b="1" spc="-10" dirty="0">
                <a:latin typeface="Calibri"/>
                <a:cs typeface="Calibri"/>
              </a:rPr>
              <a:t>رقم سداسي</a:t>
            </a:r>
            <a:endParaRPr xmlns:a="http://schemas.openxmlformats.org/drawingml/2006/main" sz="30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000" spc="-10" dirty="0">
                <a:latin typeface="Calibri"/>
                <a:cs typeface="Calibri"/>
              </a:rPr>
              <a:t>مثال</a:t>
            </a:r>
            <a:r xmlns:a="http://schemas.openxmlformats.org/drawingml/2006/main">
              <a:rPr sz="3000" spc="-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:</a:t>
            </a:r>
            <a:endParaRPr xmlns:a="http://schemas.openxmlformats.org/drawingml/2006/main" sz="30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000" b="1" spc="-5" dirty="0">
                <a:latin typeface="Calibri"/>
                <a:cs typeface="Calibri"/>
              </a:rPr>
              <a:t>&lt;body </a:t>
            </a:r>
            <a:r xmlns:a="http://schemas.openxmlformats.org/drawingml/2006/main"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text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= </a:t>
            </a:r>
            <a:r xmlns:a="http://schemas.openxmlformats.org/drawingml/2006/main">
              <a:rPr sz="3000" b="1" spc="-10" dirty="0">
                <a:latin typeface="Calibri"/>
                <a:cs typeface="Calibri"/>
              </a:rPr>
              <a:t>“ </a:t>
            </a:r>
            <a:r xmlns:a="http://schemas.openxmlformats.org/drawingml/2006/main"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 xmlns:a="http://schemas.openxmlformats.org/drawingml/2006/main">
              <a:rPr sz="3000" b="1" spc="-10" dirty="0">
                <a:latin typeface="Calibri"/>
                <a:cs typeface="Calibri"/>
              </a:rPr>
              <a:t>”&gt;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000" b="1" spc="-5" dirty="0">
                <a:latin typeface="Calibri"/>
                <a:cs typeface="Calibri"/>
              </a:rPr>
              <a:t>&lt;body </a:t>
            </a:r>
            <a:r xmlns:a="http://schemas.openxmlformats.org/drawingml/2006/main">
              <a:rPr sz="3000" b="1" spc="-25" dirty="0">
                <a:solidFill>
                  <a:srgbClr val="C00000"/>
                </a:solidFill>
                <a:latin typeface="Calibri"/>
                <a:cs typeface="Calibri"/>
              </a:rPr>
              <a:t>text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=</a:t>
            </a:r>
            <a:r xmlns:a="http://schemas.openxmlformats.org/drawingml/2006/main">
              <a:rPr sz="3000" b="1" spc="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b="1" spc="-5" dirty="0">
                <a:latin typeface="Calibri"/>
                <a:cs typeface="Calibri"/>
              </a:rPr>
              <a:t>“ </a:t>
            </a:r>
            <a:r xmlns:a="http://schemas.openxmlformats.org/drawingml/2006/main"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# ff0000 </a:t>
            </a:r>
            <a:r xmlns:a="http://schemas.openxmlformats.org/drawingml/2006/main">
              <a:rPr sz="3000" b="1" spc="-5" dirty="0">
                <a:latin typeface="Calibri"/>
                <a:cs typeface="Calibri"/>
              </a:rPr>
              <a:t>”&gt;</a:t>
            </a:r>
            <a:endParaRPr xmlns:a="http://schemas.openxmlformats.org/drawingml/2006/main"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4189" y="461594"/>
            <a:ext cx="4595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dirty="0">
                <a:solidFill>
                  <a:srgbClr val="C00000"/>
                </a:solidFill>
              </a:rPr>
              <a:t>Link و </a:t>
            </a:r>
            <a:r xmlns:a="http://schemas.openxmlformats.org/drawingml/2006/main">
              <a:rPr sz="4400" spc="-5" dirty="0">
                <a:solidFill>
                  <a:srgbClr val="C00000"/>
                </a:solidFill>
              </a:rPr>
              <a:t>alink </a:t>
            </a:r>
            <a:r xmlns:a="http://schemas.openxmlformats.org/drawingml/2006/main">
              <a:rPr sz="4400" dirty="0">
                <a:solidFill>
                  <a:srgbClr val="C00000"/>
                </a:solidFill>
              </a:rPr>
              <a:t>و</a:t>
            </a:r>
            <a:r xmlns:a="http://schemas.openxmlformats.org/drawingml/2006/main">
              <a:rPr sz="4400" spc="-65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sz="4400" spc="-5" dirty="0">
                <a:solidFill>
                  <a:srgbClr val="C00000"/>
                </a:solidFill>
              </a:rPr>
              <a:t>vlink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9305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1905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الارتباط </a:t>
            </a:r>
            <a:endParaRPr xmlns:a="http://schemas.openxmlformats.org/drawingml/2006/main" sz="3200">
              <a:latin typeface="Calibri"/>
              <a:cs typeface="Calibri"/>
            </a:endParaRPr>
            <a:r xmlns:a="http://schemas.openxmlformats.org/drawingml/2006/main">
              <a:rPr sz="3200" spc="-10" dirty="0">
                <a:latin typeface="Calibri"/>
                <a:cs typeface="Calibri"/>
              </a:rPr>
              <a:t>التشعبي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هو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عنصر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نص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صورة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يمكننا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النقر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عليها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والانتقال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مستند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آخر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قسم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آخر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نفس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marR="5270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يشير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الارتباط التشعبي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مستند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بأكمله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عنصر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معين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داخل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المستند.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link و alink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3200" b="1" spc="-5" dirty="0">
                <a:solidFill>
                  <a:srgbClr val="C00000"/>
                </a:solidFill>
                <a:latin typeface="Calibri"/>
                <a:cs typeface="Calibri"/>
              </a:rPr>
              <a:t>vlink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هي سمات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لعلامة </a:t>
            </a:r>
            <a:endParaRPr xmlns:a="http://schemas.openxmlformats.org/drawingml/2006/main" sz="3200">
              <a:latin typeface="Calibri"/>
              <a:cs typeface="Calibri"/>
            </a:endParaRPr>
            <a:r xmlns:a="http://schemas.openxmlformats.org/drawingml/2006/main">
              <a:rPr sz="3200" spc="-5" dirty="0">
                <a:latin typeface="Calibri"/>
                <a:cs typeface="Calibri"/>
              </a:rPr>
              <a:t>الجسم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97965"/>
            <a:ext cx="8101330" cy="5099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1701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  <a:bidi/>
            </a:pP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الرابط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لون </a:t>
            </a:r>
            <a:r xmlns:a="http://schemas.openxmlformats.org/drawingml/2006/main">
              <a:rPr sz="3200" spc="-55" dirty="0">
                <a:latin typeface="Calibri"/>
                <a:cs typeface="Calibri"/>
              </a:rPr>
              <a:t>الارتباطات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التشعبية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التي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لم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يزورها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المشاهد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b="1" spc="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اللون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الافتراضي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هو</a:t>
            </a:r>
            <a:r xmlns:a="http://schemas.openxmlformats.org/drawingml/2006/main">
              <a:rPr sz="32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أزرق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Alink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لون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الارتباط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التشعبي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النشط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يظل الرابط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نشطًا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فقط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اللحظة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التي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يتم فيها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النقر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بالماوس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عليه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اللون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الافتراضي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هو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10" dirty="0">
                <a:solidFill>
                  <a:srgbClr val="00AF50"/>
                </a:solidFill>
                <a:latin typeface="Calibri"/>
                <a:cs typeface="Calibri"/>
              </a:rPr>
              <a:t>أخضر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27622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dirty="0">
                <a:solidFill>
                  <a:srgbClr val="C00000"/>
                </a:solidFill>
                <a:latin typeface="Calibri"/>
                <a:cs typeface="Calibri"/>
              </a:rPr>
              <a:t>Vlink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لون </a:t>
            </a:r>
            <a:r xmlns:a="http://schemas.openxmlformats.org/drawingml/2006/main">
              <a:rPr sz="3200" spc="-50" dirty="0">
                <a:latin typeface="Calibri"/>
                <a:cs typeface="Calibri"/>
              </a:rPr>
              <a:t>الارتباط </a:t>
            </a:r>
            <a:r xmlns:a="http://schemas.openxmlformats.org/drawingml/2006/main">
              <a:rPr sz="3200" b="1" spc="-15" dirty="0">
                <a:latin typeface="Calibri"/>
                <a:cs typeface="Calibri"/>
              </a:rPr>
              <a:t>التشعبي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الذي </a:t>
            </a:r>
            <a:r xmlns:a="http://schemas.openxmlformats.org/drawingml/2006/main">
              <a:rPr sz="3200" b="1" spc="5" dirty="0">
                <a:latin typeface="Calibri"/>
                <a:cs typeface="Calibri"/>
              </a:rPr>
              <a:t>قام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المشاهد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بزيارته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بالفعل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اللون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الافتراضي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هو</a:t>
            </a:r>
            <a:r xmlns:a="http://schemas.openxmlformats.org/drawingml/2006/main">
              <a:rPr sz="3200" spc="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solidFill>
                  <a:srgbClr val="6F2F9F"/>
                </a:solidFill>
                <a:latin typeface="Calibri"/>
                <a:cs typeface="Calibri"/>
              </a:rPr>
              <a:t>أرجواني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.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2188" y="461594"/>
            <a:ext cx="6122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10" dirty="0">
                <a:solidFill>
                  <a:srgbClr val="FF0000"/>
                </a:solidFill>
              </a:rPr>
              <a:t>Leftmargin </a:t>
            </a:r>
            <a:r xmlns:a="http://schemas.openxmlformats.org/drawingml/2006/main">
              <a:rPr sz="4400" dirty="0">
                <a:solidFill>
                  <a:srgbClr val="FF0000"/>
                </a:solidFill>
              </a:rPr>
              <a:t>و</a:t>
            </a:r>
            <a:r xmlns:a="http://schemas.openxmlformats.org/drawingml/2006/main">
              <a:rPr sz="4400" spc="-70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4400" spc="-50" dirty="0">
                <a:solidFill>
                  <a:srgbClr val="FF0000"/>
                </a:solidFill>
              </a:rPr>
              <a:t>الهامش العلوي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187055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812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الهامش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الأيسر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يستخدم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لترك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مساحة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فارغة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الجانب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الأيسر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القيمة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محددة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بكسل.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12255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الهامش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العلوي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يستخدم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لترك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مساحة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فارغة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الحافة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العلوية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للمستند</a:t>
            </a:r>
            <a:r xmlns:a="http://schemas.openxmlformats.org/drawingml/2006/main">
              <a:rPr sz="32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نافذة او شباك.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>
              <a:lnSpc>
                <a:spcPct val="100000"/>
              </a:lnSpc>
              <a:spcBef>
                <a:spcPts val="5"/>
              </a:spcBef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القيمة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محددة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بالبكسل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. </a:t>
            </a:r>
            <a:endParaRPr xmlns:a="http://schemas.openxmlformats.org/drawingml/2006/main" sz="3200">
              <a:latin typeface="Calibri"/>
              <a:cs typeface="Calibri"/>
            </a:endParaRPr>
            <a:r xmlns:a="http://schemas.openxmlformats.org/drawingml/2006/main">
              <a:rPr sz="3200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على سبيل المثال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: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927100">
              <a:lnSpc>
                <a:spcPct val="100000"/>
              </a:lnSpc>
              <a:spcBef>
                <a:spcPts val="770"/>
              </a:spcBef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&lt;body </a:t>
            </a:r>
            <a:r xmlns:a="http://schemas.openxmlformats.org/drawingml/2006/main"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leftmargin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= </a:t>
            </a: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"60" </a:t>
            </a:r>
            <a:r xmlns:a="http://schemas.openxmlformats.org/drawingml/2006/main"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topmargin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=</a:t>
            </a:r>
            <a:r xmlns:a="http://schemas.openxmlformats.org/drawingml/2006/main">
              <a:rPr sz="3200" b="1" spc="-5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solidFill>
                  <a:srgbClr val="006FC0"/>
                </a:solidFill>
                <a:latin typeface="Calibri"/>
                <a:cs typeface="Calibri"/>
              </a:rPr>
              <a:t>"70"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&gt;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7904" y="461594"/>
            <a:ext cx="4576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dirty="0">
                <a:solidFill>
                  <a:srgbClr val="FF0000"/>
                </a:solidFill>
              </a:rPr>
              <a:t>بعضها شائع</a:t>
            </a:r>
            <a:r xmlns:a="http://schemas.openxmlformats.org/drawingml/2006/main">
              <a:rPr sz="4400" spc="-100" dirty="0">
                <a:solidFill>
                  <a:srgbClr val="FF0000"/>
                </a:solidFill>
              </a:rPr>
              <a:t> </a:t>
            </a:r>
            <a:r xmlns:a="http://schemas.openxmlformats.org/drawingml/2006/main">
              <a:rPr sz="4400" spc="-15" dirty="0">
                <a:solidFill>
                  <a:srgbClr val="FF0000"/>
                </a:solidFill>
              </a:rPr>
              <a:t>العلامات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560309" cy="361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تُستخدم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لتنسيق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محتويات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قسم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النص في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مستند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،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وبالتالي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يطلق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عليها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التنسيق</a:t>
            </a:r>
            <a:r xmlns:a="http://schemas.openxmlformats.org/drawingml/2006/main">
              <a:rPr sz="3200" b="1" spc="-7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العلامات.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5276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  <a:tab pos="528320" algn="l"/>
              </a:tabLst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HEADING </a:t>
            </a:r>
            <a:r xmlns:a="http://schemas.openxmlformats.org/drawingml/2006/main">
              <a:rPr sz="3200" b="1" spc="-75" dirty="0">
                <a:latin typeface="Calibri"/>
                <a:cs typeface="Calibri"/>
              </a:rPr>
              <a:t>TAGS من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&lt;H1&gt; </a:t>
            </a:r>
            <a:r xmlns:a="http://schemas.openxmlformats.org/drawingml/2006/main">
              <a:rPr sz="3200" b="1" spc="-20" dirty="0">
                <a:latin typeface="Calibri"/>
                <a:cs typeface="Calibri"/>
              </a:rPr>
              <a:t>إلى</a:t>
            </a:r>
            <a:r xmlns:a="http://schemas.openxmlformats.org/drawingml/2006/main">
              <a:rPr sz="3200" b="1" spc="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&lt;H6&gt;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927100" lvl="1" indent="-51435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15" dirty="0">
                <a:latin typeface="Calibri"/>
                <a:cs typeface="Calibri"/>
              </a:rPr>
              <a:t>السمة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الرئيسية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لهذه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العلامة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هي</a:t>
            </a:r>
            <a:r xmlns:a="http://schemas.openxmlformats.org/drawingml/2006/main">
              <a:rPr sz="2800" b="1" spc="10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محاذاة.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lvl="1" indent="-5143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10" dirty="0">
                <a:latin typeface="Calibri"/>
                <a:cs typeface="Calibri"/>
              </a:rPr>
              <a:t>القيم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الممكنة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اليسار ، اليمين ،</a:t>
            </a:r>
            <a:r xmlns:a="http://schemas.openxmlformats.org/drawingml/2006/main">
              <a:rPr sz="2800" b="1" spc="14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0" dirty="0">
                <a:solidFill>
                  <a:srgbClr val="001F5F"/>
                </a:solidFill>
                <a:latin typeface="Calibri"/>
                <a:cs typeface="Calibri"/>
              </a:rPr>
              <a:t>المركز.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lvl="1" indent="-5143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على سبيل المثال. </a:t>
            </a: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&lt;H1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ALIGN = </a:t>
            </a:r>
            <a:r xmlns:a="http://schemas.openxmlformats.org/drawingml/2006/main"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LEFT </a:t>
            </a:r>
            <a:r xmlns:a="http://schemas.openxmlformats.org/drawingml/2006/main">
              <a:rPr sz="2800" b="1" spc="5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&gt;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HEADER-1</a:t>
            </a:r>
            <a:r xmlns:a="http://schemas.openxmlformats.org/drawingml/2006/main">
              <a:rPr sz="2800" b="1" spc="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&lt;/H1&gt;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4397"/>
            <a:ext cx="54730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  <a:bidi/>
            </a:pPr>
            <a:r xmlns:a="http://schemas.openxmlformats.org/drawingml/2006/main">
              <a:rPr sz="3200" spc="-5" dirty="0"/>
              <a:t>2. </a:t>
            </a:r>
            <a:r xmlns:a="http://schemas.openxmlformats.org/drawingml/2006/main">
              <a:rPr sz="3200" spc="-10" dirty="0"/>
              <a:t>إنشاء </a:t>
            </a:r>
            <a:r xmlns:a="http://schemas.openxmlformats.org/drawingml/2006/main">
              <a:rPr sz="3200" spc="-15" dirty="0"/>
              <a:t>فقرات </a:t>
            </a:r>
            <a:r xmlns:a="http://schemas.openxmlformats.org/drawingml/2006/main">
              <a:rPr sz="3200" dirty="0"/>
              <a:t>- </a:t>
            </a:r>
            <a:r xmlns:a="http://schemas.openxmlformats.org/drawingml/2006/main">
              <a:rPr sz="3200" spc="-5" dirty="0"/>
              <a:t>&lt;P&gt;</a:t>
            </a:r>
            <a:r xmlns:a="http://schemas.openxmlformats.org/drawingml/2006/main">
              <a:rPr sz="3200" spc="-110" dirty="0"/>
              <a:t> </a:t>
            </a:r>
            <a:r xmlns:a="http://schemas.openxmlformats.org/drawingml/2006/main">
              <a:rPr sz="3200" spc="-10" dirty="0"/>
              <a:t>بطاقة شعار</a:t>
            </a:r>
            <a:endParaRPr xmlns:a="http://schemas.openxmlformats.org/drawingml/2006/main"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177798"/>
            <a:ext cx="8267700" cy="50431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xmlns:a="http://schemas.openxmlformats.org/drawingml/2006/main" marL="927100" marR="5080" indent="-513715">
              <a:lnSpc>
                <a:spcPts val="3030"/>
              </a:lnSpc>
              <a:spcBef>
                <a:spcPts val="470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15" dirty="0">
                <a:latin typeface="Calibri"/>
                <a:cs typeface="Calibri"/>
              </a:rPr>
              <a:t>يشير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فقرة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جديدة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ويوجه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المتصفح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لإضافة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سطر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فارغ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قبل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b="1" spc="1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فقرة.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indent="-51435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927100" algn="l"/>
                <a:tab pos="927735" algn="l"/>
                <a:tab pos="3907154" algn="l"/>
              </a:tabLst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إنها</a:t>
            </a:r>
            <a:r xmlns:a="http://schemas.openxmlformats.org/drawingml/2006/main">
              <a:rPr sz="2800" b="1" spc="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حاوية</a:t>
            </a:r>
            <a:r xmlns:a="http://schemas.openxmlformats.org/drawingml/2006/main">
              <a:rPr sz="2800" b="1" spc="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&lt;P&gt; …… .. &lt;/P&gt;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indent="-5143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15" dirty="0">
                <a:latin typeface="Calibri"/>
                <a:cs typeface="Calibri"/>
              </a:rPr>
              <a:t>السمة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الرئيسية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لهذه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العلامة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هي</a:t>
            </a:r>
            <a:r xmlns:a="http://schemas.openxmlformats.org/drawingml/2006/main">
              <a:rPr sz="2800" b="1" spc="10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محاذاة.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indent="-5143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10" dirty="0">
                <a:latin typeface="Calibri"/>
                <a:cs typeface="Calibri"/>
              </a:rPr>
              <a:t>القيم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الممكنة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اليسار ، اليمين ، </a:t>
            </a:r>
            <a:r xmlns:a="http://schemas.openxmlformats.org/drawingml/2006/main">
              <a:rPr sz="2800" b="1" spc="-45" dirty="0">
                <a:solidFill>
                  <a:srgbClr val="001F5F"/>
                </a:solidFill>
                <a:latin typeface="Calibri"/>
                <a:cs typeface="Calibri"/>
              </a:rPr>
              <a:t>الوسط ،</a:t>
            </a:r>
            <a:r xmlns:a="http://schemas.openxmlformats.org/drawingml/2006/main">
              <a:rPr sz="2800" b="1" spc="1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30" dirty="0">
                <a:solidFill>
                  <a:srgbClr val="001F5F"/>
                </a:solidFill>
                <a:latin typeface="Calibri"/>
                <a:cs typeface="Calibri"/>
              </a:rPr>
              <a:t>يبرر.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indent="-514350">
              <a:lnSpc>
                <a:spcPct val="100000"/>
              </a:lnSpc>
              <a:spcBef>
                <a:spcPts val="335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على سبيل المثال. </a:t>
            </a: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&lt;P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ALIGN = </a:t>
            </a:r>
            <a:r xmlns:a="http://schemas.openxmlformats.org/drawingml/2006/main"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dirty="0">
                <a:solidFill>
                  <a:srgbClr val="C00000"/>
                </a:solidFill>
                <a:latin typeface="Calibri"/>
                <a:cs typeface="Calibri"/>
              </a:rPr>
              <a:t>LEFT </a:t>
            </a:r>
            <a:r xmlns:a="http://schemas.openxmlformats.org/drawingml/2006/main">
              <a:rPr sz="2800" b="1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&gt; </a:t>
            </a:r>
            <a:r xmlns:a="http://schemas.openxmlformats.org/drawingml/2006/main"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محتوى الفقرة</a:t>
            </a:r>
            <a:r xmlns:a="http://schemas.openxmlformats.org/drawingml/2006/main">
              <a:rPr sz="2800" b="1" spc="1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&lt;/P&gt;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Times New Roman"/>
              <a:cs typeface="Times New Roman"/>
            </a:endParaRPr>
          </a:p>
          <a:p>
            <a:pPr xmlns:a="http://schemas.openxmlformats.org/drawingml/2006/main" marL="527685" indent="-515620">
              <a:lnSpc>
                <a:spcPct val="100000"/>
              </a:lnSpc>
              <a:buAutoNum type="arabicPeriod" startAt="3"/>
              <a:tabLst>
                <a:tab pos="527685" algn="l"/>
                <a:tab pos="528320" algn="l"/>
              </a:tabLst>
              <a:bidi/>
            </a:pPr>
            <a:r xmlns:a="http://schemas.openxmlformats.org/drawingml/2006/main">
              <a:rPr sz="3200" b="1" dirty="0">
                <a:latin typeface="Calibri"/>
                <a:cs typeface="Calibri"/>
              </a:rPr>
              <a:t>إدخال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فاصل أسطر </a:t>
            </a:r>
            <a:r xmlns:a="http://schemas.openxmlformats.org/drawingml/2006/main">
              <a:rPr sz="3200" b="1" dirty="0">
                <a:latin typeface="Calibri"/>
                <a:cs typeface="Calibri"/>
              </a:rPr>
              <a:t>- </a:t>
            </a:r>
            <a:r xmlns:a="http://schemas.openxmlformats.org/drawingml/2006/main">
              <a:rPr sz="3200" b="1" spc="-5" dirty="0">
                <a:latin typeface="Calibri"/>
                <a:cs typeface="Calibri"/>
              </a:rPr>
              <a:t>&lt;BR&gt;</a:t>
            </a:r>
            <a:r xmlns:a="http://schemas.openxmlformats.org/drawingml/2006/main">
              <a:rPr sz="3200" b="1" spc="-7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b="1" spc="-10" dirty="0">
                <a:latin typeface="Calibri"/>
                <a:cs typeface="Calibri"/>
              </a:rPr>
              <a:t>بطاقة شعار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927100" marR="664845" lvl="1" indent="-513715">
              <a:lnSpc>
                <a:spcPts val="3030"/>
              </a:lnSpc>
              <a:spcBef>
                <a:spcPts val="730"/>
              </a:spcBef>
              <a:buFont typeface="Arial"/>
              <a:buChar char="–"/>
              <a:tabLst>
                <a:tab pos="927100" algn="l"/>
                <a:tab pos="927735" algn="l"/>
              </a:tabLst>
              <a:bidi/>
            </a:pPr>
            <a:r xmlns:a="http://schemas.openxmlformats.org/drawingml/2006/main">
              <a:rPr sz="2800" b="1" spc="-2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لكسر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السطر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الحالي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للنص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والمتابعة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بداية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السطر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التالي</a:t>
            </a:r>
            <a:r xmlns:a="http://schemas.openxmlformats.org/drawingml/2006/main">
              <a:rPr sz="2800" b="1" spc="9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خط.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927100" lvl="1" indent="-51435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927100" algn="l"/>
                <a:tab pos="927735" algn="l"/>
                <a:tab pos="3451225" algn="l"/>
              </a:tabLst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إنها</a:t>
            </a:r>
            <a:r xmlns:a="http://schemas.openxmlformats.org/drawingml/2006/main">
              <a:rPr sz="2800" b="1" spc="6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فارغة</a:t>
            </a:r>
            <a:r xmlns:a="http://schemas.openxmlformats.org/drawingml/2006/main">
              <a:rPr sz="2800" b="1" spc="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&lt;BR&gt;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أي لا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تنتهي</a:t>
            </a:r>
            <a:r xmlns:a="http://schemas.openxmlformats.org/drawingml/2006/main">
              <a:rPr sz="2800" b="1" spc="6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3165"/>
            <a:ext cx="6285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  <a:bidi/>
            </a:pPr>
            <a:r xmlns:a="http://schemas.openxmlformats.org/drawingml/2006/main">
              <a:rPr sz="3200" spc="-5" dirty="0"/>
              <a:t>4. </a:t>
            </a:r>
            <a:r xmlns:a="http://schemas.openxmlformats.org/drawingml/2006/main">
              <a:rPr sz="3200" spc="-10" dirty="0"/>
              <a:t>إنشاء خط أفقي </a:t>
            </a:r>
            <a:r xmlns:a="http://schemas.openxmlformats.org/drawingml/2006/main">
              <a:rPr sz="3200" dirty="0"/>
              <a:t>- </a:t>
            </a:r>
            <a:r xmlns:a="http://schemas.openxmlformats.org/drawingml/2006/main">
              <a:rPr sz="3200" spc="-5" dirty="0"/>
              <a:t>&lt;HR&gt;</a:t>
            </a:r>
            <a:r xmlns:a="http://schemas.openxmlformats.org/drawingml/2006/main">
              <a:rPr sz="3200" spc="-105" dirty="0"/>
              <a:t> </a:t>
            </a:r>
            <a:r xmlns:a="http://schemas.openxmlformats.org/drawingml/2006/main">
              <a:rPr sz="3200" spc="-10" dirty="0"/>
              <a:t>بطاقة شعار</a:t>
            </a:r>
            <a:endParaRPr xmlns:a="http://schemas.openxmlformats.org/drawingml/2006/main" sz="3200"/>
          </a:p>
        </p:txBody>
      </p:sp>
      <p:sp>
        <p:nvSpPr>
          <p:cNvPr id="3" name="object 3"/>
          <p:cNvSpPr txBox="1"/>
          <p:nvPr/>
        </p:nvSpPr>
        <p:spPr>
          <a:xfrm>
            <a:off x="937056" y="1269237"/>
            <a:ext cx="7311390" cy="420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525780" marR="8255" indent="-5137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0" dirty="0">
                <a:latin typeface="Calibri"/>
                <a:cs typeface="Calibri"/>
              </a:rPr>
              <a:t>ينتج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خطًا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أفقيًا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منتشرًا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عبر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عرض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المتصفح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b="1" spc="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35" dirty="0">
                <a:latin typeface="Calibri"/>
                <a:cs typeface="Calibri"/>
              </a:rPr>
              <a:t>نافذة او شباك.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  <a:tab pos="3048635" algn="l"/>
              </a:tabLst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إنها</a:t>
            </a:r>
            <a:r xmlns:a="http://schemas.openxmlformats.org/drawingml/2006/main">
              <a:rPr sz="2800" b="1" spc="6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فارغة</a:t>
            </a:r>
            <a:r xmlns:a="http://schemas.openxmlformats.org/drawingml/2006/main">
              <a:rPr sz="2800" b="1" spc="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&lt;HR&gt;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131445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5" dirty="0">
                <a:latin typeface="Calibri"/>
                <a:cs typeface="Calibri"/>
              </a:rPr>
              <a:t>السمة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الرئيسية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لهذه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العلامة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المحاذاة ، </a:t>
            </a:r>
            <a:r xmlns:a="http://schemas.openxmlformats.org/drawingml/2006/main"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الحجم ،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العرض ، </a:t>
            </a:r>
            <a:r xmlns:a="http://schemas.openxmlformats.org/drawingml/2006/main">
              <a:rPr sz="2800" b="1" spc="-45" dirty="0">
                <a:solidFill>
                  <a:srgbClr val="C00000"/>
                </a:solidFill>
                <a:latin typeface="Calibri"/>
                <a:cs typeface="Calibri"/>
              </a:rPr>
              <a:t>اللون ،</a:t>
            </a:r>
            <a:r xmlns:a="http://schemas.openxmlformats.org/drawingml/2006/main">
              <a:rPr sz="28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لا ظل.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50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0" dirty="0">
                <a:latin typeface="Calibri"/>
                <a:cs typeface="Calibri"/>
              </a:rPr>
              <a:t>القيم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المحتملة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لسمة </a:t>
            </a:r>
            <a:r xmlns:a="http://schemas.openxmlformats.org/drawingml/2006/main">
              <a:rPr sz="2800" b="1" spc="-5" dirty="0">
                <a:solidFill>
                  <a:srgbClr val="C00000"/>
                </a:solidFill>
                <a:latin typeface="Calibri"/>
                <a:cs typeface="Calibri"/>
              </a:rPr>
              <a:t>المحاذاة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2800" b="1" spc="-15" dirty="0">
                <a:solidFill>
                  <a:srgbClr val="006FC0"/>
                </a:solidFill>
                <a:latin typeface="Calibri"/>
                <a:cs typeface="Calibri"/>
              </a:rPr>
              <a:t>اليسار </a:t>
            </a:r>
            <a:r xmlns:a="http://schemas.openxmlformats.org/drawingml/2006/main"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واليمين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b="1" spc="-15" dirty="0">
                <a:solidFill>
                  <a:srgbClr val="C00000"/>
                </a:solidFill>
                <a:latin typeface="Calibri"/>
                <a:cs typeface="Calibri"/>
              </a:rPr>
              <a:t>_</a:t>
            </a:r>
            <a:r xmlns:a="http://schemas.openxmlformats.org/drawingml/2006/main">
              <a:rPr sz="2800" b="1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0" dirty="0">
                <a:solidFill>
                  <a:srgbClr val="006FC0"/>
                </a:solidFill>
                <a:latin typeface="Calibri"/>
                <a:cs typeface="Calibri"/>
              </a:rPr>
              <a:t>المركز </a:t>
            </a:r>
            <a:r xmlns:a="http://schemas.openxmlformats.org/drawingml/2006/main">
              <a:rPr sz="2800" b="1" spc="-50" dirty="0">
                <a:solidFill>
                  <a:srgbClr val="001F5F"/>
                </a:solidFill>
                <a:latin typeface="Calibri"/>
                <a:cs typeface="Calibri"/>
              </a:rPr>
              <a:t>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311785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  <a:tab pos="6280150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على سبيل المثال. </a:t>
            </a: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&lt;HR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SIZE =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10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15" dirty="0">
                <a:solidFill>
                  <a:srgbClr val="001F5F"/>
                </a:solidFill>
                <a:latin typeface="Calibri"/>
                <a:cs typeface="Calibri"/>
              </a:rPr>
              <a:t>WIDTH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50٪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محاذاة = </a:t>
            </a:r>
            <a:r xmlns:a="http://schemas.openxmlformats.org/drawingml/2006/main">
              <a:rPr sz="2800" b="1" spc="-20" dirty="0">
                <a:solidFill>
                  <a:srgbClr val="001F5F"/>
                </a:solidFill>
                <a:latin typeface="Calibri"/>
                <a:cs typeface="Calibri"/>
              </a:rPr>
              <a:t>لون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CENTER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=</a:t>
            </a:r>
            <a:r xmlns:a="http://schemas.openxmlformats.org/drawingml/2006/main">
              <a:rPr sz="2800" b="1" spc="10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 </a:t>
            </a:r>
            <a:r xmlns:a="http://schemas.openxmlformats.org/drawingml/2006/main"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ذهبي </a:t>
            </a:r>
            <a:r xmlns:a="http://schemas.openxmlformats.org/drawingml/2006/main">
              <a:rPr sz="2800" b="1" spc="-10" dirty="0">
                <a:solidFill>
                  <a:srgbClr val="001F5F"/>
                </a:solidFill>
                <a:latin typeface="Calibri"/>
                <a:cs typeface="Calibri"/>
              </a:rPr>
              <a:t>"</a:t>
            </a:r>
            <a:r xmlns:a="http://schemas.openxmlformats.org/drawingml/2006/main">
              <a:rPr sz="2800" b="1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solidFill>
                  <a:srgbClr val="001F5F"/>
                </a:solidFill>
                <a:latin typeface="Calibri"/>
                <a:cs typeface="Calibri"/>
              </a:rPr>
              <a:t>نوشايد </a:t>
            </a: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&gt;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07642"/>
            <a:ext cx="666495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  <a:bidi/>
            </a:pPr>
            <a:r xmlns:a="http://schemas.openxmlformats.org/drawingml/2006/main">
              <a:rPr sz="3200" spc="-5" dirty="0"/>
              <a:t>5. توسيط </a:t>
            </a:r>
            <a:r xmlns:a="http://schemas.openxmlformats.org/drawingml/2006/main">
              <a:rPr sz="3200" dirty="0"/>
              <a:t>المحتوى </a:t>
            </a:r>
            <a:r xmlns:a="http://schemas.openxmlformats.org/drawingml/2006/main">
              <a:rPr sz="3200" dirty="0"/>
              <a:t>- </a:t>
            </a:r>
            <a:r xmlns:a="http://schemas.openxmlformats.org/drawingml/2006/main">
              <a:rPr sz="3200" spc="-5" dirty="0"/>
              <a:t>&lt;CENTER </a:t>
            </a:r>
            <a:r xmlns:a="http://schemas.openxmlformats.org/drawingml/2006/main">
              <a:rPr sz="3200" spc="-20" dirty="0"/>
              <a:t>&gt;</a:t>
            </a:r>
            <a:r xmlns:a="http://schemas.openxmlformats.org/drawingml/2006/main">
              <a:rPr sz="3200" spc="-30" dirty="0"/>
              <a:t> </a:t>
            </a:r>
            <a:r xmlns:a="http://schemas.openxmlformats.org/drawingml/2006/main">
              <a:rPr sz="3200" spc="-10" dirty="0"/>
              <a:t>بطاقة شعار</a:t>
            </a:r>
            <a:endParaRPr xmlns:a="http://schemas.openxmlformats.org/drawingml/2006/main" sz="3200"/>
          </a:p>
        </p:txBody>
      </p:sp>
      <p:sp>
        <p:nvSpPr>
          <p:cNvPr id="3" name="object 3"/>
          <p:cNvSpPr txBox="1"/>
          <p:nvPr/>
        </p:nvSpPr>
        <p:spPr>
          <a:xfrm>
            <a:off x="937056" y="2184018"/>
            <a:ext cx="7256145" cy="241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525780" marR="383540" indent="-5137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يجلب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إلى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وسط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صفحة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الويب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b="1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أفقيا.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قد يكون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نصًا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صورة أو جدولًا</a:t>
            </a:r>
            <a:r xmlns:a="http://schemas.openxmlformats.org/drawingml/2006/main">
              <a:rPr sz="2800" b="1" spc="15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إلخ.،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  <a:tab pos="3507104" algn="l"/>
              </a:tabLst>
              <a:bidi/>
            </a:pPr>
            <a:r xmlns:a="http://schemas.openxmlformats.org/drawingml/2006/main">
              <a:rPr sz="2800" b="1" spc="-5" dirty="0">
                <a:latin typeface="Calibri"/>
                <a:cs typeface="Calibri"/>
              </a:rPr>
              <a:t>إنها</a:t>
            </a:r>
            <a:r xmlns:a="http://schemas.openxmlformats.org/drawingml/2006/main">
              <a:rPr sz="2800" b="1" spc="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حاوية</a:t>
            </a:r>
            <a:r xmlns:a="http://schemas.openxmlformats.org/drawingml/2006/main">
              <a:rPr sz="2800" b="1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&lt;CENTER&gt;</a:t>
            </a:r>
            <a:r xmlns:a="http://schemas.openxmlformats.org/drawingml/2006/main">
              <a:rPr sz="2800" b="1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…… &lt;/CENTER&gt;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5" dirty="0">
                <a:latin typeface="Calibri"/>
                <a:cs typeface="Calibri"/>
              </a:rPr>
              <a:t>لا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توجد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سمة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لهذا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b="1" spc="114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11861"/>
            <a:ext cx="39141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tabLst>
                <a:tab pos="527685" algn="l"/>
              </a:tabLst>
              <a:bidi/>
            </a:pPr>
            <a:r xmlns:a="http://schemas.openxmlformats.org/drawingml/2006/main">
              <a:rPr sz="3200" spc="-5" dirty="0"/>
              <a:t>6. </a:t>
            </a:r>
            <a:r xmlns:a="http://schemas.openxmlformats.org/drawingml/2006/main">
              <a:rPr sz="3200" spc="-10" dirty="0"/>
              <a:t>علامات تنسيق </a:t>
            </a:r>
            <a:endParaRPr xmlns:a="http://schemas.openxmlformats.org/drawingml/2006/main" sz="3200"/>
            <a:r xmlns:a="http://schemas.openxmlformats.org/drawingml/2006/main">
              <a:rPr sz="3200" spc="-85" dirty="0"/>
              <a:t>النص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7056" y="802284"/>
            <a:ext cx="7421880" cy="52330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xmlns:a="http://schemas.openxmlformats.org/drawingml/2006/main" marL="525780" indent="-513715">
              <a:lnSpc>
                <a:spcPct val="100000"/>
              </a:lnSpc>
              <a:spcBef>
                <a:spcPts val="770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&lt;B&gt;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يضبط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نمط </a:t>
            </a:r>
            <a:r xmlns:a="http://schemas.openxmlformats.org/drawingml/2006/main">
              <a:rPr sz="2800" b="1" spc="-3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غامق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.</a:t>
            </a:r>
            <a:r xmlns:a="http://schemas.openxmlformats.org/drawingml/2006/main">
              <a:rPr sz="2800" b="1" spc="204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&lt;B&gt;…. &lt;/B&gt;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&lt;I&gt;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نمط </a:t>
            </a:r>
            <a:r xmlns:a="http://schemas.openxmlformats.org/drawingml/2006/main">
              <a:rPr sz="2800" b="1" spc="-3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بخط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مائل غامق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.</a:t>
            </a:r>
            <a:r xmlns:a="http://schemas.openxmlformats.org/drawingml/2006/main">
              <a:rPr sz="2800" b="1" spc="22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&lt;I&gt;…. &lt;/I&gt;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&lt;U&gt; -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لتسطير </a:t>
            </a:r>
            <a:r xmlns:a="http://schemas.openxmlformats.org/drawingml/2006/main">
              <a:rPr sz="2800" b="1" spc="-3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بتنسيق</a:t>
            </a:r>
            <a:r xmlns:a="http://schemas.openxmlformats.org/drawingml/2006/main">
              <a:rPr sz="2800" b="1" spc="1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لغة البرمجة.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>
              <a:lnSpc>
                <a:spcPct val="100000"/>
              </a:lnSpc>
              <a:bidi/>
            </a:pP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&lt;U&gt;…. &lt;/U&gt;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647065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&lt;S&gt;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&lt;STRIKE&gt;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يضبط </a:t>
            </a:r>
            <a:r xmlns:a="http://schemas.openxmlformats.org/drawingml/2006/main">
              <a:rPr sz="2800" b="1" spc="-3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على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شكل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خط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.</a:t>
            </a:r>
            <a:r xmlns:a="http://schemas.openxmlformats.org/drawingml/2006/main">
              <a:rPr sz="2800" b="1" spc="4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&lt;STRIKE&gt;…. &lt;/STRIKE&gt;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50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&lt;BIG&gt;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يتم استخدامه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لجعل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أكبر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الحجم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من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حجم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العادي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.</a:t>
            </a:r>
            <a:r xmlns:a="http://schemas.openxmlformats.org/drawingml/2006/main">
              <a:rPr sz="2800" b="1" spc="1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&lt;BIG&gt;…. &lt;/BIG&gt;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89154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&lt;SMALL&gt;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-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تستخدم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لجعل </a:t>
            </a:r>
            <a:r xmlns:a="http://schemas.openxmlformats.org/drawingml/2006/main">
              <a:rPr sz="2800" b="1" spc="-25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أصغر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الحجم من </a:t>
            </a:r>
            <a:r xmlns:a="http://schemas.openxmlformats.org/drawingml/2006/main">
              <a:rPr sz="2800" b="1" spc="-3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العادي</a:t>
            </a:r>
            <a:r xmlns:a="http://schemas.openxmlformats.org/drawingml/2006/main">
              <a:rPr sz="2800" b="1" spc="114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بحجم.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>
              <a:lnSpc>
                <a:spcPct val="100000"/>
              </a:lnSpc>
              <a:bidi/>
            </a:pP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&lt;SMALL&gt;…. &lt;/SMALL&gt;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7056" y="848613"/>
            <a:ext cx="7614284" cy="5061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525780" indent="-513715">
              <a:lnSpc>
                <a:spcPct val="100000"/>
              </a:lnSpc>
              <a:spcBef>
                <a:spcPts val="9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&lt;STRONG&gt;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إنه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تمامًا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مثل</a:t>
            </a:r>
            <a:r xmlns:a="http://schemas.openxmlformats.org/drawingml/2006/main">
              <a:rPr sz="2800" b="1" spc="14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&lt;B&gt;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>
              <a:lnSpc>
                <a:spcPct val="100000"/>
              </a:lnSpc>
              <a:bidi/>
            </a:pPr>
            <a:r xmlns:a="http://schemas.openxmlformats.org/drawingml/2006/main">
              <a:rPr sz="2800" b="1" spc="-15" dirty="0">
                <a:solidFill>
                  <a:srgbClr val="00AF50"/>
                </a:solidFill>
                <a:latin typeface="Calibri"/>
                <a:cs typeface="Calibri"/>
              </a:rPr>
              <a:t>&lt;STRONG&gt;…. &lt;/STRONG&gt;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5080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&lt;EM&gt;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نمط </a:t>
            </a:r>
            <a:r xmlns:a="http://schemas.openxmlformats.org/drawingml/2006/main">
              <a:rPr sz="2800" b="1" spc="-3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بخط مائل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.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إنه نفس الشيء مثل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&lt;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I&gt;</a:t>
            </a:r>
            <a:r xmlns:a="http://schemas.openxmlformats.org/drawingml/2006/main">
              <a:rPr sz="2800" b="1" spc="6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&lt;EM&gt;…. &lt;/EM&gt;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274320" indent="-51371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&lt;SUP&gt;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يُستخدم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لإنشاء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نصوص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برمجية في صفحة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ويب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.</a:t>
            </a:r>
            <a:r xmlns:a="http://schemas.openxmlformats.org/drawingml/2006/main">
              <a:rPr sz="2800" b="1" spc="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&lt;SUP&gt;…. &lt;/SUP&gt;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263525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&lt;SUB&gt;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يتم استخدامه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لإنشاء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نصوص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في صفحة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ويب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.</a:t>
            </a:r>
            <a:r xmlns:a="http://schemas.openxmlformats.org/drawingml/2006/main">
              <a:rPr sz="2800" b="1" spc="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5" dirty="0">
                <a:solidFill>
                  <a:srgbClr val="00AF50"/>
                </a:solidFill>
                <a:latin typeface="Calibri"/>
                <a:cs typeface="Calibri"/>
              </a:rPr>
              <a:t>&lt;SUB&gt;…. &lt;/SUB&gt;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 marR="222885" indent="-51371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525780" algn="l"/>
                <a:tab pos="526415" algn="l"/>
              </a:tabLst>
              <a:bidi/>
            </a:pPr>
            <a:r xmlns:a="http://schemas.openxmlformats.org/drawingml/2006/main"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&lt;BLOCKQUOTES&gt;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و </a:t>
            </a:r>
            <a:r xmlns:a="http://schemas.openxmlformats.org/drawingml/2006/main"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&lt;Q&gt;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- يُستخدمان </a:t>
            </a:r>
            <a:r xmlns:a="http://schemas.openxmlformats.org/drawingml/2006/main">
              <a:rPr sz="2800" b="1" spc="-15" dirty="0">
                <a:latin typeface="Calibri"/>
                <a:cs typeface="Calibri"/>
              </a:rPr>
              <a:t>لوضع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مسافة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بادئة </a:t>
            </a:r>
            <a:r xmlns:a="http://schemas.openxmlformats.org/drawingml/2006/main">
              <a:rPr sz="2800" b="1" spc="-20" dirty="0">
                <a:latin typeface="Calibri"/>
                <a:cs typeface="Calibri"/>
              </a:rPr>
              <a:t>للمحتوى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المضمن </a:t>
            </a:r>
            <a:r xmlns:a="http://schemas.openxmlformats.org/drawingml/2006/main">
              <a:rPr sz="2800" b="1" spc="-5" dirty="0">
                <a:latin typeface="Calibri"/>
                <a:cs typeface="Calibri"/>
              </a:rPr>
              <a:t>فيهما</a:t>
            </a:r>
            <a:r xmlns:a="http://schemas.openxmlformats.org/drawingml/2006/main">
              <a:rPr sz="2800" b="1" spc="7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0" dirty="0">
                <a:latin typeface="Calibri"/>
                <a:cs typeface="Calibri"/>
              </a:rPr>
              <a:t>العلامات.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525780">
              <a:lnSpc>
                <a:spcPct val="100000"/>
              </a:lnSpc>
              <a:spcBef>
                <a:spcPts val="5"/>
              </a:spcBef>
              <a:bidi/>
            </a:pPr>
            <a:r xmlns:a="http://schemas.openxmlformats.org/drawingml/2006/main">
              <a:rPr sz="2800" b="1" spc="-25" dirty="0">
                <a:solidFill>
                  <a:srgbClr val="00AF50"/>
                </a:solidFill>
                <a:latin typeface="Calibri"/>
                <a:cs typeface="Calibri"/>
              </a:rPr>
              <a:t>&lt;BLOCKQUOTES&gt;…. &lt;/BLOCKQUOTES&gt;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853" y="496950"/>
            <a:ext cx="77793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10" dirty="0">
                <a:solidFill>
                  <a:srgbClr val="C00000"/>
                </a:solidFill>
              </a:rPr>
              <a:t>&lt;PRE&gt; </a:t>
            </a:r>
            <a:r xmlns:a="http://schemas.openxmlformats.org/drawingml/2006/main">
              <a:rPr spc="-5" dirty="0"/>
              <a:t>- </a:t>
            </a:r>
            <a:r xmlns:a="http://schemas.openxmlformats.org/drawingml/2006/main">
              <a:rPr spc="-15" dirty="0"/>
              <a:t>عرض </a:t>
            </a:r>
            <a:r xmlns:a="http://schemas.openxmlformats.org/drawingml/2006/main">
              <a:rPr spc="-30" dirty="0"/>
              <a:t>منسق مسبقًا</a:t>
            </a:r>
            <a:r xmlns:a="http://schemas.openxmlformats.org/drawingml/2006/main">
              <a:rPr spc="120" dirty="0"/>
              <a:t> </a:t>
            </a:r>
            <a:r xmlns:a="http://schemas.openxmlformats.org/drawingml/2006/main">
              <a:rPr spc="-35" dirty="0"/>
              <a:t>نص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20050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8255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لعرض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المحتوى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كما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أدخلناه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5" dirty="0">
                <a:latin typeface="Calibri"/>
                <a:cs typeface="Calibri"/>
              </a:rPr>
              <a:t>محرر.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يقوم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بإيقاف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تشغيل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التنسيق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التلقائي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المطبق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بواسطة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ملف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5" dirty="0">
                <a:latin typeface="Calibri"/>
                <a:cs typeface="Calibri"/>
              </a:rPr>
              <a:t>المتصفح.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حاوية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5" dirty="0">
                <a:latin typeface="Calibri"/>
                <a:cs typeface="Calibri"/>
              </a:rPr>
              <a:t>&lt;PRE&gt; ……… .. &lt;/PRE&gt;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8502" y="496950"/>
            <a:ext cx="7605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15" dirty="0">
                <a:solidFill>
                  <a:srgbClr val="C00000"/>
                </a:solidFill>
              </a:rPr>
              <a:t>&lt;عنوان&gt; </a:t>
            </a:r>
            <a:r xmlns:a="http://schemas.openxmlformats.org/drawingml/2006/main">
              <a:rPr spc="-5" dirty="0"/>
              <a:t>- </a:t>
            </a:r>
            <a:r xmlns:a="http://schemas.openxmlformats.org/drawingml/2006/main">
              <a:rPr spc="-15" dirty="0"/>
              <a:t>عرض </a:t>
            </a:r>
            <a:r xmlns:a="http://schemas.openxmlformats.org/drawingml/2006/main">
              <a:rPr spc="-5" dirty="0"/>
              <a:t>ملف</a:t>
            </a:r>
            <a:r xmlns:a="http://schemas.openxmlformats.org/drawingml/2006/main">
              <a:rPr spc="85" dirty="0"/>
              <a:t> </a:t>
            </a:r>
            <a:r xmlns:a="http://schemas.openxmlformats.org/drawingml/2006/main">
              <a:rPr spc="-15" dirty="0"/>
              <a:t>تبوك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273925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تحدد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معلومات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الاتصال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لمؤلف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/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مالك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ملف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مقالة - سلعة.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marR="2159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تعرض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معظم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المتصفحات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النصوص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بخط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مائل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 </a:t>
            </a:r>
            <a:endParaRPr xmlns:a="http://schemas.openxmlformats.org/drawingml/2006/main" sz="3200">
              <a:latin typeface="Calibri"/>
              <a:cs typeface="Calibri"/>
            </a:endParaRP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حاوية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  <a:bidi/>
            </a:pPr>
            <a:r xmlns:a="http://schemas.openxmlformats.org/drawingml/2006/main">
              <a:rPr sz="3200" b="1" spc="-15" dirty="0">
                <a:latin typeface="Calibri"/>
                <a:cs typeface="Calibri"/>
              </a:rPr>
              <a:t>&lt;ADDRESS&gt; ……… .. .. &lt;/ADDRESS&gt;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137" y="568197"/>
            <a:ext cx="78105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spc="-5" dirty="0">
                <a:solidFill>
                  <a:srgbClr val="C00000"/>
                </a:solidFill>
              </a:rPr>
              <a:t>&lt;DIV&gt; </a:t>
            </a:r>
            <a:r xmlns:a="http://schemas.openxmlformats.org/drawingml/2006/main">
              <a:rPr sz="4400" dirty="0"/>
              <a:t>- </a:t>
            </a:r>
            <a:r xmlns:a="http://schemas.openxmlformats.org/drawingml/2006/main">
              <a:rPr sz="4400" spc="-15" dirty="0"/>
              <a:t>تنسيق </a:t>
            </a:r>
            <a:r xmlns:a="http://schemas.openxmlformats.org/drawingml/2006/main">
              <a:rPr sz="4400" dirty="0"/>
              <a:t>كتلة </a:t>
            </a:r>
            <a:r xmlns:a="http://schemas.openxmlformats.org/drawingml/2006/main">
              <a:rPr sz="4400" spc="-10" dirty="0"/>
              <a:t>من</a:t>
            </a:r>
            <a:r xmlns:a="http://schemas.openxmlformats.org/drawingml/2006/main">
              <a:rPr sz="4400" spc="-30" dirty="0"/>
              <a:t> </a:t>
            </a:r>
            <a:r xmlns:a="http://schemas.openxmlformats.org/drawingml/2006/main">
              <a:rPr sz="4400" spc="-35" dirty="0"/>
              <a:t>نص</a:t>
            </a:r>
            <a:endParaRPr xmlns:a="http://schemas.openxmlformats.org/drawingml/2006/main" sz="4400"/>
          </a:p>
        </p:txBody>
      </p:sp>
      <p:sp>
        <p:nvSpPr>
          <p:cNvPr id="3" name="object 3"/>
          <p:cNvSpPr txBox="1"/>
          <p:nvPr/>
        </p:nvSpPr>
        <p:spPr>
          <a:xfrm>
            <a:off x="307340" y="1912747"/>
            <a:ext cx="8147050" cy="268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يتم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استخدامه 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لتعريف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قسم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أو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كتلة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المستند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. </a:t>
            </a:r>
            <a:endParaRPr xmlns:a="http://schemas.openxmlformats.org/drawingml/2006/main" sz="3200">
              <a:latin typeface="Calibri"/>
              <a:cs typeface="Calibri"/>
            </a:endParaRPr>
            <a:r xmlns:a="http://schemas.openxmlformats.org/drawingml/2006/main">
              <a:rPr sz="3200" spc="-10" dirty="0">
                <a:latin typeface="Calibri"/>
                <a:cs typeface="Calibri"/>
              </a:rPr>
              <a:t>_</a:t>
            </a: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حاوية</a:t>
            </a:r>
            <a:r xmlns:a="http://schemas.openxmlformats.org/drawingml/2006/main">
              <a:rPr sz="3200" spc="-3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علامة. &lt;DIV&gt; ... &lt;/DIV&gt;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قائمة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السمات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الهامة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8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&lt;DIV&gt;.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469900">
              <a:lnSpc>
                <a:spcPct val="100000"/>
              </a:lnSpc>
              <a:spcBef>
                <a:spcPts val="690"/>
              </a:spcBef>
              <a:bidi/>
            </a:pPr>
            <a:r xmlns:a="http://schemas.openxmlformats.org/drawingml/2006/main">
              <a:rPr sz="2800" spc="-5" dirty="0">
                <a:solidFill>
                  <a:srgbClr val="006FC0"/>
                </a:solidFill>
                <a:latin typeface="Arial"/>
                <a:cs typeface="Arial"/>
              </a:rPr>
              <a:t>- </a:t>
            </a:r>
            <a:r xmlns:a="http://schemas.openxmlformats.org/drawingml/2006/main"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محاذاة ، </a:t>
            </a:r>
            <a:r xmlns:a="http://schemas.openxmlformats.org/drawingml/2006/main">
              <a:rPr sz="2800" b="1" spc="-25" dirty="0">
                <a:solidFill>
                  <a:srgbClr val="006FC0"/>
                </a:solidFill>
                <a:latin typeface="Calibri"/>
                <a:cs typeface="Calibri"/>
              </a:rPr>
              <a:t>معرف ،</a:t>
            </a:r>
            <a:r xmlns:a="http://schemas.openxmlformats.org/drawingml/2006/main">
              <a:rPr sz="2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2800" b="1" spc="-15" dirty="0">
                <a:solidFill>
                  <a:srgbClr val="006FC0"/>
                </a:solidFill>
                <a:latin typeface="Calibri"/>
                <a:cs typeface="Calibri"/>
              </a:rPr>
              <a:t>نمط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389" y="298145"/>
            <a:ext cx="521081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097915" marR="5080" indent="-108585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10" dirty="0">
                <a:solidFill>
                  <a:srgbClr val="C00000"/>
                </a:solidFill>
              </a:rPr>
              <a:t>&lt;FONT&gt; </a:t>
            </a:r>
            <a:r xmlns:a="http://schemas.openxmlformats.org/drawingml/2006/main">
              <a:rPr spc="-5" dirty="0"/>
              <a:t>- </a:t>
            </a:r>
            <a:r xmlns:a="http://schemas.openxmlformats.org/drawingml/2006/main">
              <a:rPr dirty="0"/>
              <a:t>تحديد </a:t>
            </a:r>
            <a:r xmlns:a="http://schemas.openxmlformats.org/drawingml/2006/main">
              <a:rPr spc="-20" dirty="0"/>
              <a:t>خصائص </a:t>
            </a:r>
            <a:r xmlns:a="http://schemas.openxmlformats.org/drawingml/2006/main">
              <a:rPr spc="-30" dirty="0"/>
              <a:t>الخط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912747"/>
            <a:ext cx="8083550" cy="4137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spc="-10" dirty="0">
                <a:latin typeface="Calibri"/>
                <a:cs typeface="Calibri"/>
              </a:rPr>
              <a:t>يسمح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لنا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بتغيير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حجم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وأسلوب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ولون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المضمن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هذا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20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حاوية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علامة. &lt;FONT&gt; ... &lt;/FONT&gt;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قائمة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السمات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الهامة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9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&lt;الخط&gt;.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اللون </a:t>
            </a:r>
            <a:r xmlns:a="http://schemas.openxmlformats.org/drawingml/2006/main"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-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النص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_</a:t>
            </a:r>
            <a:r xmlns:a="http://schemas.openxmlformats.org/drawingml/2006/main">
              <a:rPr sz="2800" spc="3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لون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b="1" spc="-55" dirty="0">
                <a:solidFill>
                  <a:srgbClr val="006FC0"/>
                </a:solidFill>
                <a:latin typeface="Calibri"/>
                <a:cs typeface="Calibri"/>
              </a:rPr>
              <a:t>FACE </a:t>
            </a:r>
            <a:r xmlns:a="http://schemas.openxmlformats.org/drawingml/2006/main"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-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تحدد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وجه </a:t>
            </a:r>
            <a:r xmlns:a="http://schemas.openxmlformats.org/drawingml/2006/main">
              <a:rPr sz="2800" spc="-30" dirty="0">
                <a:latin typeface="Calibri"/>
                <a:cs typeface="Calibri"/>
              </a:rPr>
              <a:t>الخط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أي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،</a:t>
            </a:r>
            <a:r xmlns:a="http://schemas.openxmlformats.org/drawingml/2006/main">
              <a:rPr sz="2800" spc="195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اكتب</a:t>
            </a:r>
            <a:endParaRPr xmlns:a="http://schemas.openxmlformats.org/drawingml/2006/main" sz="2800">
              <a:latin typeface="Calibri"/>
              <a:cs typeface="Calibri"/>
            </a:endParaRPr>
          </a:p>
          <a:p>
            <a:pPr xmlns:a="http://schemas.openxmlformats.org/drawingml/2006/main" marL="756285" marR="2857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  <a:bidi/>
            </a:pPr>
            <a:r xmlns:a="http://schemas.openxmlformats.org/drawingml/2006/main">
              <a:rPr sz="2800" b="1" spc="-5" dirty="0">
                <a:solidFill>
                  <a:srgbClr val="006FC0"/>
                </a:solidFill>
                <a:latin typeface="Calibri"/>
                <a:cs typeface="Calibri"/>
              </a:rPr>
              <a:t>الحجم -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يحدد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حجم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الخط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الذي </a:t>
            </a:r>
            <a:r xmlns:a="http://schemas.openxmlformats.org/drawingml/2006/main">
              <a:rPr sz="2800" spc="-25" dirty="0">
                <a:latin typeface="Calibri"/>
                <a:cs typeface="Calibri"/>
              </a:rPr>
              <a:t>تتراوح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قيمه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بين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1 أو 7 ، </a:t>
            </a:r>
            <a:r xmlns:a="http://schemas.openxmlformats.org/drawingml/2006/main">
              <a:rPr sz="2800" spc="-10" dirty="0">
                <a:latin typeface="Calibri"/>
                <a:cs typeface="Calibri"/>
              </a:rPr>
              <a:t>مع </a:t>
            </a:r>
            <a:r xmlns:a="http://schemas.openxmlformats.org/drawingml/2006/main">
              <a:rPr sz="2800" spc="-20" dirty="0">
                <a:latin typeface="Calibri"/>
                <a:cs typeface="Calibri"/>
              </a:rPr>
              <a:t>القيمة </a:t>
            </a:r>
            <a:r xmlns:a="http://schemas.openxmlformats.org/drawingml/2006/main">
              <a:rPr sz="2800" spc="-30" dirty="0">
                <a:latin typeface="Calibri"/>
                <a:cs typeface="Calibri"/>
              </a:rPr>
              <a:t>الافتراضية</a:t>
            </a:r>
            <a:r xmlns:a="http://schemas.openxmlformats.org/drawingml/2006/main">
              <a:rPr sz="2800" spc="90" dirty="0">
                <a:latin typeface="Calibri"/>
                <a:cs typeface="Calibri"/>
              </a:rPr>
              <a:t> </a:t>
            </a:r>
            <a:r xmlns:a="http://schemas.openxmlformats.org/drawingml/2006/main">
              <a:rPr sz="2800" spc="-5" dirty="0">
                <a:latin typeface="Calibri"/>
                <a:cs typeface="Calibri"/>
              </a:rPr>
              <a:t>3.</a:t>
            </a:r>
            <a:endParaRPr xmlns:a="http://schemas.openxmlformats.org/drawingml/2006/main"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413" y="603249"/>
            <a:ext cx="7966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95"/>
              </a:spcBef>
              <a:bidi/>
            </a:pPr>
            <a:r xmlns:a="http://schemas.openxmlformats.org/drawingml/2006/main">
              <a:rPr spc="-5" dirty="0"/>
              <a:t>إضافة </a:t>
            </a:r>
            <a:r xmlns:a="http://schemas.openxmlformats.org/drawingml/2006/main">
              <a:rPr spc="-10" dirty="0">
                <a:solidFill>
                  <a:srgbClr val="C00000"/>
                </a:solidFill>
              </a:rPr>
              <a:t>التعليقات </a:t>
            </a:r>
            <a:r xmlns:a="http://schemas.openxmlformats.org/drawingml/2006/main">
              <a:rPr spc="-5" dirty="0"/>
              <a:t>في HTML</a:t>
            </a:r>
            <a:r xmlns:a="http://schemas.openxmlformats.org/drawingml/2006/main">
              <a:rPr spc="30" dirty="0"/>
              <a:t> </a:t>
            </a:r>
            <a:r xmlns:a="http://schemas.openxmlformats.org/drawingml/2006/main">
              <a:rPr spc="-10" dirty="0"/>
              <a:t>وثيقة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2293747"/>
            <a:ext cx="7695565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354965" marR="109347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spc="-15" dirty="0">
                <a:latin typeface="Calibri"/>
                <a:cs typeface="Calibri"/>
              </a:rPr>
              <a:t>يوفر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HTML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تعليق </a:t>
            </a:r>
            <a:r xmlns:a="http://schemas.openxmlformats.org/drawingml/2006/main">
              <a:rPr sz="3200" spc="-25" dirty="0">
                <a:latin typeface="Calibri"/>
                <a:cs typeface="Calibri"/>
              </a:rPr>
              <a:t>لإدراج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التعليقات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المصدر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الشفرة.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49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spc="-5" dirty="0">
                <a:latin typeface="Calibri"/>
                <a:cs typeface="Calibri"/>
              </a:rPr>
              <a:t>وضع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تعليقات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HTML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dirty="0">
                <a:latin typeface="Calibri"/>
                <a:cs typeface="Calibri"/>
              </a:rPr>
              <a:t>في غضون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4965">
              <a:lnSpc>
                <a:spcPct val="100000"/>
              </a:lnSpc>
              <a:tabLst>
                <a:tab pos="2226945" algn="l"/>
              </a:tabLst>
              <a:bidi/>
            </a:pPr>
            <a:r xmlns:a="http://schemas.openxmlformats.org/drawingml/2006/main">
              <a:rPr sz="3200" b="1" dirty="0">
                <a:solidFill>
                  <a:srgbClr val="006FC0"/>
                </a:solidFill>
                <a:latin typeface="Calibri"/>
                <a:cs typeface="Calibri"/>
              </a:rPr>
              <a:t>&lt;! - -&gt;</a:t>
            </a:r>
            <a:r xmlns:a="http://schemas.openxmlformats.org/drawingml/2006/main">
              <a:rPr sz="32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بطاقة شعار.</a:t>
            </a:r>
            <a:endParaRPr xmlns:a="http://schemas.openxmlformats.org/drawingml/2006/main" sz="3200">
              <a:latin typeface="Calibri"/>
              <a:cs typeface="Calibri"/>
            </a:endParaRPr>
          </a:p>
          <a:p>
            <a:pPr xmlns:a="http://schemas.openxmlformats.org/drawingml/2006/main" marL="35496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200" dirty="0">
                <a:latin typeface="Calibri"/>
                <a:cs typeface="Calibri"/>
              </a:rPr>
              <a:t>سيتم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تجاهله </a:t>
            </a:r>
            <a:r xmlns:a="http://schemas.openxmlformats.org/drawingml/2006/main">
              <a:rPr sz="3200" spc="-10" dirty="0">
                <a:latin typeface="Calibri"/>
                <a:cs typeface="Calibri"/>
              </a:rPr>
              <a:t>تمامًا 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بواسطة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 </a:t>
            </a:r>
            <a:r xmlns:a="http://schemas.openxmlformats.org/drawingml/2006/main">
              <a:rPr sz="32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200" spc="-15" dirty="0">
                <a:latin typeface="Calibri"/>
                <a:cs typeface="Calibri"/>
              </a:rPr>
              <a:t> </a:t>
            </a:r>
            <a:r xmlns:a="http://schemas.openxmlformats.org/drawingml/2006/main">
              <a:rPr sz="3200" spc="-55" dirty="0">
                <a:latin typeface="Calibri"/>
                <a:cs typeface="Calibri"/>
              </a:rPr>
              <a:t>المتصفح.</a:t>
            </a:r>
            <a:endParaRPr xmlns:a="http://schemas.openxmlformats.org/drawingml/2006/main"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7094" y="263093"/>
            <a:ext cx="3834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xmlns:a="http://schemas.openxmlformats.org/drawingml/2006/main" marL="12700">
              <a:lnSpc>
                <a:spcPct val="100000"/>
              </a:lnSpc>
              <a:spcBef>
                <a:spcPts val="105"/>
              </a:spcBef>
              <a:bidi/>
            </a:pPr>
            <a:r xmlns:a="http://schemas.openxmlformats.org/drawingml/2006/main">
              <a:rPr sz="4400" dirty="0">
                <a:solidFill>
                  <a:srgbClr val="C00000"/>
                </a:solidFill>
              </a:rPr>
              <a:t>إدخال</a:t>
            </a:r>
            <a:r xmlns:a="http://schemas.openxmlformats.org/drawingml/2006/main">
              <a:rPr sz="4400" spc="-55" dirty="0">
                <a:solidFill>
                  <a:srgbClr val="C00000"/>
                </a:solidFill>
              </a:rPr>
              <a:t> </a:t>
            </a:r>
            <a:r xmlns:a="http://schemas.openxmlformats.org/drawingml/2006/main">
              <a:rPr sz="4400" spc="-15" dirty="0">
                <a:solidFill>
                  <a:srgbClr val="C00000"/>
                </a:solidFill>
              </a:rPr>
              <a:t>الصور</a:t>
            </a:r>
            <a:endParaRPr xmlns:a="http://schemas.openxmlformats.org/drawingml/2006/main"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907669"/>
            <a:ext cx="8215630" cy="560514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xmlns:a="http://schemas.openxmlformats.org/drawingml/2006/main" marL="355600" indent="-342900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000" dirty="0">
                <a:latin typeface="Calibri"/>
                <a:cs typeface="Calibri"/>
              </a:rPr>
              <a:t>تُستخدم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000" b="1" spc="-5" dirty="0">
                <a:solidFill>
                  <a:srgbClr val="C00000"/>
                </a:solidFill>
                <a:latin typeface="Calibri"/>
                <a:cs typeface="Calibri"/>
              </a:rPr>
              <a:t>&lt;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IMG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&gt;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لإدراج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الصور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بتنسيق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HTML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الصفحات.</a:t>
            </a:r>
            <a:endParaRPr xmlns:a="http://schemas.openxmlformats.org/drawingml/2006/main" sz="3000" dirty="0">
              <a:latin typeface="Calibri"/>
              <a:cs typeface="Calibri"/>
            </a:endParaRP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000" dirty="0">
                <a:latin typeface="Calibri"/>
                <a:cs typeface="Calibri"/>
              </a:rPr>
              <a:t>إنها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علامة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فارغة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ولديها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الكثير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_</a:t>
            </a:r>
            <a:r xmlns:a="http://schemas.openxmlformats.org/drawingml/2006/main">
              <a:rPr sz="3000" spc="-4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صفات.</a:t>
            </a:r>
            <a:endParaRPr xmlns:a="http://schemas.openxmlformats.org/drawingml/2006/main" sz="3000" dirty="0">
              <a:latin typeface="Calibri"/>
              <a:cs typeface="Calibri"/>
            </a:endParaRPr>
          </a:p>
          <a:p>
            <a:pPr xmlns:a="http://schemas.openxmlformats.org/drawingml/2006/main" marL="355600" marR="41719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000" b="1" spc="-10" dirty="0">
                <a:solidFill>
                  <a:srgbClr val="006FC0"/>
                </a:solidFill>
                <a:latin typeface="Calibri"/>
                <a:cs typeface="Calibri"/>
              </a:rPr>
              <a:t>SRC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هي </a:t>
            </a:r>
            <a:r xmlns:a="http://schemas.openxmlformats.org/drawingml/2006/main">
              <a:rPr sz="3000" b="1" spc="-15" dirty="0">
                <a:latin typeface="Calibri"/>
                <a:cs typeface="Calibri"/>
              </a:rPr>
              <a:t>السمة </a:t>
            </a:r>
            <a:r xmlns:a="http://schemas.openxmlformats.org/drawingml/2006/main">
              <a:rPr sz="3000" b="1" spc="-5" dirty="0">
                <a:latin typeface="Calibri"/>
                <a:cs typeface="Calibri"/>
              </a:rPr>
              <a:t>الرئيسية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وهي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تحدد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الامتداد</a:t>
            </a:r>
            <a:r xmlns:a="http://schemas.openxmlformats.org/drawingml/2006/main">
              <a:rPr sz="3000" spc="-1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اسم </a:t>
            </a:r>
            <a:r xmlns:a="http://schemas.openxmlformats.org/drawingml/2006/main">
              <a:rPr sz="3000" dirty="0">
                <a:latin typeface="Calibri"/>
                <a:cs typeface="Calibri"/>
              </a:rPr>
              <a:t>ملف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الصورة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ليكون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000" spc="-6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10" dirty="0">
                <a:latin typeface="Calibri"/>
                <a:cs typeface="Calibri"/>
              </a:rPr>
              <a:t>مدرج.</a:t>
            </a:r>
            <a:endParaRPr xmlns:a="http://schemas.openxmlformats.org/drawingml/2006/main" sz="3000" dirty="0">
              <a:latin typeface="Calibri"/>
              <a:cs typeface="Calibri"/>
            </a:endParaRPr>
          </a:p>
          <a:p>
            <a:pPr xmlns:a="http://schemas.openxmlformats.org/drawingml/2006/main" marL="355600" marR="74993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  <a:tab pos="1833880" algn="l"/>
              </a:tabLst>
              <a:bidi/>
            </a:pPr>
            <a:r xmlns:a="http://schemas.openxmlformats.org/drawingml/2006/main">
              <a:rPr sz="3000" spc="-15" dirty="0">
                <a:latin typeface="Calibri"/>
                <a:cs typeface="Calibri"/>
              </a:rPr>
              <a:t>السمات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الأخرى هي </a:t>
            </a:r>
            <a:r xmlns:a="http://schemas.openxmlformats.org/drawingml/2006/main">
              <a:rPr sz="3000" b="1" spc="-10" dirty="0">
                <a:solidFill>
                  <a:srgbClr val="006FC0"/>
                </a:solidFill>
                <a:latin typeface="Calibri"/>
                <a:cs typeface="Calibri"/>
              </a:rPr>
              <a:t>WIDTH و </a:t>
            </a:r>
            <a:r xmlns:a="http://schemas.openxmlformats.org/drawingml/2006/main">
              <a:rPr sz="3000" b="1" spc="-40" dirty="0">
                <a:solidFill>
                  <a:srgbClr val="006FC0"/>
                </a:solidFill>
                <a:latin typeface="Calibri"/>
                <a:cs typeface="Calibri"/>
              </a:rPr>
              <a:t>HEIGHT و </a:t>
            </a:r>
            <a:r xmlns:a="http://schemas.openxmlformats.org/drawingml/2006/main">
              <a:rPr sz="3000" b="1" spc="-45" dirty="0">
                <a:solidFill>
                  <a:srgbClr val="006FC0"/>
                </a:solidFill>
                <a:latin typeface="Calibri"/>
                <a:cs typeface="Calibri"/>
              </a:rPr>
              <a:t>VSPACE و </a:t>
            </a:r>
            <a:r xmlns:a="http://schemas.openxmlformats.org/drawingml/2006/main">
              <a:rPr sz="3000" b="1" spc="-40" dirty="0">
                <a:solidFill>
                  <a:srgbClr val="006FC0"/>
                </a:solidFill>
                <a:latin typeface="Calibri"/>
                <a:cs typeface="Calibri"/>
              </a:rPr>
              <a:t>HSPACE و </a:t>
            </a:r>
            <a:r xmlns:a="http://schemas.openxmlformats.org/drawingml/2006/main"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ALIGN و BORDER و</a:t>
            </a:r>
            <a:r xmlns:a="http://schemas.openxmlformats.org/drawingml/2006/main">
              <a:rPr sz="3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000" b="1" spc="-75" dirty="0">
                <a:solidFill>
                  <a:srgbClr val="006FC0"/>
                </a:solidFill>
                <a:latin typeface="Calibri"/>
                <a:cs typeface="Calibri"/>
              </a:rPr>
              <a:t>ALT</a:t>
            </a:r>
            <a:endParaRPr xmlns:a="http://schemas.openxmlformats.org/drawingml/2006/main" sz="3000" dirty="0">
              <a:latin typeface="Calibri"/>
              <a:cs typeface="Calibri"/>
            </a:endParaRPr>
          </a:p>
          <a:p>
            <a:pPr xmlns:a="http://schemas.openxmlformats.org/drawingml/2006/main"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000" spc="-10" dirty="0">
                <a:latin typeface="Calibri"/>
                <a:cs typeface="Calibri"/>
              </a:rPr>
              <a:t>القيم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المحتملة </a:t>
            </a:r>
            <a:r xmlns:a="http://schemas.openxmlformats.org/drawingml/2006/main">
              <a:rPr sz="3000" spc="-25" dirty="0">
                <a:latin typeface="Calibri"/>
                <a:cs typeface="Calibri"/>
              </a:rPr>
              <a:t>لسمة </a:t>
            </a:r>
            <a:r xmlns:a="http://schemas.openxmlformats.org/drawingml/2006/main"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ALIGN </a:t>
            </a:r>
            <a:r xmlns:a="http://schemas.openxmlformats.org/drawingml/2006/main">
              <a:rPr sz="3000" spc="-5" dirty="0">
                <a:latin typeface="Calibri"/>
                <a:cs typeface="Calibri"/>
              </a:rPr>
              <a:t>_</a:t>
            </a:r>
            <a:r xmlns:a="http://schemas.openxmlformats.org/drawingml/2006/main">
              <a:rPr sz="3000" spc="10" dirty="0">
                <a:latin typeface="Calibri"/>
                <a:cs typeface="Calibri"/>
              </a:rPr>
              <a:t> </a:t>
            </a:r>
            <a:r xmlns:a="http://schemas.openxmlformats.org/drawingml/2006/main">
              <a:rPr sz="3000" spc="-15" dirty="0">
                <a:latin typeface="Calibri"/>
                <a:cs typeface="Calibri"/>
              </a:rPr>
              <a:t>نكون</a:t>
            </a:r>
            <a:endParaRPr xmlns:a="http://schemas.openxmlformats.org/drawingml/2006/main" sz="3000" dirty="0">
              <a:latin typeface="Calibri"/>
              <a:cs typeface="Calibri"/>
            </a:endParaRPr>
          </a:p>
          <a:p>
            <a:pPr xmlns:a="http://schemas.openxmlformats.org/drawingml/2006/main" marL="355600">
              <a:lnSpc>
                <a:spcPct val="100000"/>
              </a:lnSpc>
              <a:bidi/>
            </a:pPr>
            <a:r xmlns:a="http://schemas.openxmlformats.org/drawingml/2006/main">
              <a:rPr sz="3000" b="1" spc="-20" dirty="0">
                <a:solidFill>
                  <a:srgbClr val="FF0000"/>
                </a:solidFill>
                <a:latin typeface="Calibri"/>
                <a:cs typeface="Calibri"/>
              </a:rPr>
              <a:t>الأسفل ، </a:t>
            </a:r>
            <a:r xmlns:a="http://schemas.openxmlformats.org/drawingml/2006/main"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الوسط ،</a:t>
            </a:r>
            <a:r xmlns:a="http://schemas.openxmlformats.org/drawingml/2006/main">
              <a:rPr sz="30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000" b="1" spc="-35" dirty="0">
                <a:solidFill>
                  <a:srgbClr val="FF0000"/>
                </a:solidFill>
                <a:latin typeface="Calibri"/>
                <a:cs typeface="Calibri"/>
              </a:rPr>
              <a:t>أعلى</a:t>
            </a:r>
            <a:endParaRPr xmlns:a="http://schemas.openxmlformats.org/drawingml/2006/main" sz="3000" dirty="0">
              <a:latin typeface="Calibri"/>
              <a:cs typeface="Calibri"/>
            </a:endParaRPr>
          </a:p>
          <a:p>
            <a:pPr xmlns:a="http://schemas.openxmlformats.org/drawingml/2006/main" marL="355600" marR="50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  <a:bidi/>
            </a:pPr>
            <a:r xmlns:a="http://schemas.openxmlformats.org/drawingml/2006/main">
              <a:rPr sz="3000" b="1" dirty="0">
                <a:latin typeface="Calibri"/>
                <a:cs typeface="Calibri"/>
              </a:rPr>
              <a:t>&lt; </a:t>
            </a:r>
            <a:r xmlns:a="http://schemas.openxmlformats.org/drawingml/2006/main">
              <a:rPr sz="3000" b="1" dirty="0">
                <a:solidFill>
                  <a:srgbClr val="C00000"/>
                </a:solidFill>
                <a:latin typeface="Calibri"/>
                <a:cs typeface="Calibri"/>
              </a:rPr>
              <a:t>IMG </a:t>
            </a:r>
            <a:r xmlns:a="http://schemas.openxmlformats.org/drawingml/2006/main">
              <a:rPr sz="3000" b="1" spc="5" dirty="0">
                <a:solidFill>
                  <a:srgbClr val="006FC0"/>
                </a:solidFill>
                <a:latin typeface="Calibri"/>
                <a:cs typeface="Calibri"/>
              </a:rPr>
              <a:t>SRC </a:t>
            </a:r>
            <a:r xmlns:a="http://schemas.openxmlformats.org/drawingml/2006/main">
              <a:rPr sz="3000" b="1" spc="5" dirty="0">
                <a:latin typeface="Calibri"/>
                <a:cs typeface="Calibri"/>
              </a:rPr>
              <a:t>= “ </a:t>
            </a:r>
            <a:r xmlns:a="http://schemas.openxmlformats.org/drawingml/2006/main">
              <a:rPr sz="3000" b="1" spc="5" dirty="0">
                <a:solidFill>
                  <a:srgbClr val="FF0000"/>
                </a:solidFill>
                <a:latin typeface="Calibri"/>
                <a:cs typeface="Calibri"/>
              </a:rPr>
              <a:t>book.jpg </a:t>
            </a:r>
            <a:r xmlns:a="http://schemas.openxmlformats.org/drawingml/2006/main">
              <a:rPr sz="3000" b="1" spc="5" dirty="0">
                <a:latin typeface="Calibri"/>
                <a:cs typeface="Calibri"/>
              </a:rPr>
              <a:t>” </a:t>
            </a:r>
            <a:r xmlns:a="http://schemas.openxmlformats.org/drawingml/2006/main"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HEIGHT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= “ </a:t>
            </a:r>
            <a:r xmlns:a="http://schemas.openxmlformats.org/drawingml/2006/main"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40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” </a:t>
            </a:r>
            <a:r xmlns:a="http://schemas.openxmlformats.org/drawingml/2006/main">
              <a:rPr sz="3000" b="1" spc="-10" dirty="0">
                <a:solidFill>
                  <a:srgbClr val="006FC0"/>
                </a:solidFill>
                <a:latin typeface="Calibri"/>
                <a:cs typeface="Calibri"/>
              </a:rPr>
              <a:t>WIDTH</a:t>
            </a:r>
            <a:r xmlns:a="http://schemas.openxmlformats.org/drawingml/2006/main">
              <a:rPr sz="3000" b="1" spc="-1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= " </a:t>
            </a:r>
            <a:r xmlns:a="http://schemas.openxmlformats.org/drawingml/2006/main"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60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000" b="1" dirty="0">
                <a:solidFill>
                  <a:srgbClr val="006FC0"/>
                </a:solidFill>
                <a:latin typeface="Calibri"/>
                <a:cs typeface="Calibri"/>
              </a:rPr>
              <a:t>محاذاة </a:t>
            </a:r>
            <a:r xmlns:a="http://schemas.openxmlformats.org/drawingml/2006/main">
              <a:rPr sz="3000" b="1" dirty="0">
                <a:latin typeface="Calibri"/>
                <a:cs typeface="Calibri"/>
              </a:rPr>
              <a:t>= </a:t>
            </a:r>
            <a:r xmlns:a="http://schemas.openxmlformats.org/drawingml/2006/main">
              <a:rPr sz="3000" b="1" spc="-15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000" b="1" spc="-15" dirty="0">
                <a:solidFill>
                  <a:srgbClr val="FF0000"/>
                </a:solidFill>
                <a:latin typeface="Calibri"/>
                <a:cs typeface="Calibri"/>
              </a:rPr>
              <a:t>أسفل </a:t>
            </a:r>
            <a:r xmlns:a="http://schemas.openxmlformats.org/drawingml/2006/main">
              <a:rPr sz="3000" b="1" spc="-15" dirty="0">
                <a:latin typeface="Calibri"/>
                <a:cs typeface="Calibri"/>
              </a:rPr>
              <a:t>" </a:t>
            </a:r>
            <a:r xmlns:a="http://schemas.openxmlformats.org/drawingml/2006/main">
              <a:rPr sz="3000" b="1" spc="-25" dirty="0">
                <a:solidFill>
                  <a:srgbClr val="006FC0"/>
                </a:solidFill>
                <a:latin typeface="Calibri"/>
                <a:cs typeface="Calibri"/>
              </a:rPr>
              <a:t>ALT </a:t>
            </a:r>
            <a:r xmlns:a="http://schemas.openxmlformats.org/drawingml/2006/main">
              <a:rPr sz="3000" b="1" spc="-25" dirty="0">
                <a:latin typeface="Calibri"/>
                <a:cs typeface="Calibri"/>
              </a:rPr>
              <a:t>= " </a:t>
            </a:r>
            <a:r xmlns:a="http://schemas.openxmlformats.org/drawingml/2006/main">
              <a:rPr sz="3000" b="1" spc="-25" dirty="0">
                <a:solidFill>
                  <a:srgbClr val="FF0000"/>
                </a:solidFill>
                <a:latin typeface="Calibri"/>
                <a:cs typeface="Calibri"/>
              </a:rPr>
              <a:t>صورة </a:t>
            </a:r>
            <a:r xmlns:a="http://schemas.openxmlformats.org/drawingml/2006/main"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كتاب </a:t>
            </a:r>
            <a:r xmlns:a="http://schemas.openxmlformats.org/drawingml/2006/main">
              <a:rPr sz="3000" b="1" spc="-5" dirty="0">
                <a:solidFill>
                  <a:srgbClr val="FF0000"/>
                </a:solidFill>
                <a:latin typeface="Calibri"/>
                <a:cs typeface="Calibri"/>
              </a:rPr>
              <a:t>مفتوح </a:t>
            </a:r>
            <a:r xmlns:a="http://schemas.openxmlformats.org/drawingml/2006/main">
              <a:rPr sz="3000" b="1" spc="-5" dirty="0">
                <a:latin typeface="Calibri"/>
                <a:cs typeface="Calibri"/>
              </a:rPr>
              <a:t>"&gt;</a:t>
            </a:r>
            <a:endParaRPr xmlns:a="http://schemas.openxmlformats.org/drawingml/2006/main"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5156623E-C4D3-4CB0-9D27-1EE9773B569B}" vid="{0B3C5A56-0FEE-40DB-ABE1-5232A31F3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2363</Words>
  <Application>Microsoft Office PowerPoint</Application>
  <PresentationFormat>On-screen Show (4:3)</PresentationFormat>
  <Paragraphs>320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Arial Black</vt:lpstr>
      <vt:lpstr>Calibri</vt:lpstr>
      <vt:lpstr>Times</vt:lpstr>
      <vt:lpstr>Times New Roman</vt:lpstr>
      <vt:lpstr>Traditional Arabic</vt:lpstr>
      <vt:lpstr>Wingdings</vt:lpstr>
      <vt:lpstr>Office Theme</vt:lpstr>
      <vt:lpstr>Theme1</vt:lpstr>
      <vt:lpstr>Internet Technology (1)</vt:lpstr>
      <vt:lpstr>Web Designing</vt:lpstr>
      <vt:lpstr>The first step in setting up a  website is planning the web pages  for the websites. Any website is divided into Two stages in the development stage  A)Front end (Designing).  B)Back end(Programming).</vt:lpstr>
      <vt:lpstr>HTML</vt:lpstr>
      <vt:lpstr>Static web pages</vt:lpstr>
      <vt:lpstr>Dynamic web pages</vt:lpstr>
      <vt:lpstr>Comparison of static and dynamic web pages</vt:lpstr>
      <vt:lpstr>scripts</vt:lpstr>
      <vt:lpstr>Types of scripting languages</vt:lpstr>
      <vt:lpstr>Client Side scripting</vt:lpstr>
      <vt:lpstr>Server Side scripting</vt:lpstr>
      <vt:lpstr>Working of server side scripts</vt:lpstr>
      <vt:lpstr>Working of server side scripts</vt:lpstr>
      <vt:lpstr>Comparison of the classifications of  scripting languages</vt:lpstr>
      <vt:lpstr>Cascading Style Sheet (CSS)</vt:lpstr>
      <vt:lpstr>Advantage of CSS</vt:lpstr>
      <vt:lpstr>Basic concepts of HTML documents</vt:lpstr>
      <vt:lpstr>HTML (Hyper Text Markup Language)</vt:lpstr>
      <vt:lpstr>PowerPoint Presentation</vt:lpstr>
      <vt:lpstr>PowerPoint Presentation</vt:lpstr>
      <vt:lpstr>TAGS</vt:lpstr>
      <vt:lpstr>Container tag or element</vt:lpstr>
      <vt:lpstr>Empty tag or element</vt:lpstr>
      <vt:lpstr>Attributes</vt:lpstr>
      <vt:lpstr>Basic structure of HTML document</vt:lpstr>
      <vt:lpstr>Example of HTML document</vt:lpstr>
      <vt:lpstr>&lt;html&gt; tag</vt:lpstr>
      <vt:lpstr>&lt;html&gt; tag</vt:lpstr>
      <vt:lpstr>&lt;head&gt; tag</vt:lpstr>
      <vt:lpstr>&lt;title&gt; tag</vt:lpstr>
      <vt:lpstr>&lt;body&gt; tag</vt:lpstr>
      <vt:lpstr>background</vt:lpstr>
      <vt:lpstr>To set an image as background for a  web page.</vt:lpstr>
      <vt:lpstr>bgcolor</vt:lpstr>
      <vt:lpstr>text</vt:lpstr>
      <vt:lpstr>Link, alink and vlink</vt:lpstr>
      <vt:lpstr>PowerPoint Presentation</vt:lpstr>
      <vt:lpstr>Leftmargin and Topmargin</vt:lpstr>
      <vt:lpstr>Some common tags</vt:lpstr>
      <vt:lpstr>2. Creating paragraphs - &lt;P&gt; tag</vt:lpstr>
      <vt:lpstr>4. Creating horizontal line - &lt;HR&gt; tag</vt:lpstr>
      <vt:lpstr>5. Centring the content - &lt;CENTER&gt; tag</vt:lpstr>
      <vt:lpstr>6. Text formatting tags</vt:lpstr>
      <vt:lpstr>PowerPoint Presentation</vt:lpstr>
      <vt:lpstr>&lt;PRE&gt; - Displaying preformatted text</vt:lpstr>
      <vt:lpstr>&lt;ADDRESS&gt; - Displaying the address</vt:lpstr>
      <vt:lpstr>&lt;DIV&gt; - Formatting a block of text</vt:lpstr>
      <vt:lpstr>&lt;FONT&gt; - Specifying font  characteristics</vt:lpstr>
      <vt:lpstr>Adding comments in HTML document</vt:lpstr>
      <vt:lpstr>Inserting images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bemhss</dc:creator>
  <cp:lastModifiedBy>alsura</cp:lastModifiedBy>
  <cp:revision>25</cp:revision>
  <dcterms:created xsi:type="dcterms:W3CDTF">2020-01-05T09:28:57Z</dcterms:created>
  <dcterms:modified xsi:type="dcterms:W3CDTF">2022-12-27T17:30:50Z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2016-05-23T00:00:00Z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2020-01-05T00:00:00Z</vt:filetime>
  </property>
</Properties>
</file>